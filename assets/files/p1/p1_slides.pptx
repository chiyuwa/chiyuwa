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31"/>
  </p:notesMasterIdLst>
  <p:sldIdLst>
    <p:sldId id="257" r:id="rId2"/>
    <p:sldId id="258" r:id="rId3"/>
    <p:sldId id="270" r:id="rId4"/>
    <p:sldId id="259" r:id="rId5"/>
    <p:sldId id="260" r:id="rId6"/>
    <p:sldId id="261" r:id="rId7"/>
    <p:sldId id="262" r:id="rId8"/>
    <p:sldId id="263" r:id="rId9"/>
    <p:sldId id="264" r:id="rId10"/>
    <p:sldId id="265" r:id="rId11"/>
    <p:sldId id="266" r:id="rId12"/>
    <p:sldId id="267" r:id="rId13"/>
    <p:sldId id="271" r:id="rId14"/>
    <p:sldId id="272" r:id="rId15"/>
    <p:sldId id="274" r:id="rId16"/>
    <p:sldId id="275" r:id="rId17"/>
    <p:sldId id="276" r:id="rId18"/>
    <p:sldId id="278" r:id="rId19"/>
    <p:sldId id="279" r:id="rId20"/>
    <p:sldId id="280" r:id="rId21"/>
    <p:sldId id="281" r:id="rId22"/>
    <p:sldId id="282" r:id="rId23"/>
    <p:sldId id="283" r:id="rId24"/>
    <p:sldId id="284" r:id="rId25"/>
    <p:sldId id="286" r:id="rId26"/>
    <p:sldId id="287" r:id="rId27"/>
    <p:sldId id="288" r:id="rId28"/>
    <p:sldId id="289" r:id="rId29"/>
    <p:sldId id="290"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66" d="100"/>
          <a:sy n="66" d="100"/>
        </p:scale>
        <p:origin x="524" y="40"/>
      </p:cViewPr>
      <p:guideLst>
        <p:guide orient="horz" pos="2195"/>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ln>
            <a:solidFill>
              <a:srgbClr val="000000"/>
            </a:solidFill>
            <a:miter/>
          </a:ln>
        </p:spPr>
      </p:sp>
      <p:sp>
        <p:nvSpPr>
          <p:cNvPr id="3" name="Notes Placeholder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1" i="0" u="none" strike="noStrike" kern="1200" cap="none" spc="0" normalizeH="0" baseline="0" noProof="0" dirty="0">
                <a:ln>
                  <a:noFill/>
                </a:ln>
                <a:solidFill>
                  <a:srgbClr val="FF0000"/>
                </a:solidFill>
                <a:effectLst/>
                <a:uLnTx/>
                <a:uFillTx/>
                <a:latin typeface="+mn-lt"/>
                <a:ea typeface="+mn-ea"/>
                <a:cs typeface="+mn-cs"/>
              </a:rPr>
              <a:t>READ PLEASE!</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FF0000"/>
                </a:solidFill>
                <a:effectLst/>
                <a:uLnTx/>
                <a:uFillTx/>
                <a:latin typeface="+mn-lt"/>
                <a:ea typeface="+mn-ea"/>
                <a:cs typeface="+mn-cs"/>
              </a:rPr>
              <a:t>Before you open this template be sure that you have </a:t>
            </a:r>
            <a:r>
              <a:rPr kumimoji="0" lang="en-US" sz="1200" b="0" i="0" u="none" strike="noStrike" kern="1200" cap="none" spc="0" normalizeH="0" baseline="0" noProof="0" dirty="0">
                <a:ln>
                  <a:noFill/>
                </a:ln>
                <a:solidFill>
                  <a:schemeClr val="tx1"/>
                </a:solidFill>
                <a:effectLst/>
                <a:uLnTx/>
                <a:uFillTx/>
                <a:latin typeface="+mn-lt"/>
                <a:ea typeface="+mn-ea"/>
                <a:cs typeface="+mn-cs"/>
              </a:rPr>
              <a:t>installed these fonts: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sz="1200" b="1" i="0" u="none" strike="noStrike" kern="1200" cap="none" spc="0" normalizeH="0" baseline="0" noProof="0" dirty="0">
                <a:ln>
                  <a:noFill/>
                </a:ln>
                <a:solidFill>
                  <a:schemeClr val="tx1"/>
                </a:solidFill>
                <a:effectLst/>
                <a:uLnTx/>
                <a:uFillTx/>
                <a:latin typeface="+mn-lt"/>
                <a:ea typeface="+mn-ea"/>
                <a:cs typeface="+mn-cs"/>
              </a:rPr>
              <a:t>OpenSans-Light.ttf </a:t>
            </a:r>
            <a:r>
              <a:rPr kumimoji="0" lang="en-US" sz="1200" b="0" i="0" u="none" strike="noStrike" kern="1200" cap="none" spc="0" normalizeH="0" baseline="0" noProof="0" dirty="0">
                <a:ln>
                  <a:noFill/>
                </a:ln>
                <a:solidFill>
                  <a:schemeClr val="tx1"/>
                </a:solidFill>
                <a:effectLst/>
                <a:uLnTx/>
                <a:uFillTx/>
                <a:latin typeface="+mn-lt"/>
                <a:ea typeface="+mn-ea"/>
                <a:cs typeface="+mn-cs"/>
              </a:rPr>
              <a:t>from: </a:t>
            </a:r>
            <a:r>
              <a:rPr kumimoji="0" lang="en-US" sz="1200" b="0" i="0" u="sng" strike="noStrike" kern="1200" cap="none" spc="0" normalizeH="0" baseline="0" noProof="0" dirty="0">
                <a:ln>
                  <a:noFill/>
                </a:ln>
                <a:solidFill>
                  <a:schemeClr val="tx1"/>
                </a:solidFill>
                <a:effectLst/>
                <a:uLnTx/>
                <a:uFillTx/>
                <a:latin typeface="+mn-lt"/>
                <a:ea typeface="+mn-ea"/>
                <a:cs typeface="+mn-cs"/>
              </a:rPr>
              <a:t>http://www.fontsquirrel.com/fonts/open-sans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All fonts are free for use in commercial projects!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If you have any problems with this presentation, please contact with me from this page: http://graphicriver.net/user/Bandidos?ref=bandidos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In this slide there is a background placeholder. Click to the small icon on the center of the slide and choose an image from computer.</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When add an image, you must sent it to back with </a:t>
            </a:r>
            <a:r>
              <a:rPr kumimoji="0" lang="en-US" sz="1200" b="1" i="0" u="none" strike="noStrike" kern="1200" cap="none" spc="0" normalizeH="0" baseline="0" noProof="0" dirty="0">
                <a:ln>
                  <a:noFill/>
                </a:ln>
                <a:solidFill>
                  <a:schemeClr val="tx1"/>
                </a:solidFill>
                <a:effectLst/>
                <a:uLnTx/>
                <a:uFillTx/>
                <a:latin typeface="+mn-lt"/>
                <a:ea typeface="+mn-ea"/>
                <a:cs typeface="+mn-cs"/>
              </a:rPr>
              <a:t>Right Click on Image </a:t>
            </a:r>
            <a:r>
              <a:rPr kumimoji="0" lang="en-US" sz="1200" b="0" i="0" u="none" strike="noStrike" kern="1200" cap="none" spc="0" normalizeH="0" baseline="0" noProof="0" dirty="0">
                <a:ln>
                  <a:noFill/>
                </a:ln>
                <a:solidFill>
                  <a:schemeClr val="tx1"/>
                </a:solidFill>
                <a:effectLst/>
                <a:uLnTx/>
                <a:uFillTx/>
                <a:latin typeface="+mn-lt"/>
                <a:ea typeface="+mn-ea"/>
                <a:cs typeface="+mn-cs"/>
              </a:rPr>
              <a:t>-&gt; </a:t>
            </a:r>
            <a:r>
              <a:rPr kumimoji="0" lang="en-US" sz="1200" b="1" i="0" u="none" strike="noStrike" kern="1200" cap="none" spc="0" normalizeH="0" baseline="0" noProof="0" dirty="0">
                <a:ln>
                  <a:noFill/>
                </a:ln>
                <a:solidFill>
                  <a:schemeClr val="tx1"/>
                </a:solidFill>
                <a:effectLst/>
                <a:uLnTx/>
                <a:uFillTx/>
                <a:latin typeface="+mn-lt"/>
                <a:ea typeface="+mn-ea"/>
                <a:cs typeface="+mn-cs"/>
              </a:rPr>
              <a:t>Send to Back</a:t>
            </a:r>
            <a:r>
              <a:rPr kumimoji="0" lang="en-US" sz="1200" b="0" i="0" u="none" strike="noStrike" kern="1200" cap="none" spc="0" normalizeH="0" baseline="0" noProof="0" dirty="0">
                <a:ln>
                  <a:noFill/>
                </a:ln>
                <a:solidFill>
                  <a:schemeClr val="tx1"/>
                </a:solidFill>
                <a:effectLst/>
                <a:uLnTx/>
                <a:uFillTx/>
                <a:latin typeface="+mn-lt"/>
                <a:ea typeface="+mn-ea"/>
                <a:cs typeface="+mn-cs"/>
              </a:rPr>
              <a:t> -&gt; </a:t>
            </a:r>
            <a:r>
              <a:rPr kumimoji="0" lang="en-US" sz="1200" b="1" i="0" u="none" strike="noStrike" kern="1200" cap="none" spc="0" normalizeH="0" baseline="0" noProof="0" dirty="0">
                <a:ln>
                  <a:noFill/>
                </a:ln>
                <a:solidFill>
                  <a:schemeClr val="tx1"/>
                </a:solidFill>
                <a:effectLst/>
                <a:uLnTx/>
                <a:uFillTx/>
                <a:latin typeface="+mn-lt"/>
                <a:ea typeface="+mn-ea"/>
                <a:cs typeface="+mn-cs"/>
              </a:rPr>
              <a:t>Send to Back.</a:t>
            </a:r>
            <a:endParaRPr kumimoji="0" lang="bg-BG"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bg-BG"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410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a:t>
            </a:fld>
            <a:endParaRPr lang="bg-BG"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ln>
            <a:solidFill>
              <a:srgbClr val="000000"/>
            </a:solidFill>
            <a:miter/>
          </a:ln>
        </p:spPr>
      </p:sp>
      <p:sp>
        <p:nvSpPr>
          <p:cNvPr id="6147" name="Notes Placeholder 2"/>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614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2</a:t>
            </a:fld>
            <a:endParaRPr lang="bg-BG"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BF0D6701-0197-8215-37A9-E4B539308C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F718FD97-97BD-82B4-3AEB-11E7488BA1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
        <p:nvSpPr>
          <p:cNvPr id="32772" name="Slide Number Placeholder 3">
            <a:extLst>
              <a:ext uri="{FF2B5EF4-FFF2-40B4-BE49-F238E27FC236}">
                <a16:creationId xmlns:a16="http://schemas.microsoft.com/office/drawing/2014/main" id="{F1BC2742-4D6F-CB31-02C1-6FABDE4A29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fld id="{0EE217C7-B355-4420-877E-1D508F0DD2D2}" type="slidenum">
              <a:rPr lang="bg-BG" altLang="zh-CN" sz="1200"/>
              <a:pPr/>
              <a:t>3</a:t>
            </a:fld>
            <a:endParaRPr lang="bg-BG"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solidFill>
            <a:miter/>
          </a:ln>
        </p:spPr>
      </p:sp>
      <p:sp>
        <p:nvSpPr>
          <p:cNvPr id="16387" name="Notes Placeholder 2"/>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1638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4</a:t>
            </a:fld>
            <a:endParaRPr lang="bg-BG"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solidFill>
            <a:miter/>
          </a:ln>
        </p:spPr>
      </p:sp>
      <p:sp>
        <p:nvSpPr>
          <p:cNvPr id="16387" name="Notes Placeholder 2"/>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1638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5</a:t>
            </a:fld>
            <a:endParaRPr lang="bg-BG"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a:ln>
            <a:solidFill>
              <a:srgbClr val="000000"/>
            </a:solidFill>
            <a:miter/>
          </a:ln>
        </p:spPr>
      </p:sp>
      <p:sp>
        <p:nvSpPr>
          <p:cNvPr id="122883" name="Notes Placeholder 2"/>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In this slide there is a background placeholder. Click to the small icon on the center of the slide and choose an image from computer. When add an image, you must sent it to back with </a:t>
            </a:r>
            <a:r>
              <a:rPr lang="en-US" altLang="zh-CN" b="1" dirty="0"/>
              <a:t>Right Click on Image </a:t>
            </a:r>
            <a:r>
              <a:rPr lang="en-US" altLang="zh-CN" dirty="0"/>
              <a:t>-&gt; </a:t>
            </a:r>
            <a:r>
              <a:rPr lang="en-US" altLang="zh-CN" b="1" dirty="0"/>
              <a:t>Send to Back</a:t>
            </a:r>
            <a:r>
              <a:rPr lang="en-US" altLang="zh-CN" dirty="0"/>
              <a:t> -&gt; </a:t>
            </a:r>
            <a:r>
              <a:rPr lang="en-US" altLang="zh-CN" b="1" dirty="0"/>
              <a:t>Send to Back.</a:t>
            </a:r>
            <a:endParaRPr lang="en-US" altLang="zh-CN" dirty="0"/>
          </a:p>
          <a:p>
            <a:pPr lvl="0">
              <a:spcBef>
                <a:spcPct val="0"/>
              </a:spcBef>
            </a:pPr>
            <a:endParaRPr lang="en-US" altLang="zh-CN" dirty="0"/>
          </a:p>
          <a:p>
            <a:pPr lvl="0">
              <a:spcBef>
                <a:spcPct val="0"/>
              </a:spcBef>
            </a:pPr>
            <a:r>
              <a:rPr lang="en-US" altLang="zh-CN" dirty="0"/>
              <a:t>You can change the other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a:p>
            <a:pPr lvl="0">
              <a:spcBef>
                <a:spcPct val="0"/>
              </a:spcBef>
            </a:pPr>
            <a:endParaRPr lang="en-US" altLang="zh-CN" dirty="0"/>
          </a:p>
        </p:txBody>
      </p:sp>
      <p:sp>
        <p:nvSpPr>
          <p:cNvPr id="122884"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6</a:t>
            </a:fld>
            <a:endParaRPr lang="bg-BG"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a:solidFill>
              <a:srgbClr val="000000"/>
            </a:solidFill>
            <a:miter/>
          </a:ln>
        </p:spPr>
      </p:sp>
      <p:sp>
        <p:nvSpPr>
          <p:cNvPr id="22531" name="Notes Placeholder 2"/>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7</a:t>
            </a:fld>
            <a:endParaRPr lang="bg-BG"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a:solidFill>
              <a:srgbClr val="000000"/>
            </a:solidFill>
            <a:miter/>
          </a:ln>
        </p:spPr>
      </p:sp>
      <p:sp>
        <p:nvSpPr>
          <p:cNvPr id="26627" name="Notes Placeholder 2"/>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8</a:t>
            </a:fld>
            <a:endParaRPr lang="bg-BG"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a:solidFill>
              <a:srgbClr val="000000"/>
            </a:solidFill>
            <a:miter/>
          </a:ln>
        </p:spPr>
      </p:sp>
      <p:sp>
        <p:nvSpPr>
          <p:cNvPr id="26627" name="Notes Placeholder 2"/>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9</a:t>
            </a:fld>
            <a:endParaRPr lang="bg-BG"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a:solidFill>
              <a:srgbClr val="000000"/>
            </a:solidFill>
            <a:miter/>
          </a:ln>
        </p:spPr>
      </p:sp>
      <p:sp>
        <p:nvSpPr>
          <p:cNvPr id="26627" name="Notes Placeholder 2"/>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10</a:t>
            </a:fld>
            <a:endParaRPr lang="bg-BG"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a:solidFill>
              <a:srgbClr val="000000"/>
            </a:solidFill>
            <a:miter/>
          </a:ln>
        </p:spPr>
      </p:sp>
      <p:sp>
        <p:nvSpPr>
          <p:cNvPr id="26627" name="Notes Placeholder 2"/>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11</a:t>
            </a:fld>
            <a:endParaRPr lang="bg-BG"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a:solidFill>
              <a:srgbClr val="000000"/>
            </a:solidFill>
            <a:miter/>
          </a:ln>
        </p:spPr>
      </p:sp>
      <p:sp>
        <p:nvSpPr>
          <p:cNvPr id="14339" name="Notes Placeholder 2"/>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In this slide there is a background placeholder. Click to the small icon on the center of the slide and choose an image from computer. When add an image, you must sent it to back with </a:t>
            </a:r>
            <a:r>
              <a:rPr lang="en-US" altLang="zh-CN" b="1" dirty="0"/>
              <a:t>Right Click on Image </a:t>
            </a:r>
            <a:r>
              <a:rPr lang="en-US" altLang="zh-CN" dirty="0"/>
              <a:t>-&gt; </a:t>
            </a:r>
            <a:r>
              <a:rPr lang="en-US" altLang="zh-CN" b="1" dirty="0"/>
              <a:t>Send to Back</a:t>
            </a:r>
            <a:r>
              <a:rPr lang="en-US" altLang="zh-CN" dirty="0"/>
              <a:t> -&gt; </a:t>
            </a:r>
            <a:r>
              <a:rPr lang="en-US" altLang="zh-CN" b="1" dirty="0"/>
              <a:t>Send to Back.</a:t>
            </a:r>
            <a:endParaRPr lang="en-US" altLang="zh-CN" dirty="0"/>
          </a:p>
          <a:p>
            <a:pPr lvl="0">
              <a:spcBef>
                <a:spcPct val="0"/>
              </a:spcBef>
            </a:pPr>
            <a:endParaRPr lang="en-US" altLang="zh-CN" dirty="0"/>
          </a:p>
          <a:p>
            <a:pPr lvl="0">
              <a:spcBef>
                <a:spcPct val="0"/>
              </a:spcBef>
            </a:pPr>
            <a:r>
              <a:rPr lang="en-US" altLang="zh-CN" dirty="0"/>
              <a:t>You can change the other image with </a:t>
            </a:r>
            <a:r>
              <a:rPr lang="en-US" altLang="zh-CN" b="1" dirty="0"/>
              <a:t>Right click </a:t>
            </a:r>
            <a:r>
              <a:rPr lang="en-US" altLang="zh-CN" dirty="0"/>
              <a:t>-&gt; </a:t>
            </a:r>
            <a:r>
              <a:rPr lang="en-US" altLang="zh-CN" b="1" dirty="0"/>
              <a:t>Format Picture </a:t>
            </a:r>
            <a:r>
              <a:rPr lang="en-US" altLang="zh-CN" dirty="0"/>
              <a:t>-&gt; </a:t>
            </a:r>
            <a:r>
              <a:rPr lang="en-US" altLang="zh-CN" b="1" dirty="0"/>
              <a:t>Fill Tab </a:t>
            </a:r>
            <a:r>
              <a:rPr lang="en-US" altLang="zh-CN" dirty="0"/>
              <a:t>-&gt; </a:t>
            </a:r>
            <a:r>
              <a:rPr lang="en-US" altLang="zh-CN" b="1" dirty="0"/>
              <a:t>Picture or texture fill </a:t>
            </a:r>
            <a:r>
              <a:rPr lang="en-US" altLang="zh-CN" dirty="0"/>
              <a:t>-&gt; </a:t>
            </a:r>
            <a:r>
              <a:rPr lang="en-US" altLang="zh-CN" b="1" dirty="0"/>
              <a:t>File button</a:t>
            </a:r>
          </a:p>
        </p:txBody>
      </p:sp>
      <p:sp>
        <p:nvSpPr>
          <p:cNvPr id="1434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12</a:t>
            </a:fld>
            <a:endParaRPr lang="bg-BG"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94139-DF15-D4C5-1619-D5EC996821B9}"/>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445527D8-A814-6327-2A82-C0AD3F4BCF39}"/>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622C312B-27E2-71EF-D80F-809FAF30BC44}"/>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3CFCA3B3-3278-1AA9-B790-F30852FF6CDC}"/>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13</a:t>
            </a:fld>
            <a:endParaRPr lang="bg-BG" sz="1200" dirty="0"/>
          </a:p>
        </p:txBody>
      </p:sp>
    </p:spTree>
    <p:extLst>
      <p:ext uri="{BB962C8B-B14F-4D97-AF65-F5344CB8AC3E}">
        <p14:creationId xmlns:p14="http://schemas.microsoft.com/office/powerpoint/2010/main" val="3005595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0B395-866D-1E8D-C913-113796086F21}"/>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2DCE2D9B-E7B5-D586-E912-1815B5311D90}"/>
              </a:ext>
            </a:extLst>
          </p:cNvPr>
          <p:cNvSpPr>
            <a:spLocks noGrp="1" noRot="1" noChangeAspect="1" noTextEdit="1"/>
          </p:cNvSpPr>
          <p:nvPr>
            <p:ph type="sldImg"/>
          </p:nvPr>
        </p:nvSpPr>
        <p:spPr>
          <a:ln>
            <a:solidFill>
              <a:srgbClr val="000000"/>
            </a:solidFill>
            <a:miter/>
          </a:ln>
        </p:spPr>
      </p:sp>
      <p:sp>
        <p:nvSpPr>
          <p:cNvPr id="26627" name="Notes Placeholder 2">
            <a:extLst>
              <a:ext uri="{FF2B5EF4-FFF2-40B4-BE49-F238E27FC236}">
                <a16:creationId xmlns:a16="http://schemas.microsoft.com/office/drawing/2014/main" id="{516AF70A-8026-EF5C-1336-55A21C775CDA}"/>
              </a:ext>
            </a:extLst>
          </p:cNvPr>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a:extLst>
              <a:ext uri="{FF2B5EF4-FFF2-40B4-BE49-F238E27FC236}">
                <a16:creationId xmlns:a16="http://schemas.microsoft.com/office/drawing/2014/main" id="{3920BC4B-53F1-0C72-4C52-793A4BD776AA}"/>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14</a:t>
            </a:fld>
            <a:endParaRPr lang="bg-BG" sz="1200" dirty="0"/>
          </a:p>
        </p:txBody>
      </p:sp>
    </p:spTree>
    <p:extLst>
      <p:ext uri="{BB962C8B-B14F-4D97-AF65-F5344CB8AC3E}">
        <p14:creationId xmlns:p14="http://schemas.microsoft.com/office/powerpoint/2010/main" val="5068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0ABC-D0D4-9787-5E42-8813720DD6FA}"/>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F601113-FD0B-9BDC-6AB5-F685D667200B}"/>
              </a:ext>
            </a:extLst>
          </p:cNvPr>
          <p:cNvSpPr>
            <a:spLocks noGrp="1" noRot="1" noChangeAspect="1" noTextEdit="1"/>
          </p:cNvSpPr>
          <p:nvPr>
            <p:ph type="sldImg"/>
          </p:nvPr>
        </p:nvSpPr>
        <p:spPr>
          <a:ln>
            <a:solidFill>
              <a:srgbClr val="000000"/>
            </a:solidFill>
            <a:miter/>
          </a:ln>
        </p:spPr>
      </p:sp>
      <p:sp>
        <p:nvSpPr>
          <p:cNvPr id="26627" name="Notes Placeholder 2">
            <a:extLst>
              <a:ext uri="{FF2B5EF4-FFF2-40B4-BE49-F238E27FC236}">
                <a16:creationId xmlns:a16="http://schemas.microsoft.com/office/drawing/2014/main" id="{09CD5088-16D7-F076-38C6-7BD1FA7B849D}"/>
              </a:ext>
            </a:extLst>
          </p:cNvPr>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a:extLst>
              <a:ext uri="{FF2B5EF4-FFF2-40B4-BE49-F238E27FC236}">
                <a16:creationId xmlns:a16="http://schemas.microsoft.com/office/drawing/2014/main" id="{C2D2E914-4D32-264E-5CC8-B9F8665FA750}"/>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15</a:t>
            </a:fld>
            <a:endParaRPr lang="bg-BG" sz="1200" dirty="0"/>
          </a:p>
        </p:txBody>
      </p:sp>
    </p:spTree>
    <p:extLst>
      <p:ext uri="{BB962C8B-B14F-4D97-AF65-F5344CB8AC3E}">
        <p14:creationId xmlns:p14="http://schemas.microsoft.com/office/powerpoint/2010/main" val="2153666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0C41-5249-168F-9053-118FA9EAD24C}"/>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2945F552-FFCF-C5AC-6921-D04B69CE3DFA}"/>
              </a:ext>
            </a:extLst>
          </p:cNvPr>
          <p:cNvSpPr>
            <a:spLocks noGrp="1" noRot="1" noChangeAspect="1" noTextEdit="1"/>
          </p:cNvSpPr>
          <p:nvPr>
            <p:ph type="sldImg"/>
          </p:nvPr>
        </p:nvSpPr>
        <p:spPr>
          <a:ln>
            <a:solidFill>
              <a:srgbClr val="000000"/>
            </a:solidFill>
            <a:miter/>
          </a:ln>
        </p:spPr>
      </p:sp>
      <p:sp>
        <p:nvSpPr>
          <p:cNvPr id="26627" name="Notes Placeholder 2">
            <a:extLst>
              <a:ext uri="{FF2B5EF4-FFF2-40B4-BE49-F238E27FC236}">
                <a16:creationId xmlns:a16="http://schemas.microsoft.com/office/drawing/2014/main" id="{40BB8D25-B462-B17F-D43B-AE3C6AC9FE83}"/>
              </a:ext>
            </a:extLst>
          </p:cNvPr>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a:extLst>
              <a:ext uri="{FF2B5EF4-FFF2-40B4-BE49-F238E27FC236}">
                <a16:creationId xmlns:a16="http://schemas.microsoft.com/office/drawing/2014/main" id="{EB281533-8488-BFA7-161C-CEC46D700AA8}"/>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16</a:t>
            </a:fld>
            <a:endParaRPr lang="bg-BG" sz="1200" dirty="0"/>
          </a:p>
        </p:txBody>
      </p:sp>
    </p:spTree>
    <p:extLst>
      <p:ext uri="{BB962C8B-B14F-4D97-AF65-F5344CB8AC3E}">
        <p14:creationId xmlns:p14="http://schemas.microsoft.com/office/powerpoint/2010/main" val="3435104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0359-C09F-6010-EF83-BFF08370F44A}"/>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9429CAAC-60CF-C7CF-7754-81CBED2833C4}"/>
              </a:ext>
            </a:extLst>
          </p:cNvPr>
          <p:cNvSpPr>
            <a:spLocks noGrp="1" noRot="1" noChangeAspect="1" noTextEdit="1"/>
          </p:cNvSpPr>
          <p:nvPr>
            <p:ph type="sldImg"/>
          </p:nvPr>
        </p:nvSpPr>
        <p:spPr>
          <a:ln>
            <a:solidFill>
              <a:srgbClr val="000000"/>
            </a:solidFill>
            <a:miter/>
          </a:ln>
        </p:spPr>
      </p:sp>
      <p:sp>
        <p:nvSpPr>
          <p:cNvPr id="26627" name="Notes Placeholder 2">
            <a:extLst>
              <a:ext uri="{FF2B5EF4-FFF2-40B4-BE49-F238E27FC236}">
                <a16:creationId xmlns:a16="http://schemas.microsoft.com/office/drawing/2014/main" id="{FF721D22-599D-48FE-CE33-DDB6AC74DF29}"/>
              </a:ext>
            </a:extLst>
          </p:cNvPr>
          <p:cNvSpPr>
            <a:spLocks noGrp="1"/>
          </p:cNvSpPr>
          <p:nvPr>
            <p:ph type="body" idx="1"/>
          </p:nvPr>
        </p:nvSpPr>
        <p:spPr>
          <a:noFill/>
          <a:ln>
            <a:noFill/>
          </a:ln>
        </p:spPr>
        <p:txBody>
          <a:bodyPr wrap="square" lIns="91440" tIns="45720" rIns="91440" bIns="45720" anchor="t" anchorCtr="0"/>
          <a:lstStyle/>
          <a:p>
            <a:pPr lvl="0">
              <a:spcBef>
                <a:spcPct val="0"/>
              </a:spcBef>
            </a:pPr>
            <a:r>
              <a:rPr lang="en-US" altLang="zh-CN" dirty="0"/>
              <a:t>You can change an image with </a:t>
            </a:r>
            <a:r>
              <a:rPr lang="en-US" altLang="zh-CN" b="1" dirty="0"/>
              <a:t>Right click </a:t>
            </a:r>
            <a:r>
              <a:rPr lang="en-US" altLang="zh-CN" dirty="0"/>
              <a:t>-&gt; </a:t>
            </a:r>
            <a:r>
              <a:rPr lang="en-US" altLang="zh-CN" b="1" dirty="0"/>
              <a:t>Change Picture</a:t>
            </a:r>
            <a:r>
              <a:rPr lang="en-US" altLang="zh-CN" dirty="0"/>
              <a:t>-&gt; </a:t>
            </a:r>
            <a:r>
              <a:rPr lang="en-US" altLang="zh-CN" b="1" dirty="0"/>
              <a:t>Browse</a:t>
            </a:r>
          </a:p>
        </p:txBody>
      </p:sp>
      <p:sp>
        <p:nvSpPr>
          <p:cNvPr id="26628" name="Slide Number Placeholder 3">
            <a:extLst>
              <a:ext uri="{FF2B5EF4-FFF2-40B4-BE49-F238E27FC236}">
                <a16:creationId xmlns:a16="http://schemas.microsoft.com/office/drawing/2014/main" id="{17E78EC4-78B4-3520-15DC-BC1A6C348652}"/>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17</a:t>
            </a:fld>
            <a:endParaRPr lang="bg-BG" sz="1200" dirty="0"/>
          </a:p>
        </p:txBody>
      </p:sp>
    </p:spTree>
    <p:extLst>
      <p:ext uri="{BB962C8B-B14F-4D97-AF65-F5344CB8AC3E}">
        <p14:creationId xmlns:p14="http://schemas.microsoft.com/office/powerpoint/2010/main" val="1723801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F69A-7140-8AA6-9D3E-B579D286077B}"/>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B274199E-2B4A-8A4D-098E-552CE8307261}"/>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11DE5753-E7FC-DA77-2778-FD7B4E87B10C}"/>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D5DB04F7-6F23-CD3B-6686-E5334DD34E7E}"/>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18</a:t>
            </a:fld>
            <a:endParaRPr lang="bg-BG" sz="1200" dirty="0"/>
          </a:p>
        </p:txBody>
      </p:sp>
    </p:spTree>
    <p:extLst>
      <p:ext uri="{BB962C8B-B14F-4D97-AF65-F5344CB8AC3E}">
        <p14:creationId xmlns:p14="http://schemas.microsoft.com/office/powerpoint/2010/main" val="2391613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E265-3B41-0007-AB22-4CAC6AAD0F0D}"/>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718CFC13-27D0-F854-A58A-C5CF9E1D6CBC}"/>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B9C2510C-BC1E-4BB2-5F0C-511A6775D594}"/>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267B9B90-02A5-1649-90F1-74BA4C7BEAEE}"/>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19</a:t>
            </a:fld>
            <a:endParaRPr lang="bg-BG" sz="1200" dirty="0"/>
          </a:p>
        </p:txBody>
      </p:sp>
    </p:spTree>
    <p:extLst>
      <p:ext uri="{BB962C8B-B14F-4D97-AF65-F5344CB8AC3E}">
        <p14:creationId xmlns:p14="http://schemas.microsoft.com/office/powerpoint/2010/main" val="37266921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94997-51EB-3F25-7FFD-3B03209673E4}"/>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4E99E172-FA3C-8196-DB34-29FFF90712C7}"/>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F555A18E-0190-58D5-28B5-CA036E9C7FEB}"/>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1CD038F0-747B-7E1E-9061-FED92328E00B}"/>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20</a:t>
            </a:fld>
            <a:endParaRPr lang="bg-BG" sz="1200" dirty="0"/>
          </a:p>
        </p:txBody>
      </p:sp>
    </p:spTree>
    <p:extLst>
      <p:ext uri="{BB962C8B-B14F-4D97-AF65-F5344CB8AC3E}">
        <p14:creationId xmlns:p14="http://schemas.microsoft.com/office/powerpoint/2010/main" val="24503364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51EE-31E4-33F0-68FD-D1F04CFD6A9B}"/>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A4401F14-1E21-DFD5-124E-D2DA27E120B2}"/>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5A998408-FCA2-8E49-00C2-3F9CC81CDF4A}"/>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748068D4-5E2E-3833-373A-3EC2A742E765}"/>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21</a:t>
            </a:fld>
            <a:endParaRPr lang="bg-BG" sz="1200" dirty="0"/>
          </a:p>
        </p:txBody>
      </p:sp>
    </p:spTree>
    <p:extLst>
      <p:ext uri="{BB962C8B-B14F-4D97-AF65-F5344CB8AC3E}">
        <p14:creationId xmlns:p14="http://schemas.microsoft.com/office/powerpoint/2010/main" val="4018641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579D7-F28F-B7C5-DE77-7BA164A90158}"/>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9270A139-BB86-D4CA-6E53-48136DCBF516}"/>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87FF462E-DE42-89D9-BE0C-390BA95F6ACF}"/>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E9437A28-EEDF-0BBB-700C-7FF072624C6D}"/>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22</a:t>
            </a:fld>
            <a:endParaRPr lang="bg-BG" sz="1200" dirty="0"/>
          </a:p>
        </p:txBody>
      </p:sp>
    </p:spTree>
    <p:extLst>
      <p:ext uri="{BB962C8B-B14F-4D97-AF65-F5344CB8AC3E}">
        <p14:creationId xmlns:p14="http://schemas.microsoft.com/office/powerpoint/2010/main" val="19107796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2F575-6991-7D0D-5A3F-51D2E5CBB333}"/>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9D44F4F9-852E-985F-74D5-A8BC22D655F7}"/>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56A65B38-D031-AAF0-08C3-EC0DBBA75F57}"/>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A87DF680-67ED-3352-60A7-2211C4FF7F46}"/>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23</a:t>
            </a:fld>
            <a:endParaRPr lang="bg-BG" sz="1200" dirty="0"/>
          </a:p>
        </p:txBody>
      </p:sp>
    </p:spTree>
    <p:extLst>
      <p:ext uri="{BB962C8B-B14F-4D97-AF65-F5344CB8AC3E}">
        <p14:creationId xmlns:p14="http://schemas.microsoft.com/office/powerpoint/2010/main" val="2326571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E8D26-ED95-4F65-B86A-9DB404E763DE}"/>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B3C9C510-C53A-8EC4-1830-5F5E3799F455}"/>
              </a:ext>
            </a:extLst>
          </p:cNvPr>
          <p:cNvSpPr>
            <a:spLocks noGrp="1" noRot="1" noChangeAspect="1" noTextEdit="1"/>
          </p:cNvSpPr>
          <p:nvPr>
            <p:ph type="sldImg"/>
          </p:nvPr>
        </p:nvSpPr>
        <p:spPr>
          <a:ln>
            <a:solidFill>
              <a:srgbClr val="000000"/>
            </a:solidFill>
            <a:miter/>
          </a:ln>
        </p:spPr>
      </p:sp>
      <p:sp>
        <p:nvSpPr>
          <p:cNvPr id="22531" name="Notes Placeholder 2">
            <a:extLst>
              <a:ext uri="{FF2B5EF4-FFF2-40B4-BE49-F238E27FC236}">
                <a16:creationId xmlns:a16="http://schemas.microsoft.com/office/drawing/2014/main" id="{4BDEC93D-76C3-3841-2C09-65BE6524F10B}"/>
              </a:ext>
            </a:extLst>
          </p:cNvPr>
          <p:cNvSpPr>
            <a:spLocks noGrp="1"/>
          </p:cNvSpPr>
          <p:nvPr>
            <p:ph type="body" idx="1"/>
          </p:nvPr>
        </p:nvSpPr>
        <p:spPr>
          <a:noFill/>
          <a:ln>
            <a:noFill/>
          </a:ln>
        </p:spPr>
        <p:txBody>
          <a:bodyPr wrap="square" lIns="91440" tIns="45720" rIns="91440" bIns="45720" anchor="t" anchorCtr="0"/>
          <a:lstStyle/>
          <a:p>
            <a:pPr lvl="0">
              <a:spcBef>
                <a:spcPct val="0"/>
              </a:spcBef>
            </a:pPr>
            <a:endParaRPr dirty="0"/>
          </a:p>
        </p:txBody>
      </p:sp>
      <p:sp>
        <p:nvSpPr>
          <p:cNvPr id="22532" name="Slide Number Placeholder 3">
            <a:extLst>
              <a:ext uri="{FF2B5EF4-FFF2-40B4-BE49-F238E27FC236}">
                <a16:creationId xmlns:a16="http://schemas.microsoft.com/office/drawing/2014/main" id="{C422E1CD-5A68-1E35-AC4E-C50E18CC8493}"/>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bg-BG" sz="1200" dirty="0"/>
              <a:t>24</a:t>
            </a:fld>
            <a:endParaRPr lang="bg-BG" sz="1200" dirty="0"/>
          </a:p>
        </p:txBody>
      </p:sp>
    </p:spTree>
    <p:extLst>
      <p:ext uri="{BB962C8B-B14F-4D97-AF65-F5344CB8AC3E}">
        <p14:creationId xmlns:p14="http://schemas.microsoft.com/office/powerpoint/2010/main" val="843888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243DF749-099C-D097-3A36-F0056BC968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AE3C95B1-248E-4CAE-B44D-EDDD6DB28E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
        <p:nvSpPr>
          <p:cNvPr id="34820" name="Slide Number Placeholder 3">
            <a:extLst>
              <a:ext uri="{FF2B5EF4-FFF2-40B4-BE49-F238E27FC236}">
                <a16:creationId xmlns:a16="http://schemas.microsoft.com/office/drawing/2014/main" id="{F0FD1FBF-B94C-6400-F6CD-79428A7CF8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fld id="{2345A91E-DCCA-4BF9-A959-2242B008C734}" type="slidenum">
              <a:rPr lang="bg-BG" altLang="zh-CN" sz="1200"/>
              <a:pPr/>
              <a:t>25</a:t>
            </a:fld>
            <a:endParaRPr lang="bg-BG" altLang="zh-CN"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42F0A-E9CB-982A-F9EA-F460C950AD91}"/>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C6EFA4A2-3FAB-35CD-DEC2-03E0D6F61E4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32B2E2B1-0451-4F1A-603D-A23E98B459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
        <p:nvSpPr>
          <p:cNvPr id="34820" name="Slide Number Placeholder 3">
            <a:extLst>
              <a:ext uri="{FF2B5EF4-FFF2-40B4-BE49-F238E27FC236}">
                <a16:creationId xmlns:a16="http://schemas.microsoft.com/office/drawing/2014/main" id="{12BA8A01-9B77-0C0E-EB44-D0A9CEAAD9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fld id="{2345A91E-DCCA-4BF9-A959-2242B008C734}" type="slidenum">
              <a:rPr lang="bg-BG" altLang="zh-CN" sz="1200"/>
              <a:pPr/>
              <a:t>26</a:t>
            </a:fld>
            <a:endParaRPr lang="bg-BG" altLang="zh-CN" sz="1200"/>
          </a:p>
        </p:txBody>
      </p:sp>
    </p:spTree>
    <p:extLst>
      <p:ext uri="{BB962C8B-B14F-4D97-AF65-F5344CB8AC3E}">
        <p14:creationId xmlns:p14="http://schemas.microsoft.com/office/powerpoint/2010/main" val="911886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B8B6E320-7CBA-BD43-52B7-D45D0018CA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17887130-CD4E-9ABF-3B8A-8042B36D00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
        <p:nvSpPr>
          <p:cNvPr id="49156" name="Slide Number Placeholder 3">
            <a:extLst>
              <a:ext uri="{FF2B5EF4-FFF2-40B4-BE49-F238E27FC236}">
                <a16:creationId xmlns:a16="http://schemas.microsoft.com/office/drawing/2014/main" id="{745FD835-A780-D2DA-B5F8-923058D2B98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fld id="{DC8C3CDE-20F4-48EF-B1FF-DE7E3A079021}" type="slidenum">
              <a:rPr lang="bg-BG" altLang="zh-CN" sz="1200"/>
              <a:pPr/>
              <a:t>27</a:t>
            </a:fld>
            <a:endParaRPr lang="bg-BG" altLang="zh-CN"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F16FD-43C4-37B8-E0FA-A48F7980A52A}"/>
            </a:ext>
          </a:extLst>
        </p:cNvPr>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3CCBCA08-5622-025F-01C9-0506B574A3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20518577-2618-CFDE-D432-592D48161B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
        <p:nvSpPr>
          <p:cNvPr id="49156" name="Slide Number Placeholder 3">
            <a:extLst>
              <a:ext uri="{FF2B5EF4-FFF2-40B4-BE49-F238E27FC236}">
                <a16:creationId xmlns:a16="http://schemas.microsoft.com/office/drawing/2014/main" id="{ECC14107-7A5C-957F-6396-3B1EE85C49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fld id="{DC8C3CDE-20F4-48EF-B1FF-DE7E3A079021}" type="slidenum">
              <a:rPr lang="bg-BG" altLang="zh-CN" sz="1200"/>
              <a:pPr/>
              <a:t>28</a:t>
            </a:fld>
            <a:endParaRPr lang="bg-BG" altLang="zh-CN" sz="1200"/>
          </a:p>
        </p:txBody>
      </p:sp>
    </p:spTree>
    <p:extLst>
      <p:ext uri="{BB962C8B-B14F-4D97-AF65-F5344CB8AC3E}">
        <p14:creationId xmlns:p14="http://schemas.microsoft.com/office/powerpoint/2010/main" val="488069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EAA23-51A8-F083-F83E-B91BDA458B66}"/>
            </a:ext>
          </a:extLst>
        </p:cNvPr>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B6FC0C2D-F83C-49B5-CA7E-E9CB853A0A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F2D610C2-F22F-04C6-C7ED-FA534DD8BE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
        <p:nvSpPr>
          <p:cNvPr id="49156" name="Slide Number Placeholder 3">
            <a:extLst>
              <a:ext uri="{FF2B5EF4-FFF2-40B4-BE49-F238E27FC236}">
                <a16:creationId xmlns:a16="http://schemas.microsoft.com/office/drawing/2014/main" id="{4C39C205-FB0E-5454-AE81-81A0C1B784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fld id="{DC8C3CDE-20F4-48EF-B1FF-DE7E3A079021}" type="slidenum">
              <a:rPr lang="bg-BG" altLang="zh-CN" sz="1200"/>
              <a:pPr/>
              <a:t>29</a:t>
            </a:fld>
            <a:endParaRPr lang="bg-BG" altLang="zh-CN" sz="1200"/>
          </a:p>
        </p:txBody>
      </p:sp>
    </p:spTree>
    <p:extLst>
      <p:ext uri="{BB962C8B-B14F-4D97-AF65-F5344CB8AC3E}">
        <p14:creationId xmlns:p14="http://schemas.microsoft.com/office/powerpoint/2010/main" val="3449105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tx1"/>
        </a:solid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p:spPr>
        <p:txBody>
          <a:bodyPr/>
          <a:lstStyle/>
          <a:p>
            <a:pPr marL="190500" marR="0" lvl="0" indent="-190500" algn="l" defTabSz="762000" rtl="0" eaLnBrk="1" fontAlgn="auto" latinLnBrk="0" hangingPunct="1">
              <a:lnSpc>
                <a:spcPct val="90000"/>
              </a:lnSpc>
              <a:spcBef>
                <a:spcPts val="835"/>
              </a:spcBef>
              <a:spcAft>
                <a:spcPts val="0"/>
              </a:spcAft>
              <a:buClrTx/>
              <a:buSzTx/>
              <a:buFont typeface="Arial" panose="020B0604020202020204" pitchFamily="34" charset="0"/>
              <a:buChar char="•"/>
              <a:defRPr/>
            </a:pPr>
            <a:endParaRPr kumimoji="0" lang="bg-BG" sz="2335"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tx1"/>
        </a:solidFill>
        <a:effectLst/>
      </p:bgPr>
    </p:bg>
    <p:spTree>
      <p:nvGrpSpPr>
        <p:cNvPr id="1" name=""/>
        <p:cNvGrpSpPr/>
        <p:nvPr/>
      </p:nvGrpSpPr>
      <p:grpSpPr>
        <a:xfrm>
          <a:off x="0" y="0"/>
          <a:ext cx="0" cy="0"/>
          <a:chOff x="0" y="0"/>
          <a:chExt cx="0" cy="0"/>
        </a:xfrm>
      </p:grpSpPr>
      <p:sp>
        <p:nvSpPr>
          <p:cNvPr id="2" name="Rounded Rectangle 1"/>
          <p:cNvSpPr/>
          <p:nvPr/>
        </p:nvSpPr>
        <p:spPr>
          <a:xfrm>
            <a:off x="836296" y="6509386"/>
            <a:ext cx="481966" cy="200026"/>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4" name="Rounded Rectangle 2"/>
          <p:cNvSpPr/>
          <p:nvPr/>
        </p:nvSpPr>
        <p:spPr>
          <a:xfrm>
            <a:off x="5669280" y="849630"/>
            <a:ext cx="853440" cy="55246"/>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accent2"/>
              </a:solidFill>
              <a:effectLst/>
              <a:uLnTx/>
              <a:uFillTx/>
              <a:latin typeface="+mn-lt"/>
              <a:ea typeface="+mn-ea"/>
              <a:cs typeface="+mn-cs"/>
            </a:endParaRPr>
          </a:p>
        </p:txBody>
      </p:sp>
      <p:sp>
        <p:nvSpPr>
          <p:cNvPr id="5" name="Rounded Rectangle 3"/>
          <p:cNvSpPr/>
          <p:nvPr/>
        </p:nvSpPr>
        <p:spPr>
          <a:xfrm flipV="1">
            <a:off x="838200" y="6372226"/>
            <a:ext cx="10515600" cy="55246"/>
          </a:xfrm>
          <a:prstGeom prst="roundRect">
            <a:avLst>
              <a:gd name="adj" fmla="val 50000"/>
            </a:avLst>
          </a:prstGeom>
          <a:solidFill>
            <a:schemeClr val="tx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accent2"/>
              </a:solidFill>
              <a:effectLst/>
              <a:uLnTx/>
              <a:uFillTx/>
              <a:latin typeface="+mn-lt"/>
              <a:ea typeface="+mn-ea"/>
              <a:cs typeface="+mn-cs"/>
            </a:endParaRPr>
          </a:p>
        </p:txBody>
      </p:sp>
      <p:sp>
        <p:nvSpPr>
          <p:cNvPr id="6" name="Freeform 539">
            <a:hlinkClick r:id="" action="ppaction://hlinkshowjump?jump=nextslide"/>
          </p:cNvPr>
          <p:cNvSpPr>
            <a:spLocks noEditPoints="1"/>
          </p:cNvSpPr>
          <p:nvPr/>
        </p:nvSpPr>
        <p:spPr bwMode="auto">
          <a:xfrm>
            <a:off x="11140440" y="6511290"/>
            <a:ext cx="211456" cy="21336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64 h 512"/>
              <a:gd name="T12" fmla="*/ 48 w 512"/>
              <a:gd name="T13" fmla="*/ 256 h 512"/>
              <a:gd name="T14" fmla="*/ 256 w 512"/>
              <a:gd name="T15" fmla="*/ 48 h 512"/>
              <a:gd name="T16" fmla="*/ 464 w 512"/>
              <a:gd name="T17" fmla="*/ 256 h 512"/>
              <a:gd name="T18" fmla="*/ 256 w 512"/>
              <a:gd name="T19" fmla="*/ 464 h 512"/>
              <a:gd name="T20" fmla="*/ 192 w 512"/>
              <a:gd name="T21" fmla="*/ 144 h 512"/>
              <a:gd name="T22" fmla="*/ 384 w 512"/>
              <a:gd name="T23" fmla="*/ 256 h 512"/>
              <a:gd name="T24" fmla="*/ 192 w 512"/>
              <a:gd name="T25" fmla="*/ 368 h 512"/>
              <a:gd name="T26" fmla="*/ 192 w 512"/>
              <a:gd name="T27" fmla="*/ 14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2" h="512">
                <a:moveTo>
                  <a:pt x="256" y="0"/>
                </a:moveTo>
                <a:cubicBezTo>
                  <a:pt x="115" y="0"/>
                  <a:pt x="0" y="115"/>
                  <a:pt x="0" y="256"/>
                </a:cubicBezTo>
                <a:cubicBezTo>
                  <a:pt x="0" y="397"/>
                  <a:pt x="115" y="512"/>
                  <a:pt x="256" y="512"/>
                </a:cubicBezTo>
                <a:cubicBezTo>
                  <a:pt x="397" y="512"/>
                  <a:pt x="512" y="397"/>
                  <a:pt x="512" y="256"/>
                </a:cubicBezTo>
                <a:cubicBezTo>
                  <a:pt x="512" y="115"/>
                  <a:pt x="397" y="0"/>
                  <a:pt x="256" y="0"/>
                </a:cubicBezTo>
                <a:close/>
                <a:moveTo>
                  <a:pt x="256" y="464"/>
                </a:moveTo>
                <a:cubicBezTo>
                  <a:pt x="141" y="464"/>
                  <a:pt x="48" y="371"/>
                  <a:pt x="48" y="256"/>
                </a:cubicBezTo>
                <a:cubicBezTo>
                  <a:pt x="48" y="141"/>
                  <a:pt x="141" y="48"/>
                  <a:pt x="256" y="48"/>
                </a:cubicBezTo>
                <a:cubicBezTo>
                  <a:pt x="371" y="48"/>
                  <a:pt x="464" y="141"/>
                  <a:pt x="464" y="256"/>
                </a:cubicBezTo>
                <a:cubicBezTo>
                  <a:pt x="464" y="371"/>
                  <a:pt x="371" y="464"/>
                  <a:pt x="256" y="464"/>
                </a:cubicBezTo>
                <a:close/>
                <a:moveTo>
                  <a:pt x="192" y="144"/>
                </a:moveTo>
                <a:cubicBezTo>
                  <a:pt x="384" y="256"/>
                  <a:pt x="384" y="256"/>
                  <a:pt x="384" y="256"/>
                </a:cubicBezTo>
                <a:cubicBezTo>
                  <a:pt x="192" y="368"/>
                  <a:pt x="192" y="368"/>
                  <a:pt x="192" y="368"/>
                </a:cubicBezTo>
                <a:lnTo>
                  <a:pt x="192" y="144"/>
                </a:ln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bg1">
                  <a:lumMod val="85000"/>
                </a:schemeClr>
              </a:solidFill>
              <a:effectLst/>
              <a:uLnTx/>
              <a:uFillTx/>
              <a:latin typeface="+mn-lt"/>
              <a:ea typeface="+mn-ea"/>
              <a:cs typeface="+mn-cs"/>
            </a:endParaRPr>
          </a:p>
        </p:txBody>
      </p:sp>
      <p:sp>
        <p:nvSpPr>
          <p:cNvPr id="7" name="Freeform 539">
            <a:hlinkClick r:id="" action="ppaction://hlinkshowjump?jump=previousslide"/>
          </p:cNvPr>
          <p:cNvSpPr>
            <a:spLocks noEditPoints="1"/>
          </p:cNvSpPr>
          <p:nvPr/>
        </p:nvSpPr>
        <p:spPr bwMode="auto">
          <a:xfrm flipH="1">
            <a:off x="10900410" y="6511290"/>
            <a:ext cx="211456" cy="21336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64 h 512"/>
              <a:gd name="T12" fmla="*/ 48 w 512"/>
              <a:gd name="T13" fmla="*/ 256 h 512"/>
              <a:gd name="T14" fmla="*/ 256 w 512"/>
              <a:gd name="T15" fmla="*/ 48 h 512"/>
              <a:gd name="T16" fmla="*/ 464 w 512"/>
              <a:gd name="T17" fmla="*/ 256 h 512"/>
              <a:gd name="T18" fmla="*/ 256 w 512"/>
              <a:gd name="T19" fmla="*/ 464 h 512"/>
              <a:gd name="T20" fmla="*/ 192 w 512"/>
              <a:gd name="T21" fmla="*/ 144 h 512"/>
              <a:gd name="T22" fmla="*/ 384 w 512"/>
              <a:gd name="T23" fmla="*/ 256 h 512"/>
              <a:gd name="T24" fmla="*/ 192 w 512"/>
              <a:gd name="T25" fmla="*/ 368 h 512"/>
              <a:gd name="T26" fmla="*/ 192 w 512"/>
              <a:gd name="T27" fmla="*/ 14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2" h="512">
                <a:moveTo>
                  <a:pt x="256" y="0"/>
                </a:moveTo>
                <a:cubicBezTo>
                  <a:pt x="115" y="0"/>
                  <a:pt x="0" y="115"/>
                  <a:pt x="0" y="256"/>
                </a:cubicBezTo>
                <a:cubicBezTo>
                  <a:pt x="0" y="397"/>
                  <a:pt x="115" y="512"/>
                  <a:pt x="256" y="512"/>
                </a:cubicBezTo>
                <a:cubicBezTo>
                  <a:pt x="397" y="512"/>
                  <a:pt x="512" y="397"/>
                  <a:pt x="512" y="256"/>
                </a:cubicBezTo>
                <a:cubicBezTo>
                  <a:pt x="512" y="115"/>
                  <a:pt x="397" y="0"/>
                  <a:pt x="256" y="0"/>
                </a:cubicBezTo>
                <a:close/>
                <a:moveTo>
                  <a:pt x="256" y="464"/>
                </a:moveTo>
                <a:cubicBezTo>
                  <a:pt x="141" y="464"/>
                  <a:pt x="48" y="371"/>
                  <a:pt x="48" y="256"/>
                </a:cubicBezTo>
                <a:cubicBezTo>
                  <a:pt x="48" y="141"/>
                  <a:pt x="141" y="48"/>
                  <a:pt x="256" y="48"/>
                </a:cubicBezTo>
                <a:cubicBezTo>
                  <a:pt x="371" y="48"/>
                  <a:pt x="464" y="141"/>
                  <a:pt x="464" y="256"/>
                </a:cubicBezTo>
                <a:cubicBezTo>
                  <a:pt x="464" y="371"/>
                  <a:pt x="371" y="464"/>
                  <a:pt x="256" y="464"/>
                </a:cubicBezTo>
                <a:close/>
                <a:moveTo>
                  <a:pt x="192" y="144"/>
                </a:moveTo>
                <a:cubicBezTo>
                  <a:pt x="384" y="256"/>
                  <a:pt x="384" y="256"/>
                  <a:pt x="384" y="256"/>
                </a:cubicBezTo>
                <a:cubicBezTo>
                  <a:pt x="192" y="368"/>
                  <a:pt x="192" y="368"/>
                  <a:pt x="192" y="368"/>
                </a:cubicBezTo>
                <a:lnTo>
                  <a:pt x="192" y="144"/>
                </a:ln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bg1">
                  <a:lumMod val="85000"/>
                </a:schemeClr>
              </a:solidFill>
              <a:effectLst/>
              <a:uLnTx/>
              <a:uFillTx/>
              <a:latin typeface="+mn-lt"/>
              <a:ea typeface="+mn-ea"/>
              <a:cs typeface="+mn-cs"/>
            </a:endParaRPr>
          </a:p>
        </p:txBody>
      </p:sp>
      <p:sp>
        <p:nvSpPr>
          <p:cNvPr id="1031" name="TextBox 6"/>
          <p:cNvSpPr txBox="1"/>
          <p:nvPr userDrawn="1"/>
        </p:nvSpPr>
        <p:spPr>
          <a:xfrm>
            <a:off x="4366260" y="6417946"/>
            <a:ext cx="3478530" cy="312420"/>
          </a:xfrm>
          <a:prstGeom prst="rect">
            <a:avLst/>
          </a:prstGeom>
          <a:noFill/>
          <a:ln w="9525">
            <a:noFill/>
          </a:ln>
        </p:spPr>
        <p:txBody>
          <a:bodyPr>
            <a:spAutoFit/>
          </a:bodyPr>
          <a:lstStyle/>
          <a:p>
            <a:pPr lvl="0" algn="ctr" eaLnBrk="1" hangingPunct="1">
              <a:lnSpc>
                <a:spcPct val="150000"/>
              </a:lnSpc>
              <a:buNone/>
            </a:pPr>
            <a:r>
              <a:rPr lang="en-US" altLang="zh-CN" sz="960" dirty="0">
                <a:solidFill>
                  <a:schemeClr val="bg2"/>
                </a:solidFill>
                <a:latin typeface="Open Sans Light" pitchFamily="34" charset="0"/>
                <a:cs typeface="Open Sans Light" pitchFamily="34" charset="0"/>
              </a:rPr>
              <a:t>Harmony presentation        www.yourwebsite.com</a:t>
            </a:r>
            <a:endParaRPr lang="en-US" altLang="zh-CN" sz="960" dirty="0">
              <a:solidFill>
                <a:schemeClr val="bg2"/>
              </a:solidFill>
              <a:latin typeface="Open Sans Light" pitchFamily="34" charset="0"/>
              <a:ea typeface="Open Sans Light" pitchFamily="34" charset="0"/>
            </a:endParaRPr>
          </a:p>
        </p:txBody>
      </p:sp>
      <p:sp>
        <p:nvSpPr>
          <p:cNvPr id="8" name="Oval 7"/>
          <p:cNvSpPr/>
          <p:nvPr/>
        </p:nvSpPr>
        <p:spPr>
          <a:xfrm>
            <a:off x="6073140" y="6570346"/>
            <a:ext cx="55246" cy="5524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bg2"/>
              </a:solidFill>
              <a:effectLst/>
              <a:uLnTx/>
              <a:uFillTx/>
              <a:latin typeface="+mn-lt"/>
              <a:ea typeface="+mn-ea"/>
              <a:cs typeface="+mn-cs"/>
            </a:endParaRPr>
          </a:p>
        </p:txBody>
      </p:sp>
      <p:sp>
        <p:nvSpPr>
          <p:cNvPr id="3" name="Title Placeholder 1"/>
          <p:cNvSpPr>
            <a:spLocks noGrp="1"/>
          </p:cNvSpPr>
          <p:nvPr>
            <p:ph type="title"/>
          </p:nvPr>
        </p:nvSpPr>
        <p:spPr>
          <a:xfrm>
            <a:off x="838200" y="365126"/>
            <a:ext cx="10515600" cy="512699"/>
          </a:xfrm>
          <a:prstGeom prst="rect">
            <a:avLst/>
          </a:prstGeom>
        </p:spPr>
        <p:txBody>
          <a:bodyPr vert="horz" lIns="91440" tIns="45720" rIns="91440" bIns="45720" rtlCol="0" anchor="ctr">
            <a:normAutofit/>
          </a:bodyPr>
          <a:lstStyle>
            <a:lvl1pPr algn="ctr">
              <a:defRPr sz="2880">
                <a:solidFill>
                  <a:schemeClr val="tx2"/>
                </a:solidFill>
                <a:latin typeface="Open Sans Light" pitchFamily="34" charset="0"/>
                <a:ea typeface="Open Sans Light" pitchFamily="34" charset="0"/>
                <a:cs typeface="Open Sans Light" pitchFamily="34" charset="0"/>
              </a:defRPr>
            </a:lvl1pPr>
          </a:lstStyle>
          <a:p>
            <a:r>
              <a:rPr lang="en-US" dirty="0"/>
              <a:t>Click to edit Master title style</a:t>
            </a:r>
          </a:p>
        </p:txBody>
      </p:sp>
      <p:sp>
        <p:nvSpPr>
          <p:cNvPr id="14" name="Subtitle 2"/>
          <p:cNvSpPr>
            <a:spLocks noGrp="1"/>
          </p:cNvSpPr>
          <p:nvPr>
            <p:ph type="subTitle" idx="1"/>
          </p:nvPr>
        </p:nvSpPr>
        <p:spPr>
          <a:xfrm>
            <a:off x="838204" y="911401"/>
            <a:ext cx="10515601" cy="262478"/>
          </a:xfrm>
          <a:prstGeom prst="rect">
            <a:avLst/>
          </a:prstGeom>
        </p:spPr>
        <p:txBody>
          <a:bodyPr/>
          <a:lstStyle>
            <a:lvl1pPr marL="0" indent="0" algn="ctr">
              <a:buNone/>
              <a:defRPr sz="1320">
                <a:solidFill>
                  <a:schemeClr val="bg2"/>
                </a:solidFill>
                <a:latin typeface="Open Sans Light" pitchFamily="34" charset="0"/>
                <a:ea typeface="Open Sans Light" pitchFamily="34" charset="0"/>
                <a:cs typeface="Open Sans Light" pitchFamily="34" charset="0"/>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endParaRPr lang="bg-BG" dirty="0"/>
          </a:p>
        </p:txBody>
      </p:sp>
      <p:sp>
        <p:nvSpPr>
          <p:cNvPr id="9" name="Slide Number Placeholder 5"/>
          <p:cNvSpPr>
            <a:spLocks noGrp="1"/>
          </p:cNvSpPr>
          <p:nvPr>
            <p:ph type="sldNum" sz="quarter" idx="4"/>
          </p:nvPr>
        </p:nvSpPr>
        <p:spPr>
          <a:xfrm>
            <a:off x="765810" y="6471286"/>
            <a:ext cx="630556" cy="276226"/>
          </a:xfrm>
          <a:prstGeom prst="rect">
            <a:avLst/>
          </a:prstGeom>
        </p:spPr>
        <p:txBody>
          <a:bodyPr vert="horz" lIns="91440" tIns="45720" rIns="91440" bIns="45720" rtlCol="0" anchor="ctr"/>
          <a:lstStyle>
            <a:lvl1pPr algn="ctr">
              <a:defRPr sz="1320" b="0">
                <a:solidFill>
                  <a:schemeClr val="tx1"/>
                </a:solidFill>
                <a:latin typeface="Open Sans" pitchFamily="34" charset="0"/>
                <a:ea typeface="Open Sans" pitchFamily="34" charset="0"/>
                <a:cs typeface="Open Sans" pitchFamily="34" charset="0"/>
              </a:defRPr>
            </a:lvl1pPr>
          </a:lstStyle>
          <a:p>
            <a:pPr marL="0" marR="0" lvl="0" indent="0" algn="ctr" defTabSz="713105" rtl="0" eaLnBrk="1" fontAlgn="auto" latinLnBrk="0" hangingPunct="1">
              <a:lnSpc>
                <a:spcPct val="100000"/>
              </a:lnSpc>
              <a:spcBef>
                <a:spcPts val="0"/>
              </a:spcBef>
              <a:spcAft>
                <a:spcPts val="0"/>
              </a:spcAft>
              <a:buClrTx/>
              <a:buSzTx/>
              <a:buFontTx/>
              <a:buNone/>
              <a:defRPr/>
            </a:pPr>
            <a:fld id="{48F63A3B-78C7-47BE-AE5E-E10140E04643}" type="slidenum">
              <a:rPr kumimoji="0" lang="en-US" sz="1100" b="0" i="0" u="none" strike="noStrike" kern="1200" cap="none" spc="0" normalizeH="0" baseline="0" noProof="0" smtClean="0">
                <a:ln>
                  <a:noFill/>
                </a:ln>
                <a:solidFill>
                  <a:schemeClr val="tx1"/>
                </a:solidFill>
                <a:effectLst/>
                <a:uLnTx/>
                <a:uFillTx/>
                <a:latin typeface="Open Sans" pitchFamily="34" charset="0"/>
                <a:ea typeface="Open Sans" pitchFamily="34" charset="0"/>
                <a:cs typeface="Open Sans" pitchFamily="34" charset="0"/>
              </a:rPr>
              <a:t>‹#›</a:t>
            </a:fld>
            <a:endParaRPr kumimoji="0" lang="en-US" sz="1100" b="0" i="0" u="none" strike="noStrike" kern="1200" cap="none" spc="0" normalizeH="0" baseline="0" noProof="0" dirty="0">
              <a:ln>
                <a:noFill/>
              </a:ln>
              <a:solidFill>
                <a:schemeClr val="tx1"/>
              </a:solidFill>
              <a:effectLst/>
              <a:uLnTx/>
              <a:uFillTx/>
              <a:latin typeface="Open Sans" pitchFamily="34" charset="0"/>
              <a:ea typeface="Open Sans" pitchFamily="34" charset="0"/>
              <a:cs typeface="Open Sans"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itle Slide">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20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10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10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4540139" y="2151701"/>
            <a:ext cx="1470130" cy="2167380"/>
            <a:chOff x="4497388" y="1831975"/>
            <a:chExt cx="2530475" cy="3730625"/>
          </a:xfrm>
          <a:solidFill>
            <a:schemeClr val="tx2"/>
          </a:solidFill>
        </p:grpSpPr>
        <p:sp>
          <p:nvSpPr>
            <p:cNvPr id="13" name="Freeform 13"/>
            <p:cNvSpPr/>
            <p:nvPr/>
          </p:nvSpPr>
          <p:spPr bwMode="auto">
            <a:xfrm>
              <a:off x="4497388" y="1831975"/>
              <a:ext cx="120650" cy="3730625"/>
            </a:xfrm>
            <a:custGeom>
              <a:avLst/>
              <a:gdLst>
                <a:gd name="T0" fmla="*/ 32 w 32"/>
                <a:gd name="T1" fmla="*/ 976 h 992"/>
                <a:gd name="T2" fmla="*/ 16 w 32"/>
                <a:gd name="T3" fmla="*/ 992 h 992"/>
                <a:gd name="T4" fmla="*/ 16 w 32"/>
                <a:gd name="T5" fmla="*/ 992 h 992"/>
                <a:gd name="T6" fmla="*/ 0 w 32"/>
                <a:gd name="T7" fmla="*/ 976 h 992"/>
                <a:gd name="T8" fmla="*/ 0 w 32"/>
                <a:gd name="T9" fmla="*/ 16 h 992"/>
                <a:gd name="T10" fmla="*/ 16 w 32"/>
                <a:gd name="T11" fmla="*/ 0 h 992"/>
                <a:gd name="T12" fmla="*/ 16 w 32"/>
                <a:gd name="T13" fmla="*/ 0 h 992"/>
                <a:gd name="T14" fmla="*/ 32 w 32"/>
                <a:gd name="T15" fmla="*/ 16 h 992"/>
                <a:gd name="T16" fmla="*/ 32 w 32"/>
                <a:gd name="T17" fmla="*/ 97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992">
                  <a:moveTo>
                    <a:pt x="32" y="976"/>
                  </a:moveTo>
                  <a:cubicBezTo>
                    <a:pt x="32" y="985"/>
                    <a:pt x="25" y="992"/>
                    <a:pt x="16" y="992"/>
                  </a:cubicBezTo>
                  <a:cubicBezTo>
                    <a:pt x="16" y="992"/>
                    <a:pt x="16" y="992"/>
                    <a:pt x="16" y="992"/>
                  </a:cubicBezTo>
                  <a:cubicBezTo>
                    <a:pt x="7" y="992"/>
                    <a:pt x="0" y="985"/>
                    <a:pt x="0" y="976"/>
                  </a:cubicBezTo>
                  <a:cubicBezTo>
                    <a:pt x="0" y="16"/>
                    <a:pt x="0" y="16"/>
                    <a:pt x="0" y="16"/>
                  </a:cubicBezTo>
                  <a:cubicBezTo>
                    <a:pt x="0" y="7"/>
                    <a:pt x="7" y="0"/>
                    <a:pt x="16" y="0"/>
                  </a:cubicBezTo>
                  <a:cubicBezTo>
                    <a:pt x="16" y="0"/>
                    <a:pt x="16" y="0"/>
                    <a:pt x="16" y="0"/>
                  </a:cubicBezTo>
                  <a:cubicBezTo>
                    <a:pt x="25" y="0"/>
                    <a:pt x="32" y="7"/>
                    <a:pt x="32" y="16"/>
                  </a:cubicBezTo>
                  <a:lnTo>
                    <a:pt x="32" y="9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14" name="Freeform 14"/>
            <p:cNvSpPr/>
            <p:nvPr/>
          </p:nvSpPr>
          <p:spPr bwMode="auto">
            <a:xfrm>
              <a:off x="4678363" y="1831975"/>
              <a:ext cx="120650" cy="3730625"/>
            </a:xfrm>
            <a:custGeom>
              <a:avLst/>
              <a:gdLst>
                <a:gd name="T0" fmla="*/ 32 w 32"/>
                <a:gd name="T1" fmla="*/ 976 h 992"/>
                <a:gd name="T2" fmla="*/ 16 w 32"/>
                <a:gd name="T3" fmla="*/ 992 h 992"/>
                <a:gd name="T4" fmla="*/ 16 w 32"/>
                <a:gd name="T5" fmla="*/ 992 h 992"/>
                <a:gd name="T6" fmla="*/ 0 w 32"/>
                <a:gd name="T7" fmla="*/ 976 h 992"/>
                <a:gd name="T8" fmla="*/ 0 w 32"/>
                <a:gd name="T9" fmla="*/ 16 h 992"/>
                <a:gd name="T10" fmla="*/ 16 w 32"/>
                <a:gd name="T11" fmla="*/ 0 h 992"/>
                <a:gd name="T12" fmla="*/ 16 w 32"/>
                <a:gd name="T13" fmla="*/ 0 h 992"/>
                <a:gd name="T14" fmla="*/ 32 w 32"/>
                <a:gd name="T15" fmla="*/ 16 h 992"/>
                <a:gd name="T16" fmla="*/ 32 w 32"/>
                <a:gd name="T17" fmla="*/ 97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992">
                  <a:moveTo>
                    <a:pt x="32" y="976"/>
                  </a:moveTo>
                  <a:cubicBezTo>
                    <a:pt x="32" y="985"/>
                    <a:pt x="25" y="992"/>
                    <a:pt x="16" y="992"/>
                  </a:cubicBezTo>
                  <a:cubicBezTo>
                    <a:pt x="16" y="992"/>
                    <a:pt x="16" y="992"/>
                    <a:pt x="16" y="992"/>
                  </a:cubicBezTo>
                  <a:cubicBezTo>
                    <a:pt x="7" y="992"/>
                    <a:pt x="0" y="985"/>
                    <a:pt x="0" y="976"/>
                  </a:cubicBezTo>
                  <a:cubicBezTo>
                    <a:pt x="0" y="16"/>
                    <a:pt x="0" y="16"/>
                    <a:pt x="0" y="16"/>
                  </a:cubicBezTo>
                  <a:cubicBezTo>
                    <a:pt x="0" y="7"/>
                    <a:pt x="7" y="0"/>
                    <a:pt x="16" y="0"/>
                  </a:cubicBezTo>
                  <a:cubicBezTo>
                    <a:pt x="16" y="0"/>
                    <a:pt x="16" y="0"/>
                    <a:pt x="16" y="0"/>
                  </a:cubicBezTo>
                  <a:cubicBezTo>
                    <a:pt x="25" y="0"/>
                    <a:pt x="32" y="7"/>
                    <a:pt x="32" y="16"/>
                  </a:cubicBezTo>
                  <a:lnTo>
                    <a:pt x="32" y="9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15" name="Freeform 15"/>
            <p:cNvSpPr/>
            <p:nvPr/>
          </p:nvSpPr>
          <p:spPr bwMode="auto">
            <a:xfrm>
              <a:off x="4859338" y="1831975"/>
              <a:ext cx="120650" cy="3730625"/>
            </a:xfrm>
            <a:custGeom>
              <a:avLst/>
              <a:gdLst>
                <a:gd name="T0" fmla="*/ 32 w 32"/>
                <a:gd name="T1" fmla="*/ 976 h 992"/>
                <a:gd name="T2" fmla="*/ 16 w 32"/>
                <a:gd name="T3" fmla="*/ 992 h 992"/>
                <a:gd name="T4" fmla="*/ 16 w 32"/>
                <a:gd name="T5" fmla="*/ 992 h 992"/>
                <a:gd name="T6" fmla="*/ 0 w 32"/>
                <a:gd name="T7" fmla="*/ 976 h 992"/>
                <a:gd name="T8" fmla="*/ 0 w 32"/>
                <a:gd name="T9" fmla="*/ 16 h 992"/>
                <a:gd name="T10" fmla="*/ 16 w 32"/>
                <a:gd name="T11" fmla="*/ 0 h 992"/>
                <a:gd name="T12" fmla="*/ 16 w 32"/>
                <a:gd name="T13" fmla="*/ 0 h 992"/>
                <a:gd name="T14" fmla="*/ 32 w 32"/>
                <a:gd name="T15" fmla="*/ 16 h 992"/>
                <a:gd name="T16" fmla="*/ 32 w 32"/>
                <a:gd name="T17" fmla="*/ 97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992">
                  <a:moveTo>
                    <a:pt x="32" y="976"/>
                  </a:moveTo>
                  <a:cubicBezTo>
                    <a:pt x="32" y="985"/>
                    <a:pt x="25" y="992"/>
                    <a:pt x="16" y="992"/>
                  </a:cubicBezTo>
                  <a:cubicBezTo>
                    <a:pt x="16" y="992"/>
                    <a:pt x="16" y="992"/>
                    <a:pt x="16" y="992"/>
                  </a:cubicBezTo>
                  <a:cubicBezTo>
                    <a:pt x="7" y="992"/>
                    <a:pt x="0" y="985"/>
                    <a:pt x="0" y="976"/>
                  </a:cubicBezTo>
                  <a:cubicBezTo>
                    <a:pt x="0" y="16"/>
                    <a:pt x="0" y="16"/>
                    <a:pt x="0" y="16"/>
                  </a:cubicBezTo>
                  <a:cubicBezTo>
                    <a:pt x="0" y="7"/>
                    <a:pt x="7" y="0"/>
                    <a:pt x="16" y="0"/>
                  </a:cubicBezTo>
                  <a:cubicBezTo>
                    <a:pt x="16" y="0"/>
                    <a:pt x="16" y="0"/>
                    <a:pt x="16" y="0"/>
                  </a:cubicBezTo>
                  <a:cubicBezTo>
                    <a:pt x="25" y="0"/>
                    <a:pt x="32" y="7"/>
                    <a:pt x="32" y="16"/>
                  </a:cubicBezTo>
                  <a:lnTo>
                    <a:pt x="32" y="9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16" name="Freeform 16"/>
            <p:cNvSpPr/>
            <p:nvPr/>
          </p:nvSpPr>
          <p:spPr bwMode="auto">
            <a:xfrm>
              <a:off x="6545263" y="1831975"/>
              <a:ext cx="120650" cy="3730625"/>
            </a:xfrm>
            <a:custGeom>
              <a:avLst/>
              <a:gdLst>
                <a:gd name="T0" fmla="*/ 32 w 32"/>
                <a:gd name="T1" fmla="*/ 976 h 992"/>
                <a:gd name="T2" fmla="*/ 16 w 32"/>
                <a:gd name="T3" fmla="*/ 992 h 992"/>
                <a:gd name="T4" fmla="*/ 16 w 32"/>
                <a:gd name="T5" fmla="*/ 992 h 992"/>
                <a:gd name="T6" fmla="*/ 0 w 32"/>
                <a:gd name="T7" fmla="*/ 976 h 992"/>
                <a:gd name="T8" fmla="*/ 0 w 32"/>
                <a:gd name="T9" fmla="*/ 16 h 992"/>
                <a:gd name="T10" fmla="*/ 16 w 32"/>
                <a:gd name="T11" fmla="*/ 0 h 992"/>
                <a:gd name="T12" fmla="*/ 16 w 32"/>
                <a:gd name="T13" fmla="*/ 0 h 992"/>
                <a:gd name="T14" fmla="*/ 32 w 32"/>
                <a:gd name="T15" fmla="*/ 16 h 992"/>
                <a:gd name="T16" fmla="*/ 32 w 32"/>
                <a:gd name="T17" fmla="*/ 97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992">
                  <a:moveTo>
                    <a:pt x="32" y="976"/>
                  </a:moveTo>
                  <a:cubicBezTo>
                    <a:pt x="32" y="985"/>
                    <a:pt x="25" y="992"/>
                    <a:pt x="16" y="992"/>
                  </a:cubicBezTo>
                  <a:cubicBezTo>
                    <a:pt x="16" y="992"/>
                    <a:pt x="16" y="992"/>
                    <a:pt x="16" y="992"/>
                  </a:cubicBezTo>
                  <a:cubicBezTo>
                    <a:pt x="7" y="992"/>
                    <a:pt x="0" y="985"/>
                    <a:pt x="0" y="976"/>
                  </a:cubicBezTo>
                  <a:cubicBezTo>
                    <a:pt x="0" y="16"/>
                    <a:pt x="0" y="16"/>
                    <a:pt x="0" y="16"/>
                  </a:cubicBezTo>
                  <a:cubicBezTo>
                    <a:pt x="0" y="7"/>
                    <a:pt x="7" y="0"/>
                    <a:pt x="16" y="0"/>
                  </a:cubicBezTo>
                  <a:cubicBezTo>
                    <a:pt x="16" y="0"/>
                    <a:pt x="16" y="0"/>
                    <a:pt x="16" y="0"/>
                  </a:cubicBezTo>
                  <a:cubicBezTo>
                    <a:pt x="25" y="0"/>
                    <a:pt x="32" y="7"/>
                    <a:pt x="32" y="16"/>
                  </a:cubicBezTo>
                  <a:lnTo>
                    <a:pt x="32" y="9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17" name="Freeform 17"/>
            <p:cNvSpPr/>
            <p:nvPr/>
          </p:nvSpPr>
          <p:spPr bwMode="auto">
            <a:xfrm>
              <a:off x="6726238" y="1831975"/>
              <a:ext cx="120650" cy="3730625"/>
            </a:xfrm>
            <a:custGeom>
              <a:avLst/>
              <a:gdLst>
                <a:gd name="T0" fmla="*/ 32 w 32"/>
                <a:gd name="T1" fmla="*/ 976 h 992"/>
                <a:gd name="T2" fmla="*/ 16 w 32"/>
                <a:gd name="T3" fmla="*/ 992 h 992"/>
                <a:gd name="T4" fmla="*/ 16 w 32"/>
                <a:gd name="T5" fmla="*/ 992 h 992"/>
                <a:gd name="T6" fmla="*/ 0 w 32"/>
                <a:gd name="T7" fmla="*/ 976 h 992"/>
                <a:gd name="T8" fmla="*/ 0 w 32"/>
                <a:gd name="T9" fmla="*/ 16 h 992"/>
                <a:gd name="T10" fmla="*/ 16 w 32"/>
                <a:gd name="T11" fmla="*/ 0 h 992"/>
                <a:gd name="T12" fmla="*/ 16 w 32"/>
                <a:gd name="T13" fmla="*/ 0 h 992"/>
                <a:gd name="T14" fmla="*/ 32 w 32"/>
                <a:gd name="T15" fmla="*/ 16 h 992"/>
                <a:gd name="T16" fmla="*/ 32 w 32"/>
                <a:gd name="T17" fmla="*/ 97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992">
                  <a:moveTo>
                    <a:pt x="32" y="976"/>
                  </a:moveTo>
                  <a:cubicBezTo>
                    <a:pt x="32" y="985"/>
                    <a:pt x="25" y="992"/>
                    <a:pt x="16" y="992"/>
                  </a:cubicBezTo>
                  <a:cubicBezTo>
                    <a:pt x="16" y="992"/>
                    <a:pt x="16" y="992"/>
                    <a:pt x="16" y="992"/>
                  </a:cubicBezTo>
                  <a:cubicBezTo>
                    <a:pt x="7" y="992"/>
                    <a:pt x="0" y="985"/>
                    <a:pt x="0" y="976"/>
                  </a:cubicBezTo>
                  <a:cubicBezTo>
                    <a:pt x="0" y="16"/>
                    <a:pt x="0" y="16"/>
                    <a:pt x="0" y="16"/>
                  </a:cubicBezTo>
                  <a:cubicBezTo>
                    <a:pt x="0" y="7"/>
                    <a:pt x="7" y="0"/>
                    <a:pt x="16" y="0"/>
                  </a:cubicBezTo>
                  <a:cubicBezTo>
                    <a:pt x="16" y="0"/>
                    <a:pt x="16" y="0"/>
                    <a:pt x="16" y="0"/>
                  </a:cubicBezTo>
                  <a:cubicBezTo>
                    <a:pt x="25" y="0"/>
                    <a:pt x="32" y="7"/>
                    <a:pt x="32" y="16"/>
                  </a:cubicBezTo>
                  <a:lnTo>
                    <a:pt x="32" y="9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18" name="Freeform 18"/>
            <p:cNvSpPr/>
            <p:nvPr/>
          </p:nvSpPr>
          <p:spPr bwMode="auto">
            <a:xfrm>
              <a:off x="6907213" y="1831975"/>
              <a:ext cx="120650" cy="3730625"/>
            </a:xfrm>
            <a:custGeom>
              <a:avLst/>
              <a:gdLst>
                <a:gd name="T0" fmla="*/ 32 w 32"/>
                <a:gd name="T1" fmla="*/ 976 h 992"/>
                <a:gd name="T2" fmla="*/ 16 w 32"/>
                <a:gd name="T3" fmla="*/ 992 h 992"/>
                <a:gd name="T4" fmla="*/ 16 w 32"/>
                <a:gd name="T5" fmla="*/ 992 h 992"/>
                <a:gd name="T6" fmla="*/ 0 w 32"/>
                <a:gd name="T7" fmla="*/ 976 h 992"/>
                <a:gd name="T8" fmla="*/ 0 w 32"/>
                <a:gd name="T9" fmla="*/ 16 h 992"/>
                <a:gd name="T10" fmla="*/ 16 w 32"/>
                <a:gd name="T11" fmla="*/ 0 h 992"/>
                <a:gd name="T12" fmla="*/ 16 w 32"/>
                <a:gd name="T13" fmla="*/ 0 h 992"/>
                <a:gd name="T14" fmla="*/ 32 w 32"/>
                <a:gd name="T15" fmla="*/ 16 h 992"/>
                <a:gd name="T16" fmla="*/ 32 w 32"/>
                <a:gd name="T17" fmla="*/ 97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992">
                  <a:moveTo>
                    <a:pt x="32" y="976"/>
                  </a:moveTo>
                  <a:cubicBezTo>
                    <a:pt x="32" y="985"/>
                    <a:pt x="25" y="992"/>
                    <a:pt x="16" y="992"/>
                  </a:cubicBezTo>
                  <a:cubicBezTo>
                    <a:pt x="16" y="992"/>
                    <a:pt x="16" y="992"/>
                    <a:pt x="16" y="992"/>
                  </a:cubicBezTo>
                  <a:cubicBezTo>
                    <a:pt x="7" y="992"/>
                    <a:pt x="0" y="985"/>
                    <a:pt x="0" y="976"/>
                  </a:cubicBezTo>
                  <a:cubicBezTo>
                    <a:pt x="0" y="16"/>
                    <a:pt x="0" y="16"/>
                    <a:pt x="0" y="16"/>
                  </a:cubicBezTo>
                  <a:cubicBezTo>
                    <a:pt x="0" y="7"/>
                    <a:pt x="7" y="0"/>
                    <a:pt x="16" y="0"/>
                  </a:cubicBezTo>
                  <a:cubicBezTo>
                    <a:pt x="16" y="0"/>
                    <a:pt x="16" y="0"/>
                    <a:pt x="16" y="0"/>
                  </a:cubicBezTo>
                  <a:cubicBezTo>
                    <a:pt x="25" y="0"/>
                    <a:pt x="32" y="7"/>
                    <a:pt x="32" y="16"/>
                  </a:cubicBezTo>
                  <a:lnTo>
                    <a:pt x="32" y="9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19" name="Freeform 19"/>
            <p:cNvSpPr/>
            <p:nvPr/>
          </p:nvSpPr>
          <p:spPr bwMode="auto">
            <a:xfrm>
              <a:off x="5065713" y="3438525"/>
              <a:ext cx="1401763" cy="120650"/>
            </a:xfrm>
            <a:custGeom>
              <a:avLst/>
              <a:gdLst>
                <a:gd name="T0" fmla="*/ 16 w 372"/>
                <a:gd name="T1" fmla="*/ 32 h 32"/>
                <a:gd name="T2" fmla="*/ 0 w 372"/>
                <a:gd name="T3" fmla="*/ 16 h 32"/>
                <a:gd name="T4" fmla="*/ 0 w 372"/>
                <a:gd name="T5" fmla="*/ 16 h 32"/>
                <a:gd name="T6" fmla="*/ 16 w 372"/>
                <a:gd name="T7" fmla="*/ 0 h 32"/>
                <a:gd name="T8" fmla="*/ 356 w 372"/>
                <a:gd name="T9" fmla="*/ 0 h 32"/>
                <a:gd name="T10" fmla="*/ 372 w 372"/>
                <a:gd name="T11" fmla="*/ 16 h 32"/>
                <a:gd name="T12" fmla="*/ 372 w 372"/>
                <a:gd name="T13" fmla="*/ 16 h 32"/>
                <a:gd name="T14" fmla="*/ 356 w 372"/>
                <a:gd name="T15" fmla="*/ 32 h 32"/>
                <a:gd name="T16" fmla="*/ 16 w 37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2" h="32">
                  <a:moveTo>
                    <a:pt x="16" y="32"/>
                  </a:moveTo>
                  <a:cubicBezTo>
                    <a:pt x="7" y="32"/>
                    <a:pt x="0" y="25"/>
                    <a:pt x="0" y="16"/>
                  </a:cubicBezTo>
                  <a:cubicBezTo>
                    <a:pt x="0" y="16"/>
                    <a:pt x="0" y="16"/>
                    <a:pt x="0" y="16"/>
                  </a:cubicBezTo>
                  <a:cubicBezTo>
                    <a:pt x="0" y="7"/>
                    <a:pt x="7" y="0"/>
                    <a:pt x="16" y="0"/>
                  </a:cubicBezTo>
                  <a:cubicBezTo>
                    <a:pt x="356" y="0"/>
                    <a:pt x="356" y="0"/>
                    <a:pt x="356" y="0"/>
                  </a:cubicBezTo>
                  <a:cubicBezTo>
                    <a:pt x="365" y="0"/>
                    <a:pt x="372" y="7"/>
                    <a:pt x="372" y="16"/>
                  </a:cubicBezTo>
                  <a:cubicBezTo>
                    <a:pt x="372" y="16"/>
                    <a:pt x="372" y="16"/>
                    <a:pt x="372" y="16"/>
                  </a:cubicBezTo>
                  <a:cubicBezTo>
                    <a:pt x="372" y="25"/>
                    <a:pt x="365" y="32"/>
                    <a:pt x="356" y="32"/>
                  </a:cubicBezTo>
                  <a:lnTo>
                    <a:pt x="16"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20" name="Freeform 20"/>
            <p:cNvSpPr/>
            <p:nvPr/>
          </p:nvSpPr>
          <p:spPr bwMode="auto">
            <a:xfrm>
              <a:off x="5065713" y="3611563"/>
              <a:ext cx="1401763" cy="120650"/>
            </a:xfrm>
            <a:custGeom>
              <a:avLst/>
              <a:gdLst>
                <a:gd name="T0" fmla="*/ 16 w 372"/>
                <a:gd name="T1" fmla="*/ 32 h 32"/>
                <a:gd name="T2" fmla="*/ 0 w 372"/>
                <a:gd name="T3" fmla="*/ 16 h 32"/>
                <a:gd name="T4" fmla="*/ 0 w 372"/>
                <a:gd name="T5" fmla="*/ 16 h 32"/>
                <a:gd name="T6" fmla="*/ 16 w 372"/>
                <a:gd name="T7" fmla="*/ 0 h 32"/>
                <a:gd name="T8" fmla="*/ 356 w 372"/>
                <a:gd name="T9" fmla="*/ 0 h 32"/>
                <a:gd name="T10" fmla="*/ 372 w 372"/>
                <a:gd name="T11" fmla="*/ 16 h 32"/>
                <a:gd name="T12" fmla="*/ 372 w 372"/>
                <a:gd name="T13" fmla="*/ 16 h 32"/>
                <a:gd name="T14" fmla="*/ 356 w 372"/>
                <a:gd name="T15" fmla="*/ 32 h 32"/>
                <a:gd name="T16" fmla="*/ 16 w 37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2" h="32">
                  <a:moveTo>
                    <a:pt x="16" y="32"/>
                  </a:moveTo>
                  <a:cubicBezTo>
                    <a:pt x="7" y="32"/>
                    <a:pt x="0" y="24"/>
                    <a:pt x="0" y="16"/>
                  </a:cubicBezTo>
                  <a:cubicBezTo>
                    <a:pt x="0" y="16"/>
                    <a:pt x="0" y="16"/>
                    <a:pt x="0" y="16"/>
                  </a:cubicBezTo>
                  <a:cubicBezTo>
                    <a:pt x="0" y="7"/>
                    <a:pt x="7" y="0"/>
                    <a:pt x="16" y="0"/>
                  </a:cubicBezTo>
                  <a:cubicBezTo>
                    <a:pt x="356" y="0"/>
                    <a:pt x="356" y="0"/>
                    <a:pt x="356" y="0"/>
                  </a:cubicBezTo>
                  <a:cubicBezTo>
                    <a:pt x="365" y="0"/>
                    <a:pt x="372" y="7"/>
                    <a:pt x="372" y="16"/>
                  </a:cubicBezTo>
                  <a:cubicBezTo>
                    <a:pt x="372" y="16"/>
                    <a:pt x="372" y="16"/>
                    <a:pt x="372" y="16"/>
                  </a:cubicBezTo>
                  <a:cubicBezTo>
                    <a:pt x="372" y="24"/>
                    <a:pt x="365" y="32"/>
                    <a:pt x="356" y="32"/>
                  </a:cubicBezTo>
                  <a:lnTo>
                    <a:pt x="16"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sp>
          <p:nvSpPr>
            <p:cNvPr id="21" name="Freeform 21"/>
            <p:cNvSpPr/>
            <p:nvPr/>
          </p:nvSpPr>
          <p:spPr bwMode="auto">
            <a:xfrm>
              <a:off x="5065713" y="3784600"/>
              <a:ext cx="1401763" cy="119063"/>
            </a:xfrm>
            <a:custGeom>
              <a:avLst/>
              <a:gdLst>
                <a:gd name="T0" fmla="*/ 16 w 372"/>
                <a:gd name="T1" fmla="*/ 32 h 32"/>
                <a:gd name="T2" fmla="*/ 0 w 372"/>
                <a:gd name="T3" fmla="*/ 16 h 32"/>
                <a:gd name="T4" fmla="*/ 0 w 372"/>
                <a:gd name="T5" fmla="*/ 16 h 32"/>
                <a:gd name="T6" fmla="*/ 16 w 372"/>
                <a:gd name="T7" fmla="*/ 0 h 32"/>
                <a:gd name="T8" fmla="*/ 356 w 372"/>
                <a:gd name="T9" fmla="*/ 0 h 32"/>
                <a:gd name="T10" fmla="*/ 372 w 372"/>
                <a:gd name="T11" fmla="*/ 16 h 32"/>
                <a:gd name="T12" fmla="*/ 372 w 372"/>
                <a:gd name="T13" fmla="*/ 16 h 32"/>
                <a:gd name="T14" fmla="*/ 356 w 372"/>
                <a:gd name="T15" fmla="*/ 32 h 32"/>
                <a:gd name="T16" fmla="*/ 16 w 37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2" h="32">
                  <a:moveTo>
                    <a:pt x="16" y="32"/>
                  </a:moveTo>
                  <a:cubicBezTo>
                    <a:pt x="7" y="32"/>
                    <a:pt x="0" y="24"/>
                    <a:pt x="0" y="16"/>
                  </a:cubicBezTo>
                  <a:cubicBezTo>
                    <a:pt x="0" y="16"/>
                    <a:pt x="0" y="16"/>
                    <a:pt x="0" y="16"/>
                  </a:cubicBezTo>
                  <a:cubicBezTo>
                    <a:pt x="0" y="7"/>
                    <a:pt x="7" y="0"/>
                    <a:pt x="16" y="0"/>
                  </a:cubicBezTo>
                  <a:cubicBezTo>
                    <a:pt x="356" y="0"/>
                    <a:pt x="356" y="0"/>
                    <a:pt x="356" y="0"/>
                  </a:cubicBezTo>
                  <a:cubicBezTo>
                    <a:pt x="365" y="0"/>
                    <a:pt x="372" y="7"/>
                    <a:pt x="372" y="16"/>
                  </a:cubicBezTo>
                  <a:cubicBezTo>
                    <a:pt x="372" y="16"/>
                    <a:pt x="372" y="16"/>
                    <a:pt x="372" y="16"/>
                  </a:cubicBezTo>
                  <a:cubicBezTo>
                    <a:pt x="372" y="24"/>
                    <a:pt x="365" y="32"/>
                    <a:pt x="356" y="32"/>
                  </a:cubicBezTo>
                  <a:lnTo>
                    <a:pt x="16"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2296" tIns="41148" rIns="82296" bIns="41148"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a:ln>
                  <a:noFill/>
                </a:ln>
                <a:solidFill>
                  <a:schemeClr val="tx1"/>
                </a:solidFill>
                <a:effectLst/>
                <a:uLnTx/>
                <a:uFillTx/>
                <a:latin typeface="+mn-lt"/>
                <a:ea typeface="+mn-ea"/>
                <a:cs typeface="+mn-cs"/>
              </a:endParaRPr>
            </a:p>
          </p:txBody>
        </p:sp>
      </p:grpSp>
      <p:sp>
        <p:nvSpPr>
          <p:cNvPr id="23" name="TextBox 22"/>
          <p:cNvSpPr txBox="1"/>
          <p:nvPr/>
        </p:nvSpPr>
        <p:spPr>
          <a:xfrm>
            <a:off x="6192774" y="1403604"/>
            <a:ext cx="5218938" cy="1863090"/>
          </a:xfrm>
          <a:prstGeom prst="rect">
            <a:avLst/>
          </a:prstGeom>
          <a:noFill/>
          <a:ln w="9525">
            <a:noFill/>
          </a:ln>
        </p:spPr>
        <p:txBody>
          <a:bodyPr wrap="square">
            <a:spAutoFit/>
          </a:bodyPr>
          <a:lstStyle/>
          <a:p>
            <a:pPr eaLnBrk="1" hangingPunct="1">
              <a:buNone/>
            </a:pPr>
            <a:r>
              <a:rPr lang="en-US" altLang="zh-CN" sz="3840" dirty="0">
                <a:solidFill>
                  <a:schemeClr val="tx2"/>
                </a:solidFill>
                <a:latin typeface="Open Sans Light" pitchFamily="34" charset="0"/>
                <a:cs typeface="Open Sans Light" pitchFamily="34" charset="0"/>
              </a:rPr>
              <a:t>ICL vs. CML: Performance Insights on Structured Data</a:t>
            </a:r>
          </a:p>
        </p:txBody>
      </p:sp>
      <p:sp>
        <p:nvSpPr>
          <p:cNvPr id="24" name="TextBox 23"/>
          <p:cNvSpPr txBox="1"/>
          <p:nvPr/>
        </p:nvSpPr>
        <p:spPr>
          <a:xfrm>
            <a:off x="7924038" y="4029456"/>
            <a:ext cx="3393948" cy="2646426"/>
          </a:xfrm>
          <a:prstGeom prst="rect">
            <a:avLst/>
          </a:prstGeom>
          <a:noFill/>
          <a:ln w="9525">
            <a:noFill/>
          </a:ln>
        </p:spPr>
        <p:txBody>
          <a:bodyPr wrap="square">
            <a:noAutofit/>
          </a:bodyPr>
          <a:lstStyle/>
          <a:p>
            <a:pPr algn="l" eaLnBrk="1" hangingPunct="1">
              <a:lnSpc>
                <a:spcPct val="150000"/>
              </a:lnSpc>
              <a:buNone/>
            </a:pPr>
            <a:r>
              <a:rPr lang="en-US" altLang="zh-CN" sz="1920" b="1" dirty="0">
                <a:solidFill>
                  <a:schemeClr val="tx2"/>
                </a:solidFill>
                <a:latin typeface="Open Sans Light" pitchFamily="34" charset="0"/>
                <a:cs typeface="Open Sans Light" pitchFamily="34" charset="0"/>
              </a:rPr>
              <a:t>Group 6</a:t>
            </a:r>
            <a:r>
              <a:rPr lang="zh-CN" altLang="en-US" sz="1920" b="1" dirty="0">
                <a:solidFill>
                  <a:schemeClr val="tx2"/>
                </a:solidFill>
                <a:latin typeface="Open Sans Light" pitchFamily="34" charset="0"/>
                <a:cs typeface="Open Sans Light" pitchFamily="34" charset="0"/>
              </a:rPr>
              <a:t>：</a:t>
            </a:r>
            <a:endParaRPr lang="en-US" altLang="zh-CN" sz="1920" b="1" dirty="0">
              <a:solidFill>
                <a:schemeClr val="tx2"/>
              </a:solidFill>
              <a:latin typeface="Open Sans Light" pitchFamily="34" charset="0"/>
              <a:cs typeface="Open Sans Light" pitchFamily="34" charset="0"/>
            </a:endParaRPr>
          </a:p>
          <a:p>
            <a:pPr algn="r" eaLnBrk="1" hangingPunct="1">
              <a:lnSpc>
                <a:spcPct val="150000"/>
              </a:lnSpc>
              <a:buNone/>
            </a:pPr>
            <a:r>
              <a:rPr lang="en-US" altLang="zh-CN" sz="1440" dirty="0">
                <a:solidFill>
                  <a:schemeClr val="tx2"/>
                </a:solidFill>
                <a:latin typeface="Open Sans Light" pitchFamily="34" charset="0"/>
                <a:cs typeface="Open Sans Light" pitchFamily="34" charset="0"/>
              </a:rPr>
              <a:t>Yitao JIANG 224040260</a:t>
            </a:r>
          </a:p>
          <a:p>
            <a:pPr algn="r" eaLnBrk="1" hangingPunct="1">
              <a:lnSpc>
                <a:spcPct val="150000"/>
              </a:lnSpc>
              <a:buNone/>
            </a:pPr>
            <a:r>
              <a:rPr lang="en-US" altLang="zh-CN" sz="1440" dirty="0">
                <a:solidFill>
                  <a:schemeClr val="tx2"/>
                </a:solidFill>
                <a:latin typeface="Open Sans Light" pitchFamily="34" charset="0"/>
                <a:cs typeface="Open Sans Light" pitchFamily="34" charset="0"/>
              </a:rPr>
              <a:t>Han SONG 224040165</a:t>
            </a:r>
          </a:p>
          <a:p>
            <a:pPr algn="r" eaLnBrk="1" hangingPunct="1">
              <a:lnSpc>
                <a:spcPct val="150000"/>
              </a:lnSpc>
              <a:buNone/>
            </a:pPr>
            <a:r>
              <a:rPr lang="en-US" altLang="zh-CN" sz="1440" dirty="0" err="1">
                <a:solidFill>
                  <a:schemeClr val="tx2"/>
                </a:solidFill>
                <a:latin typeface="Open Sans Light" pitchFamily="34" charset="0"/>
                <a:cs typeface="Open Sans Light" pitchFamily="34" charset="0"/>
              </a:rPr>
              <a:t>Chiyu</a:t>
            </a:r>
            <a:r>
              <a:rPr lang="en-US" altLang="zh-CN" sz="1440" dirty="0">
                <a:solidFill>
                  <a:schemeClr val="tx2"/>
                </a:solidFill>
                <a:latin typeface="Open Sans Light" pitchFamily="34" charset="0"/>
                <a:cs typeface="Open Sans Light" pitchFamily="34" charset="0"/>
              </a:rPr>
              <a:t> WANG 224040323</a:t>
            </a:r>
          </a:p>
          <a:p>
            <a:pPr algn="r" eaLnBrk="1" hangingPunct="1">
              <a:lnSpc>
                <a:spcPct val="150000"/>
              </a:lnSpc>
              <a:buNone/>
            </a:pPr>
            <a:r>
              <a:rPr lang="en-US" altLang="zh-CN" sz="1440" dirty="0">
                <a:solidFill>
                  <a:schemeClr val="tx2"/>
                </a:solidFill>
                <a:latin typeface="Open Sans Light" pitchFamily="34" charset="0"/>
                <a:cs typeface="Open Sans Light" pitchFamily="34" charset="0"/>
              </a:rPr>
              <a:t>Jingyi ZHANG 224040124</a:t>
            </a:r>
          </a:p>
          <a:p>
            <a:pPr algn="r" eaLnBrk="1" hangingPunct="1">
              <a:lnSpc>
                <a:spcPct val="150000"/>
              </a:lnSpc>
              <a:buNone/>
            </a:pPr>
            <a:r>
              <a:rPr lang="en-US" altLang="zh-CN" sz="1440" dirty="0">
                <a:solidFill>
                  <a:schemeClr val="tx2"/>
                </a:solidFill>
                <a:latin typeface="Open Sans Light" pitchFamily="34" charset="0"/>
                <a:cs typeface="Open Sans Light" pitchFamily="34" charset="0"/>
              </a:rPr>
              <a:t>Yuxin XIAO 224040162</a:t>
            </a:r>
          </a:p>
          <a:p>
            <a:pPr algn="r" eaLnBrk="1" hangingPunct="1">
              <a:lnSpc>
                <a:spcPct val="150000"/>
              </a:lnSpc>
              <a:buNone/>
            </a:pPr>
            <a:r>
              <a:rPr lang="en-US" altLang="zh-CN" sz="1440" dirty="0">
                <a:solidFill>
                  <a:schemeClr val="tx2"/>
                </a:solidFill>
                <a:latin typeface="Open Sans Light" pitchFamily="34" charset="0"/>
                <a:cs typeface="Open Sans Light" pitchFamily="34" charset="0"/>
              </a:rPr>
              <a:t>Nijia XU 224040153</a:t>
            </a:r>
          </a:p>
          <a:p>
            <a:pPr algn="r" eaLnBrk="1" hangingPunct="1">
              <a:lnSpc>
                <a:spcPct val="150000"/>
              </a:lnSpc>
              <a:buNone/>
            </a:pPr>
            <a:endParaRPr lang="en-US" altLang="zh-CN" sz="1440" dirty="0">
              <a:solidFill>
                <a:schemeClr val="tx2"/>
              </a:solidFill>
              <a:latin typeface="Open Sans Light" pitchFamily="34" charset="0"/>
              <a:cs typeface="Open Sans Light" pitchFamily="34" charset="0"/>
            </a:endParaRPr>
          </a:p>
        </p:txBody>
      </p:sp>
      <p:sp>
        <p:nvSpPr>
          <p:cNvPr id="25" name="Oval 24"/>
          <p:cNvSpPr/>
          <p:nvPr/>
        </p:nvSpPr>
        <p:spPr>
          <a:xfrm>
            <a:off x="4932046" y="4208146"/>
            <a:ext cx="110490" cy="1123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8" name="Oval 27"/>
          <p:cNvSpPr/>
          <p:nvPr/>
        </p:nvSpPr>
        <p:spPr>
          <a:xfrm>
            <a:off x="5078730" y="4208146"/>
            <a:ext cx="112396" cy="1123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9" name="Oval 28"/>
          <p:cNvSpPr/>
          <p:nvPr/>
        </p:nvSpPr>
        <p:spPr>
          <a:xfrm>
            <a:off x="5225416" y="4208146"/>
            <a:ext cx="112396" cy="1123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30" name="Oval 29"/>
          <p:cNvSpPr/>
          <p:nvPr/>
        </p:nvSpPr>
        <p:spPr>
          <a:xfrm>
            <a:off x="5372100" y="4208146"/>
            <a:ext cx="112396" cy="1123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pic>
        <p:nvPicPr>
          <p:cNvPr id="3082" name="Picture 25"/>
          <p:cNvPicPr>
            <a:picLocks noChangeAspect="1"/>
          </p:cNvPicPr>
          <p:nvPr/>
        </p:nvPicPr>
        <p:blipFill>
          <a:blip r:embed="rId3"/>
          <a:stretch>
            <a:fillRect/>
          </a:stretch>
        </p:blipFill>
        <p:spPr>
          <a:xfrm>
            <a:off x="0" y="2766060"/>
            <a:ext cx="2396490" cy="4091940"/>
          </a:xfrm>
          <a:prstGeom prst="rect">
            <a:avLst/>
          </a:prstGeom>
          <a:noFill/>
          <a:ln w="9525">
            <a:noFill/>
          </a:ln>
        </p:spPr>
      </p:pic>
      <p:sp>
        <p:nvSpPr>
          <p:cNvPr id="27" name="Oval 26"/>
          <p:cNvSpPr/>
          <p:nvPr/>
        </p:nvSpPr>
        <p:spPr>
          <a:xfrm>
            <a:off x="5513070" y="4208146"/>
            <a:ext cx="112396" cy="1123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2"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2" presetClass="entr" presetSubtype="4"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bldLvl="0" animBg="1"/>
      <p:bldP spid="28" grpId="0" bldLvl="0" animBg="1"/>
      <p:bldP spid="29" grpId="0" bldLvl="0" animBg="1"/>
      <p:bldP spid="30" grpId="0" bldLvl="0" animBg="1"/>
      <p:bldP spid="27"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122" name="Title 2"/>
          <p:cNvSpPr>
            <a:spLocks noGrp="1"/>
          </p:cNvSpPr>
          <p:nvPr>
            <p:ph type="title"/>
          </p:nvPr>
        </p:nvSpPr>
        <p:spPr>
          <a:xfrm>
            <a:off x="838200" y="365760"/>
            <a:ext cx="10515600" cy="512446"/>
          </a:xfrm>
          <a:noFill/>
          <a:ln>
            <a:noFill/>
          </a:ln>
        </p:spPr>
        <p:txBody>
          <a:bodyPr lIns="109728" tIns="54864" rIns="109728" bIns="54864" anchor="ctr" anchorCtr="0">
            <a:noAutofit/>
          </a:bodyPr>
          <a:lstStyle/>
          <a:p>
            <a:pPr defTabSz="762000">
              <a:buNone/>
            </a:pPr>
            <a:r>
              <a:rPr lang="en-US" altLang="zh-CN" sz="4320" b="1" kern="1200" dirty="0">
                <a:latin typeface="Open Sans Light" pitchFamily="34" charset="0"/>
                <a:ea typeface="Open Sans Light" pitchFamily="34" charset="0"/>
                <a:cs typeface="+mj-cs"/>
              </a:rPr>
              <a:t>CONTENT</a:t>
            </a:r>
          </a:p>
        </p:txBody>
      </p:sp>
      <p:sp>
        <p:nvSpPr>
          <p:cNvPr id="5123"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2</a:t>
            </a:fld>
            <a:endParaRPr lang="en-US" altLang="zh-CN" sz="1200" dirty="0">
              <a:latin typeface="Open Sans" pitchFamily="34" charset="0"/>
              <a:ea typeface="Open Sans" pitchFamily="34" charset="0"/>
              <a:cs typeface="Open Sans" pitchFamily="34" charset="0"/>
            </a:endParaRPr>
          </a:p>
        </p:txBody>
      </p:sp>
      <p:sp>
        <p:nvSpPr>
          <p:cNvPr id="31" name="Freeform 5"/>
          <p:cNvSpPr/>
          <p:nvPr/>
        </p:nvSpPr>
        <p:spPr bwMode="auto">
          <a:xfrm>
            <a:off x="5549266" y="1687830"/>
            <a:ext cx="1089660" cy="1392556"/>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4"/>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2" name="Freeform 6"/>
          <p:cNvSpPr/>
          <p:nvPr/>
        </p:nvSpPr>
        <p:spPr bwMode="auto">
          <a:xfrm>
            <a:off x="6939916" y="3425190"/>
            <a:ext cx="1388746" cy="996316"/>
          </a:xfrm>
          <a:custGeom>
            <a:avLst/>
            <a:gdLst>
              <a:gd name="T0" fmla="*/ 222 w 443"/>
              <a:gd name="T1" fmla="*/ 0 h 318"/>
              <a:gd name="T2" fmla="*/ 115 w 443"/>
              <a:gd name="T3" fmla="*/ 44 h 318"/>
              <a:gd name="T4" fmla="*/ 0 w 443"/>
              <a:gd name="T5" fmla="*/ 159 h 318"/>
              <a:gd name="T6" fmla="*/ 115 w 443"/>
              <a:gd name="T7" fmla="*/ 274 h 318"/>
              <a:gd name="T8" fmla="*/ 222 w 443"/>
              <a:gd name="T9" fmla="*/ 318 h 318"/>
              <a:gd name="T10" fmla="*/ 328 w 443"/>
              <a:gd name="T11" fmla="*/ 274 h 318"/>
              <a:gd name="T12" fmla="*/ 443 w 443"/>
              <a:gd name="T13" fmla="*/ 159 h 318"/>
              <a:gd name="T14" fmla="*/ 328 w 443"/>
              <a:gd name="T15" fmla="*/ 44 h 318"/>
              <a:gd name="T16" fmla="*/ 222 w 443"/>
              <a:gd name="T17"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3" h="318">
                <a:moveTo>
                  <a:pt x="222" y="0"/>
                </a:moveTo>
                <a:cubicBezTo>
                  <a:pt x="183" y="0"/>
                  <a:pt x="144" y="14"/>
                  <a:pt x="115" y="44"/>
                </a:cubicBezTo>
                <a:cubicBezTo>
                  <a:pt x="0" y="159"/>
                  <a:pt x="0" y="159"/>
                  <a:pt x="0" y="159"/>
                </a:cubicBezTo>
                <a:cubicBezTo>
                  <a:pt x="115" y="274"/>
                  <a:pt x="115" y="274"/>
                  <a:pt x="115" y="274"/>
                </a:cubicBezTo>
                <a:cubicBezTo>
                  <a:pt x="144" y="304"/>
                  <a:pt x="183" y="318"/>
                  <a:pt x="222" y="318"/>
                </a:cubicBezTo>
                <a:cubicBezTo>
                  <a:pt x="260" y="318"/>
                  <a:pt x="299" y="304"/>
                  <a:pt x="328" y="274"/>
                </a:cubicBezTo>
                <a:cubicBezTo>
                  <a:pt x="443" y="159"/>
                  <a:pt x="443" y="159"/>
                  <a:pt x="443" y="159"/>
                </a:cubicBezTo>
                <a:cubicBezTo>
                  <a:pt x="328" y="44"/>
                  <a:pt x="328" y="44"/>
                  <a:pt x="328" y="44"/>
                </a:cubicBezTo>
                <a:cubicBezTo>
                  <a:pt x="299" y="14"/>
                  <a:pt x="260" y="0"/>
                  <a:pt x="222" y="0"/>
                </a:cubicBezTo>
              </a:path>
            </a:pathLst>
          </a:custGeom>
          <a:solidFill>
            <a:schemeClr val="tx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3" name="Freeform 7"/>
          <p:cNvSpPr/>
          <p:nvPr/>
        </p:nvSpPr>
        <p:spPr bwMode="auto">
          <a:xfrm>
            <a:off x="3859530" y="3425190"/>
            <a:ext cx="1392556" cy="996316"/>
          </a:xfrm>
          <a:custGeom>
            <a:avLst/>
            <a:gdLst>
              <a:gd name="T0" fmla="*/ 222 w 444"/>
              <a:gd name="T1" fmla="*/ 0 h 318"/>
              <a:gd name="T2" fmla="*/ 116 w 444"/>
              <a:gd name="T3" fmla="*/ 44 h 318"/>
              <a:gd name="T4" fmla="*/ 0 w 444"/>
              <a:gd name="T5" fmla="*/ 159 h 318"/>
              <a:gd name="T6" fmla="*/ 116 w 444"/>
              <a:gd name="T7" fmla="*/ 274 h 318"/>
              <a:gd name="T8" fmla="*/ 222 w 444"/>
              <a:gd name="T9" fmla="*/ 318 h 318"/>
              <a:gd name="T10" fmla="*/ 329 w 444"/>
              <a:gd name="T11" fmla="*/ 274 h 318"/>
              <a:gd name="T12" fmla="*/ 444 w 444"/>
              <a:gd name="T13" fmla="*/ 159 h 318"/>
              <a:gd name="T14" fmla="*/ 329 w 444"/>
              <a:gd name="T15" fmla="*/ 44 h 318"/>
              <a:gd name="T16" fmla="*/ 222 w 444"/>
              <a:gd name="T17"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318">
                <a:moveTo>
                  <a:pt x="222" y="0"/>
                </a:moveTo>
                <a:cubicBezTo>
                  <a:pt x="184" y="0"/>
                  <a:pt x="145" y="14"/>
                  <a:pt x="116" y="44"/>
                </a:cubicBezTo>
                <a:cubicBezTo>
                  <a:pt x="0" y="159"/>
                  <a:pt x="0" y="159"/>
                  <a:pt x="0" y="159"/>
                </a:cubicBezTo>
                <a:cubicBezTo>
                  <a:pt x="116" y="274"/>
                  <a:pt x="116" y="274"/>
                  <a:pt x="116" y="274"/>
                </a:cubicBezTo>
                <a:cubicBezTo>
                  <a:pt x="145" y="304"/>
                  <a:pt x="184" y="318"/>
                  <a:pt x="222" y="318"/>
                </a:cubicBezTo>
                <a:cubicBezTo>
                  <a:pt x="261" y="318"/>
                  <a:pt x="299" y="304"/>
                  <a:pt x="329" y="274"/>
                </a:cubicBezTo>
                <a:cubicBezTo>
                  <a:pt x="444" y="159"/>
                  <a:pt x="444" y="159"/>
                  <a:pt x="444" y="159"/>
                </a:cubicBezTo>
                <a:cubicBezTo>
                  <a:pt x="329" y="44"/>
                  <a:pt x="329" y="44"/>
                  <a:pt x="329" y="44"/>
                </a:cubicBezTo>
                <a:cubicBezTo>
                  <a:pt x="299" y="14"/>
                  <a:pt x="261" y="0"/>
                  <a:pt x="222" y="0"/>
                </a:cubicBezTo>
              </a:path>
            </a:pathLst>
          </a:custGeom>
          <a:solidFill>
            <a:schemeClr val="accent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4" name="Freeform 8"/>
          <p:cNvSpPr/>
          <p:nvPr/>
        </p:nvSpPr>
        <p:spPr bwMode="auto">
          <a:xfrm>
            <a:off x="4518660" y="2339340"/>
            <a:ext cx="990600" cy="979170"/>
          </a:xfrm>
          <a:custGeom>
            <a:avLst/>
            <a:gdLst>
              <a:gd name="T0" fmla="*/ 162 w 316"/>
              <a:gd name="T1" fmla="*/ 0 h 312"/>
              <a:gd name="T2" fmla="*/ 0 w 316"/>
              <a:gd name="T3" fmla="*/ 0 h 312"/>
              <a:gd name="T4" fmla="*/ 0 w 316"/>
              <a:gd name="T5" fmla="*/ 164 h 312"/>
              <a:gd name="T6" fmla="*/ 150 w 316"/>
              <a:gd name="T7" fmla="*/ 312 h 312"/>
              <a:gd name="T8" fmla="*/ 316 w 316"/>
              <a:gd name="T9" fmla="*/ 312 h 312"/>
              <a:gd name="T10" fmla="*/ 316 w 316"/>
              <a:gd name="T11" fmla="*/ 152 h 312"/>
              <a:gd name="T12" fmla="*/ 162 w 316"/>
              <a:gd name="T13" fmla="*/ 0 h 312"/>
            </a:gdLst>
            <a:ahLst/>
            <a:cxnLst>
              <a:cxn ang="0">
                <a:pos x="T0" y="T1"/>
              </a:cxn>
              <a:cxn ang="0">
                <a:pos x="T2" y="T3"/>
              </a:cxn>
              <a:cxn ang="0">
                <a:pos x="T4" y="T5"/>
              </a:cxn>
              <a:cxn ang="0">
                <a:pos x="T6" y="T7"/>
              </a:cxn>
              <a:cxn ang="0">
                <a:pos x="T8" y="T9"/>
              </a:cxn>
              <a:cxn ang="0">
                <a:pos x="T10" y="T11"/>
              </a:cxn>
              <a:cxn ang="0">
                <a:pos x="T12" y="T13"/>
              </a:cxn>
            </a:cxnLst>
            <a:rect l="0" t="0" r="r" b="b"/>
            <a:pathLst>
              <a:path w="316" h="312">
                <a:moveTo>
                  <a:pt x="162" y="0"/>
                </a:moveTo>
                <a:cubicBezTo>
                  <a:pt x="0" y="0"/>
                  <a:pt x="0" y="0"/>
                  <a:pt x="0" y="0"/>
                </a:cubicBezTo>
                <a:cubicBezTo>
                  <a:pt x="0" y="164"/>
                  <a:pt x="0" y="164"/>
                  <a:pt x="0" y="164"/>
                </a:cubicBezTo>
                <a:cubicBezTo>
                  <a:pt x="0" y="247"/>
                  <a:pt x="67" y="312"/>
                  <a:pt x="150" y="312"/>
                </a:cubicBezTo>
                <a:cubicBezTo>
                  <a:pt x="316" y="312"/>
                  <a:pt x="316" y="312"/>
                  <a:pt x="316" y="312"/>
                </a:cubicBezTo>
                <a:cubicBezTo>
                  <a:pt x="316" y="152"/>
                  <a:pt x="316" y="152"/>
                  <a:pt x="316" y="152"/>
                </a:cubicBezTo>
                <a:cubicBezTo>
                  <a:pt x="316" y="68"/>
                  <a:pt x="245" y="0"/>
                  <a:pt x="162" y="0"/>
                </a:cubicBezTo>
              </a:path>
            </a:pathLst>
          </a:custGeom>
          <a:solidFill>
            <a:schemeClr val="accent3"/>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5" name="Freeform 9"/>
          <p:cNvSpPr/>
          <p:nvPr/>
        </p:nvSpPr>
        <p:spPr bwMode="auto">
          <a:xfrm>
            <a:off x="6686550" y="4522470"/>
            <a:ext cx="977266" cy="979170"/>
          </a:xfrm>
          <a:custGeom>
            <a:avLst/>
            <a:gdLst>
              <a:gd name="T0" fmla="*/ 165 w 312"/>
              <a:gd name="T1" fmla="*/ 0 h 312"/>
              <a:gd name="T2" fmla="*/ 0 w 312"/>
              <a:gd name="T3" fmla="*/ 0 h 312"/>
              <a:gd name="T4" fmla="*/ 0 w 312"/>
              <a:gd name="T5" fmla="*/ 162 h 312"/>
              <a:gd name="T6" fmla="*/ 153 w 312"/>
              <a:gd name="T7" fmla="*/ 312 h 312"/>
              <a:gd name="T8" fmla="*/ 312 w 312"/>
              <a:gd name="T9" fmla="*/ 312 h 312"/>
              <a:gd name="T10" fmla="*/ 312 w 312"/>
              <a:gd name="T11" fmla="*/ 150 h 312"/>
              <a:gd name="T12" fmla="*/ 165 w 312"/>
              <a:gd name="T13" fmla="*/ 0 h 312"/>
            </a:gdLst>
            <a:ahLst/>
            <a:cxnLst>
              <a:cxn ang="0">
                <a:pos x="T0" y="T1"/>
              </a:cxn>
              <a:cxn ang="0">
                <a:pos x="T2" y="T3"/>
              </a:cxn>
              <a:cxn ang="0">
                <a:pos x="T4" y="T5"/>
              </a:cxn>
              <a:cxn ang="0">
                <a:pos x="T6" y="T7"/>
              </a:cxn>
              <a:cxn ang="0">
                <a:pos x="T8" y="T9"/>
              </a:cxn>
              <a:cxn ang="0">
                <a:pos x="T10" y="T11"/>
              </a:cxn>
              <a:cxn ang="0">
                <a:pos x="T12" y="T13"/>
              </a:cxn>
            </a:cxnLst>
            <a:rect l="0" t="0" r="r" b="b"/>
            <a:pathLst>
              <a:path w="312" h="312">
                <a:moveTo>
                  <a:pt x="165" y="0"/>
                </a:moveTo>
                <a:cubicBezTo>
                  <a:pt x="0" y="0"/>
                  <a:pt x="0" y="0"/>
                  <a:pt x="0" y="0"/>
                </a:cubicBezTo>
                <a:cubicBezTo>
                  <a:pt x="0" y="162"/>
                  <a:pt x="0" y="162"/>
                  <a:pt x="0" y="162"/>
                </a:cubicBezTo>
                <a:cubicBezTo>
                  <a:pt x="0" y="246"/>
                  <a:pt x="69" y="312"/>
                  <a:pt x="153" y="312"/>
                </a:cubicBezTo>
                <a:cubicBezTo>
                  <a:pt x="312" y="312"/>
                  <a:pt x="312" y="312"/>
                  <a:pt x="312" y="312"/>
                </a:cubicBezTo>
                <a:cubicBezTo>
                  <a:pt x="312" y="150"/>
                  <a:pt x="312" y="150"/>
                  <a:pt x="312" y="150"/>
                </a:cubicBezTo>
                <a:cubicBezTo>
                  <a:pt x="312" y="67"/>
                  <a:pt x="248" y="0"/>
                  <a:pt x="165" y="0"/>
                </a:cubicBezTo>
              </a:path>
            </a:pathLst>
          </a:custGeom>
          <a:solidFill>
            <a:schemeClr val="tx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6" name="Freeform 10"/>
          <p:cNvSpPr/>
          <p:nvPr/>
        </p:nvSpPr>
        <p:spPr bwMode="auto">
          <a:xfrm>
            <a:off x="6686550" y="2339340"/>
            <a:ext cx="977266" cy="979170"/>
          </a:xfrm>
          <a:custGeom>
            <a:avLst/>
            <a:gdLst>
              <a:gd name="T0" fmla="*/ 312 w 312"/>
              <a:gd name="T1" fmla="*/ 0 h 312"/>
              <a:gd name="T2" fmla="*/ 153 w 312"/>
              <a:gd name="T3" fmla="*/ 0 h 312"/>
              <a:gd name="T4" fmla="*/ 0 w 312"/>
              <a:gd name="T5" fmla="*/ 152 h 312"/>
              <a:gd name="T6" fmla="*/ 0 w 312"/>
              <a:gd name="T7" fmla="*/ 312 h 312"/>
              <a:gd name="T8" fmla="*/ 165 w 312"/>
              <a:gd name="T9" fmla="*/ 312 h 312"/>
              <a:gd name="T10" fmla="*/ 312 w 312"/>
              <a:gd name="T11" fmla="*/ 164 h 312"/>
              <a:gd name="T12" fmla="*/ 312 w 312"/>
              <a:gd name="T13" fmla="*/ 0 h 312"/>
            </a:gdLst>
            <a:ahLst/>
            <a:cxnLst>
              <a:cxn ang="0">
                <a:pos x="T0" y="T1"/>
              </a:cxn>
              <a:cxn ang="0">
                <a:pos x="T2" y="T3"/>
              </a:cxn>
              <a:cxn ang="0">
                <a:pos x="T4" y="T5"/>
              </a:cxn>
              <a:cxn ang="0">
                <a:pos x="T6" y="T7"/>
              </a:cxn>
              <a:cxn ang="0">
                <a:pos x="T8" y="T9"/>
              </a:cxn>
              <a:cxn ang="0">
                <a:pos x="T10" y="T11"/>
              </a:cxn>
              <a:cxn ang="0">
                <a:pos x="T12" y="T13"/>
              </a:cxn>
            </a:cxnLst>
            <a:rect l="0" t="0" r="r" b="b"/>
            <a:pathLst>
              <a:path w="312" h="312">
                <a:moveTo>
                  <a:pt x="312" y="0"/>
                </a:moveTo>
                <a:cubicBezTo>
                  <a:pt x="153" y="0"/>
                  <a:pt x="153" y="0"/>
                  <a:pt x="153" y="0"/>
                </a:cubicBezTo>
                <a:cubicBezTo>
                  <a:pt x="69" y="0"/>
                  <a:pt x="0" y="68"/>
                  <a:pt x="0" y="152"/>
                </a:cubicBezTo>
                <a:cubicBezTo>
                  <a:pt x="0" y="312"/>
                  <a:pt x="0" y="312"/>
                  <a:pt x="0" y="312"/>
                </a:cubicBezTo>
                <a:cubicBezTo>
                  <a:pt x="165" y="312"/>
                  <a:pt x="165" y="312"/>
                  <a:pt x="165" y="312"/>
                </a:cubicBezTo>
                <a:cubicBezTo>
                  <a:pt x="248" y="312"/>
                  <a:pt x="312" y="247"/>
                  <a:pt x="312" y="164"/>
                </a:cubicBezTo>
                <a:cubicBezTo>
                  <a:pt x="312" y="0"/>
                  <a:pt x="312" y="0"/>
                  <a:pt x="312" y="0"/>
                </a:cubicBezTo>
              </a:path>
            </a:pathLst>
          </a:custGeom>
          <a:solidFill>
            <a:schemeClr val="bg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7" name="Freeform 11"/>
          <p:cNvSpPr/>
          <p:nvPr/>
        </p:nvSpPr>
        <p:spPr bwMode="auto">
          <a:xfrm>
            <a:off x="4518660" y="4522470"/>
            <a:ext cx="990600" cy="979170"/>
          </a:xfrm>
          <a:custGeom>
            <a:avLst/>
            <a:gdLst>
              <a:gd name="T0" fmla="*/ 316 w 316"/>
              <a:gd name="T1" fmla="*/ 0 h 312"/>
              <a:gd name="T2" fmla="*/ 150 w 316"/>
              <a:gd name="T3" fmla="*/ 0 h 312"/>
              <a:gd name="T4" fmla="*/ 0 w 316"/>
              <a:gd name="T5" fmla="*/ 150 h 312"/>
              <a:gd name="T6" fmla="*/ 0 w 316"/>
              <a:gd name="T7" fmla="*/ 312 h 312"/>
              <a:gd name="T8" fmla="*/ 162 w 316"/>
              <a:gd name="T9" fmla="*/ 312 h 312"/>
              <a:gd name="T10" fmla="*/ 316 w 316"/>
              <a:gd name="T11" fmla="*/ 162 h 312"/>
              <a:gd name="T12" fmla="*/ 316 w 316"/>
              <a:gd name="T13" fmla="*/ 0 h 312"/>
            </a:gdLst>
            <a:ahLst/>
            <a:cxnLst>
              <a:cxn ang="0">
                <a:pos x="T0" y="T1"/>
              </a:cxn>
              <a:cxn ang="0">
                <a:pos x="T2" y="T3"/>
              </a:cxn>
              <a:cxn ang="0">
                <a:pos x="T4" y="T5"/>
              </a:cxn>
              <a:cxn ang="0">
                <a:pos x="T6" y="T7"/>
              </a:cxn>
              <a:cxn ang="0">
                <a:pos x="T8" y="T9"/>
              </a:cxn>
              <a:cxn ang="0">
                <a:pos x="T10" y="T11"/>
              </a:cxn>
              <a:cxn ang="0">
                <a:pos x="T12" y="T13"/>
              </a:cxn>
            </a:cxnLst>
            <a:rect l="0" t="0" r="r" b="b"/>
            <a:pathLst>
              <a:path w="316" h="312">
                <a:moveTo>
                  <a:pt x="316" y="0"/>
                </a:moveTo>
                <a:cubicBezTo>
                  <a:pt x="150" y="0"/>
                  <a:pt x="150" y="0"/>
                  <a:pt x="150" y="0"/>
                </a:cubicBezTo>
                <a:cubicBezTo>
                  <a:pt x="67" y="0"/>
                  <a:pt x="0" y="67"/>
                  <a:pt x="0" y="150"/>
                </a:cubicBezTo>
                <a:cubicBezTo>
                  <a:pt x="0" y="312"/>
                  <a:pt x="0" y="312"/>
                  <a:pt x="0" y="312"/>
                </a:cubicBezTo>
                <a:cubicBezTo>
                  <a:pt x="162" y="312"/>
                  <a:pt x="162" y="312"/>
                  <a:pt x="162" y="312"/>
                </a:cubicBezTo>
                <a:cubicBezTo>
                  <a:pt x="245" y="312"/>
                  <a:pt x="316" y="246"/>
                  <a:pt x="316" y="162"/>
                </a:cubicBezTo>
                <a:cubicBezTo>
                  <a:pt x="316" y="0"/>
                  <a:pt x="316" y="0"/>
                  <a:pt x="316" y="0"/>
                </a:cubicBezTo>
              </a:path>
            </a:pathLst>
          </a:custGeom>
          <a:solidFill>
            <a:schemeClr val="accent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8" name="Freeform 12"/>
          <p:cNvSpPr/>
          <p:nvPr/>
        </p:nvSpPr>
        <p:spPr bwMode="auto">
          <a:xfrm>
            <a:off x="5869306" y="5012056"/>
            <a:ext cx="453390" cy="78106"/>
          </a:xfrm>
          <a:custGeom>
            <a:avLst/>
            <a:gdLst>
              <a:gd name="T0" fmla="*/ 145 w 145"/>
              <a:gd name="T1" fmla="*/ 12 h 25"/>
              <a:gd name="T2" fmla="*/ 129 w 145"/>
              <a:gd name="T3" fmla="*/ 25 h 25"/>
              <a:gd name="T4" fmla="*/ 16 w 145"/>
              <a:gd name="T5" fmla="*/ 25 h 25"/>
              <a:gd name="T6" fmla="*/ 0 w 145"/>
              <a:gd name="T7" fmla="*/ 12 h 25"/>
              <a:gd name="T8" fmla="*/ 16 w 145"/>
              <a:gd name="T9" fmla="*/ 0 h 25"/>
              <a:gd name="T10" fmla="*/ 129 w 145"/>
              <a:gd name="T11" fmla="*/ 0 h 25"/>
              <a:gd name="T12" fmla="*/ 145 w 145"/>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145" h="25">
                <a:moveTo>
                  <a:pt x="145" y="12"/>
                </a:moveTo>
                <a:cubicBezTo>
                  <a:pt x="145" y="19"/>
                  <a:pt x="138" y="25"/>
                  <a:pt x="129" y="25"/>
                </a:cubicBezTo>
                <a:cubicBezTo>
                  <a:pt x="16" y="25"/>
                  <a:pt x="16" y="25"/>
                  <a:pt x="16" y="25"/>
                </a:cubicBezTo>
                <a:cubicBezTo>
                  <a:pt x="7" y="25"/>
                  <a:pt x="0" y="19"/>
                  <a:pt x="0" y="12"/>
                </a:cubicBezTo>
                <a:cubicBezTo>
                  <a:pt x="0" y="6"/>
                  <a:pt x="7" y="0"/>
                  <a:pt x="16" y="0"/>
                </a:cubicBezTo>
                <a:cubicBezTo>
                  <a:pt x="129" y="0"/>
                  <a:pt x="129" y="0"/>
                  <a:pt x="129" y="0"/>
                </a:cubicBezTo>
                <a:cubicBezTo>
                  <a:pt x="138" y="0"/>
                  <a:pt x="145" y="6"/>
                  <a:pt x="145" y="12"/>
                </a:cubicBez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39" name="Freeform 13"/>
          <p:cNvSpPr/>
          <p:nvPr/>
        </p:nvSpPr>
        <p:spPr bwMode="auto">
          <a:xfrm>
            <a:off x="5869306" y="5099686"/>
            <a:ext cx="453390" cy="78106"/>
          </a:xfrm>
          <a:custGeom>
            <a:avLst/>
            <a:gdLst>
              <a:gd name="T0" fmla="*/ 145 w 145"/>
              <a:gd name="T1" fmla="*/ 13 h 25"/>
              <a:gd name="T2" fmla="*/ 129 w 145"/>
              <a:gd name="T3" fmla="*/ 25 h 25"/>
              <a:gd name="T4" fmla="*/ 16 w 145"/>
              <a:gd name="T5" fmla="*/ 25 h 25"/>
              <a:gd name="T6" fmla="*/ 0 w 145"/>
              <a:gd name="T7" fmla="*/ 13 h 25"/>
              <a:gd name="T8" fmla="*/ 16 w 145"/>
              <a:gd name="T9" fmla="*/ 0 h 25"/>
              <a:gd name="T10" fmla="*/ 129 w 145"/>
              <a:gd name="T11" fmla="*/ 0 h 25"/>
              <a:gd name="T12" fmla="*/ 145 w 145"/>
              <a:gd name="T13" fmla="*/ 13 h 25"/>
            </a:gdLst>
            <a:ahLst/>
            <a:cxnLst>
              <a:cxn ang="0">
                <a:pos x="T0" y="T1"/>
              </a:cxn>
              <a:cxn ang="0">
                <a:pos x="T2" y="T3"/>
              </a:cxn>
              <a:cxn ang="0">
                <a:pos x="T4" y="T5"/>
              </a:cxn>
              <a:cxn ang="0">
                <a:pos x="T6" y="T7"/>
              </a:cxn>
              <a:cxn ang="0">
                <a:pos x="T8" y="T9"/>
              </a:cxn>
              <a:cxn ang="0">
                <a:pos x="T10" y="T11"/>
              </a:cxn>
              <a:cxn ang="0">
                <a:pos x="T12" y="T13"/>
              </a:cxn>
            </a:cxnLst>
            <a:rect l="0" t="0" r="r" b="b"/>
            <a:pathLst>
              <a:path w="145" h="25">
                <a:moveTo>
                  <a:pt x="145" y="13"/>
                </a:moveTo>
                <a:cubicBezTo>
                  <a:pt x="145" y="20"/>
                  <a:pt x="138" y="25"/>
                  <a:pt x="129" y="25"/>
                </a:cubicBezTo>
                <a:cubicBezTo>
                  <a:pt x="16" y="25"/>
                  <a:pt x="16" y="25"/>
                  <a:pt x="16" y="25"/>
                </a:cubicBezTo>
                <a:cubicBezTo>
                  <a:pt x="7" y="25"/>
                  <a:pt x="0" y="20"/>
                  <a:pt x="0" y="13"/>
                </a:cubicBezTo>
                <a:cubicBezTo>
                  <a:pt x="0" y="6"/>
                  <a:pt x="7" y="0"/>
                  <a:pt x="16" y="0"/>
                </a:cubicBezTo>
                <a:cubicBezTo>
                  <a:pt x="129" y="0"/>
                  <a:pt x="129" y="0"/>
                  <a:pt x="129" y="0"/>
                </a:cubicBezTo>
                <a:cubicBezTo>
                  <a:pt x="138" y="0"/>
                  <a:pt x="145" y="6"/>
                  <a:pt x="145" y="13"/>
                </a:cubicBez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40" name="Freeform 14"/>
          <p:cNvSpPr/>
          <p:nvPr/>
        </p:nvSpPr>
        <p:spPr bwMode="auto">
          <a:xfrm>
            <a:off x="5869306" y="5191126"/>
            <a:ext cx="453390" cy="78106"/>
          </a:xfrm>
          <a:custGeom>
            <a:avLst/>
            <a:gdLst>
              <a:gd name="T0" fmla="*/ 145 w 145"/>
              <a:gd name="T1" fmla="*/ 12 h 25"/>
              <a:gd name="T2" fmla="*/ 129 w 145"/>
              <a:gd name="T3" fmla="*/ 25 h 25"/>
              <a:gd name="T4" fmla="*/ 16 w 145"/>
              <a:gd name="T5" fmla="*/ 25 h 25"/>
              <a:gd name="T6" fmla="*/ 0 w 145"/>
              <a:gd name="T7" fmla="*/ 12 h 25"/>
              <a:gd name="T8" fmla="*/ 16 w 145"/>
              <a:gd name="T9" fmla="*/ 0 h 25"/>
              <a:gd name="T10" fmla="*/ 129 w 145"/>
              <a:gd name="T11" fmla="*/ 0 h 25"/>
              <a:gd name="T12" fmla="*/ 145 w 145"/>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145" h="25">
                <a:moveTo>
                  <a:pt x="145" y="12"/>
                </a:moveTo>
                <a:cubicBezTo>
                  <a:pt x="145" y="19"/>
                  <a:pt x="138" y="25"/>
                  <a:pt x="129" y="25"/>
                </a:cubicBezTo>
                <a:cubicBezTo>
                  <a:pt x="16" y="25"/>
                  <a:pt x="16" y="25"/>
                  <a:pt x="16" y="25"/>
                </a:cubicBezTo>
                <a:cubicBezTo>
                  <a:pt x="7" y="25"/>
                  <a:pt x="0" y="19"/>
                  <a:pt x="0" y="12"/>
                </a:cubicBezTo>
                <a:cubicBezTo>
                  <a:pt x="0" y="5"/>
                  <a:pt x="7" y="0"/>
                  <a:pt x="16" y="0"/>
                </a:cubicBezTo>
                <a:cubicBezTo>
                  <a:pt x="129" y="0"/>
                  <a:pt x="129" y="0"/>
                  <a:pt x="129" y="0"/>
                </a:cubicBezTo>
                <a:cubicBezTo>
                  <a:pt x="138" y="0"/>
                  <a:pt x="145" y="5"/>
                  <a:pt x="145" y="12"/>
                </a:cubicBez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41" name="Freeform 15"/>
          <p:cNvSpPr/>
          <p:nvPr/>
        </p:nvSpPr>
        <p:spPr bwMode="auto">
          <a:xfrm>
            <a:off x="5966460" y="5278756"/>
            <a:ext cx="257176" cy="78106"/>
          </a:xfrm>
          <a:custGeom>
            <a:avLst/>
            <a:gdLst>
              <a:gd name="T0" fmla="*/ 82 w 82"/>
              <a:gd name="T1" fmla="*/ 0 h 25"/>
              <a:gd name="T2" fmla="*/ 41 w 82"/>
              <a:gd name="T3" fmla="*/ 25 h 25"/>
              <a:gd name="T4" fmla="*/ 0 w 82"/>
              <a:gd name="T5" fmla="*/ 0 h 25"/>
              <a:gd name="T6" fmla="*/ 82 w 82"/>
              <a:gd name="T7" fmla="*/ 0 h 25"/>
            </a:gdLst>
            <a:ahLst/>
            <a:cxnLst>
              <a:cxn ang="0">
                <a:pos x="T0" y="T1"/>
              </a:cxn>
              <a:cxn ang="0">
                <a:pos x="T2" y="T3"/>
              </a:cxn>
              <a:cxn ang="0">
                <a:pos x="T4" y="T5"/>
              </a:cxn>
              <a:cxn ang="0">
                <a:pos x="T6" y="T7"/>
              </a:cxn>
            </a:cxnLst>
            <a:rect l="0" t="0" r="r" b="b"/>
            <a:pathLst>
              <a:path w="82" h="25">
                <a:moveTo>
                  <a:pt x="82" y="0"/>
                </a:moveTo>
                <a:cubicBezTo>
                  <a:pt x="82" y="14"/>
                  <a:pt x="64" y="25"/>
                  <a:pt x="41" y="25"/>
                </a:cubicBezTo>
                <a:cubicBezTo>
                  <a:pt x="18" y="25"/>
                  <a:pt x="0" y="14"/>
                  <a:pt x="0" y="0"/>
                </a:cubicBezTo>
                <a:lnTo>
                  <a:pt x="82" y="0"/>
                </a:ln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42" name="Freeform 16"/>
          <p:cNvSpPr>
            <a:spLocks noEditPoints="1"/>
          </p:cNvSpPr>
          <p:nvPr/>
        </p:nvSpPr>
        <p:spPr bwMode="auto">
          <a:xfrm>
            <a:off x="5339716" y="3168016"/>
            <a:ext cx="1512570" cy="1819276"/>
          </a:xfrm>
          <a:custGeom>
            <a:avLst/>
            <a:gdLst>
              <a:gd name="T0" fmla="*/ 241 w 483"/>
              <a:gd name="T1" fmla="*/ 0 h 580"/>
              <a:gd name="T2" fmla="*/ 0 w 483"/>
              <a:gd name="T3" fmla="*/ 241 h 580"/>
              <a:gd name="T4" fmla="*/ 62 w 483"/>
              <a:gd name="T5" fmla="*/ 402 h 580"/>
              <a:gd name="T6" fmla="*/ 62 w 483"/>
              <a:gd name="T7" fmla="*/ 402 h 580"/>
              <a:gd name="T8" fmla="*/ 63 w 483"/>
              <a:gd name="T9" fmla="*/ 403 h 580"/>
              <a:gd name="T10" fmla="*/ 73 w 483"/>
              <a:gd name="T11" fmla="*/ 414 h 580"/>
              <a:gd name="T12" fmla="*/ 129 w 483"/>
              <a:gd name="T13" fmla="*/ 483 h 580"/>
              <a:gd name="T14" fmla="*/ 199 w 483"/>
              <a:gd name="T15" fmla="*/ 580 h 580"/>
              <a:gd name="T16" fmla="*/ 235 w 483"/>
              <a:gd name="T17" fmla="*/ 580 h 580"/>
              <a:gd name="T18" fmla="*/ 247 w 483"/>
              <a:gd name="T19" fmla="*/ 580 h 580"/>
              <a:gd name="T20" fmla="*/ 284 w 483"/>
              <a:gd name="T21" fmla="*/ 580 h 580"/>
              <a:gd name="T22" fmla="*/ 353 w 483"/>
              <a:gd name="T23" fmla="*/ 483 h 580"/>
              <a:gd name="T24" fmla="*/ 407 w 483"/>
              <a:gd name="T25" fmla="*/ 416 h 580"/>
              <a:gd name="T26" fmla="*/ 483 w 483"/>
              <a:gd name="T27" fmla="*/ 241 h 580"/>
              <a:gd name="T28" fmla="*/ 241 w 483"/>
              <a:gd name="T29" fmla="*/ 0 h 580"/>
              <a:gd name="T30" fmla="*/ 331 w 483"/>
              <a:gd name="T31" fmla="*/ 349 h 580"/>
              <a:gd name="T32" fmla="*/ 302 w 483"/>
              <a:gd name="T33" fmla="*/ 388 h 580"/>
              <a:gd name="T34" fmla="*/ 264 w 483"/>
              <a:gd name="T35" fmla="*/ 443 h 580"/>
              <a:gd name="T36" fmla="*/ 245 w 483"/>
              <a:gd name="T37" fmla="*/ 443 h 580"/>
              <a:gd name="T38" fmla="*/ 238 w 483"/>
              <a:gd name="T39" fmla="*/ 443 h 580"/>
              <a:gd name="T40" fmla="*/ 218 w 483"/>
              <a:gd name="T41" fmla="*/ 443 h 580"/>
              <a:gd name="T42" fmla="*/ 181 w 483"/>
              <a:gd name="T43" fmla="*/ 388 h 580"/>
              <a:gd name="T44" fmla="*/ 150 w 483"/>
              <a:gd name="T45" fmla="*/ 348 h 580"/>
              <a:gd name="T46" fmla="*/ 145 w 483"/>
              <a:gd name="T47" fmla="*/ 341 h 580"/>
              <a:gd name="T48" fmla="*/ 144 w 483"/>
              <a:gd name="T49" fmla="*/ 341 h 580"/>
              <a:gd name="T50" fmla="*/ 144 w 483"/>
              <a:gd name="T51" fmla="*/ 341 h 580"/>
              <a:gd name="T52" fmla="*/ 111 w 483"/>
              <a:gd name="T53" fmla="*/ 248 h 580"/>
              <a:gd name="T54" fmla="*/ 241 w 483"/>
              <a:gd name="T55" fmla="*/ 109 h 580"/>
              <a:gd name="T56" fmla="*/ 372 w 483"/>
              <a:gd name="T57" fmla="*/ 248 h 580"/>
              <a:gd name="T58" fmla="*/ 331 w 483"/>
              <a:gd name="T59" fmla="*/ 349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3" h="580">
                <a:moveTo>
                  <a:pt x="241" y="0"/>
                </a:moveTo>
                <a:cubicBezTo>
                  <a:pt x="108" y="0"/>
                  <a:pt x="0" y="108"/>
                  <a:pt x="0" y="241"/>
                </a:cubicBezTo>
                <a:cubicBezTo>
                  <a:pt x="0" y="303"/>
                  <a:pt x="23" y="359"/>
                  <a:pt x="62" y="402"/>
                </a:cubicBezTo>
                <a:cubicBezTo>
                  <a:pt x="62" y="402"/>
                  <a:pt x="62" y="402"/>
                  <a:pt x="62" y="402"/>
                </a:cubicBezTo>
                <a:cubicBezTo>
                  <a:pt x="62" y="402"/>
                  <a:pt x="62" y="402"/>
                  <a:pt x="63" y="403"/>
                </a:cubicBezTo>
                <a:cubicBezTo>
                  <a:pt x="66" y="407"/>
                  <a:pt x="70" y="410"/>
                  <a:pt x="73" y="414"/>
                </a:cubicBezTo>
                <a:cubicBezTo>
                  <a:pt x="88" y="429"/>
                  <a:pt x="112" y="457"/>
                  <a:pt x="129" y="483"/>
                </a:cubicBezTo>
                <a:cubicBezTo>
                  <a:pt x="154" y="523"/>
                  <a:pt x="141" y="580"/>
                  <a:pt x="199" y="580"/>
                </a:cubicBezTo>
                <a:cubicBezTo>
                  <a:pt x="235" y="580"/>
                  <a:pt x="235" y="580"/>
                  <a:pt x="235" y="580"/>
                </a:cubicBezTo>
                <a:cubicBezTo>
                  <a:pt x="247" y="580"/>
                  <a:pt x="247" y="580"/>
                  <a:pt x="247" y="580"/>
                </a:cubicBezTo>
                <a:cubicBezTo>
                  <a:pt x="284" y="580"/>
                  <a:pt x="284" y="580"/>
                  <a:pt x="284" y="580"/>
                </a:cubicBezTo>
                <a:cubicBezTo>
                  <a:pt x="341" y="580"/>
                  <a:pt x="329" y="523"/>
                  <a:pt x="353" y="483"/>
                </a:cubicBezTo>
                <a:cubicBezTo>
                  <a:pt x="369" y="458"/>
                  <a:pt x="393" y="431"/>
                  <a:pt x="407" y="416"/>
                </a:cubicBezTo>
                <a:cubicBezTo>
                  <a:pt x="454" y="372"/>
                  <a:pt x="483" y="310"/>
                  <a:pt x="483" y="241"/>
                </a:cubicBezTo>
                <a:cubicBezTo>
                  <a:pt x="483" y="108"/>
                  <a:pt x="375" y="0"/>
                  <a:pt x="241" y="0"/>
                </a:cubicBezTo>
                <a:close/>
                <a:moveTo>
                  <a:pt x="331" y="349"/>
                </a:moveTo>
                <a:cubicBezTo>
                  <a:pt x="323" y="358"/>
                  <a:pt x="311" y="373"/>
                  <a:pt x="302" y="388"/>
                </a:cubicBezTo>
                <a:cubicBezTo>
                  <a:pt x="289" y="411"/>
                  <a:pt x="295" y="443"/>
                  <a:pt x="264" y="443"/>
                </a:cubicBezTo>
                <a:cubicBezTo>
                  <a:pt x="245" y="443"/>
                  <a:pt x="245" y="443"/>
                  <a:pt x="245" y="443"/>
                </a:cubicBezTo>
                <a:cubicBezTo>
                  <a:pt x="238" y="443"/>
                  <a:pt x="238" y="443"/>
                  <a:pt x="238" y="443"/>
                </a:cubicBezTo>
                <a:cubicBezTo>
                  <a:pt x="218" y="443"/>
                  <a:pt x="218" y="443"/>
                  <a:pt x="218" y="443"/>
                </a:cubicBezTo>
                <a:cubicBezTo>
                  <a:pt x="187" y="443"/>
                  <a:pt x="194" y="411"/>
                  <a:pt x="181" y="388"/>
                </a:cubicBezTo>
                <a:cubicBezTo>
                  <a:pt x="172" y="372"/>
                  <a:pt x="158" y="356"/>
                  <a:pt x="150" y="348"/>
                </a:cubicBezTo>
                <a:cubicBezTo>
                  <a:pt x="148" y="345"/>
                  <a:pt x="146" y="343"/>
                  <a:pt x="145" y="341"/>
                </a:cubicBezTo>
                <a:cubicBezTo>
                  <a:pt x="144" y="341"/>
                  <a:pt x="144" y="341"/>
                  <a:pt x="144" y="341"/>
                </a:cubicBezTo>
                <a:cubicBezTo>
                  <a:pt x="144" y="341"/>
                  <a:pt x="144" y="341"/>
                  <a:pt x="144" y="341"/>
                </a:cubicBezTo>
                <a:cubicBezTo>
                  <a:pt x="123" y="316"/>
                  <a:pt x="111" y="284"/>
                  <a:pt x="111" y="248"/>
                </a:cubicBezTo>
                <a:cubicBezTo>
                  <a:pt x="111" y="171"/>
                  <a:pt x="169" y="109"/>
                  <a:pt x="241" y="109"/>
                </a:cubicBezTo>
                <a:cubicBezTo>
                  <a:pt x="314" y="109"/>
                  <a:pt x="372" y="171"/>
                  <a:pt x="372" y="248"/>
                </a:cubicBezTo>
                <a:cubicBezTo>
                  <a:pt x="372" y="288"/>
                  <a:pt x="356" y="323"/>
                  <a:pt x="331" y="349"/>
                </a:cubicBez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46" name="Rectangle 45"/>
          <p:cNvSpPr/>
          <p:nvPr/>
        </p:nvSpPr>
        <p:spPr>
          <a:xfrm>
            <a:off x="1210818" y="1795272"/>
            <a:ext cx="3028950" cy="755650"/>
          </a:xfrm>
          <a:prstGeom prst="rect">
            <a:avLst/>
          </a:prstGeom>
          <a:noFill/>
          <a:ln w="9525">
            <a:noFill/>
          </a:ln>
        </p:spPr>
        <p:txBody>
          <a:bodyPr wrap="square">
            <a:spAutoFit/>
          </a:bodyPr>
          <a:lstStyle/>
          <a:p>
            <a:pPr algn="r" eaLnBrk="1" hangingPunct="1">
              <a:buNone/>
            </a:pPr>
            <a:r>
              <a:rPr lang="en-US" altLang="zh-CN" sz="2160" b="1" dirty="0">
                <a:solidFill>
                  <a:schemeClr val="tx2"/>
                </a:solidFill>
                <a:latin typeface="Open Sans Light" pitchFamily="34" charset="0"/>
                <a:ea typeface="Open Sans Light" pitchFamily="34" charset="0"/>
                <a:cs typeface="+mj-cs"/>
              </a:rPr>
              <a:t>Chapter1   Introduction</a:t>
            </a:r>
            <a:r>
              <a:rPr lang="en-US" altLang="zh-CN" sz="4320" b="1" dirty="0">
                <a:solidFill>
                  <a:schemeClr val="tx2"/>
                </a:solidFill>
                <a:latin typeface="Open Sans Light" pitchFamily="34" charset="0"/>
                <a:ea typeface="Open Sans Light" pitchFamily="34" charset="0"/>
                <a:cs typeface="+mj-cs"/>
              </a:rPr>
              <a:t> </a:t>
            </a:r>
            <a:endParaRPr lang="en-US" altLang="zh-CN" sz="960" dirty="0">
              <a:solidFill>
                <a:schemeClr val="tx2"/>
              </a:solidFill>
              <a:latin typeface="Open Sans Light" pitchFamily="34" charset="0"/>
              <a:ea typeface="Open Sans Light" pitchFamily="34" charset="0"/>
            </a:endParaRPr>
          </a:p>
        </p:txBody>
      </p:sp>
      <p:sp>
        <p:nvSpPr>
          <p:cNvPr id="49" name="Freeform 5"/>
          <p:cNvSpPr>
            <a:spLocks noEditPoints="1"/>
          </p:cNvSpPr>
          <p:nvPr/>
        </p:nvSpPr>
        <p:spPr bwMode="auto">
          <a:xfrm>
            <a:off x="4813936" y="2621280"/>
            <a:ext cx="400050" cy="400050"/>
          </a:xfrm>
          <a:custGeom>
            <a:avLst/>
            <a:gdLst>
              <a:gd name="T0" fmla="*/ 1308 w 1648"/>
              <a:gd name="T1" fmla="*/ 480 h 1642"/>
              <a:gd name="T2" fmla="*/ 828 w 1648"/>
              <a:gd name="T3" fmla="*/ 960 h 1642"/>
              <a:gd name="T4" fmla="*/ 348 w 1648"/>
              <a:gd name="T5" fmla="*/ 480 h 1642"/>
              <a:gd name="T6" fmla="*/ 828 w 1648"/>
              <a:gd name="T7" fmla="*/ 0 h 1642"/>
              <a:gd name="T8" fmla="*/ 1308 w 1648"/>
              <a:gd name="T9" fmla="*/ 480 h 1642"/>
              <a:gd name="T10" fmla="*/ 1224 w 1648"/>
              <a:gd name="T11" fmla="*/ 983 h 1642"/>
              <a:gd name="T12" fmla="*/ 828 w 1648"/>
              <a:gd name="T13" fmla="*/ 1120 h 1642"/>
              <a:gd name="T14" fmla="*/ 428 w 1648"/>
              <a:gd name="T15" fmla="*/ 980 h 1642"/>
              <a:gd name="T16" fmla="*/ 0 w 1648"/>
              <a:gd name="T17" fmla="*/ 1642 h 1642"/>
              <a:gd name="T18" fmla="*/ 1648 w 1648"/>
              <a:gd name="T19" fmla="*/ 1642 h 1642"/>
              <a:gd name="T20" fmla="*/ 1224 w 1648"/>
              <a:gd name="T21" fmla="*/ 983 h 1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8" h="1642">
                <a:moveTo>
                  <a:pt x="1308" y="480"/>
                </a:moveTo>
                <a:cubicBezTo>
                  <a:pt x="1308" y="745"/>
                  <a:pt x="1093" y="960"/>
                  <a:pt x="828" y="960"/>
                </a:cubicBezTo>
                <a:cubicBezTo>
                  <a:pt x="563" y="960"/>
                  <a:pt x="348" y="745"/>
                  <a:pt x="348" y="480"/>
                </a:cubicBezTo>
                <a:cubicBezTo>
                  <a:pt x="348" y="215"/>
                  <a:pt x="563" y="0"/>
                  <a:pt x="828" y="0"/>
                </a:cubicBezTo>
                <a:cubicBezTo>
                  <a:pt x="1093" y="0"/>
                  <a:pt x="1308" y="215"/>
                  <a:pt x="1308" y="480"/>
                </a:cubicBezTo>
                <a:close/>
                <a:moveTo>
                  <a:pt x="1224" y="983"/>
                </a:moveTo>
                <a:cubicBezTo>
                  <a:pt x="1113" y="1071"/>
                  <a:pt x="974" y="1120"/>
                  <a:pt x="828" y="1120"/>
                </a:cubicBezTo>
                <a:cubicBezTo>
                  <a:pt x="681" y="1120"/>
                  <a:pt x="541" y="1070"/>
                  <a:pt x="428" y="980"/>
                </a:cubicBezTo>
                <a:cubicBezTo>
                  <a:pt x="132" y="1088"/>
                  <a:pt x="0" y="1469"/>
                  <a:pt x="0" y="1642"/>
                </a:cubicBezTo>
                <a:cubicBezTo>
                  <a:pt x="1648" y="1642"/>
                  <a:pt x="1648" y="1642"/>
                  <a:pt x="1648" y="1642"/>
                </a:cubicBezTo>
                <a:cubicBezTo>
                  <a:pt x="1648" y="1470"/>
                  <a:pt x="1515" y="1093"/>
                  <a:pt x="1224" y="983"/>
                </a:cubicBez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0" name="Freeform 13"/>
          <p:cNvSpPr>
            <a:spLocks noEditPoints="1"/>
          </p:cNvSpPr>
          <p:nvPr/>
        </p:nvSpPr>
        <p:spPr bwMode="auto">
          <a:xfrm>
            <a:off x="4322446" y="3722370"/>
            <a:ext cx="459106" cy="459106"/>
          </a:xfrm>
          <a:custGeom>
            <a:avLst/>
            <a:gdLst>
              <a:gd name="T0" fmla="*/ 1158 w 1640"/>
              <a:gd name="T1" fmla="*/ 965 h 1642"/>
              <a:gd name="T2" fmla="*/ 705 w 1640"/>
              <a:gd name="T3" fmla="*/ 965 h 1642"/>
              <a:gd name="T4" fmla="*/ 705 w 1640"/>
              <a:gd name="T5" fmla="*/ 467 h 1642"/>
              <a:gd name="T6" fmla="*/ 849 w 1640"/>
              <a:gd name="T7" fmla="*/ 467 h 1642"/>
              <a:gd name="T8" fmla="*/ 849 w 1640"/>
              <a:gd name="T9" fmla="*/ 821 h 1642"/>
              <a:gd name="T10" fmla="*/ 1158 w 1640"/>
              <a:gd name="T11" fmla="*/ 821 h 1642"/>
              <a:gd name="T12" fmla="*/ 1158 w 1640"/>
              <a:gd name="T13" fmla="*/ 965 h 1642"/>
              <a:gd name="T14" fmla="*/ 1354 w 1640"/>
              <a:gd name="T15" fmla="*/ 1311 h 1642"/>
              <a:gd name="T16" fmla="*/ 1543 w 1640"/>
              <a:gd name="T17" fmla="*/ 824 h 1642"/>
              <a:gd name="T18" fmla="*/ 820 w 1640"/>
              <a:gd name="T19" fmla="*/ 101 h 1642"/>
              <a:gd name="T20" fmla="*/ 97 w 1640"/>
              <a:gd name="T21" fmla="*/ 824 h 1642"/>
              <a:gd name="T22" fmla="*/ 286 w 1640"/>
              <a:gd name="T23" fmla="*/ 1311 h 1642"/>
              <a:gd name="T24" fmla="*/ 171 w 1640"/>
              <a:gd name="T25" fmla="*/ 1599 h 1642"/>
              <a:gd name="T26" fmla="*/ 179 w 1640"/>
              <a:gd name="T27" fmla="*/ 1633 h 1642"/>
              <a:gd name="T28" fmla="*/ 215 w 1640"/>
              <a:gd name="T29" fmla="*/ 1635 h 1642"/>
              <a:gd name="T30" fmla="*/ 476 w 1640"/>
              <a:gd name="T31" fmla="*/ 1460 h 1642"/>
              <a:gd name="T32" fmla="*/ 820 w 1640"/>
              <a:gd name="T33" fmla="*/ 1547 h 1642"/>
              <a:gd name="T34" fmla="*/ 1164 w 1640"/>
              <a:gd name="T35" fmla="*/ 1460 h 1642"/>
              <a:gd name="T36" fmla="*/ 1425 w 1640"/>
              <a:gd name="T37" fmla="*/ 1635 h 1642"/>
              <a:gd name="T38" fmla="*/ 1461 w 1640"/>
              <a:gd name="T39" fmla="*/ 1634 h 1642"/>
              <a:gd name="T40" fmla="*/ 1469 w 1640"/>
              <a:gd name="T41" fmla="*/ 1599 h 1642"/>
              <a:gd name="T42" fmla="*/ 1354 w 1640"/>
              <a:gd name="T43" fmla="*/ 1311 h 1642"/>
              <a:gd name="T44" fmla="*/ 820 w 1640"/>
              <a:gd name="T45" fmla="*/ 1367 h 1642"/>
              <a:gd name="T46" fmla="*/ 277 w 1640"/>
              <a:gd name="T47" fmla="*/ 824 h 1642"/>
              <a:gd name="T48" fmla="*/ 820 w 1640"/>
              <a:gd name="T49" fmla="*/ 281 h 1642"/>
              <a:gd name="T50" fmla="*/ 1363 w 1640"/>
              <a:gd name="T51" fmla="*/ 824 h 1642"/>
              <a:gd name="T52" fmla="*/ 820 w 1640"/>
              <a:gd name="T53" fmla="*/ 1367 h 1642"/>
              <a:gd name="T54" fmla="*/ 496 w 1640"/>
              <a:gd name="T55" fmla="*/ 46 h 1642"/>
              <a:gd name="T56" fmla="*/ 328 w 1640"/>
              <a:gd name="T57" fmla="*/ 0 h 1642"/>
              <a:gd name="T58" fmla="*/ 0 w 1640"/>
              <a:gd name="T59" fmla="*/ 328 h 1642"/>
              <a:gd name="T60" fmla="*/ 45 w 1640"/>
              <a:gd name="T61" fmla="*/ 493 h 1642"/>
              <a:gd name="T62" fmla="*/ 496 w 1640"/>
              <a:gd name="T63" fmla="*/ 46 h 1642"/>
              <a:gd name="T64" fmla="*/ 1595 w 1640"/>
              <a:gd name="T65" fmla="*/ 493 h 1642"/>
              <a:gd name="T66" fmla="*/ 1640 w 1640"/>
              <a:gd name="T67" fmla="*/ 328 h 1642"/>
              <a:gd name="T68" fmla="*/ 1312 w 1640"/>
              <a:gd name="T69" fmla="*/ 0 h 1642"/>
              <a:gd name="T70" fmla="*/ 1145 w 1640"/>
              <a:gd name="T71" fmla="*/ 46 h 1642"/>
              <a:gd name="T72" fmla="*/ 1595 w 1640"/>
              <a:gd name="T73" fmla="*/ 493 h 1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40" h="1642">
                <a:moveTo>
                  <a:pt x="1158" y="965"/>
                </a:moveTo>
                <a:cubicBezTo>
                  <a:pt x="705" y="965"/>
                  <a:pt x="705" y="965"/>
                  <a:pt x="705" y="965"/>
                </a:cubicBezTo>
                <a:cubicBezTo>
                  <a:pt x="705" y="467"/>
                  <a:pt x="705" y="467"/>
                  <a:pt x="705" y="467"/>
                </a:cubicBezTo>
                <a:cubicBezTo>
                  <a:pt x="849" y="467"/>
                  <a:pt x="849" y="467"/>
                  <a:pt x="849" y="467"/>
                </a:cubicBezTo>
                <a:cubicBezTo>
                  <a:pt x="849" y="821"/>
                  <a:pt x="849" y="821"/>
                  <a:pt x="849" y="821"/>
                </a:cubicBezTo>
                <a:cubicBezTo>
                  <a:pt x="1158" y="821"/>
                  <a:pt x="1158" y="821"/>
                  <a:pt x="1158" y="821"/>
                </a:cubicBezTo>
                <a:cubicBezTo>
                  <a:pt x="1158" y="965"/>
                  <a:pt x="1158" y="965"/>
                  <a:pt x="1158" y="965"/>
                </a:cubicBezTo>
                <a:close/>
                <a:moveTo>
                  <a:pt x="1354" y="1311"/>
                </a:moveTo>
                <a:cubicBezTo>
                  <a:pt x="1471" y="1183"/>
                  <a:pt x="1543" y="1012"/>
                  <a:pt x="1543" y="824"/>
                </a:cubicBezTo>
                <a:cubicBezTo>
                  <a:pt x="1543" y="424"/>
                  <a:pt x="1219" y="101"/>
                  <a:pt x="820" y="101"/>
                </a:cubicBezTo>
                <a:cubicBezTo>
                  <a:pt x="421" y="101"/>
                  <a:pt x="97" y="424"/>
                  <a:pt x="97" y="824"/>
                </a:cubicBezTo>
                <a:cubicBezTo>
                  <a:pt x="97" y="1012"/>
                  <a:pt x="169" y="1183"/>
                  <a:pt x="286" y="1311"/>
                </a:cubicBezTo>
                <a:cubicBezTo>
                  <a:pt x="250" y="1401"/>
                  <a:pt x="203" y="1520"/>
                  <a:pt x="171" y="1599"/>
                </a:cubicBezTo>
                <a:cubicBezTo>
                  <a:pt x="166" y="1611"/>
                  <a:pt x="169" y="1625"/>
                  <a:pt x="179" y="1633"/>
                </a:cubicBezTo>
                <a:cubicBezTo>
                  <a:pt x="190" y="1642"/>
                  <a:pt x="204" y="1642"/>
                  <a:pt x="215" y="1635"/>
                </a:cubicBezTo>
                <a:cubicBezTo>
                  <a:pt x="288" y="1586"/>
                  <a:pt x="398" y="1513"/>
                  <a:pt x="476" y="1460"/>
                </a:cubicBezTo>
                <a:cubicBezTo>
                  <a:pt x="579" y="1515"/>
                  <a:pt x="696" y="1547"/>
                  <a:pt x="820" y="1547"/>
                </a:cubicBezTo>
                <a:cubicBezTo>
                  <a:pt x="944" y="1547"/>
                  <a:pt x="1061" y="1515"/>
                  <a:pt x="1164" y="1460"/>
                </a:cubicBezTo>
                <a:cubicBezTo>
                  <a:pt x="1425" y="1635"/>
                  <a:pt x="1425" y="1635"/>
                  <a:pt x="1425" y="1635"/>
                </a:cubicBezTo>
                <a:cubicBezTo>
                  <a:pt x="1436" y="1642"/>
                  <a:pt x="1450" y="1642"/>
                  <a:pt x="1461" y="1634"/>
                </a:cubicBezTo>
                <a:cubicBezTo>
                  <a:pt x="1471" y="1625"/>
                  <a:pt x="1474" y="1612"/>
                  <a:pt x="1469" y="1599"/>
                </a:cubicBezTo>
                <a:lnTo>
                  <a:pt x="1354" y="1311"/>
                </a:lnTo>
                <a:close/>
                <a:moveTo>
                  <a:pt x="820" y="1367"/>
                </a:moveTo>
                <a:cubicBezTo>
                  <a:pt x="520" y="1367"/>
                  <a:pt x="277" y="1124"/>
                  <a:pt x="277" y="824"/>
                </a:cubicBezTo>
                <a:cubicBezTo>
                  <a:pt x="277" y="524"/>
                  <a:pt x="520" y="281"/>
                  <a:pt x="820" y="281"/>
                </a:cubicBezTo>
                <a:cubicBezTo>
                  <a:pt x="1120" y="281"/>
                  <a:pt x="1363" y="524"/>
                  <a:pt x="1363" y="824"/>
                </a:cubicBezTo>
                <a:cubicBezTo>
                  <a:pt x="1363" y="1124"/>
                  <a:pt x="1120" y="1367"/>
                  <a:pt x="820" y="1367"/>
                </a:cubicBezTo>
                <a:close/>
                <a:moveTo>
                  <a:pt x="496" y="46"/>
                </a:moveTo>
                <a:cubicBezTo>
                  <a:pt x="446" y="17"/>
                  <a:pt x="389" y="0"/>
                  <a:pt x="328" y="0"/>
                </a:cubicBezTo>
                <a:cubicBezTo>
                  <a:pt x="147" y="0"/>
                  <a:pt x="0" y="147"/>
                  <a:pt x="0" y="328"/>
                </a:cubicBezTo>
                <a:cubicBezTo>
                  <a:pt x="0" y="388"/>
                  <a:pt x="16" y="444"/>
                  <a:pt x="45" y="493"/>
                </a:cubicBezTo>
                <a:cubicBezTo>
                  <a:pt x="131" y="292"/>
                  <a:pt x="293" y="130"/>
                  <a:pt x="496" y="46"/>
                </a:cubicBezTo>
                <a:close/>
                <a:moveTo>
                  <a:pt x="1595" y="493"/>
                </a:moveTo>
                <a:cubicBezTo>
                  <a:pt x="1624" y="444"/>
                  <a:pt x="1640" y="388"/>
                  <a:pt x="1640" y="328"/>
                </a:cubicBezTo>
                <a:cubicBezTo>
                  <a:pt x="1640" y="147"/>
                  <a:pt x="1493" y="0"/>
                  <a:pt x="1312" y="0"/>
                </a:cubicBezTo>
                <a:cubicBezTo>
                  <a:pt x="1251" y="0"/>
                  <a:pt x="1194" y="17"/>
                  <a:pt x="1145" y="46"/>
                </a:cubicBezTo>
                <a:cubicBezTo>
                  <a:pt x="1347" y="130"/>
                  <a:pt x="1509" y="292"/>
                  <a:pt x="1595" y="493"/>
                </a:cubicBez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1" name="Freeform 17"/>
          <p:cNvSpPr>
            <a:spLocks noEditPoints="1"/>
          </p:cNvSpPr>
          <p:nvPr/>
        </p:nvSpPr>
        <p:spPr bwMode="auto">
          <a:xfrm>
            <a:off x="4792980" y="4853940"/>
            <a:ext cx="441960" cy="356236"/>
          </a:xfrm>
          <a:custGeom>
            <a:avLst/>
            <a:gdLst>
              <a:gd name="T0" fmla="*/ 1648 w 1648"/>
              <a:gd name="T1" fmla="*/ 1334 h 1334"/>
              <a:gd name="T2" fmla="*/ 0 w 1648"/>
              <a:gd name="T3" fmla="*/ 1334 h 1334"/>
              <a:gd name="T4" fmla="*/ 0 w 1648"/>
              <a:gd name="T5" fmla="*/ 287 h 1334"/>
              <a:gd name="T6" fmla="*/ 1648 w 1648"/>
              <a:gd name="T7" fmla="*/ 287 h 1334"/>
              <a:gd name="T8" fmla="*/ 1648 w 1648"/>
              <a:gd name="T9" fmla="*/ 1334 h 1334"/>
              <a:gd name="T10" fmla="*/ 608 w 1648"/>
              <a:gd name="T11" fmla="*/ 207 h 1334"/>
              <a:gd name="T12" fmla="*/ 608 w 1648"/>
              <a:gd name="T13" fmla="*/ 139 h 1334"/>
              <a:gd name="T14" fmla="*/ 635 w 1648"/>
              <a:gd name="T15" fmla="*/ 112 h 1334"/>
              <a:gd name="T16" fmla="*/ 1013 w 1648"/>
              <a:gd name="T17" fmla="*/ 112 h 1334"/>
              <a:gd name="T18" fmla="*/ 1041 w 1648"/>
              <a:gd name="T19" fmla="*/ 139 h 1334"/>
              <a:gd name="T20" fmla="*/ 1041 w 1648"/>
              <a:gd name="T21" fmla="*/ 207 h 1334"/>
              <a:gd name="T22" fmla="*/ 1161 w 1648"/>
              <a:gd name="T23" fmla="*/ 207 h 1334"/>
              <a:gd name="T24" fmla="*/ 1161 w 1648"/>
              <a:gd name="T25" fmla="*/ 85 h 1334"/>
              <a:gd name="T26" fmla="*/ 1075 w 1648"/>
              <a:gd name="T27" fmla="*/ 0 h 1334"/>
              <a:gd name="T28" fmla="*/ 573 w 1648"/>
              <a:gd name="T29" fmla="*/ 0 h 1334"/>
              <a:gd name="T30" fmla="*/ 488 w 1648"/>
              <a:gd name="T31" fmla="*/ 85 h 1334"/>
              <a:gd name="T32" fmla="*/ 488 w 1648"/>
              <a:gd name="T33" fmla="*/ 207 h 1334"/>
              <a:gd name="T34" fmla="*/ 608 w 1648"/>
              <a:gd name="T35" fmla="*/ 207 h 1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48" h="1334">
                <a:moveTo>
                  <a:pt x="1648" y="1334"/>
                </a:moveTo>
                <a:cubicBezTo>
                  <a:pt x="0" y="1334"/>
                  <a:pt x="0" y="1334"/>
                  <a:pt x="0" y="1334"/>
                </a:cubicBezTo>
                <a:cubicBezTo>
                  <a:pt x="0" y="287"/>
                  <a:pt x="0" y="287"/>
                  <a:pt x="0" y="287"/>
                </a:cubicBezTo>
                <a:cubicBezTo>
                  <a:pt x="1648" y="287"/>
                  <a:pt x="1648" y="287"/>
                  <a:pt x="1648" y="287"/>
                </a:cubicBezTo>
                <a:lnTo>
                  <a:pt x="1648" y="1334"/>
                </a:lnTo>
                <a:close/>
                <a:moveTo>
                  <a:pt x="608" y="207"/>
                </a:moveTo>
                <a:cubicBezTo>
                  <a:pt x="608" y="139"/>
                  <a:pt x="608" y="139"/>
                  <a:pt x="608" y="139"/>
                </a:cubicBezTo>
                <a:cubicBezTo>
                  <a:pt x="608" y="124"/>
                  <a:pt x="620" y="112"/>
                  <a:pt x="635" y="112"/>
                </a:cubicBezTo>
                <a:cubicBezTo>
                  <a:pt x="1013" y="112"/>
                  <a:pt x="1013" y="112"/>
                  <a:pt x="1013" y="112"/>
                </a:cubicBezTo>
                <a:cubicBezTo>
                  <a:pt x="1028" y="112"/>
                  <a:pt x="1041" y="124"/>
                  <a:pt x="1041" y="139"/>
                </a:cubicBezTo>
                <a:cubicBezTo>
                  <a:pt x="1041" y="207"/>
                  <a:pt x="1041" y="207"/>
                  <a:pt x="1041" y="207"/>
                </a:cubicBezTo>
                <a:cubicBezTo>
                  <a:pt x="1161" y="207"/>
                  <a:pt x="1161" y="207"/>
                  <a:pt x="1161" y="207"/>
                </a:cubicBezTo>
                <a:cubicBezTo>
                  <a:pt x="1161" y="85"/>
                  <a:pt x="1161" y="85"/>
                  <a:pt x="1161" y="85"/>
                </a:cubicBezTo>
                <a:cubicBezTo>
                  <a:pt x="1161" y="38"/>
                  <a:pt x="1122" y="0"/>
                  <a:pt x="1075" y="0"/>
                </a:cubicBezTo>
                <a:cubicBezTo>
                  <a:pt x="573" y="0"/>
                  <a:pt x="573" y="0"/>
                  <a:pt x="573" y="0"/>
                </a:cubicBezTo>
                <a:cubicBezTo>
                  <a:pt x="526" y="0"/>
                  <a:pt x="488" y="38"/>
                  <a:pt x="488" y="85"/>
                </a:cubicBezTo>
                <a:cubicBezTo>
                  <a:pt x="488" y="207"/>
                  <a:pt x="488" y="207"/>
                  <a:pt x="488" y="207"/>
                </a:cubicBezTo>
                <a:lnTo>
                  <a:pt x="608" y="207"/>
                </a:ln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2" name="Freeform 5"/>
          <p:cNvSpPr>
            <a:spLocks noEditPoints="1"/>
          </p:cNvSpPr>
          <p:nvPr/>
        </p:nvSpPr>
        <p:spPr bwMode="auto">
          <a:xfrm>
            <a:off x="5854066" y="2141220"/>
            <a:ext cx="487680" cy="487680"/>
          </a:xfrm>
          <a:custGeom>
            <a:avLst/>
            <a:gdLst>
              <a:gd name="T0" fmla="*/ 1348 w 1648"/>
              <a:gd name="T1" fmla="*/ 0 h 1648"/>
              <a:gd name="T2" fmla="*/ 300 w 1648"/>
              <a:gd name="T3" fmla="*/ 0 h 1648"/>
              <a:gd name="T4" fmla="*/ 0 w 1648"/>
              <a:gd name="T5" fmla="*/ 300 h 1648"/>
              <a:gd name="T6" fmla="*/ 0 w 1648"/>
              <a:gd name="T7" fmla="*/ 1348 h 1648"/>
              <a:gd name="T8" fmla="*/ 300 w 1648"/>
              <a:gd name="T9" fmla="*/ 1648 h 1648"/>
              <a:gd name="T10" fmla="*/ 1348 w 1648"/>
              <a:gd name="T11" fmla="*/ 1648 h 1648"/>
              <a:gd name="T12" fmla="*/ 1648 w 1648"/>
              <a:gd name="T13" fmla="*/ 1348 h 1648"/>
              <a:gd name="T14" fmla="*/ 1648 w 1648"/>
              <a:gd name="T15" fmla="*/ 300 h 1648"/>
              <a:gd name="T16" fmla="*/ 1348 w 1648"/>
              <a:gd name="T17" fmla="*/ 0 h 1648"/>
              <a:gd name="T18" fmla="*/ 231 w 1648"/>
              <a:gd name="T19" fmla="*/ 635 h 1648"/>
              <a:gd name="T20" fmla="*/ 231 w 1648"/>
              <a:gd name="T21" fmla="*/ 504 h 1648"/>
              <a:gd name="T22" fmla="*/ 397 w 1648"/>
              <a:gd name="T23" fmla="*/ 504 h 1648"/>
              <a:gd name="T24" fmla="*/ 397 w 1648"/>
              <a:gd name="T25" fmla="*/ 337 h 1648"/>
              <a:gd name="T26" fmla="*/ 529 w 1648"/>
              <a:gd name="T27" fmla="*/ 337 h 1648"/>
              <a:gd name="T28" fmla="*/ 529 w 1648"/>
              <a:gd name="T29" fmla="*/ 504 h 1648"/>
              <a:gd name="T30" fmla="*/ 696 w 1648"/>
              <a:gd name="T31" fmla="*/ 504 h 1648"/>
              <a:gd name="T32" fmla="*/ 696 w 1648"/>
              <a:gd name="T33" fmla="*/ 635 h 1648"/>
              <a:gd name="T34" fmla="*/ 529 w 1648"/>
              <a:gd name="T35" fmla="*/ 635 h 1648"/>
              <a:gd name="T36" fmla="*/ 529 w 1648"/>
              <a:gd name="T37" fmla="*/ 802 h 1648"/>
              <a:gd name="T38" fmla="*/ 397 w 1648"/>
              <a:gd name="T39" fmla="*/ 802 h 1648"/>
              <a:gd name="T40" fmla="*/ 397 w 1648"/>
              <a:gd name="T41" fmla="*/ 635 h 1648"/>
              <a:gd name="T42" fmla="*/ 231 w 1648"/>
              <a:gd name="T43" fmla="*/ 635 h 1648"/>
              <a:gd name="T44" fmla="*/ 591 w 1648"/>
              <a:gd name="T45" fmla="*/ 1329 h 1648"/>
              <a:gd name="T46" fmla="*/ 457 w 1648"/>
              <a:gd name="T47" fmla="*/ 1195 h 1648"/>
              <a:gd name="T48" fmla="*/ 591 w 1648"/>
              <a:gd name="T49" fmla="*/ 1061 h 1648"/>
              <a:gd name="T50" fmla="*/ 725 w 1648"/>
              <a:gd name="T51" fmla="*/ 1195 h 1648"/>
              <a:gd name="T52" fmla="*/ 591 w 1648"/>
              <a:gd name="T53" fmla="*/ 1329 h 1648"/>
              <a:gd name="T54" fmla="*/ 933 w 1648"/>
              <a:gd name="T55" fmla="*/ 514 h 1648"/>
              <a:gd name="T56" fmla="*/ 1045 w 1648"/>
              <a:gd name="T57" fmla="*/ 514 h 1648"/>
              <a:gd name="T58" fmla="*/ 1045 w 1648"/>
              <a:gd name="T59" fmla="*/ 625 h 1648"/>
              <a:gd name="T60" fmla="*/ 933 w 1648"/>
              <a:gd name="T61" fmla="*/ 625 h 1648"/>
              <a:gd name="T62" fmla="*/ 933 w 1648"/>
              <a:gd name="T63" fmla="*/ 514 h 1648"/>
              <a:gd name="T64" fmla="*/ 1065 w 1648"/>
              <a:gd name="T65" fmla="*/ 1329 h 1648"/>
              <a:gd name="T66" fmla="*/ 931 w 1648"/>
              <a:gd name="T67" fmla="*/ 1195 h 1648"/>
              <a:gd name="T68" fmla="*/ 1065 w 1648"/>
              <a:gd name="T69" fmla="*/ 1061 h 1648"/>
              <a:gd name="T70" fmla="*/ 1199 w 1648"/>
              <a:gd name="T71" fmla="*/ 1195 h 1648"/>
              <a:gd name="T72" fmla="*/ 1065 w 1648"/>
              <a:gd name="T73" fmla="*/ 1329 h 1648"/>
              <a:gd name="T74" fmla="*/ 1220 w 1648"/>
              <a:gd name="T75" fmla="*/ 787 h 1648"/>
              <a:gd name="T76" fmla="*/ 1108 w 1648"/>
              <a:gd name="T77" fmla="*/ 787 h 1648"/>
              <a:gd name="T78" fmla="*/ 1108 w 1648"/>
              <a:gd name="T79" fmla="*/ 675 h 1648"/>
              <a:gd name="T80" fmla="*/ 1220 w 1648"/>
              <a:gd name="T81" fmla="*/ 675 h 1648"/>
              <a:gd name="T82" fmla="*/ 1220 w 1648"/>
              <a:gd name="T83" fmla="*/ 787 h 1648"/>
              <a:gd name="T84" fmla="*/ 1220 w 1648"/>
              <a:gd name="T85" fmla="*/ 467 h 1648"/>
              <a:gd name="T86" fmla="*/ 1108 w 1648"/>
              <a:gd name="T87" fmla="*/ 467 h 1648"/>
              <a:gd name="T88" fmla="*/ 1108 w 1648"/>
              <a:gd name="T89" fmla="*/ 355 h 1648"/>
              <a:gd name="T90" fmla="*/ 1220 w 1648"/>
              <a:gd name="T91" fmla="*/ 355 h 1648"/>
              <a:gd name="T92" fmla="*/ 1220 w 1648"/>
              <a:gd name="T93" fmla="*/ 467 h 1648"/>
              <a:gd name="T94" fmla="*/ 1394 w 1648"/>
              <a:gd name="T95" fmla="*/ 625 h 1648"/>
              <a:gd name="T96" fmla="*/ 1282 w 1648"/>
              <a:gd name="T97" fmla="*/ 625 h 1648"/>
              <a:gd name="T98" fmla="*/ 1282 w 1648"/>
              <a:gd name="T99" fmla="*/ 514 h 1648"/>
              <a:gd name="T100" fmla="*/ 1394 w 1648"/>
              <a:gd name="T101" fmla="*/ 514 h 1648"/>
              <a:gd name="T102" fmla="*/ 1394 w 1648"/>
              <a:gd name="T103" fmla="*/ 625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48" h="1648">
                <a:moveTo>
                  <a:pt x="1348" y="0"/>
                </a:moveTo>
                <a:cubicBezTo>
                  <a:pt x="300" y="0"/>
                  <a:pt x="300" y="0"/>
                  <a:pt x="300" y="0"/>
                </a:cubicBezTo>
                <a:cubicBezTo>
                  <a:pt x="134" y="0"/>
                  <a:pt x="0" y="134"/>
                  <a:pt x="0" y="300"/>
                </a:cubicBezTo>
                <a:cubicBezTo>
                  <a:pt x="0" y="1348"/>
                  <a:pt x="0" y="1348"/>
                  <a:pt x="0" y="1348"/>
                </a:cubicBezTo>
                <a:cubicBezTo>
                  <a:pt x="0" y="1514"/>
                  <a:pt x="134" y="1648"/>
                  <a:pt x="300" y="1648"/>
                </a:cubicBezTo>
                <a:cubicBezTo>
                  <a:pt x="1348" y="1648"/>
                  <a:pt x="1348" y="1648"/>
                  <a:pt x="1348" y="1648"/>
                </a:cubicBezTo>
                <a:cubicBezTo>
                  <a:pt x="1514" y="1648"/>
                  <a:pt x="1648" y="1514"/>
                  <a:pt x="1648" y="1348"/>
                </a:cubicBezTo>
                <a:cubicBezTo>
                  <a:pt x="1648" y="300"/>
                  <a:pt x="1648" y="300"/>
                  <a:pt x="1648" y="300"/>
                </a:cubicBezTo>
                <a:cubicBezTo>
                  <a:pt x="1648" y="134"/>
                  <a:pt x="1514" y="0"/>
                  <a:pt x="1348" y="0"/>
                </a:cubicBezTo>
                <a:close/>
                <a:moveTo>
                  <a:pt x="231" y="635"/>
                </a:moveTo>
                <a:cubicBezTo>
                  <a:pt x="231" y="504"/>
                  <a:pt x="231" y="504"/>
                  <a:pt x="231" y="504"/>
                </a:cubicBezTo>
                <a:cubicBezTo>
                  <a:pt x="397" y="504"/>
                  <a:pt x="397" y="504"/>
                  <a:pt x="397" y="504"/>
                </a:cubicBezTo>
                <a:cubicBezTo>
                  <a:pt x="397" y="337"/>
                  <a:pt x="397" y="337"/>
                  <a:pt x="397" y="337"/>
                </a:cubicBezTo>
                <a:cubicBezTo>
                  <a:pt x="529" y="337"/>
                  <a:pt x="529" y="337"/>
                  <a:pt x="529" y="337"/>
                </a:cubicBezTo>
                <a:cubicBezTo>
                  <a:pt x="529" y="504"/>
                  <a:pt x="529" y="504"/>
                  <a:pt x="529" y="504"/>
                </a:cubicBezTo>
                <a:cubicBezTo>
                  <a:pt x="696" y="504"/>
                  <a:pt x="696" y="504"/>
                  <a:pt x="696" y="504"/>
                </a:cubicBezTo>
                <a:cubicBezTo>
                  <a:pt x="696" y="635"/>
                  <a:pt x="696" y="635"/>
                  <a:pt x="696" y="635"/>
                </a:cubicBezTo>
                <a:cubicBezTo>
                  <a:pt x="529" y="635"/>
                  <a:pt x="529" y="635"/>
                  <a:pt x="529" y="635"/>
                </a:cubicBezTo>
                <a:cubicBezTo>
                  <a:pt x="529" y="802"/>
                  <a:pt x="529" y="802"/>
                  <a:pt x="529" y="802"/>
                </a:cubicBezTo>
                <a:cubicBezTo>
                  <a:pt x="397" y="802"/>
                  <a:pt x="397" y="802"/>
                  <a:pt x="397" y="802"/>
                </a:cubicBezTo>
                <a:cubicBezTo>
                  <a:pt x="397" y="635"/>
                  <a:pt x="397" y="635"/>
                  <a:pt x="397" y="635"/>
                </a:cubicBezTo>
                <a:cubicBezTo>
                  <a:pt x="231" y="635"/>
                  <a:pt x="231" y="635"/>
                  <a:pt x="231" y="635"/>
                </a:cubicBezTo>
                <a:close/>
                <a:moveTo>
                  <a:pt x="591" y="1329"/>
                </a:moveTo>
                <a:cubicBezTo>
                  <a:pt x="517" y="1329"/>
                  <a:pt x="457" y="1269"/>
                  <a:pt x="457" y="1195"/>
                </a:cubicBezTo>
                <a:cubicBezTo>
                  <a:pt x="457" y="1121"/>
                  <a:pt x="517" y="1061"/>
                  <a:pt x="591" y="1061"/>
                </a:cubicBezTo>
                <a:cubicBezTo>
                  <a:pt x="665" y="1061"/>
                  <a:pt x="725" y="1121"/>
                  <a:pt x="725" y="1195"/>
                </a:cubicBezTo>
                <a:cubicBezTo>
                  <a:pt x="725" y="1269"/>
                  <a:pt x="665" y="1329"/>
                  <a:pt x="591" y="1329"/>
                </a:cubicBezTo>
                <a:close/>
                <a:moveTo>
                  <a:pt x="933" y="514"/>
                </a:moveTo>
                <a:cubicBezTo>
                  <a:pt x="964" y="483"/>
                  <a:pt x="1014" y="483"/>
                  <a:pt x="1045" y="514"/>
                </a:cubicBezTo>
                <a:cubicBezTo>
                  <a:pt x="1075" y="544"/>
                  <a:pt x="1075" y="595"/>
                  <a:pt x="1045" y="625"/>
                </a:cubicBezTo>
                <a:cubicBezTo>
                  <a:pt x="1014" y="656"/>
                  <a:pt x="964" y="656"/>
                  <a:pt x="933" y="625"/>
                </a:cubicBezTo>
                <a:cubicBezTo>
                  <a:pt x="902" y="595"/>
                  <a:pt x="902" y="544"/>
                  <a:pt x="933" y="514"/>
                </a:cubicBezTo>
                <a:close/>
                <a:moveTo>
                  <a:pt x="1065" y="1329"/>
                </a:moveTo>
                <a:cubicBezTo>
                  <a:pt x="991" y="1329"/>
                  <a:pt x="931" y="1269"/>
                  <a:pt x="931" y="1195"/>
                </a:cubicBezTo>
                <a:cubicBezTo>
                  <a:pt x="931" y="1121"/>
                  <a:pt x="991" y="1061"/>
                  <a:pt x="1065" y="1061"/>
                </a:cubicBezTo>
                <a:cubicBezTo>
                  <a:pt x="1139" y="1061"/>
                  <a:pt x="1199" y="1121"/>
                  <a:pt x="1199" y="1195"/>
                </a:cubicBezTo>
                <a:cubicBezTo>
                  <a:pt x="1199" y="1269"/>
                  <a:pt x="1139" y="1329"/>
                  <a:pt x="1065" y="1329"/>
                </a:cubicBezTo>
                <a:close/>
                <a:moveTo>
                  <a:pt x="1220" y="787"/>
                </a:moveTo>
                <a:cubicBezTo>
                  <a:pt x="1189" y="817"/>
                  <a:pt x="1139" y="817"/>
                  <a:pt x="1108" y="787"/>
                </a:cubicBezTo>
                <a:cubicBezTo>
                  <a:pt x="1077" y="756"/>
                  <a:pt x="1077" y="706"/>
                  <a:pt x="1108" y="675"/>
                </a:cubicBezTo>
                <a:cubicBezTo>
                  <a:pt x="1139" y="644"/>
                  <a:pt x="1189" y="644"/>
                  <a:pt x="1220" y="675"/>
                </a:cubicBezTo>
                <a:cubicBezTo>
                  <a:pt x="1250" y="706"/>
                  <a:pt x="1250" y="756"/>
                  <a:pt x="1220" y="787"/>
                </a:cubicBezTo>
                <a:close/>
                <a:moveTo>
                  <a:pt x="1220" y="467"/>
                </a:moveTo>
                <a:cubicBezTo>
                  <a:pt x="1189" y="498"/>
                  <a:pt x="1139" y="498"/>
                  <a:pt x="1108" y="467"/>
                </a:cubicBezTo>
                <a:cubicBezTo>
                  <a:pt x="1077" y="436"/>
                  <a:pt x="1077" y="386"/>
                  <a:pt x="1108" y="355"/>
                </a:cubicBezTo>
                <a:cubicBezTo>
                  <a:pt x="1139" y="325"/>
                  <a:pt x="1189" y="325"/>
                  <a:pt x="1220" y="355"/>
                </a:cubicBezTo>
                <a:cubicBezTo>
                  <a:pt x="1250" y="386"/>
                  <a:pt x="1250" y="436"/>
                  <a:pt x="1220" y="467"/>
                </a:cubicBezTo>
                <a:close/>
                <a:moveTo>
                  <a:pt x="1394" y="625"/>
                </a:moveTo>
                <a:cubicBezTo>
                  <a:pt x="1363" y="656"/>
                  <a:pt x="1313" y="656"/>
                  <a:pt x="1282" y="625"/>
                </a:cubicBezTo>
                <a:cubicBezTo>
                  <a:pt x="1251" y="595"/>
                  <a:pt x="1251" y="544"/>
                  <a:pt x="1282" y="514"/>
                </a:cubicBezTo>
                <a:cubicBezTo>
                  <a:pt x="1313" y="483"/>
                  <a:pt x="1363" y="483"/>
                  <a:pt x="1394" y="514"/>
                </a:cubicBezTo>
                <a:cubicBezTo>
                  <a:pt x="1425" y="544"/>
                  <a:pt x="1425" y="595"/>
                  <a:pt x="1394" y="625"/>
                </a:cubicBez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3" name="Freeform 9"/>
          <p:cNvSpPr>
            <a:spLocks noEditPoints="1"/>
          </p:cNvSpPr>
          <p:nvPr/>
        </p:nvSpPr>
        <p:spPr bwMode="auto">
          <a:xfrm>
            <a:off x="6951346" y="2634616"/>
            <a:ext cx="447676" cy="400050"/>
          </a:xfrm>
          <a:custGeom>
            <a:avLst/>
            <a:gdLst>
              <a:gd name="T0" fmla="*/ 1328 w 1648"/>
              <a:gd name="T1" fmla="*/ 0 h 1480"/>
              <a:gd name="T2" fmla="*/ 320 w 1648"/>
              <a:gd name="T3" fmla="*/ 0 h 1480"/>
              <a:gd name="T4" fmla="*/ 0 w 1648"/>
              <a:gd name="T5" fmla="*/ 320 h 1480"/>
              <a:gd name="T6" fmla="*/ 320 w 1648"/>
              <a:gd name="T7" fmla="*/ 640 h 1480"/>
              <a:gd name="T8" fmla="*/ 1328 w 1648"/>
              <a:gd name="T9" fmla="*/ 640 h 1480"/>
              <a:gd name="T10" fmla="*/ 1648 w 1648"/>
              <a:gd name="T11" fmla="*/ 320 h 1480"/>
              <a:gd name="T12" fmla="*/ 1328 w 1648"/>
              <a:gd name="T13" fmla="*/ 0 h 1480"/>
              <a:gd name="T14" fmla="*/ 492 w 1648"/>
              <a:gd name="T15" fmla="*/ 480 h 1480"/>
              <a:gd name="T16" fmla="*/ 332 w 1648"/>
              <a:gd name="T17" fmla="*/ 320 h 1480"/>
              <a:gd name="T18" fmla="*/ 492 w 1648"/>
              <a:gd name="T19" fmla="*/ 160 h 1480"/>
              <a:gd name="T20" fmla="*/ 652 w 1648"/>
              <a:gd name="T21" fmla="*/ 320 h 1480"/>
              <a:gd name="T22" fmla="*/ 492 w 1648"/>
              <a:gd name="T23" fmla="*/ 480 h 1480"/>
              <a:gd name="T24" fmla="*/ 1328 w 1648"/>
              <a:gd name="T25" fmla="*/ 960 h 1480"/>
              <a:gd name="T26" fmla="*/ 1528 w 1648"/>
              <a:gd name="T27" fmla="*/ 1160 h 1480"/>
              <a:gd name="T28" fmla="*/ 1328 w 1648"/>
              <a:gd name="T29" fmla="*/ 1360 h 1480"/>
              <a:gd name="T30" fmla="*/ 320 w 1648"/>
              <a:gd name="T31" fmla="*/ 1360 h 1480"/>
              <a:gd name="T32" fmla="*/ 120 w 1648"/>
              <a:gd name="T33" fmla="*/ 1160 h 1480"/>
              <a:gd name="T34" fmla="*/ 320 w 1648"/>
              <a:gd name="T35" fmla="*/ 960 h 1480"/>
              <a:gd name="T36" fmla="*/ 1328 w 1648"/>
              <a:gd name="T37" fmla="*/ 960 h 1480"/>
              <a:gd name="T38" fmla="*/ 1328 w 1648"/>
              <a:gd name="T39" fmla="*/ 840 h 1480"/>
              <a:gd name="T40" fmla="*/ 320 w 1648"/>
              <a:gd name="T41" fmla="*/ 840 h 1480"/>
              <a:gd name="T42" fmla="*/ 0 w 1648"/>
              <a:gd name="T43" fmla="*/ 1160 h 1480"/>
              <a:gd name="T44" fmla="*/ 320 w 1648"/>
              <a:gd name="T45" fmla="*/ 1480 h 1480"/>
              <a:gd name="T46" fmla="*/ 1328 w 1648"/>
              <a:gd name="T47" fmla="*/ 1480 h 1480"/>
              <a:gd name="T48" fmla="*/ 1648 w 1648"/>
              <a:gd name="T49" fmla="*/ 1160 h 1480"/>
              <a:gd name="T50" fmla="*/ 1328 w 1648"/>
              <a:gd name="T51" fmla="*/ 840 h 1480"/>
              <a:gd name="T52" fmla="*/ 1180 w 1648"/>
              <a:gd name="T53" fmla="*/ 1000 h 1480"/>
              <a:gd name="T54" fmla="*/ 1020 w 1648"/>
              <a:gd name="T55" fmla="*/ 1160 h 1480"/>
              <a:gd name="T56" fmla="*/ 1180 w 1648"/>
              <a:gd name="T57" fmla="*/ 1320 h 1480"/>
              <a:gd name="T58" fmla="*/ 1340 w 1648"/>
              <a:gd name="T59" fmla="*/ 1160 h 1480"/>
              <a:gd name="T60" fmla="*/ 1180 w 1648"/>
              <a:gd name="T61" fmla="*/ 100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8" h="1480">
                <a:moveTo>
                  <a:pt x="1328" y="0"/>
                </a:moveTo>
                <a:cubicBezTo>
                  <a:pt x="320" y="0"/>
                  <a:pt x="320" y="0"/>
                  <a:pt x="320" y="0"/>
                </a:cubicBezTo>
                <a:cubicBezTo>
                  <a:pt x="143" y="0"/>
                  <a:pt x="0" y="143"/>
                  <a:pt x="0" y="320"/>
                </a:cubicBezTo>
                <a:cubicBezTo>
                  <a:pt x="0" y="497"/>
                  <a:pt x="143" y="640"/>
                  <a:pt x="320" y="640"/>
                </a:cubicBezTo>
                <a:cubicBezTo>
                  <a:pt x="1328" y="640"/>
                  <a:pt x="1328" y="640"/>
                  <a:pt x="1328" y="640"/>
                </a:cubicBezTo>
                <a:cubicBezTo>
                  <a:pt x="1505" y="640"/>
                  <a:pt x="1648" y="497"/>
                  <a:pt x="1648" y="320"/>
                </a:cubicBezTo>
                <a:cubicBezTo>
                  <a:pt x="1648" y="143"/>
                  <a:pt x="1505" y="0"/>
                  <a:pt x="1328" y="0"/>
                </a:cubicBezTo>
                <a:close/>
                <a:moveTo>
                  <a:pt x="492" y="480"/>
                </a:moveTo>
                <a:cubicBezTo>
                  <a:pt x="404" y="480"/>
                  <a:pt x="332" y="408"/>
                  <a:pt x="332" y="320"/>
                </a:cubicBezTo>
                <a:cubicBezTo>
                  <a:pt x="332" y="232"/>
                  <a:pt x="404" y="160"/>
                  <a:pt x="492" y="160"/>
                </a:cubicBezTo>
                <a:cubicBezTo>
                  <a:pt x="580" y="160"/>
                  <a:pt x="652" y="232"/>
                  <a:pt x="652" y="320"/>
                </a:cubicBezTo>
                <a:cubicBezTo>
                  <a:pt x="652" y="408"/>
                  <a:pt x="580" y="480"/>
                  <a:pt x="492" y="480"/>
                </a:cubicBezTo>
                <a:close/>
                <a:moveTo>
                  <a:pt x="1328" y="960"/>
                </a:moveTo>
                <a:cubicBezTo>
                  <a:pt x="1438" y="960"/>
                  <a:pt x="1528" y="1050"/>
                  <a:pt x="1528" y="1160"/>
                </a:cubicBezTo>
                <a:cubicBezTo>
                  <a:pt x="1528" y="1270"/>
                  <a:pt x="1438" y="1360"/>
                  <a:pt x="1328" y="1360"/>
                </a:cubicBezTo>
                <a:cubicBezTo>
                  <a:pt x="320" y="1360"/>
                  <a:pt x="320" y="1360"/>
                  <a:pt x="320" y="1360"/>
                </a:cubicBezTo>
                <a:cubicBezTo>
                  <a:pt x="210" y="1360"/>
                  <a:pt x="120" y="1270"/>
                  <a:pt x="120" y="1160"/>
                </a:cubicBezTo>
                <a:cubicBezTo>
                  <a:pt x="120" y="1050"/>
                  <a:pt x="210" y="960"/>
                  <a:pt x="320" y="960"/>
                </a:cubicBezTo>
                <a:lnTo>
                  <a:pt x="1328" y="960"/>
                </a:lnTo>
                <a:close/>
                <a:moveTo>
                  <a:pt x="1328" y="840"/>
                </a:moveTo>
                <a:cubicBezTo>
                  <a:pt x="320" y="840"/>
                  <a:pt x="320" y="840"/>
                  <a:pt x="320" y="840"/>
                </a:cubicBezTo>
                <a:cubicBezTo>
                  <a:pt x="143" y="840"/>
                  <a:pt x="0" y="983"/>
                  <a:pt x="0" y="1160"/>
                </a:cubicBezTo>
                <a:cubicBezTo>
                  <a:pt x="0" y="1337"/>
                  <a:pt x="143" y="1480"/>
                  <a:pt x="320" y="1480"/>
                </a:cubicBezTo>
                <a:cubicBezTo>
                  <a:pt x="1328" y="1480"/>
                  <a:pt x="1328" y="1480"/>
                  <a:pt x="1328" y="1480"/>
                </a:cubicBezTo>
                <a:cubicBezTo>
                  <a:pt x="1505" y="1480"/>
                  <a:pt x="1648" y="1337"/>
                  <a:pt x="1648" y="1160"/>
                </a:cubicBezTo>
                <a:cubicBezTo>
                  <a:pt x="1648" y="983"/>
                  <a:pt x="1505" y="840"/>
                  <a:pt x="1328" y="840"/>
                </a:cubicBezTo>
                <a:close/>
                <a:moveTo>
                  <a:pt x="1180" y="1000"/>
                </a:moveTo>
                <a:cubicBezTo>
                  <a:pt x="1092" y="1000"/>
                  <a:pt x="1020" y="1072"/>
                  <a:pt x="1020" y="1160"/>
                </a:cubicBezTo>
                <a:cubicBezTo>
                  <a:pt x="1020" y="1248"/>
                  <a:pt x="1092" y="1320"/>
                  <a:pt x="1180" y="1320"/>
                </a:cubicBezTo>
                <a:cubicBezTo>
                  <a:pt x="1268" y="1320"/>
                  <a:pt x="1340" y="1248"/>
                  <a:pt x="1340" y="1160"/>
                </a:cubicBezTo>
                <a:cubicBezTo>
                  <a:pt x="1340" y="1072"/>
                  <a:pt x="1268" y="1000"/>
                  <a:pt x="1180" y="1000"/>
                </a:cubicBez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4" name="Freeform 13"/>
          <p:cNvSpPr>
            <a:spLocks noEditPoints="1"/>
          </p:cNvSpPr>
          <p:nvPr/>
        </p:nvSpPr>
        <p:spPr bwMode="auto">
          <a:xfrm>
            <a:off x="7425690" y="3710940"/>
            <a:ext cx="436246" cy="436246"/>
          </a:xfrm>
          <a:custGeom>
            <a:avLst/>
            <a:gdLst>
              <a:gd name="T0" fmla="*/ 782 w 1648"/>
              <a:gd name="T1" fmla="*/ 1207 h 1648"/>
              <a:gd name="T2" fmla="*/ 642 w 1648"/>
              <a:gd name="T3" fmla="*/ 1207 h 1648"/>
              <a:gd name="T4" fmla="*/ 712 w 1648"/>
              <a:gd name="T5" fmla="*/ 937 h 1648"/>
              <a:gd name="T6" fmla="*/ 472 w 1648"/>
              <a:gd name="T7" fmla="*/ 937 h 1648"/>
              <a:gd name="T8" fmla="*/ 402 w 1648"/>
              <a:gd name="T9" fmla="*/ 1207 h 1648"/>
              <a:gd name="T10" fmla="*/ 542 w 1648"/>
              <a:gd name="T11" fmla="*/ 1207 h 1648"/>
              <a:gd name="T12" fmla="*/ 472 w 1648"/>
              <a:gd name="T13" fmla="*/ 937 h 1648"/>
              <a:gd name="T14" fmla="*/ 1192 w 1648"/>
              <a:gd name="T15" fmla="*/ 374 h 1648"/>
              <a:gd name="T16" fmla="*/ 1122 w 1648"/>
              <a:gd name="T17" fmla="*/ 644 h 1648"/>
              <a:gd name="T18" fmla="*/ 1262 w 1648"/>
              <a:gd name="T19" fmla="*/ 644 h 1648"/>
              <a:gd name="T20" fmla="*/ 952 w 1648"/>
              <a:gd name="T21" fmla="*/ 374 h 1648"/>
              <a:gd name="T22" fmla="*/ 882 w 1648"/>
              <a:gd name="T23" fmla="*/ 644 h 1648"/>
              <a:gd name="T24" fmla="*/ 1022 w 1648"/>
              <a:gd name="T25" fmla="*/ 644 h 1648"/>
              <a:gd name="T26" fmla="*/ 952 w 1648"/>
              <a:gd name="T27" fmla="*/ 374 h 1648"/>
              <a:gd name="T28" fmla="*/ 952 w 1648"/>
              <a:gd name="T29" fmla="*/ 937 h 1648"/>
              <a:gd name="T30" fmla="*/ 882 w 1648"/>
              <a:gd name="T31" fmla="*/ 1207 h 1648"/>
              <a:gd name="T32" fmla="*/ 1022 w 1648"/>
              <a:gd name="T33" fmla="*/ 1207 h 1648"/>
              <a:gd name="T34" fmla="*/ 1648 w 1648"/>
              <a:gd name="T35" fmla="*/ 300 h 1648"/>
              <a:gd name="T36" fmla="*/ 1348 w 1648"/>
              <a:gd name="T37" fmla="*/ 1648 h 1648"/>
              <a:gd name="T38" fmla="*/ 0 w 1648"/>
              <a:gd name="T39" fmla="*/ 1348 h 1648"/>
              <a:gd name="T40" fmla="*/ 300 w 1648"/>
              <a:gd name="T41" fmla="*/ 0 h 1648"/>
              <a:gd name="T42" fmla="*/ 1648 w 1648"/>
              <a:gd name="T43" fmla="*/ 300 h 1648"/>
              <a:gd name="T44" fmla="*/ 1328 w 1648"/>
              <a:gd name="T45" fmla="*/ 160 h 1648"/>
              <a:gd name="T46" fmla="*/ 160 w 1648"/>
              <a:gd name="T47" fmla="*/ 320 h 1648"/>
              <a:gd name="T48" fmla="*/ 782 w 1648"/>
              <a:gd name="T49" fmla="*/ 484 h 1648"/>
              <a:gd name="T50" fmla="*/ 160 w 1648"/>
              <a:gd name="T51" fmla="*/ 604 h 1648"/>
              <a:gd name="T52" fmla="*/ 298 w 1648"/>
              <a:gd name="T53" fmla="*/ 1047 h 1648"/>
              <a:gd name="T54" fmla="*/ 160 w 1648"/>
              <a:gd name="T55" fmla="*/ 1167 h 1648"/>
              <a:gd name="T56" fmla="*/ 320 w 1648"/>
              <a:gd name="T57" fmla="*/ 1488 h 1648"/>
              <a:gd name="T58" fmla="*/ 1488 w 1648"/>
              <a:gd name="T59" fmla="*/ 1328 h 1648"/>
              <a:gd name="T60" fmla="*/ 1126 w 1648"/>
              <a:gd name="T61" fmla="*/ 1167 h 1648"/>
              <a:gd name="T62" fmla="*/ 1488 w 1648"/>
              <a:gd name="T63" fmla="*/ 1047 h 1648"/>
              <a:gd name="T64" fmla="*/ 1362 w 1648"/>
              <a:gd name="T65" fmla="*/ 604 h 1648"/>
              <a:gd name="T66" fmla="*/ 1488 w 1648"/>
              <a:gd name="T67" fmla="*/ 484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48" h="1648">
                <a:moveTo>
                  <a:pt x="782" y="1007"/>
                </a:moveTo>
                <a:cubicBezTo>
                  <a:pt x="782" y="1207"/>
                  <a:pt x="782" y="1207"/>
                  <a:pt x="782" y="1207"/>
                </a:cubicBezTo>
                <a:cubicBezTo>
                  <a:pt x="782" y="1245"/>
                  <a:pt x="751" y="1277"/>
                  <a:pt x="712" y="1277"/>
                </a:cubicBezTo>
                <a:cubicBezTo>
                  <a:pt x="673" y="1277"/>
                  <a:pt x="642" y="1245"/>
                  <a:pt x="642" y="1207"/>
                </a:cubicBezTo>
                <a:cubicBezTo>
                  <a:pt x="642" y="1007"/>
                  <a:pt x="642" y="1007"/>
                  <a:pt x="642" y="1007"/>
                </a:cubicBezTo>
                <a:cubicBezTo>
                  <a:pt x="642" y="968"/>
                  <a:pt x="673" y="937"/>
                  <a:pt x="712" y="937"/>
                </a:cubicBezTo>
                <a:cubicBezTo>
                  <a:pt x="751" y="937"/>
                  <a:pt x="782" y="968"/>
                  <a:pt x="782" y="1007"/>
                </a:cubicBezTo>
                <a:close/>
                <a:moveTo>
                  <a:pt x="472" y="937"/>
                </a:moveTo>
                <a:cubicBezTo>
                  <a:pt x="433" y="937"/>
                  <a:pt x="402" y="968"/>
                  <a:pt x="402" y="1007"/>
                </a:cubicBezTo>
                <a:cubicBezTo>
                  <a:pt x="402" y="1207"/>
                  <a:pt x="402" y="1207"/>
                  <a:pt x="402" y="1207"/>
                </a:cubicBezTo>
                <a:cubicBezTo>
                  <a:pt x="402" y="1245"/>
                  <a:pt x="433" y="1277"/>
                  <a:pt x="472" y="1277"/>
                </a:cubicBezTo>
                <a:cubicBezTo>
                  <a:pt x="511" y="1277"/>
                  <a:pt x="542" y="1245"/>
                  <a:pt x="542" y="1207"/>
                </a:cubicBezTo>
                <a:cubicBezTo>
                  <a:pt x="542" y="1007"/>
                  <a:pt x="542" y="1007"/>
                  <a:pt x="542" y="1007"/>
                </a:cubicBezTo>
                <a:cubicBezTo>
                  <a:pt x="542" y="968"/>
                  <a:pt x="511" y="937"/>
                  <a:pt x="472" y="937"/>
                </a:cubicBezTo>
                <a:close/>
                <a:moveTo>
                  <a:pt x="1262" y="444"/>
                </a:moveTo>
                <a:cubicBezTo>
                  <a:pt x="1262" y="405"/>
                  <a:pt x="1231" y="374"/>
                  <a:pt x="1192" y="374"/>
                </a:cubicBezTo>
                <a:cubicBezTo>
                  <a:pt x="1153" y="374"/>
                  <a:pt x="1122" y="405"/>
                  <a:pt x="1122" y="444"/>
                </a:cubicBezTo>
                <a:cubicBezTo>
                  <a:pt x="1122" y="644"/>
                  <a:pt x="1122" y="644"/>
                  <a:pt x="1122" y="644"/>
                </a:cubicBezTo>
                <a:cubicBezTo>
                  <a:pt x="1122" y="683"/>
                  <a:pt x="1153" y="714"/>
                  <a:pt x="1192" y="714"/>
                </a:cubicBezTo>
                <a:cubicBezTo>
                  <a:pt x="1231" y="714"/>
                  <a:pt x="1262" y="683"/>
                  <a:pt x="1262" y="644"/>
                </a:cubicBezTo>
                <a:lnTo>
                  <a:pt x="1262" y="444"/>
                </a:lnTo>
                <a:close/>
                <a:moveTo>
                  <a:pt x="952" y="374"/>
                </a:moveTo>
                <a:cubicBezTo>
                  <a:pt x="913" y="374"/>
                  <a:pt x="882" y="405"/>
                  <a:pt x="882" y="444"/>
                </a:cubicBezTo>
                <a:cubicBezTo>
                  <a:pt x="882" y="644"/>
                  <a:pt x="882" y="644"/>
                  <a:pt x="882" y="644"/>
                </a:cubicBezTo>
                <a:cubicBezTo>
                  <a:pt x="882" y="683"/>
                  <a:pt x="913" y="714"/>
                  <a:pt x="952" y="714"/>
                </a:cubicBezTo>
                <a:cubicBezTo>
                  <a:pt x="991" y="714"/>
                  <a:pt x="1022" y="683"/>
                  <a:pt x="1022" y="644"/>
                </a:cubicBezTo>
                <a:cubicBezTo>
                  <a:pt x="1022" y="444"/>
                  <a:pt x="1022" y="444"/>
                  <a:pt x="1022" y="444"/>
                </a:cubicBezTo>
                <a:cubicBezTo>
                  <a:pt x="1022" y="405"/>
                  <a:pt x="991" y="374"/>
                  <a:pt x="952" y="374"/>
                </a:cubicBezTo>
                <a:close/>
                <a:moveTo>
                  <a:pt x="1022" y="1007"/>
                </a:moveTo>
                <a:cubicBezTo>
                  <a:pt x="1022" y="968"/>
                  <a:pt x="991" y="937"/>
                  <a:pt x="952" y="937"/>
                </a:cubicBezTo>
                <a:cubicBezTo>
                  <a:pt x="913" y="937"/>
                  <a:pt x="882" y="968"/>
                  <a:pt x="882" y="1007"/>
                </a:cubicBezTo>
                <a:cubicBezTo>
                  <a:pt x="882" y="1207"/>
                  <a:pt x="882" y="1207"/>
                  <a:pt x="882" y="1207"/>
                </a:cubicBezTo>
                <a:cubicBezTo>
                  <a:pt x="882" y="1245"/>
                  <a:pt x="913" y="1277"/>
                  <a:pt x="952" y="1277"/>
                </a:cubicBezTo>
                <a:cubicBezTo>
                  <a:pt x="991" y="1277"/>
                  <a:pt x="1022" y="1245"/>
                  <a:pt x="1022" y="1207"/>
                </a:cubicBezTo>
                <a:lnTo>
                  <a:pt x="1022" y="1007"/>
                </a:lnTo>
                <a:close/>
                <a:moveTo>
                  <a:pt x="1648" y="300"/>
                </a:moveTo>
                <a:cubicBezTo>
                  <a:pt x="1648" y="1348"/>
                  <a:pt x="1648" y="1348"/>
                  <a:pt x="1648" y="1348"/>
                </a:cubicBezTo>
                <a:cubicBezTo>
                  <a:pt x="1648" y="1514"/>
                  <a:pt x="1514" y="1648"/>
                  <a:pt x="1348" y="1648"/>
                </a:cubicBezTo>
                <a:cubicBezTo>
                  <a:pt x="300" y="1648"/>
                  <a:pt x="300" y="1648"/>
                  <a:pt x="300" y="1648"/>
                </a:cubicBezTo>
                <a:cubicBezTo>
                  <a:pt x="134" y="1648"/>
                  <a:pt x="0" y="1514"/>
                  <a:pt x="0" y="1348"/>
                </a:cubicBezTo>
                <a:cubicBezTo>
                  <a:pt x="0" y="300"/>
                  <a:pt x="0" y="300"/>
                  <a:pt x="0" y="300"/>
                </a:cubicBezTo>
                <a:cubicBezTo>
                  <a:pt x="0" y="134"/>
                  <a:pt x="134" y="0"/>
                  <a:pt x="300" y="0"/>
                </a:cubicBezTo>
                <a:cubicBezTo>
                  <a:pt x="1348" y="0"/>
                  <a:pt x="1348" y="0"/>
                  <a:pt x="1348" y="0"/>
                </a:cubicBezTo>
                <a:cubicBezTo>
                  <a:pt x="1514" y="0"/>
                  <a:pt x="1648" y="134"/>
                  <a:pt x="1648" y="300"/>
                </a:cubicBezTo>
                <a:close/>
                <a:moveTo>
                  <a:pt x="1488" y="320"/>
                </a:moveTo>
                <a:cubicBezTo>
                  <a:pt x="1488" y="232"/>
                  <a:pt x="1416" y="160"/>
                  <a:pt x="1328" y="160"/>
                </a:cubicBezTo>
                <a:cubicBezTo>
                  <a:pt x="320" y="160"/>
                  <a:pt x="320" y="160"/>
                  <a:pt x="320" y="160"/>
                </a:cubicBezTo>
                <a:cubicBezTo>
                  <a:pt x="232" y="160"/>
                  <a:pt x="160" y="232"/>
                  <a:pt x="160" y="320"/>
                </a:cubicBezTo>
                <a:cubicBezTo>
                  <a:pt x="160" y="484"/>
                  <a:pt x="160" y="484"/>
                  <a:pt x="160" y="484"/>
                </a:cubicBezTo>
                <a:cubicBezTo>
                  <a:pt x="782" y="484"/>
                  <a:pt x="782" y="484"/>
                  <a:pt x="782" y="484"/>
                </a:cubicBezTo>
                <a:cubicBezTo>
                  <a:pt x="782" y="604"/>
                  <a:pt x="782" y="604"/>
                  <a:pt x="782" y="604"/>
                </a:cubicBezTo>
                <a:cubicBezTo>
                  <a:pt x="160" y="604"/>
                  <a:pt x="160" y="604"/>
                  <a:pt x="160" y="604"/>
                </a:cubicBezTo>
                <a:cubicBezTo>
                  <a:pt x="160" y="1047"/>
                  <a:pt x="160" y="1047"/>
                  <a:pt x="160" y="1047"/>
                </a:cubicBezTo>
                <a:cubicBezTo>
                  <a:pt x="298" y="1047"/>
                  <a:pt x="298" y="1047"/>
                  <a:pt x="298" y="1047"/>
                </a:cubicBezTo>
                <a:cubicBezTo>
                  <a:pt x="298" y="1167"/>
                  <a:pt x="298" y="1167"/>
                  <a:pt x="298" y="1167"/>
                </a:cubicBezTo>
                <a:cubicBezTo>
                  <a:pt x="160" y="1167"/>
                  <a:pt x="160" y="1167"/>
                  <a:pt x="160" y="1167"/>
                </a:cubicBezTo>
                <a:cubicBezTo>
                  <a:pt x="160" y="1328"/>
                  <a:pt x="160" y="1328"/>
                  <a:pt x="160" y="1328"/>
                </a:cubicBezTo>
                <a:cubicBezTo>
                  <a:pt x="160" y="1416"/>
                  <a:pt x="232" y="1488"/>
                  <a:pt x="320" y="1488"/>
                </a:cubicBezTo>
                <a:cubicBezTo>
                  <a:pt x="1328" y="1488"/>
                  <a:pt x="1328" y="1488"/>
                  <a:pt x="1328" y="1488"/>
                </a:cubicBezTo>
                <a:cubicBezTo>
                  <a:pt x="1416" y="1488"/>
                  <a:pt x="1488" y="1416"/>
                  <a:pt x="1488" y="1328"/>
                </a:cubicBezTo>
                <a:cubicBezTo>
                  <a:pt x="1488" y="1167"/>
                  <a:pt x="1488" y="1167"/>
                  <a:pt x="1488" y="1167"/>
                </a:cubicBezTo>
                <a:cubicBezTo>
                  <a:pt x="1126" y="1167"/>
                  <a:pt x="1126" y="1167"/>
                  <a:pt x="1126" y="1167"/>
                </a:cubicBezTo>
                <a:cubicBezTo>
                  <a:pt x="1126" y="1047"/>
                  <a:pt x="1126" y="1047"/>
                  <a:pt x="1126" y="1047"/>
                </a:cubicBezTo>
                <a:cubicBezTo>
                  <a:pt x="1488" y="1047"/>
                  <a:pt x="1488" y="1047"/>
                  <a:pt x="1488" y="1047"/>
                </a:cubicBezTo>
                <a:cubicBezTo>
                  <a:pt x="1488" y="604"/>
                  <a:pt x="1488" y="604"/>
                  <a:pt x="1488" y="604"/>
                </a:cubicBezTo>
                <a:cubicBezTo>
                  <a:pt x="1362" y="604"/>
                  <a:pt x="1362" y="604"/>
                  <a:pt x="1362" y="604"/>
                </a:cubicBezTo>
                <a:cubicBezTo>
                  <a:pt x="1362" y="484"/>
                  <a:pt x="1362" y="484"/>
                  <a:pt x="1362" y="484"/>
                </a:cubicBezTo>
                <a:cubicBezTo>
                  <a:pt x="1488" y="484"/>
                  <a:pt x="1488" y="484"/>
                  <a:pt x="1488" y="484"/>
                </a:cubicBezTo>
                <a:lnTo>
                  <a:pt x="1488" y="320"/>
                </a:ln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5" name="Freeform 25"/>
          <p:cNvSpPr>
            <a:spLocks noEditPoints="1"/>
          </p:cNvSpPr>
          <p:nvPr/>
        </p:nvSpPr>
        <p:spPr bwMode="auto">
          <a:xfrm>
            <a:off x="6960870" y="4808220"/>
            <a:ext cx="400050" cy="428626"/>
          </a:xfrm>
          <a:custGeom>
            <a:avLst/>
            <a:gdLst>
              <a:gd name="T0" fmla="*/ 1387 w 1584"/>
              <a:gd name="T1" fmla="*/ 404 h 1700"/>
              <a:gd name="T2" fmla="*/ 1387 w 1584"/>
              <a:gd name="T3" fmla="*/ 252 h 1700"/>
              <a:gd name="T4" fmla="*/ 1387 w 1584"/>
              <a:gd name="T5" fmla="*/ 252 h 1700"/>
              <a:gd name="T6" fmla="*/ 1331 w 1584"/>
              <a:gd name="T7" fmla="*/ 43 h 1700"/>
              <a:gd name="T8" fmla="*/ 1121 w 1584"/>
              <a:gd name="T9" fmla="*/ 99 h 1700"/>
              <a:gd name="T10" fmla="*/ 1121 w 1584"/>
              <a:gd name="T11" fmla="*/ 99 h 1700"/>
              <a:gd name="T12" fmla="*/ 990 w 1584"/>
              <a:gd name="T13" fmla="*/ 175 h 1700"/>
              <a:gd name="T14" fmla="*/ 75 w 1584"/>
              <a:gd name="T15" fmla="*/ 756 h 1700"/>
              <a:gd name="T16" fmla="*/ 0 w 1584"/>
              <a:gd name="T17" fmla="*/ 887 h 1700"/>
              <a:gd name="T18" fmla="*/ 1265 w 1584"/>
              <a:gd name="T19" fmla="*/ 1618 h 1700"/>
              <a:gd name="T20" fmla="*/ 1341 w 1584"/>
              <a:gd name="T21" fmla="*/ 1486 h 1700"/>
              <a:gd name="T22" fmla="*/ 1387 w 1584"/>
              <a:gd name="T23" fmla="*/ 404 h 1700"/>
              <a:gd name="T24" fmla="*/ 1285 w 1584"/>
              <a:gd name="T25" fmla="*/ 121 h 1700"/>
              <a:gd name="T26" fmla="*/ 1308 w 1584"/>
              <a:gd name="T27" fmla="*/ 206 h 1700"/>
              <a:gd name="T28" fmla="*/ 1223 w 1584"/>
              <a:gd name="T29" fmla="*/ 229 h 1700"/>
              <a:gd name="T30" fmla="*/ 1200 w 1584"/>
              <a:gd name="T31" fmla="*/ 144 h 1700"/>
              <a:gd name="T32" fmla="*/ 1285 w 1584"/>
              <a:gd name="T33" fmla="*/ 121 h 1700"/>
              <a:gd name="T34" fmla="*/ 927 w 1584"/>
              <a:gd name="T35" fmla="*/ 1566 h 1700"/>
              <a:gd name="T36" fmla="*/ 642 w 1584"/>
              <a:gd name="T37" fmla="*/ 1642 h 1700"/>
              <a:gd name="T38" fmla="*/ 565 w 1584"/>
              <a:gd name="T39" fmla="*/ 1357 h 1700"/>
              <a:gd name="T40" fmla="*/ 927 w 1584"/>
              <a:gd name="T41" fmla="*/ 1566 h 1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84" h="1700">
                <a:moveTo>
                  <a:pt x="1387" y="404"/>
                </a:moveTo>
                <a:cubicBezTo>
                  <a:pt x="1359" y="357"/>
                  <a:pt x="1359" y="299"/>
                  <a:pt x="1387" y="252"/>
                </a:cubicBezTo>
                <a:cubicBezTo>
                  <a:pt x="1387" y="252"/>
                  <a:pt x="1387" y="252"/>
                  <a:pt x="1387" y="252"/>
                </a:cubicBezTo>
                <a:cubicBezTo>
                  <a:pt x="1429" y="178"/>
                  <a:pt x="1404" y="85"/>
                  <a:pt x="1331" y="43"/>
                </a:cubicBezTo>
                <a:cubicBezTo>
                  <a:pt x="1257" y="0"/>
                  <a:pt x="1164" y="25"/>
                  <a:pt x="1121" y="99"/>
                </a:cubicBezTo>
                <a:cubicBezTo>
                  <a:pt x="1121" y="99"/>
                  <a:pt x="1121" y="99"/>
                  <a:pt x="1121" y="99"/>
                </a:cubicBezTo>
                <a:cubicBezTo>
                  <a:pt x="1094" y="146"/>
                  <a:pt x="1044" y="175"/>
                  <a:pt x="990" y="175"/>
                </a:cubicBezTo>
                <a:cubicBezTo>
                  <a:pt x="597" y="174"/>
                  <a:pt x="441" y="834"/>
                  <a:pt x="75" y="756"/>
                </a:cubicBezTo>
                <a:cubicBezTo>
                  <a:pt x="0" y="887"/>
                  <a:pt x="0" y="887"/>
                  <a:pt x="0" y="887"/>
                </a:cubicBezTo>
                <a:cubicBezTo>
                  <a:pt x="1265" y="1618"/>
                  <a:pt x="1265" y="1618"/>
                  <a:pt x="1265" y="1618"/>
                </a:cubicBezTo>
                <a:cubicBezTo>
                  <a:pt x="1341" y="1486"/>
                  <a:pt x="1341" y="1486"/>
                  <a:pt x="1341" y="1486"/>
                </a:cubicBezTo>
                <a:cubicBezTo>
                  <a:pt x="1089" y="1209"/>
                  <a:pt x="1584" y="744"/>
                  <a:pt x="1387" y="404"/>
                </a:cubicBezTo>
                <a:close/>
                <a:moveTo>
                  <a:pt x="1285" y="121"/>
                </a:moveTo>
                <a:cubicBezTo>
                  <a:pt x="1315" y="138"/>
                  <a:pt x="1325" y="177"/>
                  <a:pt x="1308" y="206"/>
                </a:cubicBezTo>
                <a:cubicBezTo>
                  <a:pt x="1291" y="236"/>
                  <a:pt x="1253" y="246"/>
                  <a:pt x="1223" y="229"/>
                </a:cubicBezTo>
                <a:cubicBezTo>
                  <a:pt x="1193" y="212"/>
                  <a:pt x="1183" y="174"/>
                  <a:pt x="1200" y="144"/>
                </a:cubicBezTo>
                <a:cubicBezTo>
                  <a:pt x="1217" y="114"/>
                  <a:pt x="1255" y="104"/>
                  <a:pt x="1285" y="121"/>
                </a:cubicBezTo>
                <a:close/>
                <a:moveTo>
                  <a:pt x="927" y="1566"/>
                </a:moveTo>
                <a:cubicBezTo>
                  <a:pt x="869" y="1665"/>
                  <a:pt x="742" y="1700"/>
                  <a:pt x="642" y="1642"/>
                </a:cubicBezTo>
                <a:cubicBezTo>
                  <a:pt x="542" y="1584"/>
                  <a:pt x="508" y="1457"/>
                  <a:pt x="565" y="1357"/>
                </a:cubicBezTo>
                <a:lnTo>
                  <a:pt x="927" y="1566"/>
                </a:lnTo>
                <a:close/>
              </a:path>
            </a:pathLst>
          </a:custGeom>
          <a:solidFill>
            <a:schemeClr val="accent6"/>
          </a:solidFill>
          <a:ln>
            <a:noFill/>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56" name="Freeform 13"/>
          <p:cNvSpPr>
            <a:spLocks noEditPoints="1"/>
          </p:cNvSpPr>
          <p:nvPr/>
        </p:nvSpPr>
        <p:spPr bwMode="auto">
          <a:xfrm>
            <a:off x="5915026" y="3722370"/>
            <a:ext cx="367666" cy="569596"/>
          </a:xfrm>
          <a:custGeom>
            <a:avLst/>
            <a:gdLst>
              <a:gd name="T0" fmla="*/ 3147 w 3559"/>
              <a:gd name="T1" fmla="*/ 400 h 5493"/>
              <a:gd name="T2" fmla="*/ 2237 w 3559"/>
              <a:gd name="T3" fmla="*/ 2958 h 5493"/>
              <a:gd name="T4" fmla="*/ 1851 w 3559"/>
              <a:gd name="T5" fmla="*/ 3611 h 5493"/>
              <a:gd name="T6" fmla="*/ 1708 w 3559"/>
              <a:gd name="T7" fmla="*/ 3611 h 5493"/>
              <a:gd name="T8" fmla="*/ 1322 w 3559"/>
              <a:gd name="T9" fmla="*/ 2958 h 5493"/>
              <a:gd name="T10" fmla="*/ 412 w 3559"/>
              <a:gd name="T11" fmla="*/ 400 h 5493"/>
              <a:gd name="T12" fmla="*/ 3147 w 3559"/>
              <a:gd name="T13" fmla="*/ 400 h 5493"/>
              <a:gd name="T14" fmla="*/ 3559 w 3559"/>
              <a:gd name="T15" fmla="*/ 0 h 5493"/>
              <a:gd name="T16" fmla="*/ 0 w 3559"/>
              <a:gd name="T17" fmla="*/ 0 h 5493"/>
              <a:gd name="T18" fmla="*/ 1419 w 3559"/>
              <a:gd name="T19" fmla="*/ 4011 h 5493"/>
              <a:gd name="T20" fmla="*/ 2140 w 3559"/>
              <a:gd name="T21" fmla="*/ 4011 h 5493"/>
              <a:gd name="T22" fmla="*/ 3559 w 3559"/>
              <a:gd name="T23" fmla="*/ 0 h 5493"/>
              <a:gd name="T24" fmla="*/ 2742 w 3559"/>
              <a:gd name="T25" fmla="*/ 733 h 5493"/>
              <a:gd name="T26" fmla="*/ 1797 w 3559"/>
              <a:gd name="T27" fmla="*/ 2980 h 5493"/>
              <a:gd name="T28" fmla="*/ 2308 w 3559"/>
              <a:gd name="T29" fmla="*/ 733 h 5493"/>
              <a:gd name="T30" fmla="*/ 2742 w 3559"/>
              <a:gd name="T31" fmla="*/ 733 h 5493"/>
              <a:gd name="T32" fmla="*/ 2875 w 3559"/>
              <a:gd name="T33" fmla="*/ 5138 h 5493"/>
              <a:gd name="T34" fmla="*/ 2875 w 3559"/>
              <a:gd name="T35" fmla="*/ 5493 h 5493"/>
              <a:gd name="T36" fmla="*/ 684 w 3559"/>
              <a:gd name="T37" fmla="*/ 5493 h 5493"/>
              <a:gd name="T38" fmla="*/ 684 w 3559"/>
              <a:gd name="T39" fmla="*/ 5138 h 5493"/>
              <a:gd name="T40" fmla="*/ 1426 w 3559"/>
              <a:gd name="T41" fmla="*/ 4344 h 5493"/>
              <a:gd name="T42" fmla="*/ 2133 w 3559"/>
              <a:gd name="T43" fmla="*/ 4344 h 5493"/>
              <a:gd name="T44" fmla="*/ 2875 w 3559"/>
              <a:gd name="T45" fmla="*/ 5138 h 5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59" h="5493">
                <a:moveTo>
                  <a:pt x="3147" y="400"/>
                </a:moveTo>
                <a:cubicBezTo>
                  <a:pt x="3069" y="1714"/>
                  <a:pt x="2611" y="2398"/>
                  <a:pt x="2237" y="2958"/>
                </a:cubicBezTo>
                <a:cubicBezTo>
                  <a:pt x="2084" y="3185"/>
                  <a:pt x="1946" y="3391"/>
                  <a:pt x="1851" y="3611"/>
                </a:cubicBezTo>
                <a:lnTo>
                  <a:pt x="1708" y="3611"/>
                </a:lnTo>
                <a:cubicBezTo>
                  <a:pt x="1612" y="3391"/>
                  <a:pt x="1474" y="3185"/>
                  <a:pt x="1322" y="2958"/>
                </a:cubicBezTo>
                <a:cubicBezTo>
                  <a:pt x="948" y="2398"/>
                  <a:pt x="490" y="1714"/>
                  <a:pt x="412" y="400"/>
                </a:cubicBezTo>
                <a:lnTo>
                  <a:pt x="3147" y="400"/>
                </a:lnTo>
                <a:close/>
                <a:moveTo>
                  <a:pt x="3559" y="0"/>
                </a:moveTo>
                <a:lnTo>
                  <a:pt x="0" y="0"/>
                </a:lnTo>
                <a:cubicBezTo>
                  <a:pt x="0" y="2520"/>
                  <a:pt x="1244" y="3167"/>
                  <a:pt x="1419" y="4011"/>
                </a:cubicBezTo>
                <a:lnTo>
                  <a:pt x="2140" y="4011"/>
                </a:lnTo>
                <a:cubicBezTo>
                  <a:pt x="2315" y="3167"/>
                  <a:pt x="3559" y="2520"/>
                  <a:pt x="3559" y="0"/>
                </a:cubicBezTo>
                <a:close/>
                <a:moveTo>
                  <a:pt x="2742" y="733"/>
                </a:moveTo>
                <a:cubicBezTo>
                  <a:pt x="2680" y="1609"/>
                  <a:pt x="2287" y="2413"/>
                  <a:pt x="1797" y="2980"/>
                </a:cubicBezTo>
                <a:cubicBezTo>
                  <a:pt x="2200" y="2195"/>
                  <a:pt x="2308" y="1391"/>
                  <a:pt x="2308" y="733"/>
                </a:cubicBezTo>
                <a:lnTo>
                  <a:pt x="2742" y="733"/>
                </a:lnTo>
                <a:close/>
                <a:moveTo>
                  <a:pt x="2875" y="5138"/>
                </a:moveTo>
                <a:lnTo>
                  <a:pt x="2875" y="5493"/>
                </a:lnTo>
                <a:lnTo>
                  <a:pt x="684" y="5493"/>
                </a:lnTo>
                <a:lnTo>
                  <a:pt x="684" y="5138"/>
                </a:lnTo>
                <a:cubicBezTo>
                  <a:pt x="1251" y="5138"/>
                  <a:pt x="1401" y="4662"/>
                  <a:pt x="1426" y="4344"/>
                </a:cubicBezTo>
                <a:lnTo>
                  <a:pt x="2133" y="4344"/>
                </a:lnTo>
                <a:cubicBezTo>
                  <a:pt x="2158" y="4662"/>
                  <a:pt x="2291" y="5138"/>
                  <a:pt x="2875" y="5138"/>
                </a:cubicBezTo>
                <a:close/>
              </a:path>
            </a:pathLst>
          </a:custGeom>
          <a:solidFill>
            <a:schemeClr val="tx1">
              <a:lumMod val="90000"/>
            </a:schemeClr>
          </a:solidFill>
          <a:ln w="0">
            <a:noFill/>
            <a:prstDash val="solid"/>
            <a:round/>
          </a:ln>
        </p:spPr>
        <p:txBody>
          <a:bodyPr vert="horz" wrap="square" lIns="121920" tIns="60960" rIns="121920" bIns="60960"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2400" b="0" i="0" u="none" strike="noStrike" kern="1200" cap="none" spc="0" normalizeH="0" baseline="0" noProof="0">
              <a:ln>
                <a:noFill/>
              </a:ln>
              <a:solidFill>
                <a:schemeClr val="tx1"/>
              </a:solidFill>
              <a:effectLst/>
              <a:uLnTx/>
              <a:uFillTx/>
              <a:latin typeface="+mn-lt"/>
              <a:ea typeface="+mn-ea"/>
              <a:cs typeface="+mn-cs"/>
            </a:endParaRPr>
          </a:p>
        </p:txBody>
      </p:sp>
      <p:sp>
        <p:nvSpPr>
          <p:cNvPr id="3" name="Rectangle 45"/>
          <p:cNvSpPr/>
          <p:nvPr/>
        </p:nvSpPr>
        <p:spPr>
          <a:xfrm>
            <a:off x="-38100" y="3425190"/>
            <a:ext cx="3897630" cy="755650"/>
          </a:xfrm>
          <a:prstGeom prst="rect">
            <a:avLst/>
          </a:prstGeom>
          <a:noFill/>
          <a:ln w="9525">
            <a:noFill/>
          </a:ln>
        </p:spPr>
        <p:txBody>
          <a:bodyPr wrap="square">
            <a:spAutoFit/>
          </a:bodyPr>
          <a:lstStyle/>
          <a:p>
            <a:pPr algn="r" eaLnBrk="1" hangingPunct="1">
              <a:buNone/>
            </a:pPr>
            <a:r>
              <a:rPr lang="en-US" altLang="zh-CN" sz="2160" b="1" dirty="0">
                <a:solidFill>
                  <a:schemeClr val="tx2"/>
                </a:solidFill>
                <a:latin typeface="Open Sans Light" pitchFamily="34" charset="0"/>
                <a:ea typeface="Open Sans Light" pitchFamily="34" charset="0"/>
                <a:cs typeface="+mj-cs"/>
              </a:rPr>
              <a:t>Chapter2   Experimental Setup</a:t>
            </a:r>
            <a:r>
              <a:rPr lang="en-US" altLang="zh-CN" sz="4320" b="1" dirty="0">
                <a:solidFill>
                  <a:schemeClr val="tx2"/>
                </a:solidFill>
                <a:latin typeface="Open Sans Light" pitchFamily="34" charset="0"/>
                <a:ea typeface="Open Sans Light" pitchFamily="34" charset="0"/>
                <a:cs typeface="+mj-cs"/>
              </a:rPr>
              <a:t> </a:t>
            </a:r>
            <a:endParaRPr lang="en-US" altLang="zh-CN" sz="960" dirty="0">
              <a:solidFill>
                <a:schemeClr val="tx2"/>
              </a:solidFill>
              <a:latin typeface="Open Sans Light" pitchFamily="34" charset="0"/>
              <a:ea typeface="Open Sans Light" pitchFamily="34" charset="0"/>
            </a:endParaRPr>
          </a:p>
        </p:txBody>
      </p:sp>
      <p:sp>
        <p:nvSpPr>
          <p:cNvPr id="4" name="Rectangle 45"/>
          <p:cNvSpPr/>
          <p:nvPr/>
        </p:nvSpPr>
        <p:spPr>
          <a:xfrm>
            <a:off x="455676" y="4851654"/>
            <a:ext cx="3784092" cy="755650"/>
          </a:xfrm>
          <a:prstGeom prst="rect">
            <a:avLst/>
          </a:prstGeom>
          <a:noFill/>
          <a:ln w="9525">
            <a:noFill/>
          </a:ln>
        </p:spPr>
        <p:txBody>
          <a:bodyPr wrap="square">
            <a:spAutoFit/>
          </a:bodyPr>
          <a:lstStyle/>
          <a:p>
            <a:pPr algn="r" eaLnBrk="1" hangingPunct="1">
              <a:buNone/>
            </a:pPr>
            <a:r>
              <a:rPr lang="en-US" altLang="zh-CN" sz="2160" b="1" dirty="0">
                <a:solidFill>
                  <a:schemeClr val="tx2"/>
                </a:solidFill>
                <a:latin typeface="Open Sans Light" pitchFamily="34" charset="0"/>
                <a:ea typeface="Open Sans Light" pitchFamily="34" charset="0"/>
                <a:cs typeface="+mj-cs"/>
              </a:rPr>
              <a:t>Chapter3   Insights on ICL </a:t>
            </a:r>
            <a:r>
              <a:rPr lang="en-US" altLang="zh-CN" sz="4320" b="1" dirty="0">
                <a:solidFill>
                  <a:schemeClr val="tx2"/>
                </a:solidFill>
                <a:latin typeface="Open Sans Light" pitchFamily="34" charset="0"/>
                <a:ea typeface="Open Sans Light" pitchFamily="34" charset="0"/>
                <a:cs typeface="+mj-cs"/>
              </a:rPr>
              <a:t> </a:t>
            </a:r>
            <a:endParaRPr lang="en-US" altLang="zh-CN" sz="960" dirty="0">
              <a:solidFill>
                <a:schemeClr val="tx2"/>
              </a:solidFill>
              <a:latin typeface="Open Sans Light" pitchFamily="34" charset="0"/>
              <a:ea typeface="Open Sans Light" pitchFamily="34" charset="0"/>
            </a:endParaRPr>
          </a:p>
        </p:txBody>
      </p:sp>
      <p:sp>
        <p:nvSpPr>
          <p:cNvPr id="6" name="Rectangle 45"/>
          <p:cNvSpPr/>
          <p:nvPr/>
        </p:nvSpPr>
        <p:spPr>
          <a:xfrm>
            <a:off x="7533894" y="4953762"/>
            <a:ext cx="4185666" cy="1087755"/>
          </a:xfrm>
          <a:prstGeom prst="rect">
            <a:avLst/>
          </a:prstGeom>
          <a:noFill/>
          <a:ln w="9525">
            <a:noFill/>
          </a:ln>
        </p:spPr>
        <p:txBody>
          <a:bodyPr wrap="square">
            <a:spAutoFit/>
          </a:bodyPr>
          <a:lstStyle/>
          <a:p>
            <a:pPr algn="r" eaLnBrk="1" hangingPunct="1">
              <a:buNone/>
            </a:pPr>
            <a:r>
              <a:rPr lang="en-US" altLang="zh-CN" sz="2160" b="1" dirty="0">
                <a:solidFill>
                  <a:schemeClr val="tx2"/>
                </a:solidFill>
                <a:latin typeface="Open Sans Light" pitchFamily="34" charset="0"/>
                <a:ea typeface="Open Sans Light" pitchFamily="34" charset="0"/>
                <a:cs typeface="+mj-cs"/>
              </a:rPr>
              <a:t>Chapter6   Conclusion and Future Work</a:t>
            </a:r>
            <a:r>
              <a:rPr lang="en-US" altLang="zh-CN" sz="4320" b="1" dirty="0">
                <a:solidFill>
                  <a:schemeClr val="tx2"/>
                </a:solidFill>
                <a:latin typeface="Open Sans Light" pitchFamily="34" charset="0"/>
                <a:ea typeface="Open Sans Light" pitchFamily="34" charset="0"/>
                <a:cs typeface="+mj-cs"/>
              </a:rPr>
              <a:t> </a:t>
            </a:r>
            <a:endParaRPr lang="en-US" altLang="zh-CN" sz="960" dirty="0">
              <a:solidFill>
                <a:schemeClr val="tx2"/>
              </a:solidFill>
              <a:latin typeface="Open Sans Light" pitchFamily="34" charset="0"/>
              <a:ea typeface="Open Sans Light" pitchFamily="34" charset="0"/>
            </a:endParaRPr>
          </a:p>
        </p:txBody>
      </p:sp>
      <p:sp>
        <p:nvSpPr>
          <p:cNvPr id="7" name="Rectangle 45"/>
          <p:cNvSpPr/>
          <p:nvPr/>
        </p:nvSpPr>
        <p:spPr>
          <a:xfrm>
            <a:off x="7816596" y="3335274"/>
            <a:ext cx="3994404" cy="957072"/>
          </a:xfrm>
          <a:prstGeom prst="rect">
            <a:avLst/>
          </a:prstGeom>
          <a:noFill/>
          <a:ln w="9525">
            <a:noFill/>
          </a:ln>
        </p:spPr>
        <p:txBody>
          <a:bodyPr wrap="square">
            <a:noAutofit/>
          </a:bodyPr>
          <a:lstStyle/>
          <a:p>
            <a:pPr algn="r" eaLnBrk="1" hangingPunct="1">
              <a:buNone/>
            </a:pPr>
            <a:r>
              <a:rPr lang="en-US" altLang="zh-CN" sz="2160" b="1" dirty="0">
                <a:solidFill>
                  <a:schemeClr val="tx2"/>
                </a:solidFill>
                <a:latin typeface="Open Sans Light" pitchFamily="34" charset="0"/>
                <a:ea typeface="Open Sans Light" pitchFamily="34" charset="0"/>
                <a:cs typeface="+mj-cs"/>
              </a:rPr>
              <a:t>Chapter5   Comparison and Analysis</a:t>
            </a:r>
            <a:r>
              <a:rPr lang="en-US" altLang="zh-CN" sz="4320" b="1" dirty="0">
                <a:solidFill>
                  <a:schemeClr val="tx2"/>
                </a:solidFill>
                <a:latin typeface="Open Sans Light" pitchFamily="34" charset="0"/>
                <a:ea typeface="Open Sans Light" pitchFamily="34" charset="0"/>
                <a:cs typeface="+mj-cs"/>
              </a:rPr>
              <a:t> </a:t>
            </a:r>
            <a:endParaRPr lang="en-US" altLang="zh-CN" sz="960" dirty="0">
              <a:solidFill>
                <a:schemeClr val="tx2"/>
              </a:solidFill>
              <a:latin typeface="Open Sans Light" pitchFamily="34" charset="0"/>
              <a:ea typeface="Open Sans Light" pitchFamily="34" charset="0"/>
            </a:endParaRPr>
          </a:p>
        </p:txBody>
      </p:sp>
      <p:sp>
        <p:nvSpPr>
          <p:cNvPr id="8" name="Rectangle 45"/>
          <p:cNvSpPr/>
          <p:nvPr/>
        </p:nvSpPr>
        <p:spPr>
          <a:xfrm>
            <a:off x="8136636" y="1847088"/>
            <a:ext cx="3623310" cy="755650"/>
          </a:xfrm>
          <a:prstGeom prst="rect">
            <a:avLst/>
          </a:prstGeom>
          <a:noFill/>
          <a:ln w="9525">
            <a:noFill/>
          </a:ln>
        </p:spPr>
        <p:txBody>
          <a:bodyPr wrap="square">
            <a:spAutoFit/>
          </a:bodyPr>
          <a:lstStyle/>
          <a:p>
            <a:pPr algn="r" eaLnBrk="1" hangingPunct="1">
              <a:buNone/>
            </a:pPr>
            <a:r>
              <a:rPr lang="en-US" altLang="zh-CN" sz="2160" b="1" dirty="0">
                <a:solidFill>
                  <a:schemeClr val="tx2"/>
                </a:solidFill>
                <a:latin typeface="Open Sans Light" pitchFamily="34" charset="0"/>
                <a:ea typeface="Open Sans Light" pitchFamily="34" charset="0"/>
                <a:cs typeface="+mj-cs"/>
              </a:rPr>
              <a:t>Chapter4   Insights on CML</a:t>
            </a:r>
            <a:r>
              <a:rPr lang="en-US" altLang="zh-CN" sz="4320" b="1" dirty="0">
                <a:solidFill>
                  <a:schemeClr val="tx2"/>
                </a:solidFill>
                <a:latin typeface="Open Sans Light" pitchFamily="34" charset="0"/>
                <a:ea typeface="Open Sans Light" pitchFamily="34" charset="0"/>
                <a:cs typeface="+mj-cs"/>
              </a:rPr>
              <a:t> </a:t>
            </a:r>
            <a:endParaRPr lang="en-US" altLang="zh-CN" sz="960" dirty="0">
              <a:solidFill>
                <a:schemeClr val="tx2"/>
              </a:solidFill>
              <a:latin typeface="Open Sans Light" pitchFamily="34" charset="0"/>
              <a:ea typeface="Open Sans Light"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ppt_x"/>
                                          </p:val>
                                        </p:tav>
                                        <p:tav tm="100000">
                                          <p:val>
                                            <p:strVal val="#ppt_x"/>
                                          </p:val>
                                        </p:tav>
                                      </p:tavLst>
                                    </p:anim>
                                    <p:anim calcmode="lin" valueType="num">
                                      <p:cBhvr additive="base">
                                        <p:cTn id="12" dur="500" fill="hold"/>
                                        <p:tgtEl>
                                          <p:spTgt spid="3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500" fill="hold"/>
                                        <p:tgtEl>
                                          <p:spTgt spid="56"/>
                                        </p:tgtEl>
                                        <p:attrNameLst>
                                          <p:attrName>ppt_x</p:attrName>
                                        </p:attrNameLst>
                                      </p:cBhvr>
                                      <p:tavLst>
                                        <p:tav tm="0">
                                          <p:val>
                                            <p:strVal val="#ppt_x"/>
                                          </p:val>
                                        </p:tav>
                                        <p:tav tm="100000">
                                          <p:val>
                                            <p:strVal val="#ppt_x"/>
                                          </p:val>
                                        </p:tav>
                                      </p:tavLst>
                                    </p:anim>
                                    <p:anim calcmode="lin" valueType="num">
                                      <p:cBhvr additive="base">
                                        <p:cTn id="28" dur="500" fill="hold"/>
                                        <p:tgtEl>
                                          <p:spTgt spid="56"/>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8" fill="hold" nodeType="afterEffect">
                                  <p:stCondLst>
                                    <p:cond delay="0"/>
                                  </p:stCondLst>
                                  <p:childTnLst>
                                    <p:set>
                                      <p:cBhvr>
                                        <p:cTn id="31" dur="1" fill="hold">
                                          <p:stCondLst>
                                            <p:cond delay="0"/>
                                          </p:stCondLst>
                                        </p:cTn>
                                        <p:tgtEl>
                                          <p:spTgt spid="37"/>
                                        </p:tgtEl>
                                        <p:attrNameLst>
                                          <p:attrName>style.visibility</p:attrName>
                                        </p:attrNameLst>
                                      </p:cBhvr>
                                      <p:to>
                                        <p:strVal val="visible"/>
                                      </p:to>
                                    </p:set>
                                    <p:anim calcmode="lin" valueType="num">
                                      <p:cBhvr additive="base">
                                        <p:cTn id="32" dur="500" fill="hold"/>
                                        <p:tgtEl>
                                          <p:spTgt spid="37"/>
                                        </p:tgtEl>
                                        <p:attrNameLst>
                                          <p:attrName>ppt_x</p:attrName>
                                        </p:attrNameLst>
                                      </p:cBhvr>
                                      <p:tavLst>
                                        <p:tav tm="0">
                                          <p:val>
                                            <p:strVal val="0-#ppt_w/2"/>
                                          </p:val>
                                        </p:tav>
                                        <p:tav tm="100000">
                                          <p:val>
                                            <p:strVal val="#ppt_x"/>
                                          </p:val>
                                        </p:tav>
                                      </p:tavLst>
                                    </p:anim>
                                    <p:anim calcmode="lin" valueType="num">
                                      <p:cBhvr additive="base">
                                        <p:cTn id="33" dur="500" fill="hold"/>
                                        <p:tgtEl>
                                          <p:spTgt spid="37"/>
                                        </p:tgtEl>
                                        <p:attrNameLst>
                                          <p:attrName>ppt_y</p:attrName>
                                        </p:attrNameLst>
                                      </p:cBhvr>
                                      <p:tavLst>
                                        <p:tav tm="0">
                                          <p:val>
                                            <p:strVal val="#ppt_y"/>
                                          </p:val>
                                        </p:tav>
                                        <p:tav tm="100000">
                                          <p:val>
                                            <p:strVal val="#ppt_y"/>
                                          </p:val>
                                        </p:tav>
                                      </p:tavLst>
                                    </p:anim>
                                  </p:childTnLst>
                                </p:cTn>
                              </p:par>
                              <p:par>
                                <p:cTn id="34" presetID="2" presetClass="entr" presetSubtype="8" fill="hold" nodeType="withEffect">
                                  <p:stCondLst>
                                    <p:cond delay="0"/>
                                  </p:stCondLst>
                                  <p:childTnLst>
                                    <p:set>
                                      <p:cBhvr>
                                        <p:cTn id="35" dur="1" fill="hold">
                                          <p:stCondLst>
                                            <p:cond delay="0"/>
                                          </p:stCondLst>
                                        </p:cTn>
                                        <p:tgtEl>
                                          <p:spTgt spid="51"/>
                                        </p:tgtEl>
                                        <p:attrNameLst>
                                          <p:attrName>style.visibility</p:attrName>
                                        </p:attrNameLst>
                                      </p:cBhvr>
                                      <p:to>
                                        <p:strVal val="visible"/>
                                      </p:to>
                                    </p:set>
                                    <p:anim calcmode="lin" valueType="num">
                                      <p:cBhvr additive="base">
                                        <p:cTn id="36" dur="500" fill="hold"/>
                                        <p:tgtEl>
                                          <p:spTgt spid="51"/>
                                        </p:tgtEl>
                                        <p:attrNameLst>
                                          <p:attrName>ppt_x</p:attrName>
                                        </p:attrNameLst>
                                      </p:cBhvr>
                                      <p:tavLst>
                                        <p:tav tm="0">
                                          <p:val>
                                            <p:strVal val="0-#ppt_w/2"/>
                                          </p:val>
                                        </p:tav>
                                        <p:tav tm="100000">
                                          <p:val>
                                            <p:strVal val="#ppt_x"/>
                                          </p:val>
                                        </p:tav>
                                      </p:tavLst>
                                    </p:anim>
                                    <p:anim calcmode="lin" valueType="num">
                                      <p:cBhvr additive="base">
                                        <p:cTn id="37" dur="500" fill="hold"/>
                                        <p:tgtEl>
                                          <p:spTgt spid="51"/>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ID="2" presetClass="entr" presetSubtype="8" fill="hold" nodeType="after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0-#ppt_w/2"/>
                                          </p:val>
                                        </p:tav>
                                        <p:tav tm="100000">
                                          <p:val>
                                            <p:strVal val="#ppt_x"/>
                                          </p:val>
                                        </p:tav>
                                      </p:tavLst>
                                    </p:anim>
                                    <p:anim calcmode="lin" valueType="num">
                                      <p:cBhvr additive="base">
                                        <p:cTn id="42" dur="500" fill="hold"/>
                                        <p:tgtEl>
                                          <p:spTgt spid="33"/>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500" fill="hold"/>
                                        <p:tgtEl>
                                          <p:spTgt spid="50"/>
                                        </p:tgtEl>
                                        <p:attrNameLst>
                                          <p:attrName>ppt_x</p:attrName>
                                        </p:attrNameLst>
                                      </p:cBhvr>
                                      <p:tavLst>
                                        <p:tav tm="0">
                                          <p:val>
                                            <p:strVal val="0-#ppt_w/2"/>
                                          </p:val>
                                        </p:tav>
                                        <p:tav tm="100000">
                                          <p:val>
                                            <p:strVal val="#ppt_x"/>
                                          </p:val>
                                        </p:tav>
                                      </p:tavLst>
                                    </p:anim>
                                    <p:anim calcmode="lin" valueType="num">
                                      <p:cBhvr additive="base">
                                        <p:cTn id="46" dur="500" fill="hold"/>
                                        <p:tgtEl>
                                          <p:spTgt spid="50"/>
                                        </p:tgtEl>
                                        <p:attrNameLst>
                                          <p:attrName>ppt_y</p:attrName>
                                        </p:attrNameLst>
                                      </p:cBhvr>
                                      <p:tavLst>
                                        <p:tav tm="0">
                                          <p:val>
                                            <p:strVal val="#ppt_y"/>
                                          </p:val>
                                        </p:tav>
                                        <p:tav tm="100000">
                                          <p:val>
                                            <p:strVal val="#ppt_y"/>
                                          </p:val>
                                        </p:tav>
                                      </p:tavLst>
                                    </p:anim>
                                  </p:childTnLst>
                                </p:cTn>
                              </p:par>
                            </p:childTnLst>
                          </p:cTn>
                        </p:par>
                        <p:par>
                          <p:cTn id="47" fill="hold">
                            <p:stCondLst>
                              <p:cond delay="1500"/>
                            </p:stCondLst>
                            <p:childTnLst>
                              <p:par>
                                <p:cTn id="48" presetID="2" presetClass="entr" presetSubtype="8" fill="hold" nodeType="after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additive="base">
                                        <p:cTn id="50" dur="500" fill="hold"/>
                                        <p:tgtEl>
                                          <p:spTgt spid="34"/>
                                        </p:tgtEl>
                                        <p:attrNameLst>
                                          <p:attrName>ppt_x</p:attrName>
                                        </p:attrNameLst>
                                      </p:cBhvr>
                                      <p:tavLst>
                                        <p:tav tm="0">
                                          <p:val>
                                            <p:strVal val="0-#ppt_w/2"/>
                                          </p:val>
                                        </p:tav>
                                        <p:tav tm="100000">
                                          <p:val>
                                            <p:strVal val="#ppt_x"/>
                                          </p:val>
                                        </p:tav>
                                      </p:tavLst>
                                    </p:anim>
                                    <p:anim calcmode="lin" valueType="num">
                                      <p:cBhvr additive="base">
                                        <p:cTn id="51" dur="500" fill="hold"/>
                                        <p:tgtEl>
                                          <p:spTgt spid="34"/>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 calcmode="lin" valueType="num">
                                      <p:cBhvr additive="base">
                                        <p:cTn id="54" dur="500" fill="hold"/>
                                        <p:tgtEl>
                                          <p:spTgt spid="46"/>
                                        </p:tgtEl>
                                        <p:attrNameLst>
                                          <p:attrName>ppt_x</p:attrName>
                                        </p:attrNameLst>
                                      </p:cBhvr>
                                      <p:tavLst>
                                        <p:tav tm="0">
                                          <p:val>
                                            <p:strVal val="0-#ppt_w/2"/>
                                          </p:val>
                                        </p:tav>
                                        <p:tav tm="100000">
                                          <p:val>
                                            <p:strVal val="#ppt_x"/>
                                          </p:val>
                                        </p:tav>
                                      </p:tavLst>
                                    </p:anim>
                                    <p:anim calcmode="lin" valueType="num">
                                      <p:cBhvr additive="base">
                                        <p:cTn id="55" dur="500" fill="hold"/>
                                        <p:tgtEl>
                                          <p:spTgt spid="46"/>
                                        </p:tgtEl>
                                        <p:attrNameLst>
                                          <p:attrName>ppt_y</p:attrName>
                                        </p:attrNameLst>
                                      </p:cBhvr>
                                      <p:tavLst>
                                        <p:tav tm="0">
                                          <p:val>
                                            <p:strVal val="#ppt_y"/>
                                          </p:val>
                                        </p:tav>
                                        <p:tav tm="100000">
                                          <p:val>
                                            <p:strVal val="#ppt_y"/>
                                          </p:val>
                                        </p:tav>
                                      </p:tavLst>
                                    </p:anim>
                                  </p:childTnLst>
                                </p:cTn>
                              </p:par>
                              <p:par>
                                <p:cTn id="56" presetID="2" presetClass="entr" presetSubtype="8" fill="hold" nodeType="withEffect">
                                  <p:stCondLst>
                                    <p:cond delay="0"/>
                                  </p:stCondLst>
                                  <p:childTnLst>
                                    <p:set>
                                      <p:cBhvr>
                                        <p:cTn id="57" dur="1" fill="hold">
                                          <p:stCondLst>
                                            <p:cond delay="0"/>
                                          </p:stCondLst>
                                        </p:cTn>
                                        <p:tgtEl>
                                          <p:spTgt spid="49"/>
                                        </p:tgtEl>
                                        <p:attrNameLst>
                                          <p:attrName>style.visibility</p:attrName>
                                        </p:attrNameLst>
                                      </p:cBhvr>
                                      <p:to>
                                        <p:strVal val="visible"/>
                                      </p:to>
                                    </p:set>
                                    <p:anim calcmode="lin" valueType="num">
                                      <p:cBhvr additive="base">
                                        <p:cTn id="58" dur="500" fill="hold"/>
                                        <p:tgtEl>
                                          <p:spTgt spid="49"/>
                                        </p:tgtEl>
                                        <p:attrNameLst>
                                          <p:attrName>ppt_x</p:attrName>
                                        </p:attrNameLst>
                                      </p:cBhvr>
                                      <p:tavLst>
                                        <p:tav tm="0">
                                          <p:val>
                                            <p:strVal val="0-#ppt_w/2"/>
                                          </p:val>
                                        </p:tav>
                                        <p:tav tm="100000">
                                          <p:val>
                                            <p:strVal val="#ppt_x"/>
                                          </p:val>
                                        </p:tav>
                                      </p:tavLst>
                                    </p:anim>
                                    <p:anim calcmode="lin" valueType="num">
                                      <p:cBhvr additive="base">
                                        <p:cTn id="59" dur="500" fill="hold"/>
                                        <p:tgtEl>
                                          <p:spTgt spid="49"/>
                                        </p:tgtEl>
                                        <p:attrNameLst>
                                          <p:attrName>ppt_y</p:attrName>
                                        </p:attrNameLst>
                                      </p:cBhvr>
                                      <p:tavLst>
                                        <p:tav tm="0">
                                          <p:val>
                                            <p:strVal val="#ppt_y"/>
                                          </p:val>
                                        </p:tav>
                                        <p:tav tm="100000">
                                          <p:val>
                                            <p:strVal val="#ppt_y"/>
                                          </p:val>
                                        </p:tav>
                                      </p:tavLst>
                                    </p:anim>
                                  </p:childTnLst>
                                </p:cTn>
                              </p:par>
                            </p:childTnLst>
                          </p:cTn>
                        </p:par>
                        <p:par>
                          <p:cTn id="60" fill="hold">
                            <p:stCondLst>
                              <p:cond delay="2000"/>
                            </p:stCondLst>
                            <p:childTnLst>
                              <p:par>
                                <p:cTn id="61" presetID="2" presetClass="entr" presetSubtype="1" fill="hold" nodeType="afterEffect">
                                  <p:stCondLst>
                                    <p:cond delay="0"/>
                                  </p:stCondLst>
                                  <p:childTnLst>
                                    <p:set>
                                      <p:cBhvr>
                                        <p:cTn id="62" dur="1" fill="hold">
                                          <p:stCondLst>
                                            <p:cond delay="0"/>
                                          </p:stCondLst>
                                        </p:cTn>
                                        <p:tgtEl>
                                          <p:spTgt spid="31"/>
                                        </p:tgtEl>
                                        <p:attrNameLst>
                                          <p:attrName>style.visibility</p:attrName>
                                        </p:attrNameLst>
                                      </p:cBhvr>
                                      <p:to>
                                        <p:strVal val="visible"/>
                                      </p:to>
                                    </p:set>
                                    <p:anim calcmode="lin" valueType="num">
                                      <p:cBhvr additive="base">
                                        <p:cTn id="63" dur="500" fill="hold"/>
                                        <p:tgtEl>
                                          <p:spTgt spid="31"/>
                                        </p:tgtEl>
                                        <p:attrNameLst>
                                          <p:attrName>ppt_x</p:attrName>
                                        </p:attrNameLst>
                                      </p:cBhvr>
                                      <p:tavLst>
                                        <p:tav tm="0">
                                          <p:val>
                                            <p:strVal val="#ppt_x"/>
                                          </p:val>
                                        </p:tav>
                                        <p:tav tm="100000">
                                          <p:val>
                                            <p:strVal val="#ppt_x"/>
                                          </p:val>
                                        </p:tav>
                                      </p:tavLst>
                                    </p:anim>
                                    <p:anim calcmode="lin" valueType="num">
                                      <p:cBhvr additive="base">
                                        <p:cTn id="64" dur="500" fill="hold"/>
                                        <p:tgtEl>
                                          <p:spTgt spid="31"/>
                                        </p:tgtEl>
                                        <p:attrNameLst>
                                          <p:attrName>ppt_y</p:attrName>
                                        </p:attrNameLst>
                                      </p:cBhvr>
                                      <p:tavLst>
                                        <p:tav tm="0">
                                          <p:val>
                                            <p:strVal val="0-#ppt_h/2"/>
                                          </p:val>
                                        </p:tav>
                                        <p:tav tm="100000">
                                          <p:val>
                                            <p:strVal val="#ppt_y"/>
                                          </p:val>
                                        </p:tav>
                                      </p:tavLst>
                                    </p:anim>
                                  </p:childTnLst>
                                </p:cTn>
                              </p:par>
                              <p:par>
                                <p:cTn id="65" presetID="2" presetClass="entr" presetSubtype="1" fill="hold" nodeType="withEffect">
                                  <p:stCondLst>
                                    <p:cond delay="0"/>
                                  </p:stCondLst>
                                  <p:childTnLst>
                                    <p:set>
                                      <p:cBhvr>
                                        <p:cTn id="66" dur="1" fill="hold">
                                          <p:stCondLst>
                                            <p:cond delay="0"/>
                                          </p:stCondLst>
                                        </p:cTn>
                                        <p:tgtEl>
                                          <p:spTgt spid="52"/>
                                        </p:tgtEl>
                                        <p:attrNameLst>
                                          <p:attrName>style.visibility</p:attrName>
                                        </p:attrNameLst>
                                      </p:cBhvr>
                                      <p:to>
                                        <p:strVal val="visible"/>
                                      </p:to>
                                    </p:set>
                                    <p:anim calcmode="lin" valueType="num">
                                      <p:cBhvr additive="base">
                                        <p:cTn id="67" dur="500" fill="hold"/>
                                        <p:tgtEl>
                                          <p:spTgt spid="52"/>
                                        </p:tgtEl>
                                        <p:attrNameLst>
                                          <p:attrName>ppt_x</p:attrName>
                                        </p:attrNameLst>
                                      </p:cBhvr>
                                      <p:tavLst>
                                        <p:tav tm="0">
                                          <p:val>
                                            <p:strVal val="#ppt_x"/>
                                          </p:val>
                                        </p:tav>
                                        <p:tav tm="100000">
                                          <p:val>
                                            <p:strVal val="#ppt_x"/>
                                          </p:val>
                                        </p:tav>
                                      </p:tavLst>
                                    </p:anim>
                                    <p:anim calcmode="lin" valueType="num">
                                      <p:cBhvr additive="base">
                                        <p:cTn id="68" dur="500" fill="hold"/>
                                        <p:tgtEl>
                                          <p:spTgt spid="52"/>
                                        </p:tgtEl>
                                        <p:attrNameLst>
                                          <p:attrName>ppt_y</p:attrName>
                                        </p:attrNameLst>
                                      </p:cBhvr>
                                      <p:tavLst>
                                        <p:tav tm="0">
                                          <p:val>
                                            <p:strVal val="0-#ppt_h/2"/>
                                          </p:val>
                                        </p:tav>
                                        <p:tav tm="100000">
                                          <p:val>
                                            <p:strVal val="#ppt_y"/>
                                          </p:val>
                                        </p:tav>
                                      </p:tavLst>
                                    </p:anim>
                                  </p:childTnLst>
                                </p:cTn>
                              </p:par>
                            </p:childTnLst>
                          </p:cTn>
                        </p:par>
                        <p:par>
                          <p:cTn id="69" fill="hold">
                            <p:stCondLst>
                              <p:cond delay="2500"/>
                            </p:stCondLst>
                            <p:childTnLst>
                              <p:par>
                                <p:cTn id="70" presetID="2" presetClass="entr" presetSubtype="2" fill="hold" nodeType="afterEffect">
                                  <p:stCondLst>
                                    <p:cond delay="0"/>
                                  </p:stCondLst>
                                  <p:childTnLst>
                                    <p:set>
                                      <p:cBhvr>
                                        <p:cTn id="71" dur="1" fill="hold">
                                          <p:stCondLst>
                                            <p:cond delay="0"/>
                                          </p:stCondLst>
                                        </p:cTn>
                                        <p:tgtEl>
                                          <p:spTgt spid="36"/>
                                        </p:tgtEl>
                                        <p:attrNameLst>
                                          <p:attrName>style.visibility</p:attrName>
                                        </p:attrNameLst>
                                      </p:cBhvr>
                                      <p:to>
                                        <p:strVal val="visible"/>
                                      </p:to>
                                    </p:set>
                                    <p:anim calcmode="lin" valueType="num">
                                      <p:cBhvr additive="base">
                                        <p:cTn id="72" dur="500" fill="hold"/>
                                        <p:tgtEl>
                                          <p:spTgt spid="36"/>
                                        </p:tgtEl>
                                        <p:attrNameLst>
                                          <p:attrName>ppt_x</p:attrName>
                                        </p:attrNameLst>
                                      </p:cBhvr>
                                      <p:tavLst>
                                        <p:tav tm="0">
                                          <p:val>
                                            <p:strVal val="1+#ppt_w/2"/>
                                          </p:val>
                                        </p:tav>
                                        <p:tav tm="100000">
                                          <p:val>
                                            <p:strVal val="#ppt_x"/>
                                          </p:val>
                                        </p:tav>
                                      </p:tavLst>
                                    </p:anim>
                                    <p:anim calcmode="lin" valueType="num">
                                      <p:cBhvr additive="base">
                                        <p:cTn id="73" dur="500" fill="hold"/>
                                        <p:tgtEl>
                                          <p:spTgt spid="36"/>
                                        </p:tgtEl>
                                        <p:attrNameLst>
                                          <p:attrName>ppt_y</p:attrName>
                                        </p:attrNameLst>
                                      </p:cBhvr>
                                      <p:tavLst>
                                        <p:tav tm="0">
                                          <p:val>
                                            <p:strVal val="#ppt_y"/>
                                          </p:val>
                                        </p:tav>
                                        <p:tav tm="100000">
                                          <p:val>
                                            <p:strVal val="#ppt_y"/>
                                          </p:val>
                                        </p:tav>
                                      </p:tavLst>
                                    </p:anim>
                                  </p:childTnLst>
                                </p:cTn>
                              </p:par>
                              <p:par>
                                <p:cTn id="74" presetID="2" presetClass="entr" presetSubtype="2" fill="hold" nodeType="withEffect">
                                  <p:stCondLst>
                                    <p:cond delay="0"/>
                                  </p:stCondLst>
                                  <p:childTnLst>
                                    <p:set>
                                      <p:cBhvr>
                                        <p:cTn id="75" dur="1" fill="hold">
                                          <p:stCondLst>
                                            <p:cond delay="0"/>
                                          </p:stCondLst>
                                        </p:cTn>
                                        <p:tgtEl>
                                          <p:spTgt spid="53"/>
                                        </p:tgtEl>
                                        <p:attrNameLst>
                                          <p:attrName>style.visibility</p:attrName>
                                        </p:attrNameLst>
                                      </p:cBhvr>
                                      <p:to>
                                        <p:strVal val="visible"/>
                                      </p:to>
                                    </p:set>
                                    <p:anim calcmode="lin" valueType="num">
                                      <p:cBhvr additive="base">
                                        <p:cTn id="76" dur="500" fill="hold"/>
                                        <p:tgtEl>
                                          <p:spTgt spid="53"/>
                                        </p:tgtEl>
                                        <p:attrNameLst>
                                          <p:attrName>ppt_x</p:attrName>
                                        </p:attrNameLst>
                                      </p:cBhvr>
                                      <p:tavLst>
                                        <p:tav tm="0">
                                          <p:val>
                                            <p:strVal val="1+#ppt_w/2"/>
                                          </p:val>
                                        </p:tav>
                                        <p:tav tm="100000">
                                          <p:val>
                                            <p:strVal val="#ppt_x"/>
                                          </p:val>
                                        </p:tav>
                                      </p:tavLst>
                                    </p:anim>
                                    <p:anim calcmode="lin" valueType="num">
                                      <p:cBhvr additive="base">
                                        <p:cTn id="77" dur="500" fill="hold"/>
                                        <p:tgtEl>
                                          <p:spTgt spid="53"/>
                                        </p:tgtEl>
                                        <p:attrNameLst>
                                          <p:attrName>ppt_y</p:attrName>
                                        </p:attrNameLst>
                                      </p:cBhvr>
                                      <p:tavLst>
                                        <p:tav tm="0">
                                          <p:val>
                                            <p:strVal val="#ppt_y"/>
                                          </p:val>
                                        </p:tav>
                                        <p:tav tm="100000">
                                          <p:val>
                                            <p:strVal val="#ppt_y"/>
                                          </p:val>
                                        </p:tav>
                                      </p:tavLst>
                                    </p:anim>
                                  </p:childTnLst>
                                </p:cTn>
                              </p:par>
                            </p:childTnLst>
                          </p:cTn>
                        </p:par>
                        <p:par>
                          <p:cTn id="78" fill="hold">
                            <p:stCondLst>
                              <p:cond delay="3000"/>
                            </p:stCondLst>
                            <p:childTnLst>
                              <p:par>
                                <p:cTn id="79" presetID="2" presetClass="entr" presetSubtype="2" fill="hold" nodeType="afterEffect">
                                  <p:stCondLst>
                                    <p:cond delay="0"/>
                                  </p:stCondLst>
                                  <p:childTnLst>
                                    <p:set>
                                      <p:cBhvr>
                                        <p:cTn id="80" dur="1" fill="hold">
                                          <p:stCondLst>
                                            <p:cond delay="0"/>
                                          </p:stCondLst>
                                        </p:cTn>
                                        <p:tgtEl>
                                          <p:spTgt spid="32"/>
                                        </p:tgtEl>
                                        <p:attrNameLst>
                                          <p:attrName>style.visibility</p:attrName>
                                        </p:attrNameLst>
                                      </p:cBhvr>
                                      <p:to>
                                        <p:strVal val="visible"/>
                                      </p:to>
                                    </p:set>
                                    <p:anim calcmode="lin" valueType="num">
                                      <p:cBhvr additive="base">
                                        <p:cTn id="81" dur="500" fill="hold"/>
                                        <p:tgtEl>
                                          <p:spTgt spid="32"/>
                                        </p:tgtEl>
                                        <p:attrNameLst>
                                          <p:attrName>ppt_x</p:attrName>
                                        </p:attrNameLst>
                                      </p:cBhvr>
                                      <p:tavLst>
                                        <p:tav tm="0">
                                          <p:val>
                                            <p:strVal val="1+#ppt_w/2"/>
                                          </p:val>
                                        </p:tav>
                                        <p:tav tm="100000">
                                          <p:val>
                                            <p:strVal val="#ppt_x"/>
                                          </p:val>
                                        </p:tav>
                                      </p:tavLst>
                                    </p:anim>
                                    <p:anim calcmode="lin" valueType="num">
                                      <p:cBhvr additive="base">
                                        <p:cTn id="82" dur="500" fill="hold"/>
                                        <p:tgtEl>
                                          <p:spTgt spid="32"/>
                                        </p:tgtEl>
                                        <p:attrNameLst>
                                          <p:attrName>ppt_y</p:attrName>
                                        </p:attrNameLst>
                                      </p:cBhvr>
                                      <p:tavLst>
                                        <p:tav tm="0">
                                          <p:val>
                                            <p:strVal val="#ppt_y"/>
                                          </p:val>
                                        </p:tav>
                                        <p:tav tm="100000">
                                          <p:val>
                                            <p:strVal val="#ppt_y"/>
                                          </p:val>
                                        </p:tav>
                                      </p:tavLst>
                                    </p:anim>
                                  </p:childTnLst>
                                </p:cTn>
                              </p:par>
                              <p:par>
                                <p:cTn id="83" presetID="2" presetClass="entr" presetSubtype="2" fill="hold" nodeType="withEffect">
                                  <p:stCondLst>
                                    <p:cond delay="0"/>
                                  </p:stCondLst>
                                  <p:childTnLst>
                                    <p:set>
                                      <p:cBhvr>
                                        <p:cTn id="84" dur="1" fill="hold">
                                          <p:stCondLst>
                                            <p:cond delay="0"/>
                                          </p:stCondLst>
                                        </p:cTn>
                                        <p:tgtEl>
                                          <p:spTgt spid="54"/>
                                        </p:tgtEl>
                                        <p:attrNameLst>
                                          <p:attrName>style.visibility</p:attrName>
                                        </p:attrNameLst>
                                      </p:cBhvr>
                                      <p:to>
                                        <p:strVal val="visible"/>
                                      </p:to>
                                    </p:set>
                                    <p:anim calcmode="lin" valueType="num">
                                      <p:cBhvr additive="base">
                                        <p:cTn id="85" dur="500" fill="hold"/>
                                        <p:tgtEl>
                                          <p:spTgt spid="54"/>
                                        </p:tgtEl>
                                        <p:attrNameLst>
                                          <p:attrName>ppt_x</p:attrName>
                                        </p:attrNameLst>
                                      </p:cBhvr>
                                      <p:tavLst>
                                        <p:tav tm="0">
                                          <p:val>
                                            <p:strVal val="1+#ppt_w/2"/>
                                          </p:val>
                                        </p:tav>
                                        <p:tav tm="100000">
                                          <p:val>
                                            <p:strVal val="#ppt_x"/>
                                          </p:val>
                                        </p:tav>
                                      </p:tavLst>
                                    </p:anim>
                                    <p:anim calcmode="lin" valueType="num">
                                      <p:cBhvr additive="base">
                                        <p:cTn id="86" dur="500" fill="hold"/>
                                        <p:tgtEl>
                                          <p:spTgt spid="54"/>
                                        </p:tgtEl>
                                        <p:attrNameLst>
                                          <p:attrName>ppt_y</p:attrName>
                                        </p:attrNameLst>
                                      </p:cBhvr>
                                      <p:tavLst>
                                        <p:tav tm="0">
                                          <p:val>
                                            <p:strVal val="#ppt_y"/>
                                          </p:val>
                                        </p:tav>
                                        <p:tav tm="100000">
                                          <p:val>
                                            <p:strVal val="#ppt_y"/>
                                          </p:val>
                                        </p:tav>
                                      </p:tavLst>
                                    </p:anim>
                                  </p:childTnLst>
                                </p:cTn>
                              </p:par>
                            </p:childTnLst>
                          </p:cTn>
                        </p:par>
                        <p:par>
                          <p:cTn id="87" fill="hold">
                            <p:stCondLst>
                              <p:cond delay="3500"/>
                            </p:stCondLst>
                            <p:childTnLst>
                              <p:par>
                                <p:cTn id="88" presetID="2" presetClass="entr" presetSubtype="2" fill="hold" nodeType="afterEffect">
                                  <p:stCondLst>
                                    <p:cond delay="0"/>
                                  </p:stCondLst>
                                  <p:childTnLst>
                                    <p:set>
                                      <p:cBhvr>
                                        <p:cTn id="89" dur="1" fill="hold">
                                          <p:stCondLst>
                                            <p:cond delay="0"/>
                                          </p:stCondLst>
                                        </p:cTn>
                                        <p:tgtEl>
                                          <p:spTgt spid="35"/>
                                        </p:tgtEl>
                                        <p:attrNameLst>
                                          <p:attrName>style.visibility</p:attrName>
                                        </p:attrNameLst>
                                      </p:cBhvr>
                                      <p:to>
                                        <p:strVal val="visible"/>
                                      </p:to>
                                    </p:set>
                                    <p:anim calcmode="lin" valueType="num">
                                      <p:cBhvr additive="base">
                                        <p:cTn id="90" dur="500" fill="hold"/>
                                        <p:tgtEl>
                                          <p:spTgt spid="35"/>
                                        </p:tgtEl>
                                        <p:attrNameLst>
                                          <p:attrName>ppt_x</p:attrName>
                                        </p:attrNameLst>
                                      </p:cBhvr>
                                      <p:tavLst>
                                        <p:tav tm="0">
                                          <p:val>
                                            <p:strVal val="1+#ppt_w/2"/>
                                          </p:val>
                                        </p:tav>
                                        <p:tav tm="100000">
                                          <p:val>
                                            <p:strVal val="#ppt_x"/>
                                          </p:val>
                                        </p:tav>
                                      </p:tavLst>
                                    </p:anim>
                                    <p:anim calcmode="lin" valueType="num">
                                      <p:cBhvr additive="base">
                                        <p:cTn id="91" dur="500" fill="hold"/>
                                        <p:tgtEl>
                                          <p:spTgt spid="35"/>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0"/>
                                  </p:stCondLst>
                                  <p:childTnLst>
                                    <p:set>
                                      <p:cBhvr>
                                        <p:cTn id="93" dur="1" fill="hold">
                                          <p:stCondLst>
                                            <p:cond delay="0"/>
                                          </p:stCondLst>
                                        </p:cTn>
                                        <p:tgtEl>
                                          <p:spTgt spid="55"/>
                                        </p:tgtEl>
                                        <p:attrNameLst>
                                          <p:attrName>style.visibility</p:attrName>
                                        </p:attrNameLst>
                                      </p:cBhvr>
                                      <p:to>
                                        <p:strVal val="visible"/>
                                      </p:to>
                                    </p:set>
                                    <p:anim calcmode="lin" valueType="num">
                                      <p:cBhvr additive="base">
                                        <p:cTn id="94" dur="500" fill="hold"/>
                                        <p:tgtEl>
                                          <p:spTgt spid="55"/>
                                        </p:tgtEl>
                                        <p:attrNameLst>
                                          <p:attrName>ppt_x</p:attrName>
                                        </p:attrNameLst>
                                      </p:cBhvr>
                                      <p:tavLst>
                                        <p:tav tm="0">
                                          <p:val>
                                            <p:strVal val="1+#ppt_w/2"/>
                                          </p:val>
                                        </p:tav>
                                        <p:tav tm="100000">
                                          <p:val>
                                            <p:strVal val="#ppt_x"/>
                                          </p:val>
                                        </p:tav>
                                      </p:tavLst>
                                    </p:anim>
                                    <p:anim calcmode="lin" valueType="num">
                                      <p:cBhvr additive="base">
                                        <p:cTn id="95" dur="500" fill="hold"/>
                                        <p:tgtEl>
                                          <p:spTgt spid="55"/>
                                        </p:tgtEl>
                                        <p:attrNameLst>
                                          <p:attrName>ppt_y</p:attrName>
                                        </p:attrNameLst>
                                      </p:cBhvr>
                                      <p:tavLst>
                                        <p:tav tm="0">
                                          <p:val>
                                            <p:strVal val="#ppt_y"/>
                                          </p:val>
                                        </p:tav>
                                        <p:tav tm="100000">
                                          <p:val>
                                            <p:strVal val="#ppt_y"/>
                                          </p:val>
                                        </p:tav>
                                      </p:tavLst>
                                    </p:anim>
                                  </p:childTnLst>
                                </p:cTn>
                              </p:par>
                              <p:par>
                                <p:cTn id="96" presetID="2" presetClass="entr" presetSubtype="8" fill="hold" grpId="0" nodeType="withEffect">
                                  <p:stCondLst>
                                    <p:cond delay="0"/>
                                  </p:stCondLst>
                                  <p:childTnLst>
                                    <p:set>
                                      <p:cBhvr>
                                        <p:cTn id="97" dur="1" fill="hold">
                                          <p:stCondLst>
                                            <p:cond delay="0"/>
                                          </p:stCondLst>
                                        </p:cTn>
                                        <p:tgtEl>
                                          <p:spTgt spid="3"/>
                                        </p:tgtEl>
                                        <p:attrNameLst>
                                          <p:attrName>style.visibility</p:attrName>
                                        </p:attrNameLst>
                                      </p:cBhvr>
                                      <p:to>
                                        <p:strVal val="visible"/>
                                      </p:to>
                                    </p:set>
                                    <p:anim calcmode="lin" valueType="num">
                                      <p:cBhvr additive="base">
                                        <p:cTn id="98" dur="500" fill="hold"/>
                                        <p:tgtEl>
                                          <p:spTgt spid="3"/>
                                        </p:tgtEl>
                                        <p:attrNameLst>
                                          <p:attrName>ppt_x</p:attrName>
                                        </p:attrNameLst>
                                      </p:cBhvr>
                                      <p:tavLst>
                                        <p:tav tm="0">
                                          <p:val>
                                            <p:strVal val="0-#ppt_w/2"/>
                                          </p:val>
                                        </p:tav>
                                        <p:tav tm="100000">
                                          <p:val>
                                            <p:strVal val="#ppt_x"/>
                                          </p:val>
                                        </p:tav>
                                      </p:tavLst>
                                    </p:anim>
                                    <p:anim calcmode="lin" valueType="num">
                                      <p:cBhvr additive="base">
                                        <p:cTn id="99" dur="500" fill="hold"/>
                                        <p:tgtEl>
                                          <p:spTgt spid="3"/>
                                        </p:tgtEl>
                                        <p:attrNameLst>
                                          <p:attrName>ppt_y</p:attrName>
                                        </p:attrNameLst>
                                      </p:cBhvr>
                                      <p:tavLst>
                                        <p:tav tm="0">
                                          <p:val>
                                            <p:strVal val="#ppt_y"/>
                                          </p:val>
                                        </p:tav>
                                        <p:tav tm="100000">
                                          <p:val>
                                            <p:strVal val="#ppt_y"/>
                                          </p:val>
                                        </p:tav>
                                      </p:tavLst>
                                    </p:anim>
                                  </p:childTnLst>
                                </p:cTn>
                              </p:par>
                              <p:par>
                                <p:cTn id="100" presetID="2" presetClass="entr" presetSubtype="8" fill="hold" grpId="0" nodeType="withEffect">
                                  <p:stCondLst>
                                    <p:cond delay="0"/>
                                  </p:stCondLst>
                                  <p:childTnLst>
                                    <p:set>
                                      <p:cBhvr>
                                        <p:cTn id="101" dur="1" fill="hold">
                                          <p:stCondLst>
                                            <p:cond delay="0"/>
                                          </p:stCondLst>
                                        </p:cTn>
                                        <p:tgtEl>
                                          <p:spTgt spid="4"/>
                                        </p:tgtEl>
                                        <p:attrNameLst>
                                          <p:attrName>style.visibility</p:attrName>
                                        </p:attrNameLst>
                                      </p:cBhvr>
                                      <p:to>
                                        <p:strVal val="visible"/>
                                      </p:to>
                                    </p:set>
                                    <p:anim calcmode="lin" valueType="num">
                                      <p:cBhvr additive="base">
                                        <p:cTn id="102" dur="500" fill="hold"/>
                                        <p:tgtEl>
                                          <p:spTgt spid="4"/>
                                        </p:tgtEl>
                                        <p:attrNameLst>
                                          <p:attrName>ppt_x</p:attrName>
                                        </p:attrNameLst>
                                      </p:cBhvr>
                                      <p:tavLst>
                                        <p:tav tm="0">
                                          <p:val>
                                            <p:strVal val="0-#ppt_w/2"/>
                                          </p:val>
                                        </p:tav>
                                        <p:tav tm="100000">
                                          <p:val>
                                            <p:strVal val="#ppt_x"/>
                                          </p:val>
                                        </p:tav>
                                      </p:tavLst>
                                    </p:anim>
                                    <p:anim calcmode="lin" valueType="num">
                                      <p:cBhvr additive="base">
                                        <p:cTn id="103" dur="500" fill="hold"/>
                                        <p:tgtEl>
                                          <p:spTgt spid="4"/>
                                        </p:tgtEl>
                                        <p:attrNameLst>
                                          <p:attrName>ppt_y</p:attrName>
                                        </p:attrNameLst>
                                      </p:cBhvr>
                                      <p:tavLst>
                                        <p:tav tm="0">
                                          <p:val>
                                            <p:strVal val="#ppt_y"/>
                                          </p:val>
                                        </p:tav>
                                        <p:tav tm="100000">
                                          <p:val>
                                            <p:strVal val="#ppt_y"/>
                                          </p:val>
                                        </p:tav>
                                      </p:tavLst>
                                    </p:anim>
                                  </p:childTnLst>
                                </p:cTn>
                              </p:par>
                              <p:par>
                                <p:cTn id="104" presetID="2" presetClass="entr" presetSubtype="8" fill="hold" grpId="0" nodeType="withEffect">
                                  <p:stCondLst>
                                    <p:cond delay="0"/>
                                  </p:stCondLst>
                                  <p:childTnLst>
                                    <p:set>
                                      <p:cBhvr>
                                        <p:cTn id="105" dur="1" fill="hold">
                                          <p:stCondLst>
                                            <p:cond delay="0"/>
                                          </p:stCondLst>
                                        </p:cTn>
                                        <p:tgtEl>
                                          <p:spTgt spid="6"/>
                                        </p:tgtEl>
                                        <p:attrNameLst>
                                          <p:attrName>style.visibility</p:attrName>
                                        </p:attrNameLst>
                                      </p:cBhvr>
                                      <p:to>
                                        <p:strVal val="visible"/>
                                      </p:to>
                                    </p:set>
                                    <p:anim calcmode="lin" valueType="num">
                                      <p:cBhvr additive="base">
                                        <p:cTn id="106" dur="500" fill="hold"/>
                                        <p:tgtEl>
                                          <p:spTgt spid="6"/>
                                        </p:tgtEl>
                                        <p:attrNameLst>
                                          <p:attrName>ppt_x</p:attrName>
                                        </p:attrNameLst>
                                      </p:cBhvr>
                                      <p:tavLst>
                                        <p:tav tm="0">
                                          <p:val>
                                            <p:strVal val="0-#ppt_w/2"/>
                                          </p:val>
                                        </p:tav>
                                        <p:tav tm="100000">
                                          <p:val>
                                            <p:strVal val="#ppt_x"/>
                                          </p:val>
                                        </p:tav>
                                      </p:tavLst>
                                    </p:anim>
                                    <p:anim calcmode="lin" valueType="num">
                                      <p:cBhvr additive="base">
                                        <p:cTn id="107" dur="500" fill="hold"/>
                                        <p:tgtEl>
                                          <p:spTgt spid="6"/>
                                        </p:tgtEl>
                                        <p:attrNameLst>
                                          <p:attrName>ppt_y</p:attrName>
                                        </p:attrNameLst>
                                      </p:cBhvr>
                                      <p:tavLst>
                                        <p:tav tm="0">
                                          <p:val>
                                            <p:strVal val="#ppt_y"/>
                                          </p:val>
                                        </p:tav>
                                        <p:tav tm="100000">
                                          <p:val>
                                            <p:strVal val="#ppt_y"/>
                                          </p:val>
                                        </p:tav>
                                      </p:tavLst>
                                    </p:anim>
                                  </p:childTnLst>
                                </p:cTn>
                              </p:par>
                              <p:par>
                                <p:cTn id="108" presetID="2" presetClass="entr" presetSubtype="8" fill="hold" grpId="0" nodeType="withEffect">
                                  <p:stCondLst>
                                    <p:cond delay="0"/>
                                  </p:stCondLst>
                                  <p:childTnLst>
                                    <p:set>
                                      <p:cBhvr>
                                        <p:cTn id="109" dur="1" fill="hold">
                                          <p:stCondLst>
                                            <p:cond delay="0"/>
                                          </p:stCondLst>
                                        </p:cTn>
                                        <p:tgtEl>
                                          <p:spTgt spid="7"/>
                                        </p:tgtEl>
                                        <p:attrNameLst>
                                          <p:attrName>style.visibility</p:attrName>
                                        </p:attrNameLst>
                                      </p:cBhvr>
                                      <p:to>
                                        <p:strVal val="visible"/>
                                      </p:to>
                                    </p:set>
                                    <p:anim calcmode="lin" valueType="num">
                                      <p:cBhvr additive="base">
                                        <p:cTn id="110" dur="500" fill="hold"/>
                                        <p:tgtEl>
                                          <p:spTgt spid="7"/>
                                        </p:tgtEl>
                                        <p:attrNameLst>
                                          <p:attrName>ppt_x</p:attrName>
                                        </p:attrNameLst>
                                      </p:cBhvr>
                                      <p:tavLst>
                                        <p:tav tm="0">
                                          <p:val>
                                            <p:strVal val="0-#ppt_w/2"/>
                                          </p:val>
                                        </p:tav>
                                        <p:tav tm="100000">
                                          <p:val>
                                            <p:strVal val="#ppt_x"/>
                                          </p:val>
                                        </p:tav>
                                      </p:tavLst>
                                    </p:anim>
                                    <p:anim calcmode="lin" valueType="num">
                                      <p:cBhvr additive="base">
                                        <p:cTn id="111" dur="500" fill="hold"/>
                                        <p:tgtEl>
                                          <p:spTgt spid="7"/>
                                        </p:tgtEl>
                                        <p:attrNameLst>
                                          <p:attrName>ppt_y</p:attrName>
                                        </p:attrNameLst>
                                      </p:cBhvr>
                                      <p:tavLst>
                                        <p:tav tm="0">
                                          <p:val>
                                            <p:strVal val="#ppt_y"/>
                                          </p:val>
                                        </p:tav>
                                        <p:tav tm="100000">
                                          <p:val>
                                            <p:strVal val="#ppt_y"/>
                                          </p:val>
                                        </p:tav>
                                      </p:tavLst>
                                    </p:anim>
                                  </p:childTnLst>
                                </p:cTn>
                              </p:par>
                              <p:par>
                                <p:cTn id="112" presetID="2" presetClass="entr" presetSubtype="8" fill="hold" grpId="0" nodeType="withEffect">
                                  <p:stCondLst>
                                    <p:cond delay="0"/>
                                  </p:stCondLst>
                                  <p:childTnLst>
                                    <p:set>
                                      <p:cBhvr>
                                        <p:cTn id="113" dur="1" fill="hold">
                                          <p:stCondLst>
                                            <p:cond delay="0"/>
                                          </p:stCondLst>
                                        </p:cTn>
                                        <p:tgtEl>
                                          <p:spTgt spid="8"/>
                                        </p:tgtEl>
                                        <p:attrNameLst>
                                          <p:attrName>style.visibility</p:attrName>
                                        </p:attrNameLst>
                                      </p:cBhvr>
                                      <p:to>
                                        <p:strVal val="visible"/>
                                      </p:to>
                                    </p:set>
                                    <p:anim calcmode="lin" valueType="num">
                                      <p:cBhvr additive="base">
                                        <p:cTn id="114" dur="500" fill="hold"/>
                                        <p:tgtEl>
                                          <p:spTgt spid="8"/>
                                        </p:tgtEl>
                                        <p:attrNameLst>
                                          <p:attrName>ppt_x</p:attrName>
                                        </p:attrNameLst>
                                      </p:cBhvr>
                                      <p:tavLst>
                                        <p:tav tm="0">
                                          <p:val>
                                            <p:strVal val="0-#ppt_w/2"/>
                                          </p:val>
                                        </p:tav>
                                        <p:tav tm="100000">
                                          <p:val>
                                            <p:strVal val="#ppt_x"/>
                                          </p:val>
                                        </p:tav>
                                      </p:tavLst>
                                    </p:anim>
                                    <p:anim calcmode="lin" valueType="num">
                                      <p:cBhvr additive="base">
                                        <p:cTn id="115"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 grpId="0"/>
      <p:bldP spid="4" grpId="0"/>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EA3E8F-480D-1DE8-5EB4-8DEA90CD44E2}"/>
              </a:ext>
            </a:extLst>
          </p:cNvPr>
          <p:cNvSpPr/>
          <p:nvPr/>
        </p:nvSpPr>
        <p:spPr>
          <a:xfrm>
            <a:off x="0" y="5033011"/>
            <a:ext cx="12192000" cy="17297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61" name="Freeform 178">
            <a:extLst>
              <a:ext uri="{FF2B5EF4-FFF2-40B4-BE49-F238E27FC236}">
                <a16:creationId xmlns:a16="http://schemas.microsoft.com/office/drawing/2014/main" id="{9D6623CC-1178-6022-3A40-AFA9DD69A511}"/>
              </a:ext>
            </a:extLst>
          </p:cNvPr>
          <p:cNvSpPr>
            <a:spLocks noEditPoints="1"/>
          </p:cNvSpPr>
          <p:nvPr/>
        </p:nvSpPr>
        <p:spPr bwMode="auto">
          <a:xfrm>
            <a:off x="6071236" y="1697356"/>
            <a:ext cx="154304" cy="209550"/>
          </a:xfrm>
          <a:custGeom>
            <a:avLst/>
            <a:gdLst>
              <a:gd name="T0" fmla="*/ 58 w 177"/>
              <a:gd name="T1" fmla="*/ 74 h 242"/>
              <a:gd name="T2" fmla="*/ 32 w 177"/>
              <a:gd name="T3" fmla="*/ 74 h 242"/>
              <a:gd name="T4" fmla="*/ 160 w 177"/>
              <a:gd name="T5" fmla="*/ 0 h 242"/>
              <a:gd name="T6" fmla="*/ 0 w 177"/>
              <a:gd name="T7" fmla="*/ 17 h 242"/>
              <a:gd name="T8" fmla="*/ 17 w 177"/>
              <a:gd name="T9" fmla="*/ 209 h 242"/>
              <a:gd name="T10" fmla="*/ 19 w 177"/>
              <a:gd name="T11" fmla="*/ 224 h 242"/>
              <a:gd name="T12" fmla="*/ 55 w 177"/>
              <a:gd name="T13" fmla="*/ 224 h 242"/>
              <a:gd name="T14" fmla="*/ 122 w 177"/>
              <a:gd name="T15" fmla="*/ 209 h 242"/>
              <a:gd name="T16" fmla="*/ 140 w 177"/>
              <a:gd name="T17" fmla="*/ 242 h 242"/>
              <a:gd name="T18" fmla="*/ 158 w 177"/>
              <a:gd name="T19" fmla="*/ 209 h 242"/>
              <a:gd name="T20" fmla="*/ 177 w 177"/>
              <a:gd name="T21" fmla="*/ 192 h 242"/>
              <a:gd name="T22" fmla="*/ 160 w 177"/>
              <a:gd name="T23" fmla="*/ 0 h 242"/>
              <a:gd name="T24" fmla="*/ 123 w 177"/>
              <a:gd name="T25" fmla="*/ 6 h 242"/>
              <a:gd name="T26" fmla="*/ 123 w 177"/>
              <a:gd name="T27" fmla="*/ 23 h 242"/>
              <a:gd name="T28" fmla="*/ 45 w 177"/>
              <a:gd name="T29" fmla="*/ 15 h 242"/>
              <a:gd name="T30" fmla="*/ 28 w 177"/>
              <a:gd name="T31" fmla="*/ 176 h 242"/>
              <a:gd name="T32" fmla="*/ 28 w 177"/>
              <a:gd name="T33" fmla="*/ 140 h 242"/>
              <a:gd name="T34" fmla="*/ 28 w 177"/>
              <a:gd name="T35" fmla="*/ 176 h 242"/>
              <a:gd name="T36" fmla="*/ 28 w 177"/>
              <a:gd name="T37" fmla="*/ 109 h 242"/>
              <a:gd name="T38" fmla="*/ 30 w 177"/>
              <a:gd name="T39" fmla="*/ 109 h 242"/>
              <a:gd name="T40" fmla="*/ 30 w 177"/>
              <a:gd name="T41" fmla="*/ 119 h 242"/>
              <a:gd name="T42" fmla="*/ 62 w 177"/>
              <a:gd name="T43" fmla="*/ 119 h 242"/>
              <a:gd name="T44" fmla="*/ 60 w 177"/>
              <a:gd name="T45" fmla="*/ 111 h 242"/>
              <a:gd name="T46" fmla="*/ 62 w 177"/>
              <a:gd name="T47" fmla="*/ 109 h 242"/>
              <a:gd name="T48" fmla="*/ 84 w 177"/>
              <a:gd name="T49" fmla="*/ 119 h 242"/>
              <a:gd name="T50" fmla="*/ 74 w 177"/>
              <a:gd name="T51" fmla="*/ 100 h 242"/>
              <a:gd name="T52" fmla="*/ 62 w 177"/>
              <a:gd name="T53" fmla="*/ 89 h 242"/>
              <a:gd name="T54" fmla="*/ 17 w 177"/>
              <a:gd name="T55" fmla="*/ 100 h 242"/>
              <a:gd name="T56" fmla="*/ 17 w 177"/>
              <a:gd name="T57" fmla="*/ 119 h 242"/>
              <a:gd name="T58" fmla="*/ 7 w 177"/>
              <a:gd name="T59" fmla="*/ 38 h 242"/>
              <a:gd name="T60" fmla="*/ 84 w 177"/>
              <a:gd name="T61" fmla="*/ 28 h 242"/>
              <a:gd name="T62" fmla="*/ 149 w 177"/>
              <a:gd name="T63" fmla="*/ 176 h 242"/>
              <a:gd name="T64" fmla="*/ 149 w 177"/>
              <a:gd name="T65" fmla="*/ 140 h 242"/>
              <a:gd name="T66" fmla="*/ 149 w 177"/>
              <a:gd name="T67" fmla="*/ 176 h 242"/>
              <a:gd name="T68" fmla="*/ 160 w 177"/>
              <a:gd name="T69" fmla="*/ 119 h 242"/>
              <a:gd name="T70" fmla="*/ 93 w 177"/>
              <a:gd name="T71" fmla="*/ 28 h 242"/>
              <a:gd name="T72" fmla="*/ 170 w 177"/>
              <a:gd name="T73" fmla="*/ 38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7" h="242">
                <a:moveTo>
                  <a:pt x="45" y="87"/>
                </a:moveTo>
                <a:cubicBezTo>
                  <a:pt x="52" y="87"/>
                  <a:pt x="58" y="81"/>
                  <a:pt x="58" y="74"/>
                </a:cubicBezTo>
                <a:cubicBezTo>
                  <a:pt x="58" y="67"/>
                  <a:pt x="52" y="61"/>
                  <a:pt x="45" y="61"/>
                </a:cubicBezTo>
                <a:cubicBezTo>
                  <a:pt x="38" y="61"/>
                  <a:pt x="32" y="67"/>
                  <a:pt x="32" y="74"/>
                </a:cubicBezTo>
                <a:cubicBezTo>
                  <a:pt x="32" y="81"/>
                  <a:pt x="38" y="87"/>
                  <a:pt x="45" y="87"/>
                </a:cubicBezTo>
                <a:close/>
                <a:moveTo>
                  <a:pt x="160" y="0"/>
                </a:moveTo>
                <a:cubicBezTo>
                  <a:pt x="17" y="0"/>
                  <a:pt x="17" y="0"/>
                  <a:pt x="17" y="0"/>
                </a:cubicBezTo>
                <a:cubicBezTo>
                  <a:pt x="7" y="0"/>
                  <a:pt x="0" y="7"/>
                  <a:pt x="0" y="17"/>
                </a:cubicBezTo>
                <a:cubicBezTo>
                  <a:pt x="0" y="192"/>
                  <a:pt x="0" y="192"/>
                  <a:pt x="0" y="192"/>
                </a:cubicBezTo>
                <a:cubicBezTo>
                  <a:pt x="0" y="201"/>
                  <a:pt x="7" y="209"/>
                  <a:pt x="17" y="209"/>
                </a:cubicBezTo>
                <a:cubicBezTo>
                  <a:pt x="19" y="209"/>
                  <a:pt x="19" y="209"/>
                  <a:pt x="19" y="209"/>
                </a:cubicBezTo>
                <a:cubicBezTo>
                  <a:pt x="19" y="224"/>
                  <a:pt x="19" y="224"/>
                  <a:pt x="19" y="224"/>
                </a:cubicBezTo>
                <a:cubicBezTo>
                  <a:pt x="19" y="234"/>
                  <a:pt x="27" y="242"/>
                  <a:pt x="37" y="242"/>
                </a:cubicBezTo>
                <a:cubicBezTo>
                  <a:pt x="47" y="242"/>
                  <a:pt x="55" y="234"/>
                  <a:pt x="55" y="224"/>
                </a:cubicBezTo>
                <a:cubicBezTo>
                  <a:pt x="55" y="209"/>
                  <a:pt x="55" y="209"/>
                  <a:pt x="55" y="209"/>
                </a:cubicBezTo>
                <a:cubicBezTo>
                  <a:pt x="122" y="209"/>
                  <a:pt x="122" y="209"/>
                  <a:pt x="122" y="209"/>
                </a:cubicBezTo>
                <a:cubicBezTo>
                  <a:pt x="122" y="224"/>
                  <a:pt x="122" y="224"/>
                  <a:pt x="122" y="224"/>
                </a:cubicBezTo>
                <a:cubicBezTo>
                  <a:pt x="122" y="234"/>
                  <a:pt x="130" y="242"/>
                  <a:pt x="140" y="242"/>
                </a:cubicBezTo>
                <a:cubicBezTo>
                  <a:pt x="150" y="242"/>
                  <a:pt x="158" y="234"/>
                  <a:pt x="158" y="224"/>
                </a:cubicBezTo>
                <a:cubicBezTo>
                  <a:pt x="158" y="209"/>
                  <a:pt x="158" y="209"/>
                  <a:pt x="158" y="209"/>
                </a:cubicBezTo>
                <a:cubicBezTo>
                  <a:pt x="160" y="209"/>
                  <a:pt x="160" y="209"/>
                  <a:pt x="160" y="209"/>
                </a:cubicBezTo>
                <a:cubicBezTo>
                  <a:pt x="170" y="209"/>
                  <a:pt x="177" y="201"/>
                  <a:pt x="177" y="192"/>
                </a:cubicBezTo>
                <a:cubicBezTo>
                  <a:pt x="177" y="17"/>
                  <a:pt x="177" y="17"/>
                  <a:pt x="177" y="17"/>
                </a:cubicBezTo>
                <a:cubicBezTo>
                  <a:pt x="177" y="7"/>
                  <a:pt x="170" y="0"/>
                  <a:pt x="160" y="0"/>
                </a:cubicBezTo>
                <a:close/>
                <a:moveTo>
                  <a:pt x="54" y="6"/>
                </a:moveTo>
                <a:cubicBezTo>
                  <a:pt x="123" y="6"/>
                  <a:pt x="123" y="6"/>
                  <a:pt x="123" y="6"/>
                </a:cubicBezTo>
                <a:cubicBezTo>
                  <a:pt x="128" y="6"/>
                  <a:pt x="132" y="10"/>
                  <a:pt x="132" y="15"/>
                </a:cubicBezTo>
                <a:cubicBezTo>
                  <a:pt x="132" y="19"/>
                  <a:pt x="128" y="23"/>
                  <a:pt x="123" y="23"/>
                </a:cubicBezTo>
                <a:cubicBezTo>
                  <a:pt x="54" y="23"/>
                  <a:pt x="54" y="23"/>
                  <a:pt x="54" y="23"/>
                </a:cubicBezTo>
                <a:cubicBezTo>
                  <a:pt x="49" y="23"/>
                  <a:pt x="45" y="19"/>
                  <a:pt x="45" y="15"/>
                </a:cubicBezTo>
                <a:cubicBezTo>
                  <a:pt x="45" y="10"/>
                  <a:pt x="49" y="6"/>
                  <a:pt x="54" y="6"/>
                </a:cubicBezTo>
                <a:close/>
                <a:moveTo>
                  <a:pt x="28" y="176"/>
                </a:moveTo>
                <a:cubicBezTo>
                  <a:pt x="18" y="176"/>
                  <a:pt x="10" y="168"/>
                  <a:pt x="10" y="158"/>
                </a:cubicBezTo>
                <a:cubicBezTo>
                  <a:pt x="10" y="148"/>
                  <a:pt x="18" y="140"/>
                  <a:pt x="28" y="140"/>
                </a:cubicBezTo>
                <a:cubicBezTo>
                  <a:pt x="38" y="140"/>
                  <a:pt x="46" y="148"/>
                  <a:pt x="46" y="158"/>
                </a:cubicBezTo>
                <a:cubicBezTo>
                  <a:pt x="46" y="168"/>
                  <a:pt x="38" y="176"/>
                  <a:pt x="28" y="176"/>
                </a:cubicBezTo>
                <a:close/>
                <a:moveTo>
                  <a:pt x="28" y="119"/>
                </a:moveTo>
                <a:cubicBezTo>
                  <a:pt x="28" y="109"/>
                  <a:pt x="28" y="109"/>
                  <a:pt x="28" y="109"/>
                </a:cubicBezTo>
                <a:cubicBezTo>
                  <a:pt x="29" y="109"/>
                  <a:pt x="29" y="109"/>
                  <a:pt x="29" y="109"/>
                </a:cubicBezTo>
                <a:cubicBezTo>
                  <a:pt x="30" y="109"/>
                  <a:pt x="30" y="109"/>
                  <a:pt x="30" y="109"/>
                </a:cubicBezTo>
                <a:cubicBezTo>
                  <a:pt x="30" y="110"/>
                  <a:pt x="30" y="110"/>
                  <a:pt x="30" y="111"/>
                </a:cubicBezTo>
                <a:cubicBezTo>
                  <a:pt x="30" y="119"/>
                  <a:pt x="30" y="119"/>
                  <a:pt x="30" y="119"/>
                </a:cubicBezTo>
                <a:lnTo>
                  <a:pt x="28" y="119"/>
                </a:lnTo>
                <a:close/>
                <a:moveTo>
                  <a:pt x="62" y="119"/>
                </a:moveTo>
                <a:cubicBezTo>
                  <a:pt x="60" y="119"/>
                  <a:pt x="60" y="119"/>
                  <a:pt x="60" y="119"/>
                </a:cubicBezTo>
                <a:cubicBezTo>
                  <a:pt x="60" y="111"/>
                  <a:pt x="60" y="111"/>
                  <a:pt x="60" y="111"/>
                </a:cubicBezTo>
                <a:cubicBezTo>
                  <a:pt x="60" y="110"/>
                  <a:pt x="60" y="110"/>
                  <a:pt x="60" y="109"/>
                </a:cubicBezTo>
                <a:cubicBezTo>
                  <a:pt x="62" y="109"/>
                  <a:pt x="62" y="109"/>
                  <a:pt x="62" y="109"/>
                </a:cubicBezTo>
                <a:lnTo>
                  <a:pt x="62" y="119"/>
                </a:lnTo>
                <a:close/>
                <a:moveTo>
                  <a:pt x="84" y="119"/>
                </a:moveTo>
                <a:cubicBezTo>
                  <a:pt x="74" y="119"/>
                  <a:pt x="74" y="119"/>
                  <a:pt x="74" y="119"/>
                </a:cubicBezTo>
                <a:cubicBezTo>
                  <a:pt x="74" y="100"/>
                  <a:pt x="74" y="100"/>
                  <a:pt x="74" y="100"/>
                </a:cubicBezTo>
                <a:cubicBezTo>
                  <a:pt x="74" y="100"/>
                  <a:pt x="74" y="100"/>
                  <a:pt x="74" y="100"/>
                </a:cubicBezTo>
                <a:cubicBezTo>
                  <a:pt x="73" y="94"/>
                  <a:pt x="68" y="89"/>
                  <a:pt x="62" y="89"/>
                </a:cubicBezTo>
                <a:cubicBezTo>
                  <a:pt x="28" y="89"/>
                  <a:pt x="28" y="89"/>
                  <a:pt x="28" y="89"/>
                </a:cubicBezTo>
                <a:cubicBezTo>
                  <a:pt x="22" y="89"/>
                  <a:pt x="17" y="94"/>
                  <a:pt x="17" y="100"/>
                </a:cubicBezTo>
                <a:cubicBezTo>
                  <a:pt x="17" y="100"/>
                  <a:pt x="17" y="100"/>
                  <a:pt x="17" y="100"/>
                </a:cubicBezTo>
                <a:cubicBezTo>
                  <a:pt x="17" y="119"/>
                  <a:pt x="17" y="119"/>
                  <a:pt x="17" y="119"/>
                </a:cubicBezTo>
                <a:cubicBezTo>
                  <a:pt x="11" y="119"/>
                  <a:pt x="7" y="114"/>
                  <a:pt x="7" y="109"/>
                </a:cubicBezTo>
                <a:cubicBezTo>
                  <a:pt x="7" y="38"/>
                  <a:pt x="7" y="38"/>
                  <a:pt x="7" y="38"/>
                </a:cubicBezTo>
                <a:cubicBezTo>
                  <a:pt x="7" y="33"/>
                  <a:pt x="11" y="28"/>
                  <a:pt x="17" y="28"/>
                </a:cubicBezTo>
                <a:cubicBezTo>
                  <a:pt x="84" y="28"/>
                  <a:pt x="84" y="28"/>
                  <a:pt x="84" y="28"/>
                </a:cubicBezTo>
                <a:lnTo>
                  <a:pt x="84" y="119"/>
                </a:lnTo>
                <a:close/>
                <a:moveTo>
                  <a:pt x="149" y="176"/>
                </a:moveTo>
                <a:cubicBezTo>
                  <a:pt x="139" y="176"/>
                  <a:pt x="130" y="168"/>
                  <a:pt x="130" y="158"/>
                </a:cubicBezTo>
                <a:cubicBezTo>
                  <a:pt x="130" y="148"/>
                  <a:pt x="139" y="140"/>
                  <a:pt x="149" y="140"/>
                </a:cubicBezTo>
                <a:cubicBezTo>
                  <a:pt x="159" y="140"/>
                  <a:pt x="167" y="148"/>
                  <a:pt x="167" y="158"/>
                </a:cubicBezTo>
                <a:cubicBezTo>
                  <a:pt x="167" y="168"/>
                  <a:pt x="159" y="176"/>
                  <a:pt x="149" y="176"/>
                </a:cubicBezTo>
                <a:close/>
                <a:moveTo>
                  <a:pt x="170" y="109"/>
                </a:moveTo>
                <a:cubicBezTo>
                  <a:pt x="170" y="114"/>
                  <a:pt x="166" y="119"/>
                  <a:pt x="160" y="119"/>
                </a:cubicBezTo>
                <a:cubicBezTo>
                  <a:pt x="93" y="119"/>
                  <a:pt x="93" y="119"/>
                  <a:pt x="93" y="119"/>
                </a:cubicBezTo>
                <a:cubicBezTo>
                  <a:pt x="93" y="28"/>
                  <a:pt x="93" y="28"/>
                  <a:pt x="93" y="28"/>
                </a:cubicBezTo>
                <a:cubicBezTo>
                  <a:pt x="160" y="28"/>
                  <a:pt x="160" y="28"/>
                  <a:pt x="160" y="28"/>
                </a:cubicBezTo>
                <a:cubicBezTo>
                  <a:pt x="166" y="28"/>
                  <a:pt x="170" y="33"/>
                  <a:pt x="170" y="38"/>
                </a:cubicBezTo>
                <a:lnTo>
                  <a:pt x="170" y="109"/>
                </a:lnTo>
                <a:close/>
              </a:path>
            </a:pathLst>
          </a:custGeom>
          <a:solidFill>
            <a:schemeClr val="accent6"/>
          </a:solidFill>
          <a:ln>
            <a:noFill/>
          </a:ln>
        </p:spPr>
        <p:txBody>
          <a:bodyPr/>
          <a:lstStyle/>
          <a:p>
            <a:pPr defTabSz="855878">
              <a:defRPr/>
            </a:pPr>
            <a:endParaRPr lang="bg-BG" sz="1685"/>
          </a:p>
        </p:txBody>
      </p:sp>
      <p:sp>
        <p:nvSpPr>
          <p:cNvPr id="62" name="Freeform 180">
            <a:extLst>
              <a:ext uri="{FF2B5EF4-FFF2-40B4-BE49-F238E27FC236}">
                <a16:creationId xmlns:a16="http://schemas.microsoft.com/office/drawing/2014/main" id="{5278E754-2AAA-BBFA-61A3-42BAE7E59D17}"/>
              </a:ext>
            </a:extLst>
          </p:cNvPr>
          <p:cNvSpPr>
            <a:spLocks noEditPoints="1"/>
          </p:cNvSpPr>
          <p:nvPr/>
        </p:nvSpPr>
        <p:spPr bwMode="auto">
          <a:xfrm>
            <a:off x="6055996" y="3691890"/>
            <a:ext cx="232410" cy="182880"/>
          </a:xfrm>
          <a:custGeom>
            <a:avLst/>
            <a:gdLst>
              <a:gd name="T0" fmla="*/ 168 w 263"/>
              <a:gd name="T1" fmla="*/ 36 h 205"/>
              <a:gd name="T2" fmla="*/ 186 w 263"/>
              <a:gd name="T3" fmla="*/ 18 h 205"/>
              <a:gd name="T4" fmla="*/ 168 w 263"/>
              <a:gd name="T5" fmla="*/ 0 h 205"/>
              <a:gd name="T6" fmla="*/ 151 w 263"/>
              <a:gd name="T7" fmla="*/ 18 h 205"/>
              <a:gd name="T8" fmla="*/ 168 w 263"/>
              <a:gd name="T9" fmla="*/ 36 h 205"/>
              <a:gd name="T10" fmla="*/ 147 w 263"/>
              <a:gd name="T11" fmla="*/ 115 h 205"/>
              <a:gd name="T12" fmla="*/ 122 w 263"/>
              <a:gd name="T13" fmla="*/ 95 h 205"/>
              <a:gd name="T14" fmla="*/ 150 w 263"/>
              <a:gd name="T15" fmla="*/ 64 h 205"/>
              <a:gd name="T16" fmla="*/ 169 w 263"/>
              <a:gd name="T17" fmla="*/ 89 h 205"/>
              <a:gd name="T18" fmla="*/ 181 w 263"/>
              <a:gd name="T19" fmla="*/ 92 h 205"/>
              <a:gd name="T20" fmla="*/ 216 w 263"/>
              <a:gd name="T21" fmla="*/ 80 h 205"/>
              <a:gd name="T22" fmla="*/ 222 w 263"/>
              <a:gd name="T23" fmla="*/ 67 h 205"/>
              <a:gd name="T24" fmla="*/ 210 w 263"/>
              <a:gd name="T25" fmla="*/ 61 h 205"/>
              <a:gd name="T26" fmla="*/ 181 w 263"/>
              <a:gd name="T27" fmla="*/ 71 h 205"/>
              <a:gd name="T28" fmla="*/ 156 w 263"/>
              <a:gd name="T29" fmla="*/ 40 h 205"/>
              <a:gd name="T30" fmla="*/ 152 w 263"/>
              <a:gd name="T31" fmla="*/ 35 h 205"/>
              <a:gd name="T32" fmla="*/ 152 w 263"/>
              <a:gd name="T33" fmla="*/ 34 h 205"/>
              <a:gd name="T34" fmla="*/ 151 w 263"/>
              <a:gd name="T35" fmla="*/ 34 h 205"/>
              <a:gd name="T36" fmla="*/ 128 w 263"/>
              <a:gd name="T37" fmla="*/ 36 h 205"/>
              <a:gd name="T38" fmla="*/ 90 w 263"/>
              <a:gd name="T39" fmla="*/ 79 h 205"/>
              <a:gd name="T40" fmla="*/ 91 w 263"/>
              <a:gd name="T41" fmla="*/ 103 h 205"/>
              <a:gd name="T42" fmla="*/ 126 w 263"/>
              <a:gd name="T43" fmla="*/ 127 h 205"/>
              <a:gd name="T44" fmla="*/ 110 w 263"/>
              <a:gd name="T45" fmla="*/ 175 h 205"/>
              <a:gd name="T46" fmla="*/ 110 w 263"/>
              <a:gd name="T47" fmla="*/ 175 h 205"/>
              <a:gd name="T48" fmla="*/ 114 w 263"/>
              <a:gd name="T49" fmla="*/ 186 h 205"/>
              <a:gd name="T50" fmla="*/ 126 w 263"/>
              <a:gd name="T51" fmla="*/ 197 h 205"/>
              <a:gd name="T52" fmla="*/ 142 w 263"/>
              <a:gd name="T53" fmla="*/ 196 h 205"/>
              <a:gd name="T54" fmla="*/ 141 w 263"/>
              <a:gd name="T55" fmla="*/ 179 h 205"/>
              <a:gd name="T56" fmla="*/ 135 w 263"/>
              <a:gd name="T57" fmla="*/ 174 h 205"/>
              <a:gd name="T58" fmla="*/ 150 w 263"/>
              <a:gd name="T59" fmla="*/ 127 h 205"/>
              <a:gd name="T60" fmla="*/ 151 w 263"/>
              <a:gd name="T61" fmla="*/ 127 h 205"/>
              <a:gd name="T62" fmla="*/ 151 w 263"/>
              <a:gd name="T63" fmla="*/ 127 h 205"/>
              <a:gd name="T64" fmla="*/ 147 w 263"/>
              <a:gd name="T65" fmla="*/ 115 h 205"/>
              <a:gd name="T66" fmla="*/ 52 w 263"/>
              <a:gd name="T67" fmla="*/ 100 h 205"/>
              <a:gd name="T68" fmla="*/ 0 w 263"/>
              <a:gd name="T69" fmla="*/ 153 h 205"/>
              <a:gd name="T70" fmla="*/ 52 w 263"/>
              <a:gd name="T71" fmla="*/ 205 h 205"/>
              <a:gd name="T72" fmla="*/ 105 w 263"/>
              <a:gd name="T73" fmla="*/ 153 h 205"/>
              <a:gd name="T74" fmla="*/ 52 w 263"/>
              <a:gd name="T75" fmla="*/ 100 h 205"/>
              <a:gd name="T76" fmla="*/ 52 w 263"/>
              <a:gd name="T77" fmla="*/ 193 h 205"/>
              <a:gd name="T78" fmla="*/ 12 w 263"/>
              <a:gd name="T79" fmla="*/ 153 h 205"/>
              <a:gd name="T80" fmla="*/ 52 w 263"/>
              <a:gd name="T81" fmla="*/ 113 h 205"/>
              <a:gd name="T82" fmla="*/ 92 w 263"/>
              <a:gd name="T83" fmla="*/ 153 h 205"/>
              <a:gd name="T84" fmla="*/ 52 w 263"/>
              <a:gd name="T85" fmla="*/ 193 h 205"/>
              <a:gd name="T86" fmla="*/ 211 w 263"/>
              <a:gd name="T87" fmla="*/ 100 h 205"/>
              <a:gd name="T88" fmla="*/ 158 w 263"/>
              <a:gd name="T89" fmla="*/ 153 h 205"/>
              <a:gd name="T90" fmla="*/ 211 w 263"/>
              <a:gd name="T91" fmla="*/ 205 h 205"/>
              <a:gd name="T92" fmla="*/ 263 w 263"/>
              <a:gd name="T93" fmla="*/ 153 h 205"/>
              <a:gd name="T94" fmla="*/ 211 w 263"/>
              <a:gd name="T95" fmla="*/ 100 h 205"/>
              <a:gd name="T96" fmla="*/ 211 w 263"/>
              <a:gd name="T97" fmla="*/ 193 h 205"/>
              <a:gd name="T98" fmla="*/ 171 w 263"/>
              <a:gd name="T99" fmla="*/ 153 h 205"/>
              <a:gd name="T100" fmla="*/ 211 w 263"/>
              <a:gd name="T101" fmla="*/ 113 h 205"/>
              <a:gd name="T102" fmla="*/ 250 w 263"/>
              <a:gd name="T103" fmla="*/ 153 h 205"/>
              <a:gd name="T104" fmla="*/ 211 w 263"/>
              <a:gd name="T105" fmla="*/ 193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3" h="205">
                <a:moveTo>
                  <a:pt x="168" y="36"/>
                </a:moveTo>
                <a:cubicBezTo>
                  <a:pt x="178" y="36"/>
                  <a:pt x="186" y="28"/>
                  <a:pt x="186" y="18"/>
                </a:cubicBezTo>
                <a:cubicBezTo>
                  <a:pt x="186" y="8"/>
                  <a:pt x="178" y="0"/>
                  <a:pt x="168" y="0"/>
                </a:cubicBezTo>
                <a:cubicBezTo>
                  <a:pt x="159" y="0"/>
                  <a:pt x="151" y="8"/>
                  <a:pt x="151" y="18"/>
                </a:cubicBezTo>
                <a:cubicBezTo>
                  <a:pt x="151" y="28"/>
                  <a:pt x="159" y="36"/>
                  <a:pt x="168" y="36"/>
                </a:cubicBezTo>
                <a:close/>
                <a:moveTo>
                  <a:pt x="147" y="115"/>
                </a:moveTo>
                <a:cubicBezTo>
                  <a:pt x="122" y="95"/>
                  <a:pt x="122" y="95"/>
                  <a:pt x="122" y="95"/>
                </a:cubicBezTo>
                <a:cubicBezTo>
                  <a:pt x="150" y="64"/>
                  <a:pt x="150" y="64"/>
                  <a:pt x="150" y="64"/>
                </a:cubicBezTo>
                <a:cubicBezTo>
                  <a:pt x="169" y="89"/>
                  <a:pt x="169" y="89"/>
                  <a:pt x="169" y="89"/>
                </a:cubicBezTo>
                <a:cubicBezTo>
                  <a:pt x="172" y="92"/>
                  <a:pt x="176" y="94"/>
                  <a:pt x="181" y="92"/>
                </a:cubicBezTo>
                <a:cubicBezTo>
                  <a:pt x="216" y="80"/>
                  <a:pt x="216" y="80"/>
                  <a:pt x="216" y="80"/>
                </a:cubicBezTo>
                <a:cubicBezTo>
                  <a:pt x="222" y="78"/>
                  <a:pt x="224" y="72"/>
                  <a:pt x="222" y="67"/>
                </a:cubicBezTo>
                <a:cubicBezTo>
                  <a:pt x="221" y="62"/>
                  <a:pt x="215" y="59"/>
                  <a:pt x="210" y="61"/>
                </a:cubicBezTo>
                <a:cubicBezTo>
                  <a:pt x="181" y="71"/>
                  <a:pt x="181" y="71"/>
                  <a:pt x="181" y="71"/>
                </a:cubicBezTo>
                <a:cubicBezTo>
                  <a:pt x="156" y="40"/>
                  <a:pt x="156" y="40"/>
                  <a:pt x="156" y="40"/>
                </a:cubicBezTo>
                <a:cubicBezTo>
                  <a:pt x="155" y="38"/>
                  <a:pt x="154" y="36"/>
                  <a:pt x="152" y="35"/>
                </a:cubicBezTo>
                <a:cubicBezTo>
                  <a:pt x="152" y="34"/>
                  <a:pt x="152" y="34"/>
                  <a:pt x="152" y="34"/>
                </a:cubicBezTo>
                <a:cubicBezTo>
                  <a:pt x="151" y="34"/>
                  <a:pt x="151" y="34"/>
                  <a:pt x="151" y="34"/>
                </a:cubicBezTo>
                <a:cubicBezTo>
                  <a:pt x="144" y="29"/>
                  <a:pt x="134" y="29"/>
                  <a:pt x="128" y="36"/>
                </a:cubicBezTo>
                <a:cubicBezTo>
                  <a:pt x="90" y="79"/>
                  <a:pt x="90" y="79"/>
                  <a:pt x="90" y="79"/>
                </a:cubicBezTo>
                <a:cubicBezTo>
                  <a:pt x="83" y="86"/>
                  <a:pt x="84" y="97"/>
                  <a:pt x="91" y="103"/>
                </a:cubicBezTo>
                <a:cubicBezTo>
                  <a:pt x="126" y="127"/>
                  <a:pt x="126" y="127"/>
                  <a:pt x="126" y="127"/>
                </a:cubicBezTo>
                <a:cubicBezTo>
                  <a:pt x="110" y="175"/>
                  <a:pt x="110" y="175"/>
                  <a:pt x="110" y="175"/>
                </a:cubicBezTo>
                <a:cubicBezTo>
                  <a:pt x="110" y="175"/>
                  <a:pt x="110" y="175"/>
                  <a:pt x="110" y="175"/>
                </a:cubicBezTo>
                <a:cubicBezTo>
                  <a:pt x="109" y="179"/>
                  <a:pt x="111" y="183"/>
                  <a:pt x="114" y="186"/>
                </a:cubicBezTo>
                <a:cubicBezTo>
                  <a:pt x="126" y="197"/>
                  <a:pt x="126" y="197"/>
                  <a:pt x="126" y="197"/>
                </a:cubicBezTo>
                <a:cubicBezTo>
                  <a:pt x="130" y="201"/>
                  <a:pt x="138" y="200"/>
                  <a:pt x="142" y="196"/>
                </a:cubicBezTo>
                <a:cubicBezTo>
                  <a:pt x="146" y="191"/>
                  <a:pt x="146" y="184"/>
                  <a:pt x="141" y="179"/>
                </a:cubicBezTo>
                <a:cubicBezTo>
                  <a:pt x="135" y="174"/>
                  <a:pt x="135" y="174"/>
                  <a:pt x="135" y="174"/>
                </a:cubicBezTo>
                <a:cubicBezTo>
                  <a:pt x="150" y="127"/>
                  <a:pt x="150" y="127"/>
                  <a:pt x="150" y="127"/>
                </a:cubicBezTo>
                <a:cubicBezTo>
                  <a:pt x="151" y="127"/>
                  <a:pt x="151" y="127"/>
                  <a:pt x="151" y="127"/>
                </a:cubicBezTo>
                <a:cubicBezTo>
                  <a:pt x="151" y="127"/>
                  <a:pt x="151" y="127"/>
                  <a:pt x="151" y="127"/>
                </a:cubicBezTo>
                <a:cubicBezTo>
                  <a:pt x="152" y="122"/>
                  <a:pt x="151" y="118"/>
                  <a:pt x="147" y="115"/>
                </a:cubicBezTo>
                <a:close/>
                <a:moveTo>
                  <a:pt x="52" y="100"/>
                </a:moveTo>
                <a:cubicBezTo>
                  <a:pt x="23" y="100"/>
                  <a:pt x="0" y="124"/>
                  <a:pt x="0" y="153"/>
                </a:cubicBezTo>
                <a:cubicBezTo>
                  <a:pt x="0" y="182"/>
                  <a:pt x="23" y="205"/>
                  <a:pt x="52" y="205"/>
                </a:cubicBezTo>
                <a:cubicBezTo>
                  <a:pt x="81" y="205"/>
                  <a:pt x="105" y="182"/>
                  <a:pt x="105" y="153"/>
                </a:cubicBezTo>
                <a:cubicBezTo>
                  <a:pt x="105" y="124"/>
                  <a:pt x="81" y="100"/>
                  <a:pt x="52" y="100"/>
                </a:cubicBezTo>
                <a:close/>
                <a:moveTo>
                  <a:pt x="52" y="193"/>
                </a:moveTo>
                <a:cubicBezTo>
                  <a:pt x="30" y="193"/>
                  <a:pt x="12" y="175"/>
                  <a:pt x="12" y="153"/>
                </a:cubicBezTo>
                <a:cubicBezTo>
                  <a:pt x="12" y="131"/>
                  <a:pt x="30" y="113"/>
                  <a:pt x="52" y="113"/>
                </a:cubicBezTo>
                <a:cubicBezTo>
                  <a:pt x="74" y="113"/>
                  <a:pt x="92" y="131"/>
                  <a:pt x="92" y="153"/>
                </a:cubicBezTo>
                <a:cubicBezTo>
                  <a:pt x="92" y="175"/>
                  <a:pt x="74" y="193"/>
                  <a:pt x="52" y="193"/>
                </a:cubicBezTo>
                <a:close/>
                <a:moveTo>
                  <a:pt x="211" y="100"/>
                </a:moveTo>
                <a:cubicBezTo>
                  <a:pt x="182" y="100"/>
                  <a:pt x="158" y="124"/>
                  <a:pt x="158" y="153"/>
                </a:cubicBezTo>
                <a:cubicBezTo>
                  <a:pt x="158" y="182"/>
                  <a:pt x="182" y="205"/>
                  <a:pt x="211" y="205"/>
                </a:cubicBezTo>
                <a:cubicBezTo>
                  <a:pt x="239" y="205"/>
                  <a:pt x="263" y="182"/>
                  <a:pt x="263" y="153"/>
                </a:cubicBezTo>
                <a:cubicBezTo>
                  <a:pt x="263" y="124"/>
                  <a:pt x="239" y="100"/>
                  <a:pt x="211" y="100"/>
                </a:cubicBezTo>
                <a:close/>
                <a:moveTo>
                  <a:pt x="211" y="193"/>
                </a:moveTo>
                <a:cubicBezTo>
                  <a:pt x="189" y="193"/>
                  <a:pt x="171" y="175"/>
                  <a:pt x="171" y="153"/>
                </a:cubicBezTo>
                <a:cubicBezTo>
                  <a:pt x="171" y="131"/>
                  <a:pt x="189" y="113"/>
                  <a:pt x="211" y="113"/>
                </a:cubicBezTo>
                <a:cubicBezTo>
                  <a:pt x="233" y="113"/>
                  <a:pt x="250" y="131"/>
                  <a:pt x="250" y="153"/>
                </a:cubicBezTo>
                <a:cubicBezTo>
                  <a:pt x="250" y="175"/>
                  <a:pt x="233" y="193"/>
                  <a:pt x="211" y="193"/>
                </a:cubicBezTo>
                <a:close/>
              </a:path>
            </a:pathLst>
          </a:custGeom>
          <a:solidFill>
            <a:schemeClr val="accent6"/>
          </a:solidFill>
          <a:ln>
            <a:noFill/>
          </a:ln>
        </p:spPr>
        <p:txBody>
          <a:bodyPr/>
          <a:lstStyle/>
          <a:p>
            <a:pPr defTabSz="855878">
              <a:defRPr/>
            </a:pPr>
            <a:endParaRPr lang="bg-BG" sz="1685"/>
          </a:p>
        </p:txBody>
      </p:sp>
      <p:grpSp>
        <p:nvGrpSpPr>
          <p:cNvPr id="63" name="Group 62">
            <a:extLst>
              <a:ext uri="{FF2B5EF4-FFF2-40B4-BE49-F238E27FC236}">
                <a16:creationId xmlns:a16="http://schemas.microsoft.com/office/drawing/2014/main" id="{9E4A3323-3710-5A6E-8782-BD88236717C3}"/>
              </a:ext>
            </a:extLst>
          </p:cNvPr>
          <p:cNvGrpSpPr/>
          <p:nvPr/>
        </p:nvGrpSpPr>
        <p:grpSpPr>
          <a:xfrm>
            <a:off x="6028048" y="2707972"/>
            <a:ext cx="253699" cy="160385"/>
            <a:chOff x="5795081" y="565150"/>
            <a:chExt cx="1243013" cy="785813"/>
          </a:xfrm>
          <a:solidFill>
            <a:schemeClr val="accent6"/>
          </a:solidFill>
        </p:grpSpPr>
        <p:sp>
          <p:nvSpPr>
            <p:cNvPr id="64" name="Freeform 185">
              <a:extLst>
                <a:ext uri="{FF2B5EF4-FFF2-40B4-BE49-F238E27FC236}">
                  <a16:creationId xmlns:a16="http://schemas.microsoft.com/office/drawing/2014/main" id="{79BB38E4-535A-0687-A3D1-D06F44EA4EBF}"/>
                </a:ext>
              </a:extLst>
            </p:cNvPr>
            <p:cNvSpPr>
              <a:spLocks noEditPoints="1"/>
            </p:cNvSpPr>
            <p:nvPr/>
          </p:nvSpPr>
          <p:spPr bwMode="auto">
            <a:xfrm>
              <a:off x="5795081" y="565150"/>
              <a:ext cx="1243013" cy="722313"/>
            </a:xfrm>
            <a:custGeom>
              <a:avLst/>
              <a:gdLst>
                <a:gd name="T0" fmla="*/ 331 w 331"/>
                <a:gd name="T1" fmla="*/ 170 h 192"/>
                <a:gd name="T2" fmla="*/ 322 w 331"/>
                <a:gd name="T3" fmla="*/ 159 h 192"/>
                <a:gd name="T4" fmla="*/ 321 w 331"/>
                <a:gd name="T5" fmla="*/ 159 h 192"/>
                <a:gd name="T6" fmla="*/ 275 w 331"/>
                <a:gd name="T7" fmla="*/ 96 h 192"/>
                <a:gd name="T8" fmla="*/ 65 w 331"/>
                <a:gd name="T9" fmla="*/ 99 h 192"/>
                <a:gd name="T10" fmla="*/ 1 w 331"/>
                <a:gd name="T11" fmla="*/ 192 h 192"/>
                <a:gd name="T12" fmla="*/ 44 w 331"/>
                <a:gd name="T13" fmla="*/ 192 h 192"/>
                <a:gd name="T14" fmla="*/ 40 w 331"/>
                <a:gd name="T15" fmla="*/ 175 h 192"/>
                <a:gd name="T16" fmla="*/ 82 w 331"/>
                <a:gd name="T17" fmla="*/ 134 h 192"/>
                <a:gd name="T18" fmla="*/ 124 w 331"/>
                <a:gd name="T19" fmla="*/ 175 h 192"/>
                <a:gd name="T20" fmla="*/ 120 w 331"/>
                <a:gd name="T21" fmla="*/ 192 h 192"/>
                <a:gd name="T22" fmla="*/ 224 w 331"/>
                <a:gd name="T23" fmla="*/ 192 h 192"/>
                <a:gd name="T24" fmla="*/ 220 w 331"/>
                <a:gd name="T25" fmla="*/ 175 h 192"/>
                <a:gd name="T26" fmla="*/ 262 w 331"/>
                <a:gd name="T27" fmla="*/ 134 h 192"/>
                <a:gd name="T28" fmla="*/ 304 w 331"/>
                <a:gd name="T29" fmla="*/ 171 h 192"/>
                <a:gd name="T30" fmla="*/ 304 w 331"/>
                <a:gd name="T31" fmla="*/ 175 h 192"/>
                <a:gd name="T32" fmla="*/ 304 w 331"/>
                <a:gd name="T33" fmla="*/ 175 h 192"/>
                <a:gd name="T34" fmla="*/ 300 w 331"/>
                <a:gd name="T35" fmla="*/ 192 h 192"/>
                <a:gd name="T36" fmla="*/ 322 w 331"/>
                <a:gd name="T37" fmla="*/ 192 h 192"/>
                <a:gd name="T38" fmla="*/ 323 w 331"/>
                <a:gd name="T39" fmla="*/ 188 h 192"/>
                <a:gd name="T40" fmla="*/ 331 w 331"/>
                <a:gd name="T41" fmla="*/ 170 h 192"/>
                <a:gd name="T42" fmla="*/ 164 w 331"/>
                <a:gd name="T43" fmla="*/ 106 h 192"/>
                <a:gd name="T44" fmla="*/ 89 w 331"/>
                <a:gd name="T45" fmla="*/ 106 h 192"/>
                <a:gd name="T46" fmla="*/ 89 w 331"/>
                <a:gd name="T47" fmla="*/ 106 h 192"/>
                <a:gd name="T48" fmla="*/ 164 w 331"/>
                <a:gd name="T49" fmla="*/ 49 h 192"/>
                <a:gd name="T50" fmla="*/ 164 w 331"/>
                <a:gd name="T51" fmla="*/ 106 h 192"/>
                <a:gd name="T52" fmla="*/ 183 w 331"/>
                <a:gd name="T53" fmla="*/ 106 h 192"/>
                <a:gd name="T54" fmla="*/ 183 w 331"/>
                <a:gd name="T55" fmla="*/ 50 h 192"/>
                <a:gd name="T56" fmla="*/ 253 w 331"/>
                <a:gd name="T57" fmla="*/ 106 h 192"/>
                <a:gd name="T58" fmla="*/ 183 w 331"/>
                <a:gd name="T5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31" h="192">
                  <a:moveTo>
                    <a:pt x="331" y="170"/>
                  </a:moveTo>
                  <a:cubicBezTo>
                    <a:pt x="331" y="159"/>
                    <a:pt x="322" y="159"/>
                    <a:pt x="322" y="159"/>
                  </a:cubicBezTo>
                  <a:cubicBezTo>
                    <a:pt x="322" y="159"/>
                    <a:pt x="321" y="159"/>
                    <a:pt x="321" y="159"/>
                  </a:cubicBezTo>
                  <a:cubicBezTo>
                    <a:pt x="316" y="132"/>
                    <a:pt x="303" y="106"/>
                    <a:pt x="275" y="96"/>
                  </a:cubicBezTo>
                  <a:cubicBezTo>
                    <a:pt x="235" y="0"/>
                    <a:pt x="106" y="6"/>
                    <a:pt x="65" y="99"/>
                  </a:cubicBezTo>
                  <a:cubicBezTo>
                    <a:pt x="13" y="99"/>
                    <a:pt x="0" y="151"/>
                    <a:pt x="1" y="192"/>
                  </a:cubicBezTo>
                  <a:cubicBezTo>
                    <a:pt x="44" y="192"/>
                    <a:pt x="44" y="192"/>
                    <a:pt x="44" y="192"/>
                  </a:cubicBezTo>
                  <a:cubicBezTo>
                    <a:pt x="41" y="187"/>
                    <a:pt x="40" y="181"/>
                    <a:pt x="40" y="175"/>
                  </a:cubicBezTo>
                  <a:cubicBezTo>
                    <a:pt x="40" y="152"/>
                    <a:pt x="58" y="134"/>
                    <a:pt x="82" y="134"/>
                  </a:cubicBezTo>
                  <a:cubicBezTo>
                    <a:pt x="105" y="134"/>
                    <a:pt x="124" y="152"/>
                    <a:pt x="124" y="175"/>
                  </a:cubicBezTo>
                  <a:cubicBezTo>
                    <a:pt x="124" y="181"/>
                    <a:pt x="122" y="187"/>
                    <a:pt x="120" y="192"/>
                  </a:cubicBezTo>
                  <a:cubicBezTo>
                    <a:pt x="224" y="192"/>
                    <a:pt x="224" y="192"/>
                    <a:pt x="224" y="192"/>
                  </a:cubicBezTo>
                  <a:cubicBezTo>
                    <a:pt x="221" y="187"/>
                    <a:pt x="220" y="181"/>
                    <a:pt x="220" y="175"/>
                  </a:cubicBezTo>
                  <a:cubicBezTo>
                    <a:pt x="220" y="152"/>
                    <a:pt x="239" y="134"/>
                    <a:pt x="262" y="134"/>
                  </a:cubicBezTo>
                  <a:cubicBezTo>
                    <a:pt x="284" y="134"/>
                    <a:pt x="302" y="150"/>
                    <a:pt x="304" y="171"/>
                  </a:cubicBezTo>
                  <a:cubicBezTo>
                    <a:pt x="304" y="172"/>
                    <a:pt x="304" y="173"/>
                    <a:pt x="304" y="175"/>
                  </a:cubicBezTo>
                  <a:cubicBezTo>
                    <a:pt x="304" y="175"/>
                    <a:pt x="304" y="175"/>
                    <a:pt x="304" y="175"/>
                  </a:cubicBezTo>
                  <a:cubicBezTo>
                    <a:pt x="304" y="181"/>
                    <a:pt x="303" y="187"/>
                    <a:pt x="300" y="192"/>
                  </a:cubicBezTo>
                  <a:cubicBezTo>
                    <a:pt x="322" y="192"/>
                    <a:pt x="322" y="192"/>
                    <a:pt x="322" y="192"/>
                  </a:cubicBezTo>
                  <a:cubicBezTo>
                    <a:pt x="323" y="191"/>
                    <a:pt x="323" y="190"/>
                    <a:pt x="323" y="188"/>
                  </a:cubicBezTo>
                  <a:cubicBezTo>
                    <a:pt x="331" y="187"/>
                    <a:pt x="331" y="181"/>
                    <a:pt x="331" y="170"/>
                  </a:cubicBezTo>
                  <a:close/>
                  <a:moveTo>
                    <a:pt x="164" y="106"/>
                  </a:moveTo>
                  <a:cubicBezTo>
                    <a:pt x="89" y="106"/>
                    <a:pt x="89" y="106"/>
                    <a:pt x="89" y="106"/>
                  </a:cubicBezTo>
                  <a:cubicBezTo>
                    <a:pt x="89" y="106"/>
                    <a:pt x="89" y="106"/>
                    <a:pt x="89" y="106"/>
                  </a:cubicBezTo>
                  <a:cubicBezTo>
                    <a:pt x="89" y="81"/>
                    <a:pt x="121" y="52"/>
                    <a:pt x="164" y="49"/>
                  </a:cubicBezTo>
                  <a:lnTo>
                    <a:pt x="164" y="106"/>
                  </a:lnTo>
                  <a:close/>
                  <a:moveTo>
                    <a:pt x="183" y="106"/>
                  </a:moveTo>
                  <a:cubicBezTo>
                    <a:pt x="183" y="50"/>
                    <a:pt x="183" y="50"/>
                    <a:pt x="183" y="50"/>
                  </a:cubicBezTo>
                  <a:cubicBezTo>
                    <a:pt x="223" y="54"/>
                    <a:pt x="252" y="83"/>
                    <a:pt x="253" y="106"/>
                  </a:cubicBezTo>
                  <a:lnTo>
                    <a:pt x="183"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55878">
                <a:defRPr/>
              </a:pPr>
              <a:endParaRPr lang="bg-BG" sz="1685"/>
            </a:p>
          </p:txBody>
        </p:sp>
        <p:sp>
          <p:nvSpPr>
            <p:cNvPr id="65" name="Freeform 186">
              <a:extLst>
                <a:ext uri="{FF2B5EF4-FFF2-40B4-BE49-F238E27FC236}">
                  <a16:creationId xmlns:a16="http://schemas.microsoft.com/office/drawing/2014/main" id="{455686DA-7CAA-B3AF-9369-1F5D5439D122}"/>
                </a:ext>
              </a:extLst>
            </p:cNvPr>
            <p:cNvSpPr>
              <a:spLocks noEditPoints="1"/>
            </p:cNvSpPr>
            <p:nvPr/>
          </p:nvSpPr>
          <p:spPr bwMode="auto">
            <a:xfrm>
              <a:off x="6644393" y="1092200"/>
              <a:ext cx="269875" cy="258763"/>
            </a:xfrm>
            <a:custGeom>
              <a:avLst/>
              <a:gdLst>
                <a:gd name="T0" fmla="*/ 36 w 72"/>
                <a:gd name="T1" fmla="*/ 0 h 69"/>
                <a:gd name="T2" fmla="*/ 0 w 72"/>
                <a:gd name="T3" fmla="*/ 35 h 69"/>
                <a:gd name="T4" fmla="*/ 36 w 72"/>
                <a:gd name="T5" fmla="*/ 69 h 69"/>
                <a:gd name="T6" fmla="*/ 72 w 72"/>
                <a:gd name="T7" fmla="*/ 35 h 69"/>
                <a:gd name="T8" fmla="*/ 36 w 72"/>
                <a:gd name="T9" fmla="*/ 0 h 69"/>
                <a:gd name="T10" fmla="*/ 36 w 72"/>
                <a:gd name="T11" fmla="*/ 48 h 69"/>
                <a:gd name="T12" fmla="*/ 22 w 72"/>
                <a:gd name="T13" fmla="*/ 34 h 69"/>
                <a:gd name="T14" fmla="*/ 36 w 72"/>
                <a:gd name="T15" fmla="*/ 20 h 69"/>
                <a:gd name="T16" fmla="*/ 50 w 72"/>
                <a:gd name="T17" fmla="*/ 34 h 69"/>
                <a:gd name="T18" fmla="*/ 36 w 72"/>
                <a:gd name="T19"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69">
                  <a:moveTo>
                    <a:pt x="36" y="0"/>
                  </a:moveTo>
                  <a:cubicBezTo>
                    <a:pt x="16" y="0"/>
                    <a:pt x="0" y="16"/>
                    <a:pt x="0" y="35"/>
                  </a:cubicBezTo>
                  <a:cubicBezTo>
                    <a:pt x="0" y="54"/>
                    <a:pt x="16" y="69"/>
                    <a:pt x="36" y="69"/>
                  </a:cubicBezTo>
                  <a:cubicBezTo>
                    <a:pt x="56" y="69"/>
                    <a:pt x="72" y="54"/>
                    <a:pt x="72" y="35"/>
                  </a:cubicBezTo>
                  <a:cubicBezTo>
                    <a:pt x="72" y="16"/>
                    <a:pt x="56" y="0"/>
                    <a:pt x="36" y="0"/>
                  </a:cubicBezTo>
                  <a:close/>
                  <a:moveTo>
                    <a:pt x="36" y="48"/>
                  </a:moveTo>
                  <a:cubicBezTo>
                    <a:pt x="28" y="48"/>
                    <a:pt x="22" y="41"/>
                    <a:pt x="22" y="34"/>
                  </a:cubicBezTo>
                  <a:cubicBezTo>
                    <a:pt x="22" y="26"/>
                    <a:pt x="28" y="20"/>
                    <a:pt x="36" y="20"/>
                  </a:cubicBezTo>
                  <a:cubicBezTo>
                    <a:pt x="44" y="20"/>
                    <a:pt x="50" y="26"/>
                    <a:pt x="50" y="34"/>
                  </a:cubicBezTo>
                  <a:cubicBezTo>
                    <a:pt x="50" y="41"/>
                    <a:pt x="44" y="48"/>
                    <a:pt x="3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55878">
                <a:defRPr/>
              </a:pPr>
              <a:endParaRPr lang="bg-BG" sz="1685"/>
            </a:p>
          </p:txBody>
        </p:sp>
        <p:sp>
          <p:nvSpPr>
            <p:cNvPr id="66" name="Freeform 187">
              <a:extLst>
                <a:ext uri="{FF2B5EF4-FFF2-40B4-BE49-F238E27FC236}">
                  <a16:creationId xmlns:a16="http://schemas.microsoft.com/office/drawing/2014/main" id="{5C458314-0234-CDDF-F047-DEAA7C0E8733}"/>
                </a:ext>
              </a:extLst>
            </p:cNvPr>
            <p:cNvSpPr>
              <a:spLocks noEditPoints="1"/>
            </p:cNvSpPr>
            <p:nvPr/>
          </p:nvSpPr>
          <p:spPr bwMode="auto">
            <a:xfrm>
              <a:off x="5968118" y="1092200"/>
              <a:ext cx="269875" cy="258763"/>
            </a:xfrm>
            <a:custGeom>
              <a:avLst/>
              <a:gdLst>
                <a:gd name="T0" fmla="*/ 36 w 72"/>
                <a:gd name="T1" fmla="*/ 0 h 69"/>
                <a:gd name="T2" fmla="*/ 0 w 72"/>
                <a:gd name="T3" fmla="*/ 35 h 69"/>
                <a:gd name="T4" fmla="*/ 36 w 72"/>
                <a:gd name="T5" fmla="*/ 69 h 69"/>
                <a:gd name="T6" fmla="*/ 72 w 72"/>
                <a:gd name="T7" fmla="*/ 35 h 69"/>
                <a:gd name="T8" fmla="*/ 36 w 72"/>
                <a:gd name="T9" fmla="*/ 0 h 69"/>
                <a:gd name="T10" fmla="*/ 34 w 72"/>
                <a:gd name="T11" fmla="*/ 48 h 69"/>
                <a:gd name="T12" fmla="*/ 20 w 72"/>
                <a:gd name="T13" fmla="*/ 34 h 69"/>
                <a:gd name="T14" fmla="*/ 34 w 72"/>
                <a:gd name="T15" fmla="*/ 20 h 69"/>
                <a:gd name="T16" fmla="*/ 48 w 72"/>
                <a:gd name="T17" fmla="*/ 34 h 69"/>
                <a:gd name="T18" fmla="*/ 34 w 72"/>
                <a:gd name="T19"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69">
                  <a:moveTo>
                    <a:pt x="36" y="0"/>
                  </a:moveTo>
                  <a:cubicBezTo>
                    <a:pt x="16" y="0"/>
                    <a:pt x="0" y="16"/>
                    <a:pt x="0" y="35"/>
                  </a:cubicBezTo>
                  <a:cubicBezTo>
                    <a:pt x="0" y="54"/>
                    <a:pt x="16" y="69"/>
                    <a:pt x="36" y="69"/>
                  </a:cubicBezTo>
                  <a:cubicBezTo>
                    <a:pt x="56" y="69"/>
                    <a:pt x="72" y="54"/>
                    <a:pt x="72" y="35"/>
                  </a:cubicBezTo>
                  <a:cubicBezTo>
                    <a:pt x="72" y="16"/>
                    <a:pt x="56" y="0"/>
                    <a:pt x="36" y="0"/>
                  </a:cubicBezTo>
                  <a:close/>
                  <a:moveTo>
                    <a:pt x="34" y="48"/>
                  </a:moveTo>
                  <a:cubicBezTo>
                    <a:pt x="27" y="48"/>
                    <a:pt x="20" y="41"/>
                    <a:pt x="20" y="34"/>
                  </a:cubicBezTo>
                  <a:cubicBezTo>
                    <a:pt x="20" y="26"/>
                    <a:pt x="27" y="20"/>
                    <a:pt x="34" y="20"/>
                  </a:cubicBezTo>
                  <a:cubicBezTo>
                    <a:pt x="42" y="20"/>
                    <a:pt x="48" y="26"/>
                    <a:pt x="48" y="34"/>
                  </a:cubicBezTo>
                  <a:cubicBezTo>
                    <a:pt x="48" y="41"/>
                    <a:pt x="42" y="48"/>
                    <a:pt x="3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55878">
                <a:defRPr/>
              </a:pPr>
              <a:endParaRPr lang="bg-BG" sz="1685"/>
            </a:p>
          </p:txBody>
        </p:sp>
      </p:grpSp>
      <p:sp>
        <p:nvSpPr>
          <p:cNvPr id="67" name="Title 2">
            <a:extLst>
              <a:ext uri="{FF2B5EF4-FFF2-40B4-BE49-F238E27FC236}">
                <a16:creationId xmlns:a16="http://schemas.microsoft.com/office/drawing/2014/main" id="{24046C6D-AFE6-1876-4DF1-8939C02A399E}"/>
              </a:ext>
            </a:extLst>
          </p:cNvPr>
          <p:cNvSpPr txBox="1">
            <a:spLocks/>
          </p:cNvSpPr>
          <p:nvPr/>
        </p:nvSpPr>
        <p:spPr bwMode="auto">
          <a:xfrm>
            <a:off x="1339216" y="5623531"/>
            <a:ext cx="946404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a:defRPr sz="1400">
                <a:solidFill>
                  <a:schemeClr val="tx1"/>
                </a:solidFill>
                <a:latin typeface="Calibri" panose="020F0502020204030204" pitchFamily="34" charset="0"/>
              </a:defRPr>
            </a:lvl1pPr>
            <a:lvl2pPr marL="742950" indent="-285750" defTabSz="685800">
              <a:defRPr sz="1400">
                <a:solidFill>
                  <a:schemeClr val="tx1"/>
                </a:solidFill>
                <a:latin typeface="Calibri" panose="020F0502020204030204" pitchFamily="34" charset="0"/>
              </a:defRPr>
            </a:lvl2pPr>
            <a:lvl3pPr marL="1143000" indent="-228600" defTabSz="685800">
              <a:defRPr sz="1400">
                <a:solidFill>
                  <a:schemeClr val="tx1"/>
                </a:solidFill>
                <a:latin typeface="Calibri" panose="020F0502020204030204" pitchFamily="34" charset="0"/>
              </a:defRPr>
            </a:lvl3pPr>
            <a:lvl4pPr marL="1600200" indent="-228600" defTabSz="685800">
              <a:defRPr sz="1400">
                <a:solidFill>
                  <a:schemeClr val="tx1"/>
                </a:solidFill>
                <a:latin typeface="Calibri" panose="020F0502020204030204" pitchFamily="34" charset="0"/>
              </a:defRPr>
            </a:lvl4pPr>
            <a:lvl5pPr marL="2057400" indent="-228600" defTabSz="685800">
              <a:defRPr sz="1400">
                <a:solidFill>
                  <a:schemeClr val="tx1"/>
                </a:solidFill>
                <a:latin typeface="Calibri" panose="020F0502020204030204" pitchFamily="34" charset="0"/>
              </a:defRPr>
            </a:lvl5pPr>
            <a:lvl6pPr marL="2514600" indent="-228600" defTabSz="685800" fontAlgn="base">
              <a:spcBef>
                <a:spcPct val="0"/>
              </a:spcBef>
              <a:spcAft>
                <a:spcPct val="0"/>
              </a:spcAft>
              <a:defRPr sz="1400">
                <a:solidFill>
                  <a:schemeClr val="tx1"/>
                </a:solidFill>
                <a:latin typeface="Calibri" panose="020F0502020204030204" pitchFamily="34" charset="0"/>
              </a:defRPr>
            </a:lvl6pPr>
            <a:lvl7pPr marL="2971800" indent="-228600" defTabSz="685800" fontAlgn="base">
              <a:spcBef>
                <a:spcPct val="0"/>
              </a:spcBef>
              <a:spcAft>
                <a:spcPct val="0"/>
              </a:spcAft>
              <a:defRPr sz="1400">
                <a:solidFill>
                  <a:schemeClr val="tx1"/>
                </a:solidFill>
                <a:latin typeface="Calibri" panose="020F0502020204030204" pitchFamily="34" charset="0"/>
              </a:defRPr>
            </a:lvl7pPr>
            <a:lvl8pPr marL="3429000" indent="-228600" defTabSz="685800" fontAlgn="base">
              <a:spcBef>
                <a:spcPct val="0"/>
              </a:spcBef>
              <a:spcAft>
                <a:spcPct val="0"/>
              </a:spcAft>
              <a:defRPr sz="1400">
                <a:solidFill>
                  <a:schemeClr val="tx1"/>
                </a:solidFill>
                <a:latin typeface="Calibri" panose="020F0502020204030204" pitchFamily="34" charset="0"/>
              </a:defRPr>
            </a:lvl8pPr>
            <a:lvl9pPr marL="3886200" indent="-228600" defTabSz="685800" fontAlgn="base">
              <a:spcBef>
                <a:spcPct val="0"/>
              </a:spcBef>
              <a:spcAft>
                <a:spcPct val="0"/>
              </a:spcAft>
              <a:defRPr sz="1400">
                <a:solidFill>
                  <a:schemeClr val="tx1"/>
                </a:solidFill>
                <a:latin typeface="Calibri" panose="020F0502020204030204" pitchFamily="34" charset="0"/>
              </a:defRPr>
            </a:lvl9pPr>
          </a:lstStyle>
          <a:p>
            <a:pPr algn="ctr" eaLnBrk="1" hangingPunct="1">
              <a:lnSpc>
                <a:spcPct val="90000"/>
              </a:lnSpc>
            </a:pPr>
            <a:r>
              <a:rPr lang="en-US" altLang="zh-CN" sz="2880" dirty="0">
                <a:latin typeface="Times New Roman" panose="02020603050405020304" pitchFamily="18" charset="0"/>
                <a:cs typeface="Times New Roman" panose="02020603050405020304" pitchFamily="18" charset="0"/>
              </a:rPr>
              <a:t>1 Introduction</a:t>
            </a:r>
            <a:endParaRPr lang="bg-BG" altLang="zh-CN" sz="2880" dirty="0">
              <a:latin typeface="Times New Roman" panose="02020603050405020304" pitchFamily="18" charset="0"/>
              <a:cs typeface="Times New Roman" panose="02020603050405020304" pitchFamily="18" charset="0"/>
            </a:endParaRPr>
          </a:p>
        </p:txBody>
      </p:sp>
      <p:sp>
        <p:nvSpPr>
          <p:cNvPr id="70" name="Oval 69">
            <a:extLst>
              <a:ext uri="{FF2B5EF4-FFF2-40B4-BE49-F238E27FC236}">
                <a16:creationId xmlns:a16="http://schemas.microsoft.com/office/drawing/2014/main" id="{9BD8A7FD-3E2A-79CA-D90C-31BF86F001A3}"/>
              </a:ext>
            </a:extLst>
          </p:cNvPr>
          <p:cNvSpPr/>
          <p:nvPr/>
        </p:nvSpPr>
        <p:spPr>
          <a:xfrm>
            <a:off x="10092690" y="4615816"/>
            <a:ext cx="762000" cy="7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71" name="Freeform 258">
            <a:extLst>
              <a:ext uri="{FF2B5EF4-FFF2-40B4-BE49-F238E27FC236}">
                <a16:creationId xmlns:a16="http://schemas.microsoft.com/office/drawing/2014/main" id="{4B27FE19-A3FF-E020-DBEC-A938AD4AE546}"/>
              </a:ext>
            </a:extLst>
          </p:cNvPr>
          <p:cNvSpPr>
            <a:spLocks noEditPoints="1"/>
          </p:cNvSpPr>
          <p:nvPr/>
        </p:nvSpPr>
        <p:spPr bwMode="auto">
          <a:xfrm>
            <a:off x="10159366" y="4676776"/>
            <a:ext cx="643890" cy="647700"/>
          </a:xfrm>
          <a:custGeom>
            <a:avLst/>
            <a:gdLst>
              <a:gd name="T0" fmla="*/ 206 w 412"/>
              <a:gd name="T1" fmla="*/ 147 h 412"/>
              <a:gd name="T2" fmla="*/ 215 w 412"/>
              <a:gd name="T3" fmla="*/ 175 h 412"/>
              <a:gd name="T4" fmla="*/ 180 w 412"/>
              <a:gd name="T5" fmla="*/ 194 h 412"/>
              <a:gd name="T6" fmla="*/ 206 w 412"/>
              <a:gd name="T7" fmla="*/ 147 h 412"/>
              <a:gd name="T8" fmla="*/ 412 w 412"/>
              <a:gd name="T9" fmla="*/ 206 h 412"/>
              <a:gd name="T10" fmla="*/ 206 w 412"/>
              <a:gd name="T11" fmla="*/ 412 h 412"/>
              <a:gd name="T12" fmla="*/ 0 w 412"/>
              <a:gd name="T13" fmla="*/ 206 h 412"/>
              <a:gd name="T14" fmla="*/ 206 w 412"/>
              <a:gd name="T15" fmla="*/ 0 h 412"/>
              <a:gd name="T16" fmla="*/ 412 w 412"/>
              <a:gd name="T17" fmla="*/ 206 h 412"/>
              <a:gd name="T18" fmla="*/ 275 w 412"/>
              <a:gd name="T19" fmla="*/ 241 h 412"/>
              <a:gd name="T20" fmla="*/ 206 w 412"/>
              <a:gd name="T21" fmla="*/ 103 h 412"/>
              <a:gd name="T22" fmla="*/ 137 w 412"/>
              <a:gd name="T23" fmla="*/ 241 h 412"/>
              <a:gd name="T24" fmla="*/ 206 w 412"/>
              <a:gd name="T25" fmla="*/ 309 h 412"/>
              <a:gd name="T26" fmla="*/ 275 w 412"/>
              <a:gd name="T27" fmla="*/ 241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2" h="412">
                <a:moveTo>
                  <a:pt x="206" y="147"/>
                </a:moveTo>
                <a:cubicBezTo>
                  <a:pt x="210" y="153"/>
                  <a:pt x="215" y="164"/>
                  <a:pt x="215" y="175"/>
                </a:cubicBezTo>
                <a:cubicBezTo>
                  <a:pt x="215" y="209"/>
                  <a:pt x="180" y="214"/>
                  <a:pt x="180" y="194"/>
                </a:cubicBezTo>
                <a:cubicBezTo>
                  <a:pt x="180" y="180"/>
                  <a:pt x="197" y="159"/>
                  <a:pt x="206" y="147"/>
                </a:cubicBezTo>
                <a:close/>
                <a:moveTo>
                  <a:pt x="412" y="206"/>
                </a:moveTo>
                <a:cubicBezTo>
                  <a:pt x="412" y="320"/>
                  <a:pt x="320" y="412"/>
                  <a:pt x="206" y="412"/>
                </a:cubicBezTo>
                <a:cubicBezTo>
                  <a:pt x="92" y="412"/>
                  <a:pt x="0" y="320"/>
                  <a:pt x="0" y="206"/>
                </a:cubicBezTo>
                <a:cubicBezTo>
                  <a:pt x="0" y="92"/>
                  <a:pt x="92" y="0"/>
                  <a:pt x="206" y="0"/>
                </a:cubicBezTo>
                <a:cubicBezTo>
                  <a:pt x="320" y="0"/>
                  <a:pt x="412" y="92"/>
                  <a:pt x="412" y="206"/>
                </a:cubicBezTo>
                <a:close/>
                <a:moveTo>
                  <a:pt x="275" y="241"/>
                </a:moveTo>
                <a:cubicBezTo>
                  <a:pt x="275" y="203"/>
                  <a:pt x="248" y="165"/>
                  <a:pt x="206" y="103"/>
                </a:cubicBezTo>
                <a:cubicBezTo>
                  <a:pt x="164" y="165"/>
                  <a:pt x="137" y="203"/>
                  <a:pt x="137" y="241"/>
                </a:cubicBezTo>
                <a:cubicBezTo>
                  <a:pt x="137" y="279"/>
                  <a:pt x="168" y="309"/>
                  <a:pt x="206" y="309"/>
                </a:cubicBezTo>
                <a:cubicBezTo>
                  <a:pt x="244" y="309"/>
                  <a:pt x="275" y="279"/>
                  <a:pt x="275" y="241"/>
                </a:cubicBezTo>
                <a:close/>
              </a:path>
            </a:pathLst>
          </a:custGeom>
          <a:solidFill>
            <a:schemeClr val="accent3"/>
          </a:solidFill>
          <a:ln>
            <a:noFill/>
          </a:ln>
        </p:spPr>
        <p:txBody>
          <a:bodyPr/>
          <a:lstStyle/>
          <a:p>
            <a:pPr defTabSz="855878">
              <a:defRPr/>
            </a:pPr>
            <a:endParaRPr lang="en-US" sz="1685"/>
          </a:p>
        </p:txBody>
      </p:sp>
      <p:sp>
        <p:nvSpPr>
          <p:cNvPr id="3" name="Rectangle 1">
            <a:extLst>
              <a:ext uri="{FF2B5EF4-FFF2-40B4-BE49-F238E27FC236}">
                <a16:creationId xmlns:a16="http://schemas.microsoft.com/office/drawing/2014/main" id="{5271CAD6-9ED8-4788-C431-E329E8F1FDDF}"/>
              </a:ext>
            </a:extLst>
          </p:cNvPr>
          <p:cNvSpPr>
            <a:spLocks noChangeArrowheads="1"/>
          </p:cNvSpPr>
          <p:nvPr/>
        </p:nvSpPr>
        <p:spPr bwMode="auto">
          <a:xfrm>
            <a:off x="487667" y="850244"/>
            <a:ext cx="11261557" cy="3557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ts val="2300"/>
              </a:lnSpc>
              <a:spcBef>
                <a:spcPct val="0"/>
              </a:spcBef>
              <a:spcAft>
                <a:spcPct val="0"/>
              </a:spcAft>
            </a:pPr>
            <a:r>
              <a:rPr lang="en-US" altLang="zh-CN" sz="1600" dirty="0">
                <a:solidFill>
                  <a:srgbClr val="000000"/>
                </a:solidFill>
                <a:latin typeface="Times New Roman" panose="02020603050405020304" pitchFamily="18" charset="0"/>
                <a:cs typeface="Times New Roman" panose="02020603050405020304" pitchFamily="18" charset="0"/>
              </a:rPr>
              <a:t>In recent years, the capabilities of large language models (LLMs) such as GPT-3, </a:t>
            </a:r>
            <a:r>
              <a:rPr lang="en-US" altLang="zh-CN" sz="1600" dirty="0" err="1">
                <a:solidFill>
                  <a:srgbClr val="000000"/>
                </a:solidFill>
                <a:latin typeface="Times New Roman" panose="02020603050405020304" pitchFamily="18" charset="0"/>
                <a:cs typeface="Times New Roman" panose="02020603050405020304" pitchFamily="18" charset="0"/>
              </a:rPr>
              <a:t>ChatGLM</a:t>
            </a:r>
            <a:r>
              <a:rPr lang="en-US" altLang="zh-CN" sz="1600" dirty="0">
                <a:solidFill>
                  <a:srgbClr val="000000"/>
                </a:solidFill>
                <a:latin typeface="Times New Roman" panose="02020603050405020304" pitchFamily="18" charset="0"/>
                <a:cs typeface="Times New Roman" panose="02020603050405020304" pitchFamily="18" charset="0"/>
              </a:rPr>
              <a:t>, and Qwen have redefined how we approach supervised learning tasks. One of the most remarkable developments in this space is In-Context Learning (ICL) — a paradigm where LLMs can solve tasks by simply conditioning on a prompt that includes a few example input-output pairs, without the need for gradient updates or weight tuning.</a:t>
            </a:r>
            <a:endParaRPr lang="zh-CN" altLang="zh-CN" sz="1600"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920" dirty="0">
                <a:solidFill>
                  <a:schemeClr val="bg1"/>
                </a:solidFill>
                <a:latin typeface="Times New Roman" panose="02020603050405020304" charset="0"/>
                <a:ea typeface="Open Sans Light" pitchFamily="34" charset="0"/>
                <a:cs typeface="Times New Roman" panose="02020603050405020304" charset="0"/>
              </a:rPr>
              <a:t>Project Goal</a:t>
            </a:r>
            <a:r>
              <a:rPr lang="zh-CN" altLang="en-US" sz="1920" dirty="0">
                <a:solidFill>
                  <a:schemeClr val="bg1"/>
                </a:solidFill>
                <a:latin typeface="Times New Roman" panose="02020603050405020304" charset="0"/>
                <a:ea typeface="Open Sans Light" pitchFamily="34" charset="0"/>
                <a:cs typeface="Times New Roman" panose="02020603050405020304" charset="0"/>
              </a:rPr>
              <a:t>：</a:t>
            </a:r>
            <a:endParaRPr lang="en-US" altLang="zh-CN" sz="1920" dirty="0">
              <a:solidFill>
                <a:schemeClr val="bg1"/>
              </a:solidFill>
              <a:latin typeface="Times New Roman" panose="02020603050405020304" charset="0"/>
              <a:ea typeface="Open Sans Light" pitchFamily="34" charset="0"/>
              <a:cs typeface="Times New Roman" panose="02020603050405020304" charset="0"/>
            </a:endParaRPr>
          </a:p>
          <a:p>
            <a:pPr marL="0" marR="0" lvl="0" indent="0" algn="l" defTabSz="914400" rtl="0" eaLnBrk="0" fontAlgn="base" latinLnBrk="0" hangingPunct="0">
              <a:lnSpc>
                <a:spcPts val="23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Evaluate how well ICL performs in structured data domains compared to these traditional supervised learning models. </a:t>
            </a:r>
          </a:p>
          <a:p>
            <a:pPr marL="0" marR="0" lvl="0" indent="0" algn="l" defTabSz="914400" rtl="0" eaLnBrk="0" fontAlgn="base" latinLnBrk="0" hangingPunct="0">
              <a:lnSpc>
                <a:spcPts val="23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We examine not just whether LLMs can replicate CML performance, but also </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when, why, and how</a:t>
            </a: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they fall short — or excel. Our exploration includes:</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ts val="2300"/>
              </a:lnSpc>
              <a:spcBef>
                <a:spcPct val="0"/>
              </a:spcBef>
              <a:spcAft>
                <a:spcPct val="0"/>
              </a:spcAft>
              <a:buClrTx/>
              <a:buSzTx/>
              <a:buFontTx/>
              <a:buChar char="•"/>
              <a:tabLst/>
            </a:pP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impact of </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model size and architecture</a:t>
            </a: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on ICL performance;</a:t>
            </a:r>
          </a:p>
          <a:p>
            <a:pPr marL="0" marR="0" lvl="0" indent="0" algn="l" defTabSz="914400" rtl="0" eaLnBrk="0" fontAlgn="base" latinLnBrk="0" hangingPunct="0">
              <a:lnSpc>
                <a:spcPts val="2300"/>
              </a:lnSpc>
              <a:spcBef>
                <a:spcPct val="0"/>
              </a:spcBef>
              <a:spcAft>
                <a:spcPct val="0"/>
              </a:spcAft>
              <a:buClrTx/>
              <a:buSzTx/>
              <a:buFontTx/>
              <a:buChar char="•"/>
              <a:tabLst/>
            </a:pP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role of </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prompt construction and K-shot demonstration count</a:t>
            </a: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ts val="2300"/>
              </a:lnSpc>
              <a:spcBef>
                <a:spcPct val="0"/>
              </a:spcBef>
              <a:spcAft>
                <a:spcPct val="0"/>
              </a:spcAft>
              <a:buClrTx/>
              <a:buSzTx/>
              <a:buFontTx/>
              <a:buChar char="•"/>
              <a:tabLst/>
            </a:pP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 comparative study of ICL vs. CML across classification and regression tasks.</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7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71"/>
                                        </p:tgtEl>
                                        <p:attrNameLst>
                                          <p:attrName>style.visibility</p:attrName>
                                        </p:attrNameLst>
                                      </p:cBhvr>
                                      <p:to>
                                        <p:strVal val="visible"/>
                                      </p:to>
                                    </p:set>
                                  </p:childTnLst>
                                </p:cTn>
                              </p:par>
                            </p:childTnLst>
                          </p:cTn>
                        </p:par>
                        <p:par>
                          <p:cTn id="13" fill="hold">
                            <p:stCondLst>
                              <p:cond delay="1500"/>
                            </p:stCondLst>
                            <p:childTnLst>
                              <p:par>
                                <p:cTn id="14" presetID="2" presetClass="entr" presetSubtype="4" fill="hold" grpId="0" nodeType="afterEffect">
                                  <p:stCondLst>
                                    <p:cond delay="0"/>
                                  </p:stCondLst>
                                  <p:childTnLst>
                                    <p:set>
                                      <p:cBhvr>
                                        <p:cTn id="15" dur="1" fill="hold">
                                          <p:stCondLst>
                                            <p:cond delay="0"/>
                                          </p:stCondLst>
                                        </p:cTn>
                                        <p:tgtEl>
                                          <p:spTgt spid="67"/>
                                        </p:tgtEl>
                                        <p:attrNameLst>
                                          <p:attrName>style.visibility</p:attrName>
                                        </p:attrNameLst>
                                      </p:cBhvr>
                                      <p:to>
                                        <p:strVal val="visible"/>
                                      </p:to>
                                    </p:set>
                                    <p:anim calcmode="lin" valueType="num">
                                      <p:cBhvr additive="base">
                                        <p:cTn id="16" dur="500" fill="hold"/>
                                        <p:tgtEl>
                                          <p:spTgt spid="67"/>
                                        </p:tgtEl>
                                        <p:attrNameLst>
                                          <p:attrName>ppt_x</p:attrName>
                                        </p:attrNameLst>
                                      </p:cBhvr>
                                      <p:tavLst>
                                        <p:tav tm="0">
                                          <p:val>
                                            <p:strVal val="#ppt_x"/>
                                          </p:val>
                                        </p:tav>
                                        <p:tav tm="100000">
                                          <p:val>
                                            <p:strVal val="#ppt_x"/>
                                          </p:val>
                                        </p:tav>
                                      </p:tavLst>
                                    </p:anim>
                                    <p:anim calcmode="lin" valueType="num">
                                      <p:cBhvr additive="base">
                                        <p:cTn id="17" dur="500" fill="hold"/>
                                        <p:tgtEl>
                                          <p:spTgt spid="67"/>
                                        </p:tgtEl>
                                        <p:attrNameLst>
                                          <p:attrName>ppt_y</p:attrName>
                                        </p:attrNameLst>
                                      </p:cBhvr>
                                      <p:tavLst>
                                        <p:tav tm="0">
                                          <p:val>
                                            <p:strVal val="1+#ppt_h/2"/>
                                          </p:val>
                                        </p:tav>
                                        <p:tav tm="100000">
                                          <p:val>
                                            <p:strVal val="#ppt_y"/>
                                          </p:val>
                                        </p:tav>
                                      </p:tavLst>
                                    </p:anim>
                                  </p:childTnLst>
                                </p:cTn>
                              </p:par>
                            </p:childTnLst>
                          </p:cTn>
                        </p:par>
                        <p:par>
                          <p:cTn id="18" fill="hold">
                            <p:stCondLst>
                              <p:cond delay="2000"/>
                            </p:stCondLst>
                            <p:childTnLst>
                              <p:par>
                                <p:cTn id="19" presetID="14" presetClass="entr" presetSubtype="10" fill="hold" grpId="0" nodeType="after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randombar(horizontal)">
                                      <p:cBhvr>
                                        <p:cTn id="21" dur="500"/>
                                        <p:tgtEl>
                                          <p:spTgt spid="61"/>
                                        </p:tgtEl>
                                      </p:cBhvr>
                                    </p:animEffect>
                                  </p:childTnLst>
                                </p:cTn>
                              </p:par>
                            </p:childTnLst>
                          </p:cTn>
                        </p:par>
                        <p:par>
                          <p:cTn id="22" fill="hold">
                            <p:stCondLst>
                              <p:cond delay="2500"/>
                            </p:stCondLst>
                            <p:childTnLst>
                              <p:par>
                                <p:cTn id="23" presetID="14" presetClass="entr" presetSubtype="10" fill="hold" nodeType="after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randombar(horizontal)">
                                      <p:cBhvr>
                                        <p:cTn id="25" dur="500"/>
                                        <p:tgtEl>
                                          <p:spTgt spid="63"/>
                                        </p:tgtEl>
                                      </p:cBhvr>
                                    </p:animEffect>
                                  </p:childTnLst>
                                </p:cTn>
                              </p:par>
                            </p:childTnLst>
                          </p:cTn>
                        </p:par>
                        <p:par>
                          <p:cTn id="26" fill="hold">
                            <p:stCondLst>
                              <p:cond delay="3000"/>
                            </p:stCondLst>
                            <p:childTnLst>
                              <p:par>
                                <p:cTn id="27" presetID="14" presetClass="entr" presetSubtype="10" fill="hold" grpId="0" nodeType="after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randombar(horizontal)">
                                      <p:cBhvr>
                                        <p:cTn id="29"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61" grpId="0" animBg="1" autoUpdateAnimBg="0"/>
      <p:bldP spid="62" grpId="0" animBg="1" autoUpdateAnimBg="0"/>
      <p:bldP spid="67" grpId="0" autoUpdateAnimBg="0"/>
      <p:bldP spid="70" grpId="0" animBg="1" autoUpdateAnimBg="0"/>
      <p:bldP spid="71"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Title 2"/>
          <p:cNvSpPr>
            <a:spLocks noGrp="1"/>
          </p:cNvSpPr>
          <p:nvPr>
            <p:ph type="title"/>
          </p:nvPr>
        </p:nvSpPr>
        <p:spPr>
          <a:xfrm>
            <a:off x="838200" y="365760"/>
            <a:ext cx="10515600" cy="512446"/>
          </a:xfrm>
          <a:noFill/>
          <a:ln>
            <a:noFill/>
          </a:ln>
        </p:spPr>
        <p:txBody>
          <a:bodyPr lIns="109728" tIns="54864" rIns="109728" bIns="54864" anchor="ctr" anchorCtr="0">
            <a:noAutofit/>
          </a:bodyPr>
          <a:lstStyle/>
          <a:p>
            <a:pPr defTabSz="762000">
              <a:buNone/>
            </a:pPr>
            <a:r>
              <a:rPr lang="en-US" altLang="zh-CN" sz="3360" b="1" kern="1200" dirty="0">
                <a:latin typeface="Open Sans Light" pitchFamily="34" charset="0"/>
                <a:ea typeface="+mj-ea"/>
                <a:cs typeface="Open Sans Light" pitchFamily="34" charset="0"/>
              </a:rPr>
              <a:t>2.1 Datasets</a:t>
            </a:r>
          </a:p>
        </p:txBody>
      </p:sp>
      <p:sp>
        <p:nvSpPr>
          <p:cNvPr id="15363"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4</a:t>
            </a:fld>
            <a:endParaRPr lang="en-US" altLang="zh-CN" sz="1200" dirty="0">
              <a:latin typeface="Open Sans" pitchFamily="34" charset="0"/>
              <a:ea typeface="Open Sans" pitchFamily="34" charset="0"/>
              <a:cs typeface="Open Sans" pitchFamily="34" charset="0"/>
            </a:endParaRPr>
          </a:p>
        </p:txBody>
      </p:sp>
      <p:sp>
        <p:nvSpPr>
          <p:cNvPr id="7" name="TextBox 6"/>
          <p:cNvSpPr txBox="1"/>
          <p:nvPr/>
        </p:nvSpPr>
        <p:spPr>
          <a:xfrm>
            <a:off x="4463796" y="1234440"/>
            <a:ext cx="3489960" cy="4415028"/>
          </a:xfrm>
          <a:prstGeom prst="rect">
            <a:avLst/>
          </a:prstGeom>
          <a:noFill/>
          <a:ln w="9525">
            <a:noFill/>
          </a:ln>
        </p:spPr>
        <p:txBody>
          <a:bodyPr wrap="square">
            <a:noAutofit/>
          </a:bodyPr>
          <a:lstStyle/>
          <a:p>
            <a:pPr algn="just" eaLnBrk="1" hangingPunct="1">
              <a:buFont typeface="Arial" panose="020B0604020202020204" pitchFamily="34" charset="0"/>
            </a:pPr>
            <a:r>
              <a:rPr lang="en-US" altLang="zh-CN" sz="2160" b="1" dirty="0">
                <a:solidFill>
                  <a:schemeClr val="bg1"/>
                </a:solidFill>
                <a:latin typeface="Times New Roman" panose="02020603050405020304" charset="0"/>
                <a:cs typeface="Times New Roman" panose="02020603050405020304" charset="0"/>
              </a:rPr>
              <a:t>Iris Dataset (Classification)</a:t>
            </a:r>
          </a:p>
          <a:p>
            <a:pPr marL="342900" indent="-342900" algn="just" eaLnBrk="1" hangingPunct="1">
              <a:lnSpc>
                <a:spcPct val="150000"/>
              </a:lnSpc>
              <a:buFont typeface="Arial" panose="020B0604020202020204" pitchFamily="34" charset="0"/>
              <a:buChar char="•"/>
            </a:pPr>
            <a:r>
              <a:rPr lang="en-US" altLang="zh-CN" sz="1920" dirty="0">
                <a:solidFill>
                  <a:schemeClr val="accent2">
                    <a:lumMod val="50000"/>
                  </a:schemeClr>
                </a:solidFill>
                <a:latin typeface="Times New Roman" panose="02020603050405020304" charset="0"/>
                <a:cs typeface="Times New Roman" panose="02020603050405020304" charset="0"/>
              </a:rPr>
              <a:t>150 samples, 3 classes (Setosa, Versicolor, Virginica)</a:t>
            </a:r>
          </a:p>
          <a:p>
            <a:pPr marL="342900" indent="-342900" algn="just" eaLnBrk="1" hangingPunct="1">
              <a:lnSpc>
                <a:spcPct val="150000"/>
              </a:lnSpc>
              <a:buFont typeface="Arial" panose="020B0604020202020204" pitchFamily="34" charset="0"/>
              <a:buChar char="•"/>
            </a:pPr>
            <a:r>
              <a:rPr lang="en-US" altLang="zh-CN" sz="1920" dirty="0">
                <a:solidFill>
                  <a:schemeClr val="accent2">
                    <a:lumMod val="50000"/>
                  </a:schemeClr>
                </a:solidFill>
                <a:latin typeface="Times New Roman" panose="02020603050405020304" charset="0"/>
                <a:cs typeface="Times New Roman" panose="02020603050405020304" charset="0"/>
              </a:rPr>
              <a:t>4 numerical features: sepal length, sepal width, petal length, petal width</a:t>
            </a:r>
          </a:p>
          <a:p>
            <a:pPr marL="342900" indent="-342900" algn="just" eaLnBrk="1" hangingPunct="1">
              <a:lnSpc>
                <a:spcPct val="150000"/>
              </a:lnSpc>
              <a:buFont typeface="Arial" panose="020B0604020202020204" pitchFamily="34" charset="0"/>
              <a:buChar char="•"/>
            </a:pPr>
            <a:r>
              <a:rPr lang="en-US" altLang="zh-CN" sz="1920" dirty="0">
                <a:solidFill>
                  <a:schemeClr val="accent2">
                    <a:lumMod val="50000"/>
                  </a:schemeClr>
                </a:solidFill>
                <a:latin typeface="Times New Roman" panose="02020603050405020304" charset="0"/>
                <a:cs typeface="Times New Roman" panose="02020603050405020304" charset="0"/>
              </a:rPr>
              <a:t>Target variable: class labels {0, 1, 2}</a:t>
            </a:r>
          </a:p>
          <a:p>
            <a:pPr algn="just" eaLnBrk="1" hangingPunct="1">
              <a:buNone/>
            </a:pPr>
            <a:endParaRPr lang="en-US" altLang="zh-CN" sz="1920" dirty="0">
              <a:solidFill>
                <a:schemeClr val="accent2">
                  <a:lumMod val="50000"/>
                </a:schemeClr>
              </a:solidFill>
              <a:latin typeface="Times New Roman" panose="02020603050405020304" charset="0"/>
              <a:ea typeface="Open Sans Light" pitchFamily="34" charset="0"/>
              <a:cs typeface="Times New Roman" panose="02020603050405020304" charset="0"/>
            </a:endParaRPr>
          </a:p>
        </p:txBody>
      </p:sp>
      <p:pic>
        <p:nvPicPr>
          <p:cNvPr id="4" name="图片 3"/>
          <p:cNvPicPr>
            <a:picLocks noChangeAspect="1"/>
          </p:cNvPicPr>
          <p:nvPr/>
        </p:nvPicPr>
        <p:blipFill>
          <a:blip r:embed="rId3"/>
          <a:stretch>
            <a:fillRect/>
          </a:stretch>
        </p:blipFill>
        <p:spPr>
          <a:xfrm>
            <a:off x="548640" y="918210"/>
            <a:ext cx="3852672" cy="2698242"/>
          </a:xfrm>
          <a:prstGeom prst="rect">
            <a:avLst/>
          </a:prstGeom>
        </p:spPr>
      </p:pic>
      <p:pic>
        <p:nvPicPr>
          <p:cNvPr id="6" name="图片 5"/>
          <p:cNvPicPr>
            <a:picLocks noChangeAspect="1"/>
          </p:cNvPicPr>
          <p:nvPr/>
        </p:nvPicPr>
        <p:blipFill>
          <a:blip r:embed="rId4"/>
          <a:stretch>
            <a:fillRect/>
          </a:stretch>
        </p:blipFill>
        <p:spPr>
          <a:xfrm>
            <a:off x="650748" y="3789426"/>
            <a:ext cx="3749802" cy="2385822"/>
          </a:xfrm>
          <a:prstGeom prst="rect">
            <a:avLst/>
          </a:prstGeom>
        </p:spPr>
      </p:pic>
      <p:sp>
        <p:nvSpPr>
          <p:cNvPr id="9" name="TextBox 6"/>
          <p:cNvSpPr txBox="1"/>
          <p:nvPr/>
        </p:nvSpPr>
        <p:spPr>
          <a:xfrm>
            <a:off x="8192262" y="1234440"/>
            <a:ext cx="3489960" cy="4415028"/>
          </a:xfrm>
          <a:prstGeom prst="rect">
            <a:avLst/>
          </a:prstGeom>
          <a:noFill/>
          <a:ln w="9525">
            <a:noFill/>
          </a:ln>
        </p:spPr>
        <p:txBody>
          <a:bodyPr wrap="square">
            <a:noAutofit/>
          </a:bodyPr>
          <a:lstStyle/>
          <a:p>
            <a:pPr algn="just" eaLnBrk="1" hangingPunct="1">
              <a:buFont typeface="Arial" panose="020B0604020202020204" pitchFamily="34" charset="0"/>
            </a:pPr>
            <a:r>
              <a:rPr lang="en-US" altLang="zh-CN" sz="2160" b="1" dirty="0">
                <a:solidFill>
                  <a:schemeClr val="bg1"/>
                </a:solidFill>
                <a:latin typeface="Times New Roman" panose="02020603050405020304" charset="0"/>
                <a:cs typeface="Times New Roman" panose="02020603050405020304" charset="0"/>
              </a:rPr>
              <a:t>California Housing Dataset (Regression)</a:t>
            </a:r>
          </a:p>
          <a:p>
            <a:pPr marL="342900" indent="-342900" algn="just" eaLnBrk="1" hangingPunct="1">
              <a:lnSpc>
                <a:spcPct val="150000"/>
              </a:lnSpc>
              <a:buFont typeface="Arial" panose="020B0604020202020204" pitchFamily="34" charset="0"/>
              <a:buChar char="•"/>
            </a:pPr>
            <a:r>
              <a:rPr lang="en-US" altLang="zh-CN" sz="1920" dirty="0">
                <a:solidFill>
                  <a:schemeClr val="accent2">
                    <a:lumMod val="50000"/>
                  </a:schemeClr>
                </a:solidFill>
                <a:latin typeface="Times New Roman" panose="02020603050405020304" charset="0"/>
                <a:cs typeface="Times New Roman" panose="02020603050405020304" charset="0"/>
              </a:rPr>
              <a:t>20,640 samples (1990 U.S. Census)</a:t>
            </a:r>
          </a:p>
          <a:p>
            <a:pPr marL="342900" indent="-342900" algn="just" eaLnBrk="1" hangingPunct="1">
              <a:lnSpc>
                <a:spcPct val="150000"/>
              </a:lnSpc>
              <a:buFont typeface="Arial" panose="020B0604020202020204" pitchFamily="34" charset="0"/>
              <a:buChar char="•"/>
            </a:pPr>
            <a:r>
              <a:rPr lang="en-US" altLang="zh-CN" sz="1920" dirty="0">
                <a:solidFill>
                  <a:schemeClr val="accent2">
                    <a:lumMod val="50000"/>
                  </a:schemeClr>
                </a:solidFill>
                <a:latin typeface="Times New Roman" panose="02020603050405020304" charset="0"/>
                <a:cs typeface="Times New Roman" panose="02020603050405020304" charset="0"/>
              </a:rPr>
              <a:t>8 continuous numerical features: median income, house age, average rooms per household, etc.</a:t>
            </a:r>
          </a:p>
          <a:p>
            <a:pPr marL="342900" indent="-342900" algn="just" eaLnBrk="1" hangingPunct="1">
              <a:lnSpc>
                <a:spcPct val="150000"/>
              </a:lnSpc>
              <a:buFont typeface="Arial" panose="020B0604020202020204" pitchFamily="34" charset="0"/>
              <a:buChar char="•"/>
            </a:pPr>
            <a:r>
              <a:rPr lang="en-US" altLang="zh-CN" sz="1920" dirty="0">
                <a:solidFill>
                  <a:schemeClr val="accent2">
                    <a:lumMod val="50000"/>
                  </a:schemeClr>
                </a:solidFill>
                <a:latin typeface="Times New Roman" panose="02020603050405020304" charset="0"/>
                <a:cs typeface="Times New Roman" panose="02020603050405020304" charset="0"/>
              </a:rPr>
              <a:t>Target variable: median house value (in hundreds of thousands of dollars)</a:t>
            </a:r>
          </a:p>
        </p:txBody>
      </p:sp>
      <p:cxnSp>
        <p:nvCxnSpPr>
          <p:cNvPr id="10" name="直接连接符 9"/>
          <p:cNvCxnSpPr/>
          <p:nvPr/>
        </p:nvCxnSpPr>
        <p:spPr>
          <a:xfrm flipH="1">
            <a:off x="8022336" y="763524"/>
            <a:ext cx="18288" cy="5354574"/>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Title 2"/>
          <p:cNvSpPr>
            <a:spLocks noGrp="1"/>
          </p:cNvSpPr>
          <p:nvPr>
            <p:ph type="title"/>
          </p:nvPr>
        </p:nvSpPr>
        <p:spPr>
          <a:xfrm>
            <a:off x="302514" y="365760"/>
            <a:ext cx="11264646" cy="512826"/>
          </a:xfrm>
          <a:noFill/>
          <a:ln>
            <a:noFill/>
          </a:ln>
        </p:spPr>
        <p:txBody>
          <a:bodyPr lIns="109728" tIns="54864" rIns="109728" bIns="54864" anchor="ctr" anchorCtr="0">
            <a:noAutofit/>
          </a:bodyPr>
          <a:lstStyle/>
          <a:p>
            <a:pPr algn="ctr" defTabSz="762000">
              <a:buClrTx/>
              <a:buSzTx/>
              <a:buFontTx/>
              <a:buNone/>
            </a:pPr>
            <a:r>
              <a:rPr lang="en-US" altLang="zh-CN" sz="3360" b="1" kern="1200" dirty="0">
                <a:latin typeface="Open Sans Light" pitchFamily="34" charset="0"/>
                <a:ea typeface="+mj-ea"/>
                <a:cs typeface="Open Sans Light" pitchFamily="34" charset="0"/>
              </a:rPr>
              <a:t>2.2 Data Preprocessing                  2.3 Models Evaluated</a:t>
            </a:r>
          </a:p>
        </p:txBody>
      </p:sp>
      <p:sp>
        <p:nvSpPr>
          <p:cNvPr id="15363"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5</a:t>
            </a:fld>
            <a:endParaRPr lang="en-US" altLang="zh-CN" sz="1200" dirty="0">
              <a:latin typeface="Open Sans" pitchFamily="34" charset="0"/>
              <a:ea typeface="Open Sans" pitchFamily="34" charset="0"/>
              <a:cs typeface="Open Sans" pitchFamily="34" charset="0"/>
            </a:endParaRPr>
          </a:p>
        </p:txBody>
      </p:sp>
      <p:sp>
        <p:nvSpPr>
          <p:cNvPr id="2" name="TextBox 1"/>
          <p:cNvSpPr txBox="1"/>
          <p:nvPr/>
        </p:nvSpPr>
        <p:spPr>
          <a:xfrm>
            <a:off x="1223010" y="1439418"/>
            <a:ext cx="4418838" cy="4471416"/>
          </a:xfrm>
          <a:prstGeom prst="rect">
            <a:avLst/>
          </a:prstGeom>
          <a:noFill/>
          <a:ln w="9525">
            <a:noFill/>
          </a:ln>
        </p:spPr>
        <p:txBody>
          <a:bodyPr>
            <a:noAutofit/>
          </a:bodyPr>
          <a:lstStyle/>
          <a:p>
            <a:pPr algn="just" eaLnBrk="1" hangingPunct="1">
              <a:buNone/>
            </a:pPr>
            <a:r>
              <a:rPr lang="en-US" altLang="zh-CN" sz="2160" b="1" dirty="0">
                <a:solidFill>
                  <a:schemeClr val="bg1"/>
                </a:solidFill>
                <a:latin typeface="Times New Roman" panose="02020603050405020304" charset="0"/>
                <a:cs typeface="Times New Roman" panose="02020603050405020304" charset="0"/>
              </a:rPr>
              <a:t>Data Preprocessing</a:t>
            </a:r>
            <a:endParaRPr lang="en-US" altLang="zh-CN" sz="1680" dirty="0">
              <a:solidFill>
                <a:schemeClr val="tx2"/>
              </a:solidFill>
              <a:latin typeface="Times New Roman" panose="02020603050405020304" charset="0"/>
              <a:cs typeface="Times New Roman" panose="02020603050405020304" charset="0"/>
            </a:endParaRPr>
          </a:p>
          <a:p>
            <a:pPr algn="just" eaLnBrk="1" hangingPunct="1">
              <a:buNone/>
            </a:pPr>
            <a:endParaRPr lang="en-US" altLang="zh-CN" sz="1680" dirty="0">
              <a:solidFill>
                <a:schemeClr val="tx2"/>
              </a:solidFill>
              <a:latin typeface="Times New Roman" panose="02020603050405020304" charset="0"/>
              <a:ea typeface="Open Sans Light" pitchFamily="34" charset="0"/>
              <a:cs typeface="Times New Roman" panose="02020603050405020304" charset="0"/>
            </a:endParaRPr>
          </a:p>
          <a:p>
            <a:pPr algn="just" eaLnBrk="1" hangingPunct="1">
              <a:buNone/>
            </a:pPr>
            <a:r>
              <a:rPr lang="en-US" altLang="zh-CN" sz="1920" dirty="0">
                <a:solidFill>
                  <a:schemeClr val="bg1"/>
                </a:solidFill>
                <a:latin typeface="Times New Roman" panose="02020603050405020304" charset="0"/>
                <a:ea typeface="Open Sans Light" pitchFamily="34" charset="0"/>
                <a:cs typeface="Times New Roman" panose="02020603050405020304" charset="0"/>
              </a:rPr>
              <a:t>CML Models Preprocessing</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Standardization of all continuous features</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80/20 train-test split (stratified for Iris)</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Label encoding for categorical values</a:t>
            </a:r>
          </a:p>
          <a:p>
            <a:pPr algn="just" eaLnBrk="1" hangingPunct="1">
              <a:buNone/>
            </a:pP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a:p>
            <a:pPr algn="just" eaLnBrk="1" hangingPunct="1">
              <a:buNone/>
            </a:pPr>
            <a:r>
              <a:rPr lang="en-US" altLang="zh-CN" sz="1920" dirty="0">
                <a:solidFill>
                  <a:schemeClr val="bg1"/>
                </a:solidFill>
                <a:latin typeface="Times New Roman" panose="02020603050405020304" charset="0"/>
                <a:ea typeface="Open Sans Light" pitchFamily="34" charset="0"/>
                <a:cs typeface="Times New Roman" panose="02020603050405020304" charset="0"/>
              </a:rPr>
              <a:t>ICL Preprocessing</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Raw numerical values used directly (without normalization) to preserve readability</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Raw features presented as key-value pairs in natural format</a:t>
            </a:r>
          </a:p>
        </p:txBody>
      </p:sp>
      <p:sp>
        <p:nvSpPr>
          <p:cNvPr id="8" name="TextBox 7"/>
          <p:cNvSpPr txBox="1"/>
          <p:nvPr/>
        </p:nvSpPr>
        <p:spPr>
          <a:xfrm>
            <a:off x="6351270" y="1439418"/>
            <a:ext cx="5215890" cy="4758690"/>
          </a:xfrm>
          <a:prstGeom prst="rect">
            <a:avLst/>
          </a:prstGeom>
          <a:noFill/>
          <a:ln w="9525">
            <a:noFill/>
          </a:ln>
        </p:spPr>
        <p:txBody>
          <a:bodyPr wrap="square">
            <a:noAutofit/>
          </a:bodyPr>
          <a:lstStyle/>
          <a:p>
            <a:pPr algn="just" eaLnBrk="1" hangingPunct="1">
              <a:buNone/>
            </a:pPr>
            <a:r>
              <a:rPr lang="en-US" altLang="zh-CN" sz="2160" b="1" dirty="0">
                <a:solidFill>
                  <a:schemeClr val="bg1"/>
                </a:solidFill>
                <a:latin typeface="Times New Roman" panose="02020603050405020304" charset="0"/>
                <a:cs typeface="Times New Roman" panose="02020603050405020304" charset="0"/>
              </a:rPr>
              <a:t>Models </a:t>
            </a:r>
          </a:p>
          <a:p>
            <a:pPr algn="just" eaLnBrk="1" hangingPunct="1">
              <a:buNone/>
            </a:pPr>
            <a:endParaRPr lang="en-US" altLang="zh-CN" sz="1920" dirty="0">
              <a:solidFill>
                <a:schemeClr val="tx2"/>
              </a:solidFill>
              <a:latin typeface="Times New Roman" panose="02020603050405020304" charset="0"/>
              <a:cs typeface="Times New Roman" panose="02020603050405020304" charset="0"/>
            </a:endParaRPr>
          </a:p>
          <a:p>
            <a:pPr algn="just" eaLnBrk="1" hangingPunct="1">
              <a:buNone/>
            </a:pPr>
            <a:r>
              <a:rPr lang="en-US" altLang="zh-CN" sz="1920" dirty="0">
                <a:solidFill>
                  <a:schemeClr val="bg1"/>
                </a:solidFill>
                <a:latin typeface="Times New Roman" panose="02020603050405020304" charset="0"/>
                <a:ea typeface="Open Sans Light" pitchFamily="34" charset="0"/>
                <a:cs typeface="Times New Roman" panose="02020603050405020304" charset="0"/>
                <a:sym typeface="+mn-ea"/>
              </a:rPr>
              <a:t>CML Models</a:t>
            </a:r>
            <a:endParaRPr lang="en-US" altLang="zh-CN" sz="1920" dirty="0">
              <a:solidFill>
                <a:schemeClr val="bg1"/>
              </a:solidFill>
              <a:latin typeface="Times New Roman" panose="02020603050405020304" charset="0"/>
              <a:ea typeface="Open Sans Light" pitchFamily="34" charset="0"/>
              <a:cs typeface="Times New Roman" panose="02020603050405020304" charset="0"/>
            </a:endParaRP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sym typeface="+mn-ea"/>
              </a:rPr>
              <a:t>Support Vector Machine (SVM) — with RBF kernel for classification</a:t>
            </a: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sym typeface="+mn-ea"/>
              </a:rPr>
              <a:t>Random Forest (RF) — 100 estimators, max depth tuned via grid search</a:t>
            </a: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sym typeface="+mn-ea"/>
              </a:rPr>
              <a:t>Multi-Layer Perceptron (MLP) — 2 hidden layers with ReLU activation</a:t>
            </a:r>
            <a:endParaRPr lang="en-US" altLang="zh-CN" sz="1920" dirty="0">
              <a:solidFill>
                <a:schemeClr val="bg1"/>
              </a:solidFill>
              <a:latin typeface="Times New Roman" panose="02020603050405020304" charset="0"/>
              <a:ea typeface="Open Sans Light" pitchFamily="34" charset="0"/>
              <a:cs typeface="Times New Roman" panose="02020603050405020304" charset="0"/>
            </a:endParaRPr>
          </a:p>
          <a:p>
            <a:pPr algn="just" eaLnBrk="1" hangingPunct="1">
              <a:buNone/>
            </a:pPr>
            <a:endParaRPr lang="en-US" altLang="zh-CN" sz="1920" dirty="0">
              <a:solidFill>
                <a:schemeClr val="bg1"/>
              </a:solidFill>
              <a:latin typeface="Times New Roman" panose="02020603050405020304" charset="0"/>
              <a:ea typeface="Open Sans Light" pitchFamily="34" charset="0"/>
              <a:cs typeface="Times New Roman" panose="02020603050405020304" charset="0"/>
            </a:endParaRPr>
          </a:p>
          <a:p>
            <a:pPr algn="just" eaLnBrk="1" hangingPunct="1">
              <a:buNone/>
            </a:pPr>
            <a:r>
              <a:rPr lang="en-US" altLang="zh-CN" sz="1920" dirty="0">
                <a:solidFill>
                  <a:schemeClr val="bg1"/>
                </a:solidFill>
                <a:latin typeface="Times New Roman" panose="02020603050405020304" charset="0"/>
                <a:ea typeface="Open Sans Light" pitchFamily="34" charset="0"/>
                <a:cs typeface="Times New Roman" panose="02020603050405020304" charset="0"/>
              </a:rPr>
              <a:t>ICL Models (Accessed via SiliconFlow API)</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Qwen2-1.5B and Qwen2.5-7B (Alibaba DAMO Academy)</a:t>
            </a:r>
          </a:p>
          <a:p>
            <a:pPr marL="285750" indent="-2857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ChatGLM3-6B and GLM-4-9B (THUDM, Tsinghua University)</a:t>
            </a:r>
          </a:p>
          <a:p>
            <a:pPr algn="just" eaLnBrk="1" hangingPunct="1">
              <a:buNone/>
            </a:pP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a:p>
            <a:pPr algn="just" eaLnBrk="1" hangingPunct="1">
              <a:buNone/>
            </a:pP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p:txBody>
      </p:sp>
      <p:cxnSp>
        <p:nvCxnSpPr>
          <p:cNvPr id="6" name="直接连接符 5"/>
          <p:cNvCxnSpPr/>
          <p:nvPr/>
        </p:nvCxnSpPr>
        <p:spPr>
          <a:xfrm>
            <a:off x="5989320" y="1273302"/>
            <a:ext cx="15240" cy="5038344"/>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0"/>
            <a:ext cx="6147816" cy="6858000"/>
          </a:xfrm>
          <a:prstGeom prst="rect">
            <a:avLst/>
          </a:prstGeom>
          <a:solidFill>
            <a:schemeClr val="tx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dirty="0">
              <a:ln>
                <a:noFill/>
              </a:ln>
              <a:solidFill>
                <a:schemeClr val="lt1"/>
              </a:solidFill>
              <a:effectLst/>
              <a:uLnTx/>
              <a:uFillTx/>
              <a:latin typeface="Times New Roman" panose="02020603050405020304" charset="0"/>
              <a:ea typeface="+mn-ea"/>
              <a:cs typeface="Times New Roman" panose="02020603050405020304" charset="0"/>
            </a:endParaRPr>
          </a:p>
        </p:txBody>
      </p:sp>
      <p:sp>
        <p:nvSpPr>
          <p:cNvPr id="32" name="Rectangle 31"/>
          <p:cNvSpPr/>
          <p:nvPr/>
        </p:nvSpPr>
        <p:spPr>
          <a:xfrm>
            <a:off x="6147816" y="0"/>
            <a:ext cx="6044184" cy="6858000"/>
          </a:xfrm>
          <a:prstGeom prst="rect">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dirty="0">
              <a:ln>
                <a:noFill/>
              </a:ln>
              <a:solidFill>
                <a:schemeClr val="lt1"/>
              </a:solidFill>
              <a:effectLst/>
              <a:uLnTx/>
              <a:uFillTx/>
              <a:latin typeface="+mn-lt"/>
              <a:ea typeface="+mn-ea"/>
              <a:cs typeface="+mn-cs"/>
            </a:endParaRPr>
          </a:p>
        </p:txBody>
      </p:sp>
      <p:sp>
        <p:nvSpPr>
          <p:cNvPr id="39" name="Rectangle 38"/>
          <p:cNvSpPr/>
          <p:nvPr/>
        </p:nvSpPr>
        <p:spPr>
          <a:xfrm>
            <a:off x="215836" y="210312"/>
            <a:ext cx="5061585" cy="556260"/>
          </a:xfrm>
          <a:prstGeom prst="rect">
            <a:avLst/>
          </a:prstGeom>
          <a:noFill/>
          <a:ln w="9525">
            <a:noFill/>
          </a:ln>
        </p:spPr>
        <p:txBody>
          <a:bodyPr wrap="none">
            <a:spAutoFit/>
          </a:bodyPr>
          <a:lstStyle/>
          <a:p>
            <a:pPr algn="ctr" defTabSz="762000" eaLnBrk="1" fontAlgn="auto" hangingPunct="1">
              <a:lnSpc>
                <a:spcPct val="90000"/>
              </a:lnSpc>
              <a:buClrTx/>
              <a:buSzTx/>
              <a:buFontTx/>
              <a:buNone/>
            </a:pPr>
            <a:r>
              <a:rPr lang="en-US" altLang="zh-CN" sz="3360" b="1" dirty="0">
                <a:solidFill>
                  <a:schemeClr val="tx2"/>
                </a:solidFill>
                <a:latin typeface="Open Sans Light" pitchFamily="34" charset="0"/>
                <a:ea typeface="+mj-ea"/>
                <a:cs typeface="Open Sans Light" pitchFamily="34" charset="0"/>
              </a:rPr>
              <a:t>2.4 Prompt Design for ICL</a:t>
            </a:r>
          </a:p>
        </p:txBody>
      </p:sp>
      <p:sp>
        <p:nvSpPr>
          <p:cNvPr id="42" name="TextBox 41"/>
          <p:cNvSpPr txBox="1"/>
          <p:nvPr/>
        </p:nvSpPr>
        <p:spPr>
          <a:xfrm>
            <a:off x="198120" y="944880"/>
            <a:ext cx="5838444" cy="1956054"/>
          </a:xfrm>
          <a:prstGeom prst="rect">
            <a:avLst/>
          </a:prstGeom>
          <a:noFill/>
          <a:ln w="9525">
            <a:noFill/>
          </a:ln>
        </p:spPr>
        <p:txBody>
          <a:bodyPr>
            <a:noAutofit/>
          </a:bodyPr>
          <a:lstStyle/>
          <a:p>
            <a:pPr marL="171450" indent="-1714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For classification, the output is an integer class label.</a:t>
            </a:r>
          </a:p>
          <a:p>
            <a:pPr marL="171450" indent="-1714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For regression, the output is a continuous value.</a:t>
            </a:r>
          </a:p>
          <a:p>
            <a:pPr algn="just" eaLnBrk="1" hangingPunct="1">
              <a:buNone/>
            </a:pP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a:p>
            <a:pPr algn="just" eaLnBrk="1" hangingPunct="1">
              <a:buNone/>
            </a:pPr>
            <a:r>
              <a:rPr lang="en-US" altLang="zh-CN" sz="1920" dirty="0">
                <a:solidFill>
                  <a:schemeClr val="bg1"/>
                </a:solidFill>
                <a:latin typeface="Times New Roman" panose="02020603050405020304" charset="0"/>
                <a:ea typeface="Open Sans Light" pitchFamily="34" charset="0"/>
                <a:cs typeface="Times New Roman" panose="02020603050405020304" charset="0"/>
              </a:rPr>
              <a:t>Two prompt sizes were evaluated:</a:t>
            </a:r>
          </a:p>
          <a:p>
            <a:pPr marL="171450" indent="-1714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5-shot: Five examples before test input</a:t>
            </a:r>
          </a:p>
          <a:p>
            <a:pPr marL="171450" indent="-1714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10-shot: Ten examples before test input</a:t>
            </a:r>
          </a:p>
        </p:txBody>
      </p:sp>
      <p:pic>
        <p:nvPicPr>
          <p:cNvPr id="1893030964"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08732"/>
            <a:ext cx="6095238" cy="1435608"/>
          </a:xfrm>
          <a:prstGeom prst="rect">
            <a:avLst/>
          </a:prstGeom>
        </p:spPr>
      </p:pic>
      <p:sp>
        <p:nvSpPr>
          <p:cNvPr id="2" name="Rectangle 38"/>
          <p:cNvSpPr/>
          <p:nvPr/>
        </p:nvSpPr>
        <p:spPr>
          <a:xfrm>
            <a:off x="6369559" y="169926"/>
            <a:ext cx="2815590" cy="556260"/>
          </a:xfrm>
          <a:prstGeom prst="rect">
            <a:avLst/>
          </a:prstGeom>
          <a:noFill/>
          <a:ln w="9525">
            <a:noFill/>
          </a:ln>
        </p:spPr>
        <p:txBody>
          <a:bodyPr wrap="none">
            <a:spAutoFit/>
          </a:bodyPr>
          <a:lstStyle/>
          <a:p>
            <a:pPr algn="ctr" defTabSz="762000" eaLnBrk="1" fontAlgn="auto" hangingPunct="1">
              <a:lnSpc>
                <a:spcPct val="90000"/>
              </a:lnSpc>
              <a:buClrTx/>
              <a:buSzTx/>
              <a:buFontTx/>
              <a:buNone/>
            </a:pPr>
            <a:r>
              <a:rPr lang="en-US" altLang="zh-CN" sz="3360" b="1" dirty="0">
                <a:solidFill>
                  <a:schemeClr val="tx2"/>
                </a:solidFill>
                <a:latin typeface="Open Sans Light" pitchFamily="34" charset="0"/>
                <a:ea typeface="+mj-ea"/>
                <a:cs typeface="Open Sans Light" pitchFamily="34" charset="0"/>
              </a:rPr>
              <a:t>2.5 Evaluation</a:t>
            </a:r>
          </a:p>
        </p:txBody>
      </p:sp>
      <p:pic>
        <p:nvPicPr>
          <p:cNvPr id="274992275"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7816" y="2670810"/>
            <a:ext cx="6044946" cy="1459230"/>
          </a:xfrm>
          <a:prstGeom prst="rect">
            <a:avLst/>
          </a:prstGeom>
        </p:spPr>
      </p:pic>
      <p:sp>
        <p:nvSpPr>
          <p:cNvPr id="3" name="TextBox 41"/>
          <p:cNvSpPr txBox="1"/>
          <p:nvPr/>
        </p:nvSpPr>
        <p:spPr>
          <a:xfrm>
            <a:off x="6352032" y="944880"/>
            <a:ext cx="5788152" cy="1570482"/>
          </a:xfrm>
          <a:prstGeom prst="rect">
            <a:avLst/>
          </a:prstGeom>
          <a:noFill/>
          <a:ln w="9525">
            <a:noFill/>
          </a:ln>
        </p:spPr>
        <p:txBody>
          <a:bodyPr>
            <a:noAutofit/>
          </a:bodyPr>
          <a:lstStyle/>
          <a:p>
            <a:pPr algn="just" eaLnBrk="1" hangingPunct="1">
              <a:buFont typeface="Arial" panose="020B0604020202020204" pitchFamily="34" charset="0"/>
            </a:pPr>
            <a:r>
              <a:rPr lang="en-US" altLang="zh-CN" sz="2160" b="1" dirty="0">
                <a:solidFill>
                  <a:schemeClr val="tx2"/>
                </a:solidFill>
                <a:latin typeface="Times New Roman" panose="02020603050405020304" charset="0"/>
                <a:ea typeface="Open Sans Light" pitchFamily="34" charset="0"/>
                <a:cs typeface="Times New Roman" panose="02020603050405020304" charset="0"/>
              </a:rPr>
              <a:t>Evaluation Scope</a:t>
            </a:r>
          </a:p>
          <a:p>
            <a:pPr algn="just" eaLnBrk="1" hangingPunct="1">
              <a:buFont typeface="Arial" panose="020B0604020202020204" pitchFamily="34" charset="0"/>
            </a:pPr>
            <a:endParaRPr lang="en-US" altLang="zh-CN" sz="1920" dirty="0">
              <a:solidFill>
                <a:schemeClr val="tx2"/>
              </a:solidFill>
              <a:latin typeface="Times New Roman" panose="02020603050405020304" charset="0"/>
              <a:ea typeface="Open Sans Light" pitchFamily="34" charset="0"/>
              <a:cs typeface="Times New Roman" panose="02020603050405020304" charset="0"/>
            </a:endParaRPr>
          </a:p>
          <a:p>
            <a:pPr marL="171450" indent="-171450" algn="just" eaLnBrk="1" hangingPunct="1">
              <a:buFont typeface="Arial" panose="020B0604020202020204" pitchFamily="34" charset="0"/>
              <a:buChar char="•"/>
            </a:pPr>
            <a:r>
              <a:rPr lang="en-US" altLang="zh-CN" sz="1920" dirty="0">
                <a:solidFill>
                  <a:schemeClr val="tx2"/>
                </a:solidFill>
                <a:latin typeface="Times New Roman" panose="02020603050405020304" charset="0"/>
                <a:ea typeface="Open Sans Light" pitchFamily="34" charset="0"/>
                <a:cs typeface="Times New Roman" panose="02020603050405020304" charset="0"/>
              </a:rPr>
              <a:t>Each ICL model was evaluated on 30 randomly sampled test instances, while CML models were evaluated on the full test set.</a:t>
            </a:r>
          </a:p>
        </p:txBody>
      </p:sp>
      <p:pic>
        <p:nvPicPr>
          <p:cNvPr id="4" name="图片 3"/>
          <p:cNvPicPr>
            <a:picLocks noChangeAspect="1"/>
          </p:cNvPicPr>
          <p:nvPr/>
        </p:nvPicPr>
        <p:blipFill>
          <a:blip r:embed="rId5"/>
          <a:stretch>
            <a:fillRect/>
          </a:stretch>
        </p:blipFill>
        <p:spPr>
          <a:xfrm>
            <a:off x="6483858" y="4804410"/>
            <a:ext cx="5237988" cy="1699260"/>
          </a:xfrm>
          <a:prstGeom prst="rect">
            <a:avLst/>
          </a:prstGeom>
        </p:spPr>
      </p:pic>
      <p:pic>
        <p:nvPicPr>
          <p:cNvPr id="5" name="图片 4"/>
          <p:cNvPicPr>
            <a:picLocks noChangeAspect="1"/>
          </p:cNvPicPr>
          <p:nvPr/>
        </p:nvPicPr>
        <p:blipFill>
          <a:blip r:embed="rId6"/>
          <a:stretch>
            <a:fillRect/>
          </a:stretch>
        </p:blipFill>
        <p:spPr>
          <a:xfrm>
            <a:off x="262128" y="4805172"/>
            <a:ext cx="5465064" cy="1711452"/>
          </a:xfrm>
          <a:prstGeom prst="rect">
            <a:avLst/>
          </a:prstGeom>
        </p:spPr>
      </p:pic>
      <p:sp>
        <p:nvSpPr>
          <p:cNvPr id="6" name="文本框 5"/>
          <p:cNvSpPr txBox="1"/>
          <p:nvPr/>
        </p:nvSpPr>
        <p:spPr>
          <a:xfrm>
            <a:off x="162306" y="4288536"/>
            <a:ext cx="4063746" cy="386080"/>
          </a:xfrm>
          <a:prstGeom prst="rect">
            <a:avLst/>
          </a:prstGeom>
          <a:noFill/>
        </p:spPr>
        <p:txBody>
          <a:bodyPr wrap="square" rtlCol="0">
            <a:spAutoFit/>
          </a:bodyPr>
          <a:lstStyle/>
          <a:p>
            <a:pPr marL="285750" indent="-285750">
              <a:buFont typeface="Arial" panose="020B0604020202020204" pitchFamily="34" charset="0"/>
              <a:buChar char="•"/>
            </a:pPr>
            <a:r>
              <a:rPr lang="en-US" altLang="zh-CN" sz="1920" dirty="0">
                <a:solidFill>
                  <a:srgbClr val="C00000"/>
                </a:solidFill>
                <a:latin typeface="Times New Roman" panose="02020603050405020304" charset="0"/>
                <a:ea typeface="Open Sans Light" pitchFamily="34" charset="0"/>
                <a:cs typeface="Times New Roman" panose="02020603050405020304" charset="0"/>
                <a:sym typeface="+mn-ea"/>
              </a:rPr>
              <a:t>The output of classification </a:t>
            </a:r>
          </a:p>
        </p:txBody>
      </p:sp>
      <p:sp>
        <p:nvSpPr>
          <p:cNvPr id="7" name="文本框 6"/>
          <p:cNvSpPr txBox="1"/>
          <p:nvPr/>
        </p:nvSpPr>
        <p:spPr>
          <a:xfrm>
            <a:off x="6579108" y="4288536"/>
            <a:ext cx="4063746" cy="386080"/>
          </a:xfrm>
          <a:prstGeom prst="rect">
            <a:avLst/>
          </a:prstGeom>
          <a:noFill/>
        </p:spPr>
        <p:txBody>
          <a:bodyPr wrap="square" rtlCol="0">
            <a:spAutoFit/>
          </a:bodyPr>
          <a:lstStyle/>
          <a:p>
            <a:pPr marL="285750" indent="-285750">
              <a:buFont typeface="Arial" panose="020B0604020202020204" pitchFamily="34" charset="0"/>
              <a:buChar char="•"/>
            </a:pPr>
            <a:r>
              <a:rPr lang="en-US" altLang="zh-CN" sz="1920" dirty="0">
                <a:solidFill>
                  <a:srgbClr val="C00000"/>
                </a:solidFill>
                <a:latin typeface="Times New Roman" panose="02020603050405020304" charset="0"/>
                <a:ea typeface="Open Sans Light" pitchFamily="34" charset="0"/>
                <a:cs typeface="Times New Roman" panose="02020603050405020304" charset="0"/>
                <a:sym typeface="+mn-ea"/>
              </a:rPr>
              <a:t>The output of regression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down)">
                                      <p:cBhvr>
                                        <p:cTn id="10" dur="500"/>
                                        <p:tgtEl>
                                          <p:spTgt spid="42"/>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506" name="Title 2"/>
          <p:cNvSpPr>
            <a:spLocks noGrp="1"/>
          </p:cNvSpPr>
          <p:nvPr>
            <p:ph type="title"/>
          </p:nvPr>
        </p:nvSpPr>
        <p:spPr>
          <a:xfrm>
            <a:off x="838200" y="365760"/>
            <a:ext cx="10515600" cy="512446"/>
          </a:xfrm>
          <a:noFill/>
          <a:ln>
            <a:noFill/>
          </a:ln>
        </p:spPr>
        <p:txBody>
          <a:bodyPr lIns="109728" tIns="54864" rIns="109728" bIns="54864" anchor="ctr" anchorCtr="0">
            <a:noAutofit/>
          </a:bodyPr>
          <a:lstStyle/>
          <a:p>
            <a:pPr algn="ctr" defTabSz="762000">
              <a:buClrTx/>
              <a:buSzTx/>
              <a:buFontTx/>
              <a:buNone/>
            </a:pPr>
            <a:r>
              <a:rPr lang="en-US" altLang="zh-CN" sz="3360" b="1" kern="1200" dirty="0">
                <a:latin typeface="Open Sans Light" pitchFamily="34" charset="0"/>
                <a:ea typeface="+mj-ea"/>
                <a:cs typeface="Open Sans Light" pitchFamily="34" charset="0"/>
              </a:rPr>
              <a:t>3 Insights on ICL</a:t>
            </a:r>
          </a:p>
        </p:txBody>
      </p:sp>
      <p:sp>
        <p:nvSpPr>
          <p:cNvPr id="21507"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7</a:t>
            </a:fld>
            <a:endParaRPr lang="en-US" altLang="zh-CN" sz="1200" dirty="0">
              <a:latin typeface="Open Sans" pitchFamily="34" charset="0"/>
              <a:ea typeface="Open Sans" pitchFamily="34" charset="0"/>
              <a:cs typeface="Open Sans" pitchFamily="34" charset="0"/>
            </a:endParaRPr>
          </a:p>
        </p:txBody>
      </p:sp>
      <p:sp>
        <p:nvSpPr>
          <p:cNvPr id="57" name="Freeform 5"/>
          <p:cNvSpPr/>
          <p:nvPr/>
        </p:nvSpPr>
        <p:spPr bwMode="auto">
          <a:xfrm rot="18900000">
            <a:off x="4322446" y="1687830"/>
            <a:ext cx="1838326" cy="2350770"/>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bg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8" name="Freeform 5"/>
          <p:cNvSpPr/>
          <p:nvPr/>
        </p:nvSpPr>
        <p:spPr bwMode="auto">
          <a:xfrm rot="2700000">
            <a:off x="6035993" y="1686877"/>
            <a:ext cx="1840230" cy="2352676"/>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9" name="Freeform 5"/>
          <p:cNvSpPr/>
          <p:nvPr/>
        </p:nvSpPr>
        <p:spPr bwMode="auto">
          <a:xfrm rot="2700000" flipH="1">
            <a:off x="4322446" y="3400426"/>
            <a:ext cx="1838326" cy="2350770"/>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0" name="Freeform 5"/>
          <p:cNvSpPr/>
          <p:nvPr/>
        </p:nvSpPr>
        <p:spPr bwMode="auto">
          <a:xfrm rot="18900000" flipH="1">
            <a:off x="6035993" y="3399473"/>
            <a:ext cx="1840230" cy="2352676"/>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3"/>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5" name="Freeform 106"/>
          <p:cNvSpPr>
            <a:spLocks noEditPoints="1"/>
          </p:cNvSpPr>
          <p:nvPr/>
        </p:nvSpPr>
        <p:spPr bwMode="auto">
          <a:xfrm rot="16200000">
            <a:off x="6724650" y="4253866"/>
            <a:ext cx="421006" cy="539116"/>
          </a:xfrm>
          <a:custGeom>
            <a:avLst/>
            <a:gdLst>
              <a:gd name="T0" fmla="*/ 384 w 402"/>
              <a:gd name="T1" fmla="*/ 0 h 512"/>
              <a:gd name="T2" fmla="*/ 384 w 402"/>
              <a:gd name="T3" fmla="*/ 512 h 512"/>
              <a:gd name="T4" fmla="*/ 76 w 402"/>
              <a:gd name="T5" fmla="*/ 400 h 512"/>
              <a:gd name="T6" fmla="*/ 110 w 402"/>
              <a:gd name="T7" fmla="*/ 375 h 512"/>
              <a:gd name="T8" fmla="*/ 73 w 402"/>
              <a:gd name="T9" fmla="*/ 375 h 512"/>
              <a:gd name="T10" fmla="*/ 101 w 402"/>
              <a:gd name="T11" fmla="*/ 329 h 512"/>
              <a:gd name="T12" fmla="*/ 101 w 402"/>
              <a:gd name="T13" fmla="*/ 293 h 512"/>
              <a:gd name="T14" fmla="*/ 73 w 402"/>
              <a:gd name="T15" fmla="*/ 247 h 512"/>
              <a:gd name="T16" fmla="*/ 110 w 402"/>
              <a:gd name="T17" fmla="*/ 247 h 512"/>
              <a:gd name="T18" fmla="*/ 76 w 402"/>
              <a:gd name="T19" fmla="*/ 222 h 512"/>
              <a:gd name="T20" fmla="*/ 82 w 402"/>
              <a:gd name="T21" fmla="*/ 183 h 512"/>
              <a:gd name="T22" fmla="*/ 107 w 402"/>
              <a:gd name="T23" fmla="*/ 149 h 512"/>
              <a:gd name="T24" fmla="*/ 73 w 402"/>
              <a:gd name="T25" fmla="*/ 174 h 512"/>
              <a:gd name="T26" fmla="*/ 107 w 402"/>
              <a:gd name="T27" fmla="*/ 107 h 512"/>
              <a:gd name="T28" fmla="*/ 82 w 402"/>
              <a:gd name="T29" fmla="*/ 73 h 512"/>
              <a:gd name="T30" fmla="*/ 146 w 402"/>
              <a:gd name="T31" fmla="*/ 466 h 512"/>
              <a:gd name="T32" fmla="*/ 256 w 402"/>
              <a:gd name="T33" fmla="*/ 466 h 512"/>
              <a:gd name="T34" fmla="*/ 149 w 402"/>
              <a:gd name="T35" fmla="*/ 405 h 512"/>
              <a:gd name="T36" fmla="*/ 174 w 402"/>
              <a:gd name="T37" fmla="*/ 329 h 512"/>
              <a:gd name="T38" fmla="*/ 174 w 402"/>
              <a:gd name="T39" fmla="*/ 293 h 512"/>
              <a:gd name="T40" fmla="*/ 146 w 402"/>
              <a:gd name="T41" fmla="*/ 247 h 512"/>
              <a:gd name="T42" fmla="*/ 183 w 402"/>
              <a:gd name="T43" fmla="*/ 247 h 512"/>
              <a:gd name="T44" fmla="*/ 149 w 402"/>
              <a:gd name="T45" fmla="*/ 222 h 512"/>
              <a:gd name="T46" fmla="*/ 155 w 402"/>
              <a:gd name="T47" fmla="*/ 183 h 512"/>
              <a:gd name="T48" fmla="*/ 180 w 402"/>
              <a:gd name="T49" fmla="*/ 149 h 512"/>
              <a:gd name="T50" fmla="*/ 146 w 402"/>
              <a:gd name="T51" fmla="*/ 174 h 512"/>
              <a:gd name="T52" fmla="*/ 180 w 402"/>
              <a:gd name="T53" fmla="*/ 107 h 512"/>
              <a:gd name="T54" fmla="*/ 155 w 402"/>
              <a:gd name="T55" fmla="*/ 73 h 512"/>
              <a:gd name="T56" fmla="*/ 222 w 402"/>
              <a:gd name="T57" fmla="*/ 327 h 512"/>
              <a:gd name="T58" fmla="*/ 256 w 402"/>
              <a:gd name="T59" fmla="*/ 302 h 512"/>
              <a:gd name="T60" fmla="*/ 219 w 402"/>
              <a:gd name="T61" fmla="*/ 302 h 512"/>
              <a:gd name="T62" fmla="*/ 247 w 402"/>
              <a:gd name="T63" fmla="*/ 256 h 512"/>
              <a:gd name="T64" fmla="*/ 247 w 402"/>
              <a:gd name="T65" fmla="*/ 219 h 512"/>
              <a:gd name="T66" fmla="*/ 219 w 402"/>
              <a:gd name="T67" fmla="*/ 174 h 512"/>
              <a:gd name="T68" fmla="*/ 256 w 402"/>
              <a:gd name="T69" fmla="*/ 174 h 512"/>
              <a:gd name="T70" fmla="*/ 222 w 402"/>
              <a:gd name="T71" fmla="*/ 149 h 512"/>
              <a:gd name="T72" fmla="*/ 229 w 402"/>
              <a:gd name="T73" fmla="*/ 110 h 512"/>
              <a:gd name="T74" fmla="*/ 253 w 402"/>
              <a:gd name="T75" fmla="*/ 76 h 512"/>
              <a:gd name="T76" fmla="*/ 219 w 402"/>
              <a:gd name="T77" fmla="*/ 101 h 512"/>
              <a:gd name="T78" fmla="*/ 327 w 402"/>
              <a:gd name="T79" fmla="*/ 400 h 512"/>
              <a:gd name="T80" fmla="*/ 302 w 402"/>
              <a:gd name="T81" fmla="*/ 366 h 512"/>
              <a:gd name="T82" fmla="*/ 295 w 402"/>
              <a:gd name="T83" fmla="*/ 327 h 512"/>
              <a:gd name="T84" fmla="*/ 329 w 402"/>
              <a:gd name="T85" fmla="*/ 302 h 512"/>
              <a:gd name="T86" fmla="*/ 293 w 402"/>
              <a:gd name="T87" fmla="*/ 302 h 512"/>
              <a:gd name="T88" fmla="*/ 320 w 402"/>
              <a:gd name="T89" fmla="*/ 256 h 512"/>
              <a:gd name="T90" fmla="*/ 320 w 402"/>
              <a:gd name="T91" fmla="*/ 219 h 512"/>
              <a:gd name="T92" fmla="*/ 293 w 402"/>
              <a:gd name="T93" fmla="*/ 174 h 512"/>
              <a:gd name="T94" fmla="*/ 329 w 402"/>
              <a:gd name="T95" fmla="*/ 174 h 512"/>
              <a:gd name="T96" fmla="*/ 295 w 402"/>
              <a:gd name="T97" fmla="*/ 149 h 512"/>
              <a:gd name="T98" fmla="*/ 302 w 402"/>
              <a:gd name="T99" fmla="*/ 110 h 512"/>
              <a:gd name="T100" fmla="*/ 327 w 402"/>
              <a:gd name="T101" fmla="*/ 76 h 512"/>
              <a:gd name="T102" fmla="*/ 293 w 402"/>
              <a:gd name="T103" fmla="*/ 1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2" h="512">
                <a:moveTo>
                  <a:pt x="0" y="494"/>
                </a:moveTo>
                <a:cubicBezTo>
                  <a:pt x="0" y="18"/>
                  <a:pt x="0" y="18"/>
                  <a:pt x="0" y="18"/>
                </a:cubicBezTo>
                <a:cubicBezTo>
                  <a:pt x="0" y="13"/>
                  <a:pt x="2" y="9"/>
                  <a:pt x="5" y="5"/>
                </a:cubicBezTo>
                <a:cubicBezTo>
                  <a:pt x="9" y="2"/>
                  <a:pt x="13" y="0"/>
                  <a:pt x="18" y="0"/>
                </a:cubicBezTo>
                <a:cubicBezTo>
                  <a:pt x="384" y="0"/>
                  <a:pt x="384" y="0"/>
                  <a:pt x="384" y="0"/>
                </a:cubicBezTo>
                <a:cubicBezTo>
                  <a:pt x="389" y="0"/>
                  <a:pt x="393" y="2"/>
                  <a:pt x="397" y="5"/>
                </a:cubicBezTo>
                <a:cubicBezTo>
                  <a:pt x="400" y="9"/>
                  <a:pt x="402" y="13"/>
                  <a:pt x="402" y="18"/>
                </a:cubicBezTo>
                <a:cubicBezTo>
                  <a:pt x="402" y="494"/>
                  <a:pt x="402" y="494"/>
                  <a:pt x="402" y="494"/>
                </a:cubicBezTo>
                <a:cubicBezTo>
                  <a:pt x="402" y="499"/>
                  <a:pt x="400" y="503"/>
                  <a:pt x="397" y="507"/>
                </a:cubicBezTo>
                <a:cubicBezTo>
                  <a:pt x="393" y="510"/>
                  <a:pt x="389" y="512"/>
                  <a:pt x="384" y="512"/>
                </a:cubicBezTo>
                <a:cubicBezTo>
                  <a:pt x="18" y="512"/>
                  <a:pt x="18" y="512"/>
                  <a:pt x="18" y="512"/>
                </a:cubicBezTo>
                <a:cubicBezTo>
                  <a:pt x="13" y="512"/>
                  <a:pt x="9" y="510"/>
                  <a:pt x="5" y="507"/>
                </a:cubicBezTo>
                <a:cubicBezTo>
                  <a:pt x="2" y="503"/>
                  <a:pt x="0" y="499"/>
                  <a:pt x="0" y="494"/>
                </a:cubicBezTo>
                <a:close/>
                <a:moveTo>
                  <a:pt x="73" y="393"/>
                </a:moveTo>
                <a:cubicBezTo>
                  <a:pt x="73" y="396"/>
                  <a:pt x="74" y="398"/>
                  <a:pt x="76" y="400"/>
                </a:cubicBezTo>
                <a:cubicBezTo>
                  <a:pt x="77" y="401"/>
                  <a:pt x="80" y="402"/>
                  <a:pt x="82" y="402"/>
                </a:cubicBezTo>
                <a:cubicBezTo>
                  <a:pt x="101" y="402"/>
                  <a:pt x="101" y="402"/>
                  <a:pt x="101" y="402"/>
                </a:cubicBezTo>
                <a:cubicBezTo>
                  <a:pt x="103" y="402"/>
                  <a:pt x="105" y="401"/>
                  <a:pt x="107" y="400"/>
                </a:cubicBezTo>
                <a:cubicBezTo>
                  <a:pt x="109" y="398"/>
                  <a:pt x="110" y="396"/>
                  <a:pt x="110" y="393"/>
                </a:cubicBezTo>
                <a:cubicBezTo>
                  <a:pt x="110" y="375"/>
                  <a:pt x="110" y="375"/>
                  <a:pt x="110" y="375"/>
                </a:cubicBezTo>
                <a:cubicBezTo>
                  <a:pt x="110" y="372"/>
                  <a:pt x="109" y="370"/>
                  <a:pt x="107" y="368"/>
                </a:cubicBezTo>
                <a:cubicBezTo>
                  <a:pt x="105" y="367"/>
                  <a:pt x="103" y="366"/>
                  <a:pt x="101" y="366"/>
                </a:cubicBezTo>
                <a:cubicBezTo>
                  <a:pt x="82" y="366"/>
                  <a:pt x="82" y="366"/>
                  <a:pt x="82" y="366"/>
                </a:cubicBezTo>
                <a:cubicBezTo>
                  <a:pt x="80" y="366"/>
                  <a:pt x="77" y="367"/>
                  <a:pt x="76" y="368"/>
                </a:cubicBezTo>
                <a:cubicBezTo>
                  <a:pt x="74" y="370"/>
                  <a:pt x="73" y="372"/>
                  <a:pt x="73" y="375"/>
                </a:cubicBezTo>
                <a:lnTo>
                  <a:pt x="73" y="393"/>
                </a:lnTo>
                <a:close/>
                <a:moveTo>
                  <a:pt x="73" y="320"/>
                </a:moveTo>
                <a:cubicBezTo>
                  <a:pt x="73" y="323"/>
                  <a:pt x="74" y="325"/>
                  <a:pt x="76" y="327"/>
                </a:cubicBezTo>
                <a:cubicBezTo>
                  <a:pt x="77" y="328"/>
                  <a:pt x="80" y="329"/>
                  <a:pt x="82" y="329"/>
                </a:cubicBezTo>
                <a:cubicBezTo>
                  <a:pt x="101" y="329"/>
                  <a:pt x="101" y="329"/>
                  <a:pt x="101" y="329"/>
                </a:cubicBezTo>
                <a:cubicBezTo>
                  <a:pt x="103" y="329"/>
                  <a:pt x="105" y="328"/>
                  <a:pt x="107" y="327"/>
                </a:cubicBezTo>
                <a:cubicBezTo>
                  <a:pt x="109" y="325"/>
                  <a:pt x="110" y="323"/>
                  <a:pt x="110" y="320"/>
                </a:cubicBezTo>
                <a:cubicBezTo>
                  <a:pt x="110" y="302"/>
                  <a:pt x="110" y="302"/>
                  <a:pt x="110" y="302"/>
                </a:cubicBezTo>
                <a:cubicBezTo>
                  <a:pt x="110" y="299"/>
                  <a:pt x="109" y="297"/>
                  <a:pt x="107" y="295"/>
                </a:cubicBezTo>
                <a:cubicBezTo>
                  <a:pt x="105" y="293"/>
                  <a:pt x="103" y="293"/>
                  <a:pt x="101" y="293"/>
                </a:cubicBezTo>
                <a:cubicBezTo>
                  <a:pt x="82" y="293"/>
                  <a:pt x="82" y="293"/>
                  <a:pt x="82" y="293"/>
                </a:cubicBezTo>
                <a:cubicBezTo>
                  <a:pt x="80" y="293"/>
                  <a:pt x="77" y="293"/>
                  <a:pt x="76" y="295"/>
                </a:cubicBezTo>
                <a:cubicBezTo>
                  <a:pt x="74" y="297"/>
                  <a:pt x="73" y="299"/>
                  <a:pt x="73" y="302"/>
                </a:cubicBezTo>
                <a:lnTo>
                  <a:pt x="73" y="320"/>
                </a:lnTo>
                <a:close/>
                <a:moveTo>
                  <a:pt x="73" y="247"/>
                </a:moveTo>
                <a:cubicBezTo>
                  <a:pt x="73" y="250"/>
                  <a:pt x="74" y="252"/>
                  <a:pt x="76" y="253"/>
                </a:cubicBezTo>
                <a:cubicBezTo>
                  <a:pt x="77" y="255"/>
                  <a:pt x="80" y="256"/>
                  <a:pt x="82" y="256"/>
                </a:cubicBezTo>
                <a:cubicBezTo>
                  <a:pt x="101" y="256"/>
                  <a:pt x="101" y="256"/>
                  <a:pt x="101" y="256"/>
                </a:cubicBezTo>
                <a:cubicBezTo>
                  <a:pt x="103" y="256"/>
                  <a:pt x="105" y="255"/>
                  <a:pt x="107" y="253"/>
                </a:cubicBezTo>
                <a:cubicBezTo>
                  <a:pt x="109" y="252"/>
                  <a:pt x="110" y="250"/>
                  <a:pt x="110" y="247"/>
                </a:cubicBezTo>
                <a:cubicBezTo>
                  <a:pt x="110" y="229"/>
                  <a:pt x="110" y="229"/>
                  <a:pt x="110" y="229"/>
                </a:cubicBezTo>
                <a:cubicBezTo>
                  <a:pt x="110" y="226"/>
                  <a:pt x="109" y="224"/>
                  <a:pt x="107" y="222"/>
                </a:cubicBezTo>
                <a:cubicBezTo>
                  <a:pt x="105" y="220"/>
                  <a:pt x="103" y="219"/>
                  <a:pt x="101" y="219"/>
                </a:cubicBezTo>
                <a:cubicBezTo>
                  <a:pt x="82" y="219"/>
                  <a:pt x="82" y="219"/>
                  <a:pt x="82" y="219"/>
                </a:cubicBezTo>
                <a:cubicBezTo>
                  <a:pt x="80" y="219"/>
                  <a:pt x="77" y="220"/>
                  <a:pt x="76" y="222"/>
                </a:cubicBezTo>
                <a:cubicBezTo>
                  <a:pt x="74" y="224"/>
                  <a:pt x="73" y="226"/>
                  <a:pt x="73" y="229"/>
                </a:cubicBezTo>
                <a:lnTo>
                  <a:pt x="73" y="247"/>
                </a:lnTo>
                <a:close/>
                <a:moveTo>
                  <a:pt x="73" y="174"/>
                </a:moveTo>
                <a:cubicBezTo>
                  <a:pt x="73" y="176"/>
                  <a:pt x="74" y="179"/>
                  <a:pt x="76" y="180"/>
                </a:cubicBezTo>
                <a:cubicBezTo>
                  <a:pt x="77" y="182"/>
                  <a:pt x="80" y="183"/>
                  <a:pt x="82" y="183"/>
                </a:cubicBezTo>
                <a:cubicBezTo>
                  <a:pt x="101" y="183"/>
                  <a:pt x="101" y="183"/>
                  <a:pt x="101" y="183"/>
                </a:cubicBezTo>
                <a:cubicBezTo>
                  <a:pt x="103" y="183"/>
                  <a:pt x="105" y="182"/>
                  <a:pt x="107" y="180"/>
                </a:cubicBezTo>
                <a:cubicBezTo>
                  <a:pt x="109" y="179"/>
                  <a:pt x="110" y="176"/>
                  <a:pt x="110" y="174"/>
                </a:cubicBezTo>
                <a:cubicBezTo>
                  <a:pt x="110" y="155"/>
                  <a:pt x="110" y="155"/>
                  <a:pt x="110" y="155"/>
                </a:cubicBezTo>
                <a:cubicBezTo>
                  <a:pt x="110" y="153"/>
                  <a:pt x="109" y="151"/>
                  <a:pt x="107" y="149"/>
                </a:cubicBezTo>
                <a:cubicBezTo>
                  <a:pt x="105" y="147"/>
                  <a:pt x="103" y="146"/>
                  <a:pt x="101" y="146"/>
                </a:cubicBezTo>
                <a:cubicBezTo>
                  <a:pt x="82" y="146"/>
                  <a:pt x="82" y="146"/>
                  <a:pt x="82" y="146"/>
                </a:cubicBezTo>
                <a:cubicBezTo>
                  <a:pt x="80" y="146"/>
                  <a:pt x="77" y="147"/>
                  <a:pt x="76" y="149"/>
                </a:cubicBezTo>
                <a:cubicBezTo>
                  <a:pt x="74" y="151"/>
                  <a:pt x="73" y="153"/>
                  <a:pt x="73" y="155"/>
                </a:cubicBezTo>
                <a:lnTo>
                  <a:pt x="73" y="174"/>
                </a:lnTo>
                <a:close/>
                <a:moveTo>
                  <a:pt x="73" y="101"/>
                </a:moveTo>
                <a:cubicBezTo>
                  <a:pt x="73" y="103"/>
                  <a:pt x="74" y="105"/>
                  <a:pt x="76" y="107"/>
                </a:cubicBezTo>
                <a:cubicBezTo>
                  <a:pt x="77" y="109"/>
                  <a:pt x="80" y="110"/>
                  <a:pt x="82" y="110"/>
                </a:cubicBezTo>
                <a:cubicBezTo>
                  <a:pt x="101" y="110"/>
                  <a:pt x="101" y="110"/>
                  <a:pt x="101" y="110"/>
                </a:cubicBezTo>
                <a:cubicBezTo>
                  <a:pt x="103" y="110"/>
                  <a:pt x="105" y="109"/>
                  <a:pt x="107" y="107"/>
                </a:cubicBezTo>
                <a:cubicBezTo>
                  <a:pt x="109" y="105"/>
                  <a:pt x="110" y="103"/>
                  <a:pt x="110" y="101"/>
                </a:cubicBezTo>
                <a:cubicBezTo>
                  <a:pt x="110" y="82"/>
                  <a:pt x="110" y="82"/>
                  <a:pt x="110" y="82"/>
                </a:cubicBezTo>
                <a:cubicBezTo>
                  <a:pt x="110" y="80"/>
                  <a:pt x="109" y="77"/>
                  <a:pt x="107" y="76"/>
                </a:cubicBezTo>
                <a:cubicBezTo>
                  <a:pt x="105" y="74"/>
                  <a:pt x="103" y="73"/>
                  <a:pt x="101" y="73"/>
                </a:cubicBezTo>
                <a:cubicBezTo>
                  <a:pt x="82" y="73"/>
                  <a:pt x="82" y="73"/>
                  <a:pt x="82" y="73"/>
                </a:cubicBezTo>
                <a:cubicBezTo>
                  <a:pt x="80" y="73"/>
                  <a:pt x="77" y="74"/>
                  <a:pt x="76" y="76"/>
                </a:cubicBezTo>
                <a:cubicBezTo>
                  <a:pt x="74" y="77"/>
                  <a:pt x="73" y="80"/>
                  <a:pt x="73" y="82"/>
                </a:cubicBezTo>
                <a:lnTo>
                  <a:pt x="73" y="101"/>
                </a:lnTo>
                <a:close/>
                <a:moveTo>
                  <a:pt x="146" y="411"/>
                </a:moveTo>
                <a:cubicBezTo>
                  <a:pt x="146" y="466"/>
                  <a:pt x="146" y="466"/>
                  <a:pt x="146" y="466"/>
                </a:cubicBezTo>
                <a:cubicBezTo>
                  <a:pt x="146" y="469"/>
                  <a:pt x="147" y="471"/>
                  <a:pt x="149" y="473"/>
                </a:cubicBezTo>
                <a:cubicBezTo>
                  <a:pt x="151" y="475"/>
                  <a:pt x="153" y="475"/>
                  <a:pt x="155" y="475"/>
                </a:cubicBezTo>
                <a:cubicBezTo>
                  <a:pt x="247" y="475"/>
                  <a:pt x="247" y="475"/>
                  <a:pt x="247" y="475"/>
                </a:cubicBezTo>
                <a:cubicBezTo>
                  <a:pt x="250" y="475"/>
                  <a:pt x="252" y="475"/>
                  <a:pt x="253" y="473"/>
                </a:cubicBezTo>
                <a:cubicBezTo>
                  <a:pt x="255" y="471"/>
                  <a:pt x="256" y="469"/>
                  <a:pt x="256" y="466"/>
                </a:cubicBezTo>
                <a:cubicBezTo>
                  <a:pt x="256" y="411"/>
                  <a:pt x="256" y="411"/>
                  <a:pt x="256" y="411"/>
                </a:cubicBezTo>
                <a:cubicBezTo>
                  <a:pt x="256" y="409"/>
                  <a:pt x="255" y="407"/>
                  <a:pt x="253" y="405"/>
                </a:cubicBezTo>
                <a:cubicBezTo>
                  <a:pt x="252" y="403"/>
                  <a:pt x="250" y="402"/>
                  <a:pt x="247" y="402"/>
                </a:cubicBezTo>
                <a:cubicBezTo>
                  <a:pt x="155" y="402"/>
                  <a:pt x="155" y="402"/>
                  <a:pt x="155" y="402"/>
                </a:cubicBezTo>
                <a:cubicBezTo>
                  <a:pt x="153" y="402"/>
                  <a:pt x="151" y="403"/>
                  <a:pt x="149" y="405"/>
                </a:cubicBezTo>
                <a:cubicBezTo>
                  <a:pt x="147" y="407"/>
                  <a:pt x="146" y="409"/>
                  <a:pt x="146" y="411"/>
                </a:cubicBezTo>
                <a:close/>
                <a:moveTo>
                  <a:pt x="146" y="320"/>
                </a:moveTo>
                <a:cubicBezTo>
                  <a:pt x="146" y="323"/>
                  <a:pt x="147" y="325"/>
                  <a:pt x="149" y="327"/>
                </a:cubicBezTo>
                <a:cubicBezTo>
                  <a:pt x="151" y="328"/>
                  <a:pt x="153" y="329"/>
                  <a:pt x="155" y="329"/>
                </a:cubicBezTo>
                <a:cubicBezTo>
                  <a:pt x="174" y="329"/>
                  <a:pt x="174" y="329"/>
                  <a:pt x="174" y="329"/>
                </a:cubicBezTo>
                <a:cubicBezTo>
                  <a:pt x="176" y="329"/>
                  <a:pt x="179" y="328"/>
                  <a:pt x="180" y="327"/>
                </a:cubicBezTo>
                <a:cubicBezTo>
                  <a:pt x="182" y="325"/>
                  <a:pt x="183" y="323"/>
                  <a:pt x="183" y="320"/>
                </a:cubicBezTo>
                <a:cubicBezTo>
                  <a:pt x="183" y="302"/>
                  <a:pt x="183" y="302"/>
                  <a:pt x="183" y="302"/>
                </a:cubicBezTo>
                <a:cubicBezTo>
                  <a:pt x="183" y="299"/>
                  <a:pt x="182" y="297"/>
                  <a:pt x="180" y="295"/>
                </a:cubicBezTo>
                <a:cubicBezTo>
                  <a:pt x="179" y="293"/>
                  <a:pt x="176" y="293"/>
                  <a:pt x="174" y="293"/>
                </a:cubicBezTo>
                <a:cubicBezTo>
                  <a:pt x="155" y="293"/>
                  <a:pt x="155" y="293"/>
                  <a:pt x="155" y="293"/>
                </a:cubicBezTo>
                <a:cubicBezTo>
                  <a:pt x="153" y="293"/>
                  <a:pt x="151" y="293"/>
                  <a:pt x="149" y="295"/>
                </a:cubicBezTo>
                <a:cubicBezTo>
                  <a:pt x="147" y="297"/>
                  <a:pt x="146" y="299"/>
                  <a:pt x="146" y="302"/>
                </a:cubicBezTo>
                <a:lnTo>
                  <a:pt x="146" y="320"/>
                </a:lnTo>
                <a:close/>
                <a:moveTo>
                  <a:pt x="146" y="247"/>
                </a:moveTo>
                <a:cubicBezTo>
                  <a:pt x="146" y="250"/>
                  <a:pt x="147" y="252"/>
                  <a:pt x="149" y="253"/>
                </a:cubicBezTo>
                <a:cubicBezTo>
                  <a:pt x="151" y="255"/>
                  <a:pt x="153" y="256"/>
                  <a:pt x="155" y="256"/>
                </a:cubicBezTo>
                <a:cubicBezTo>
                  <a:pt x="174" y="256"/>
                  <a:pt x="174" y="256"/>
                  <a:pt x="174" y="256"/>
                </a:cubicBezTo>
                <a:cubicBezTo>
                  <a:pt x="176" y="256"/>
                  <a:pt x="179" y="255"/>
                  <a:pt x="180" y="253"/>
                </a:cubicBezTo>
                <a:cubicBezTo>
                  <a:pt x="182" y="252"/>
                  <a:pt x="183" y="250"/>
                  <a:pt x="183" y="247"/>
                </a:cubicBezTo>
                <a:cubicBezTo>
                  <a:pt x="183" y="229"/>
                  <a:pt x="183" y="229"/>
                  <a:pt x="183" y="229"/>
                </a:cubicBezTo>
                <a:cubicBezTo>
                  <a:pt x="183" y="226"/>
                  <a:pt x="182" y="224"/>
                  <a:pt x="180" y="222"/>
                </a:cubicBezTo>
                <a:cubicBezTo>
                  <a:pt x="179" y="220"/>
                  <a:pt x="176" y="219"/>
                  <a:pt x="174" y="219"/>
                </a:cubicBezTo>
                <a:cubicBezTo>
                  <a:pt x="155" y="219"/>
                  <a:pt x="155" y="219"/>
                  <a:pt x="155" y="219"/>
                </a:cubicBezTo>
                <a:cubicBezTo>
                  <a:pt x="153" y="219"/>
                  <a:pt x="151" y="220"/>
                  <a:pt x="149" y="222"/>
                </a:cubicBezTo>
                <a:cubicBezTo>
                  <a:pt x="147" y="224"/>
                  <a:pt x="146" y="226"/>
                  <a:pt x="146" y="229"/>
                </a:cubicBezTo>
                <a:lnTo>
                  <a:pt x="146" y="247"/>
                </a:lnTo>
                <a:close/>
                <a:moveTo>
                  <a:pt x="146" y="174"/>
                </a:moveTo>
                <a:cubicBezTo>
                  <a:pt x="146" y="176"/>
                  <a:pt x="147" y="179"/>
                  <a:pt x="149" y="180"/>
                </a:cubicBezTo>
                <a:cubicBezTo>
                  <a:pt x="151" y="182"/>
                  <a:pt x="153" y="183"/>
                  <a:pt x="155" y="183"/>
                </a:cubicBezTo>
                <a:cubicBezTo>
                  <a:pt x="174" y="183"/>
                  <a:pt x="174" y="183"/>
                  <a:pt x="174" y="183"/>
                </a:cubicBezTo>
                <a:cubicBezTo>
                  <a:pt x="176" y="183"/>
                  <a:pt x="179" y="182"/>
                  <a:pt x="180" y="180"/>
                </a:cubicBezTo>
                <a:cubicBezTo>
                  <a:pt x="182" y="179"/>
                  <a:pt x="183" y="176"/>
                  <a:pt x="183" y="174"/>
                </a:cubicBezTo>
                <a:cubicBezTo>
                  <a:pt x="183" y="155"/>
                  <a:pt x="183" y="155"/>
                  <a:pt x="183" y="155"/>
                </a:cubicBezTo>
                <a:cubicBezTo>
                  <a:pt x="183" y="153"/>
                  <a:pt x="182" y="151"/>
                  <a:pt x="180" y="149"/>
                </a:cubicBezTo>
                <a:cubicBezTo>
                  <a:pt x="179" y="147"/>
                  <a:pt x="176" y="146"/>
                  <a:pt x="174" y="146"/>
                </a:cubicBezTo>
                <a:cubicBezTo>
                  <a:pt x="155" y="146"/>
                  <a:pt x="155" y="146"/>
                  <a:pt x="155" y="146"/>
                </a:cubicBezTo>
                <a:cubicBezTo>
                  <a:pt x="153" y="146"/>
                  <a:pt x="151" y="147"/>
                  <a:pt x="149" y="149"/>
                </a:cubicBezTo>
                <a:cubicBezTo>
                  <a:pt x="147" y="151"/>
                  <a:pt x="146" y="153"/>
                  <a:pt x="146" y="155"/>
                </a:cubicBezTo>
                <a:lnTo>
                  <a:pt x="146" y="174"/>
                </a:lnTo>
                <a:close/>
                <a:moveTo>
                  <a:pt x="146" y="101"/>
                </a:moveTo>
                <a:cubicBezTo>
                  <a:pt x="146" y="103"/>
                  <a:pt x="147" y="105"/>
                  <a:pt x="149" y="107"/>
                </a:cubicBezTo>
                <a:cubicBezTo>
                  <a:pt x="151" y="109"/>
                  <a:pt x="153" y="110"/>
                  <a:pt x="155" y="110"/>
                </a:cubicBezTo>
                <a:cubicBezTo>
                  <a:pt x="174" y="110"/>
                  <a:pt x="174" y="110"/>
                  <a:pt x="174" y="110"/>
                </a:cubicBezTo>
                <a:cubicBezTo>
                  <a:pt x="176" y="110"/>
                  <a:pt x="179" y="109"/>
                  <a:pt x="180" y="107"/>
                </a:cubicBezTo>
                <a:cubicBezTo>
                  <a:pt x="182" y="105"/>
                  <a:pt x="183" y="103"/>
                  <a:pt x="183" y="101"/>
                </a:cubicBezTo>
                <a:cubicBezTo>
                  <a:pt x="183" y="82"/>
                  <a:pt x="183" y="82"/>
                  <a:pt x="183" y="82"/>
                </a:cubicBezTo>
                <a:cubicBezTo>
                  <a:pt x="183" y="80"/>
                  <a:pt x="182" y="77"/>
                  <a:pt x="180" y="76"/>
                </a:cubicBezTo>
                <a:cubicBezTo>
                  <a:pt x="179" y="74"/>
                  <a:pt x="176" y="73"/>
                  <a:pt x="174" y="73"/>
                </a:cubicBezTo>
                <a:cubicBezTo>
                  <a:pt x="155" y="73"/>
                  <a:pt x="155" y="73"/>
                  <a:pt x="155" y="73"/>
                </a:cubicBezTo>
                <a:cubicBezTo>
                  <a:pt x="153" y="73"/>
                  <a:pt x="151" y="74"/>
                  <a:pt x="149" y="76"/>
                </a:cubicBezTo>
                <a:cubicBezTo>
                  <a:pt x="147" y="77"/>
                  <a:pt x="146" y="80"/>
                  <a:pt x="146" y="82"/>
                </a:cubicBezTo>
                <a:lnTo>
                  <a:pt x="146" y="101"/>
                </a:lnTo>
                <a:close/>
                <a:moveTo>
                  <a:pt x="219" y="320"/>
                </a:moveTo>
                <a:cubicBezTo>
                  <a:pt x="219" y="323"/>
                  <a:pt x="220" y="325"/>
                  <a:pt x="222" y="327"/>
                </a:cubicBezTo>
                <a:cubicBezTo>
                  <a:pt x="224" y="328"/>
                  <a:pt x="226" y="329"/>
                  <a:pt x="229" y="329"/>
                </a:cubicBezTo>
                <a:cubicBezTo>
                  <a:pt x="247" y="329"/>
                  <a:pt x="247" y="329"/>
                  <a:pt x="247" y="329"/>
                </a:cubicBezTo>
                <a:cubicBezTo>
                  <a:pt x="250" y="329"/>
                  <a:pt x="252" y="328"/>
                  <a:pt x="253" y="327"/>
                </a:cubicBezTo>
                <a:cubicBezTo>
                  <a:pt x="255" y="325"/>
                  <a:pt x="256" y="323"/>
                  <a:pt x="256" y="320"/>
                </a:cubicBezTo>
                <a:cubicBezTo>
                  <a:pt x="256" y="302"/>
                  <a:pt x="256" y="302"/>
                  <a:pt x="256" y="302"/>
                </a:cubicBezTo>
                <a:cubicBezTo>
                  <a:pt x="256" y="299"/>
                  <a:pt x="255" y="297"/>
                  <a:pt x="253" y="295"/>
                </a:cubicBezTo>
                <a:cubicBezTo>
                  <a:pt x="252" y="293"/>
                  <a:pt x="250" y="293"/>
                  <a:pt x="247" y="293"/>
                </a:cubicBezTo>
                <a:cubicBezTo>
                  <a:pt x="229" y="293"/>
                  <a:pt x="229" y="293"/>
                  <a:pt x="229" y="293"/>
                </a:cubicBezTo>
                <a:cubicBezTo>
                  <a:pt x="226" y="293"/>
                  <a:pt x="224" y="293"/>
                  <a:pt x="222" y="295"/>
                </a:cubicBezTo>
                <a:cubicBezTo>
                  <a:pt x="220" y="297"/>
                  <a:pt x="219" y="299"/>
                  <a:pt x="219" y="302"/>
                </a:cubicBezTo>
                <a:lnTo>
                  <a:pt x="219" y="320"/>
                </a:lnTo>
                <a:close/>
                <a:moveTo>
                  <a:pt x="219" y="247"/>
                </a:moveTo>
                <a:cubicBezTo>
                  <a:pt x="219" y="250"/>
                  <a:pt x="220" y="252"/>
                  <a:pt x="222" y="253"/>
                </a:cubicBezTo>
                <a:cubicBezTo>
                  <a:pt x="224" y="255"/>
                  <a:pt x="226" y="256"/>
                  <a:pt x="229" y="256"/>
                </a:cubicBezTo>
                <a:cubicBezTo>
                  <a:pt x="247" y="256"/>
                  <a:pt x="247" y="256"/>
                  <a:pt x="247" y="256"/>
                </a:cubicBezTo>
                <a:cubicBezTo>
                  <a:pt x="250" y="256"/>
                  <a:pt x="252" y="255"/>
                  <a:pt x="253" y="253"/>
                </a:cubicBezTo>
                <a:cubicBezTo>
                  <a:pt x="255" y="252"/>
                  <a:pt x="256" y="250"/>
                  <a:pt x="256" y="247"/>
                </a:cubicBezTo>
                <a:cubicBezTo>
                  <a:pt x="256" y="229"/>
                  <a:pt x="256" y="229"/>
                  <a:pt x="256" y="229"/>
                </a:cubicBezTo>
                <a:cubicBezTo>
                  <a:pt x="256" y="226"/>
                  <a:pt x="255" y="224"/>
                  <a:pt x="253" y="222"/>
                </a:cubicBezTo>
                <a:cubicBezTo>
                  <a:pt x="252" y="220"/>
                  <a:pt x="250" y="219"/>
                  <a:pt x="247" y="219"/>
                </a:cubicBezTo>
                <a:cubicBezTo>
                  <a:pt x="229" y="219"/>
                  <a:pt x="229" y="219"/>
                  <a:pt x="229" y="219"/>
                </a:cubicBezTo>
                <a:cubicBezTo>
                  <a:pt x="226" y="219"/>
                  <a:pt x="224" y="220"/>
                  <a:pt x="222" y="222"/>
                </a:cubicBezTo>
                <a:cubicBezTo>
                  <a:pt x="220" y="224"/>
                  <a:pt x="219" y="226"/>
                  <a:pt x="219" y="229"/>
                </a:cubicBezTo>
                <a:lnTo>
                  <a:pt x="219" y="247"/>
                </a:lnTo>
                <a:close/>
                <a:moveTo>
                  <a:pt x="219" y="174"/>
                </a:moveTo>
                <a:cubicBezTo>
                  <a:pt x="219" y="176"/>
                  <a:pt x="220" y="179"/>
                  <a:pt x="222" y="180"/>
                </a:cubicBezTo>
                <a:cubicBezTo>
                  <a:pt x="224" y="182"/>
                  <a:pt x="226" y="183"/>
                  <a:pt x="229" y="183"/>
                </a:cubicBezTo>
                <a:cubicBezTo>
                  <a:pt x="247" y="183"/>
                  <a:pt x="247" y="183"/>
                  <a:pt x="247" y="183"/>
                </a:cubicBezTo>
                <a:cubicBezTo>
                  <a:pt x="250" y="183"/>
                  <a:pt x="252" y="182"/>
                  <a:pt x="253" y="180"/>
                </a:cubicBezTo>
                <a:cubicBezTo>
                  <a:pt x="255" y="179"/>
                  <a:pt x="256" y="176"/>
                  <a:pt x="256" y="174"/>
                </a:cubicBezTo>
                <a:cubicBezTo>
                  <a:pt x="256" y="155"/>
                  <a:pt x="256" y="155"/>
                  <a:pt x="256" y="155"/>
                </a:cubicBezTo>
                <a:cubicBezTo>
                  <a:pt x="256" y="153"/>
                  <a:pt x="255" y="151"/>
                  <a:pt x="253" y="149"/>
                </a:cubicBezTo>
                <a:cubicBezTo>
                  <a:pt x="252" y="147"/>
                  <a:pt x="250" y="146"/>
                  <a:pt x="247" y="146"/>
                </a:cubicBezTo>
                <a:cubicBezTo>
                  <a:pt x="229" y="146"/>
                  <a:pt x="229" y="146"/>
                  <a:pt x="229" y="146"/>
                </a:cubicBezTo>
                <a:cubicBezTo>
                  <a:pt x="226" y="146"/>
                  <a:pt x="224" y="147"/>
                  <a:pt x="222" y="149"/>
                </a:cubicBezTo>
                <a:cubicBezTo>
                  <a:pt x="220" y="151"/>
                  <a:pt x="219" y="153"/>
                  <a:pt x="219" y="155"/>
                </a:cubicBezTo>
                <a:lnTo>
                  <a:pt x="219" y="174"/>
                </a:lnTo>
                <a:close/>
                <a:moveTo>
                  <a:pt x="219" y="101"/>
                </a:moveTo>
                <a:cubicBezTo>
                  <a:pt x="219" y="103"/>
                  <a:pt x="220" y="105"/>
                  <a:pt x="222" y="107"/>
                </a:cubicBezTo>
                <a:cubicBezTo>
                  <a:pt x="224" y="109"/>
                  <a:pt x="226" y="110"/>
                  <a:pt x="229" y="110"/>
                </a:cubicBezTo>
                <a:cubicBezTo>
                  <a:pt x="247" y="110"/>
                  <a:pt x="247" y="110"/>
                  <a:pt x="247" y="110"/>
                </a:cubicBezTo>
                <a:cubicBezTo>
                  <a:pt x="250" y="110"/>
                  <a:pt x="252" y="109"/>
                  <a:pt x="253" y="107"/>
                </a:cubicBezTo>
                <a:cubicBezTo>
                  <a:pt x="255" y="105"/>
                  <a:pt x="256" y="103"/>
                  <a:pt x="256" y="101"/>
                </a:cubicBezTo>
                <a:cubicBezTo>
                  <a:pt x="256" y="82"/>
                  <a:pt x="256" y="82"/>
                  <a:pt x="256" y="82"/>
                </a:cubicBezTo>
                <a:cubicBezTo>
                  <a:pt x="256" y="80"/>
                  <a:pt x="255" y="77"/>
                  <a:pt x="253" y="76"/>
                </a:cubicBezTo>
                <a:cubicBezTo>
                  <a:pt x="252" y="74"/>
                  <a:pt x="250" y="73"/>
                  <a:pt x="247" y="73"/>
                </a:cubicBezTo>
                <a:cubicBezTo>
                  <a:pt x="229" y="73"/>
                  <a:pt x="229" y="73"/>
                  <a:pt x="229" y="73"/>
                </a:cubicBezTo>
                <a:cubicBezTo>
                  <a:pt x="226" y="73"/>
                  <a:pt x="224" y="74"/>
                  <a:pt x="222" y="76"/>
                </a:cubicBezTo>
                <a:cubicBezTo>
                  <a:pt x="220" y="77"/>
                  <a:pt x="219" y="80"/>
                  <a:pt x="219" y="82"/>
                </a:cubicBezTo>
                <a:lnTo>
                  <a:pt x="219" y="101"/>
                </a:lnTo>
                <a:close/>
                <a:moveTo>
                  <a:pt x="293" y="393"/>
                </a:moveTo>
                <a:cubicBezTo>
                  <a:pt x="293" y="396"/>
                  <a:pt x="293" y="398"/>
                  <a:pt x="295" y="400"/>
                </a:cubicBezTo>
                <a:cubicBezTo>
                  <a:pt x="297" y="401"/>
                  <a:pt x="299" y="402"/>
                  <a:pt x="302" y="402"/>
                </a:cubicBezTo>
                <a:cubicBezTo>
                  <a:pt x="320" y="402"/>
                  <a:pt x="320" y="402"/>
                  <a:pt x="320" y="402"/>
                </a:cubicBezTo>
                <a:cubicBezTo>
                  <a:pt x="323" y="402"/>
                  <a:pt x="325" y="401"/>
                  <a:pt x="327" y="400"/>
                </a:cubicBezTo>
                <a:cubicBezTo>
                  <a:pt x="328" y="398"/>
                  <a:pt x="329" y="396"/>
                  <a:pt x="329" y="393"/>
                </a:cubicBezTo>
                <a:cubicBezTo>
                  <a:pt x="329" y="375"/>
                  <a:pt x="329" y="375"/>
                  <a:pt x="329" y="375"/>
                </a:cubicBezTo>
                <a:cubicBezTo>
                  <a:pt x="329" y="372"/>
                  <a:pt x="328" y="370"/>
                  <a:pt x="327" y="368"/>
                </a:cubicBezTo>
                <a:cubicBezTo>
                  <a:pt x="325" y="367"/>
                  <a:pt x="323" y="366"/>
                  <a:pt x="320" y="366"/>
                </a:cubicBezTo>
                <a:cubicBezTo>
                  <a:pt x="302" y="366"/>
                  <a:pt x="302" y="366"/>
                  <a:pt x="302" y="366"/>
                </a:cubicBezTo>
                <a:cubicBezTo>
                  <a:pt x="299" y="366"/>
                  <a:pt x="297" y="367"/>
                  <a:pt x="295" y="368"/>
                </a:cubicBezTo>
                <a:cubicBezTo>
                  <a:pt x="293" y="370"/>
                  <a:pt x="293" y="372"/>
                  <a:pt x="293" y="375"/>
                </a:cubicBezTo>
                <a:lnTo>
                  <a:pt x="293" y="393"/>
                </a:lnTo>
                <a:close/>
                <a:moveTo>
                  <a:pt x="293" y="320"/>
                </a:moveTo>
                <a:cubicBezTo>
                  <a:pt x="293" y="323"/>
                  <a:pt x="293" y="325"/>
                  <a:pt x="295" y="327"/>
                </a:cubicBezTo>
                <a:cubicBezTo>
                  <a:pt x="297" y="328"/>
                  <a:pt x="299" y="329"/>
                  <a:pt x="302" y="329"/>
                </a:cubicBezTo>
                <a:cubicBezTo>
                  <a:pt x="320" y="329"/>
                  <a:pt x="320" y="329"/>
                  <a:pt x="320" y="329"/>
                </a:cubicBezTo>
                <a:cubicBezTo>
                  <a:pt x="323" y="329"/>
                  <a:pt x="325" y="328"/>
                  <a:pt x="327" y="327"/>
                </a:cubicBezTo>
                <a:cubicBezTo>
                  <a:pt x="328" y="325"/>
                  <a:pt x="329" y="323"/>
                  <a:pt x="329" y="320"/>
                </a:cubicBezTo>
                <a:cubicBezTo>
                  <a:pt x="329" y="302"/>
                  <a:pt x="329" y="302"/>
                  <a:pt x="329" y="302"/>
                </a:cubicBezTo>
                <a:cubicBezTo>
                  <a:pt x="329" y="299"/>
                  <a:pt x="328" y="297"/>
                  <a:pt x="327" y="295"/>
                </a:cubicBezTo>
                <a:cubicBezTo>
                  <a:pt x="325" y="293"/>
                  <a:pt x="323" y="293"/>
                  <a:pt x="320" y="293"/>
                </a:cubicBezTo>
                <a:cubicBezTo>
                  <a:pt x="302" y="293"/>
                  <a:pt x="302" y="293"/>
                  <a:pt x="302" y="293"/>
                </a:cubicBezTo>
                <a:cubicBezTo>
                  <a:pt x="299" y="293"/>
                  <a:pt x="297" y="293"/>
                  <a:pt x="295" y="295"/>
                </a:cubicBezTo>
                <a:cubicBezTo>
                  <a:pt x="293" y="297"/>
                  <a:pt x="293" y="299"/>
                  <a:pt x="293" y="302"/>
                </a:cubicBezTo>
                <a:lnTo>
                  <a:pt x="293" y="320"/>
                </a:lnTo>
                <a:close/>
                <a:moveTo>
                  <a:pt x="293" y="247"/>
                </a:moveTo>
                <a:cubicBezTo>
                  <a:pt x="293" y="250"/>
                  <a:pt x="293" y="252"/>
                  <a:pt x="295" y="253"/>
                </a:cubicBezTo>
                <a:cubicBezTo>
                  <a:pt x="297" y="255"/>
                  <a:pt x="299" y="256"/>
                  <a:pt x="302" y="256"/>
                </a:cubicBezTo>
                <a:cubicBezTo>
                  <a:pt x="320" y="256"/>
                  <a:pt x="320" y="256"/>
                  <a:pt x="320" y="256"/>
                </a:cubicBezTo>
                <a:cubicBezTo>
                  <a:pt x="323" y="256"/>
                  <a:pt x="325" y="255"/>
                  <a:pt x="327" y="253"/>
                </a:cubicBezTo>
                <a:cubicBezTo>
                  <a:pt x="328" y="252"/>
                  <a:pt x="329" y="250"/>
                  <a:pt x="329" y="247"/>
                </a:cubicBezTo>
                <a:cubicBezTo>
                  <a:pt x="329" y="229"/>
                  <a:pt x="329" y="229"/>
                  <a:pt x="329" y="229"/>
                </a:cubicBezTo>
                <a:cubicBezTo>
                  <a:pt x="329" y="226"/>
                  <a:pt x="328" y="224"/>
                  <a:pt x="327" y="222"/>
                </a:cubicBezTo>
                <a:cubicBezTo>
                  <a:pt x="325" y="220"/>
                  <a:pt x="323" y="219"/>
                  <a:pt x="320" y="219"/>
                </a:cubicBezTo>
                <a:cubicBezTo>
                  <a:pt x="302" y="219"/>
                  <a:pt x="302" y="219"/>
                  <a:pt x="302" y="219"/>
                </a:cubicBezTo>
                <a:cubicBezTo>
                  <a:pt x="299" y="219"/>
                  <a:pt x="297" y="220"/>
                  <a:pt x="295" y="222"/>
                </a:cubicBezTo>
                <a:cubicBezTo>
                  <a:pt x="293" y="224"/>
                  <a:pt x="293" y="226"/>
                  <a:pt x="293" y="229"/>
                </a:cubicBezTo>
                <a:lnTo>
                  <a:pt x="293" y="247"/>
                </a:lnTo>
                <a:close/>
                <a:moveTo>
                  <a:pt x="293" y="174"/>
                </a:moveTo>
                <a:cubicBezTo>
                  <a:pt x="293" y="176"/>
                  <a:pt x="293" y="179"/>
                  <a:pt x="295" y="180"/>
                </a:cubicBezTo>
                <a:cubicBezTo>
                  <a:pt x="297" y="182"/>
                  <a:pt x="299" y="183"/>
                  <a:pt x="302" y="183"/>
                </a:cubicBezTo>
                <a:cubicBezTo>
                  <a:pt x="320" y="183"/>
                  <a:pt x="320" y="183"/>
                  <a:pt x="320" y="183"/>
                </a:cubicBezTo>
                <a:cubicBezTo>
                  <a:pt x="323" y="183"/>
                  <a:pt x="325" y="182"/>
                  <a:pt x="327" y="180"/>
                </a:cubicBezTo>
                <a:cubicBezTo>
                  <a:pt x="328" y="179"/>
                  <a:pt x="329" y="176"/>
                  <a:pt x="329" y="174"/>
                </a:cubicBezTo>
                <a:cubicBezTo>
                  <a:pt x="329" y="155"/>
                  <a:pt x="329" y="155"/>
                  <a:pt x="329" y="155"/>
                </a:cubicBezTo>
                <a:cubicBezTo>
                  <a:pt x="329" y="153"/>
                  <a:pt x="328" y="151"/>
                  <a:pt x="327" y="149"/>
                </a:cubicBezTo>
                <a:cubicBezTo>
                  <a:pt x="325" y="147"/>
                  <a:pt x="323" y="146"/>
                  <a:pt x="320" y="146"/>
                </a:cubicBezTo>
                <a:cubicBezTo>
                  <a:pt x="302" y="146"/>
                  <a:pt x="302" y="146"/>
                  <a:pt x="302" y="146"/>
                </a:cubicBezTo>
                <a:cubicBezTo>
                  <a:pt x="299" y="146"/>
                  <a:pt x="297" y="147"/>
                  <a:pt x="295" y="149"/>
                </a:cubicBezTo>
                <a:cubicBezTo>
                  <a:pt x="293" y="151"/>
                  <a:pt x="293" y="153"/>
                  <a:pt x="293" y="155"/>
                </a:cubicBezTo>
                <a:lnTo>
                  <a:pt x="293" y="174"/>
                </a:lnTo>
                <a:close/>
                <a:moveTo>
                  <a:pt x="293" y="101"/>
                </a:moveTo>
                <a:cubicBezTo>
                  <a:pt x="293" y="103"/>
                  <a:pt x="293" y="105"/>
                  <a:pt x="295" y="107"/>
                </a:cubicBezTo>
                <a:cubicBezTo>
                  <a:pt x="297" y="109"/>
                  <a:pt x="299" y="110"/>
                  <a:pt x="302" y="110"/>
                </a:cubicBezTo>
                <a:cubicBezTo>
                  <a:pt x="320" y="110"/>
                  <a:pt x="320" y="110"/>
                  <a:pt x="320" y="110"/>
                </a:cubicBezTo>
                <a:cubicBezTo>
                  <a:pt x="323" y="110"/>
                  <a:pt x="325" y="109"/>
                  <a:pt x="327" y="107"/>
                </a:cubicBezTo>
                <a:cubicBezTo>
                  <a:pt x="328" y="105"/>
                  <a:pt x="329" y="103"/>
                  <a:pt x="329" y="101"/>
                </a:cubicBezTo>
                <a:cubicBezTo>
                  <a:pt x="329" y="82"/>
                  <a:pt x="329" y="82"/>
                  <a:pt x="329" y="82"/>
                </a:cubicBezTo>
                <a:cubicBezTo>
                  <a:pt x="329" y="80"/>
                  <a:pt x="328" y="77"/>
                  <a:pt x="327" y="76"/>
                </a:cubicBezTo>
                <a:cubicBezTo>
                  <a:pt x="325" y="74"/>
                  <a:pt x="323" y="73"/>
                  <a:pt x="320" y="73"/>
                </a:cubicBezTo>
                <a:cubicBezTo>
                  <a:pt x="302" y="73"/>
                  <a:pt x="302" y="73"/>
                  <a:pt x="302" y="73"/>
                </a:cubicBezTo>
                <a:cubicBezTo>
                  <a:pt x="299" y="73"/>
                  <a:pt x="297" y="74"/>
                  <a:pt x="295" y="76"/>
                </a:cubicBezTo>
                <a:cubicBezTo>
                  <a:pt x="293" y="77"/>
                  <a:pt x="293" y="80"/>
                  <a:pt x="293" y="82"/>
                </a:cubicBezTo>
                <a:lnTo>
                  <a:pt x="293" y="101"/>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6" name="Freeform 90"/>
          <p:cNvSpPr>
            <a:spLocks noEditPoints="1"/>
          </p:cNvSpPr>
          <p:nvPr/>
        </p:nvSpPr>
        <p:spPr bwMode="auto">
          <a:xfrm>
            <a:off x="4997196" y="4288536"/>
            <a:ext cx="476250" cy="445770"/>
          </a:xfrm>
          <a:custGeom>
            <a:avLst/>
            <a:gdLst>
              <a:gd name="T0" fmla="*/ 0 w 549"/>
              <a:gd name="T1" fmla="*/ 475 h 512"/>
              <a:gd name="T2" fmla="*/ 6 w 549"/>
              <a:gd name="T3" fmla="*/ 463 h 512"/>
              <a:gd name="T4" fmla="*/ 20 w 549"/>
              <a:gd name="T5" fmla="*/ 457 h 512"/>
              <a:gd name="T6" fmla="*/ 529 w 549"/>
              <a:gd name="T7" fmla="*/ 457 h 512"/>
              <a:gd name="T8" fmla="*/ 543 w 549"/>
              <a:gd name="T9" fmla="*/ 463 h 512"/>
              <a:gd name="T10" fmla="*/ 549 w 549"/>
              <a:gd name="T11" fmla="*/ 475 h 512"/>
              <a:gd name="T12" fmla="*/ 549 w 549"/>
              <a:gd name="T13" fmla="*/ 512 h 512"/>
              <a:gd name="T14" fmla="*/ 0 w 549"/>
              <a:gd name="T15" fmla="*/ 512 h 512"/>
              <a:gd name="T16" fmla="*/ 0 w 549"/>
              <a:gd name="T17" fmla="*/ 475 h 512"/>
              <a:gd name="T18" fmla="*/ 0 w 549"/>
              <a:gd name="T19" fmla="*/ 146 h 512"/>
              <a:gd name="T20" fmla="*/ 0 w 549"/>
              <a:gd name="T21" fmla="*/ 110 h 512"/>
              <a:gd name="T22" fmla="*/ 274 w 549"/>
              <a:gd name="T23" fmla="*/ 0 h 512"/>
              <a:gd name="T24" fmla="*/ 549 w 549"/>
              <a:gd name="T25" fmla="*/ 110 h 512"/>
              <a:gd name="T26" fmla="*/ 549 w 549"/>
              <a:gd name="T27" fmla="*/ 146 h 512"/>
              <a:gd name="T28" fmla="*/ 512 w 549"/>
              <a:gd name="T29" fmla="*/ 146 h 512"/>
              <a:gd name="T30" fmla="*/ 506 w 549"/>
              <a:gd name="T31" fmla="*/ 159 h 512"/>
              <a:gd name="T32" fmla="*/ 492 w 549"/>
              <a:gd name="T33" fmla="*/ 165 h 512"/>
              <a:gd name="T34" fmla="*/ 56 w 549"/>
              <a:gd name="T35" fmla="*/ 165 h 512"/>
              <a:gd name="T36" fmla="*/ 42 w 549"/>
              <a:gd name="T37" fmla="*/ 159 h 512"/>
              <a:gd name="T38" fmla="*/ 37 w 549"/>
              <a:gd name="T39" fmla="*/ 146 h 512"/>
              <a:gd name="T40" fmla="*/ 0 w 549"/>
              <a:gd name="T41" fmla="*/ 146 h 512"/>
              <a:gd name="T42" fmla="*/ 37 w 549"/>
              <a:gd name="T43" fmla="*/ 439 h 512"/>
              <a:gd name="T44" fmla="*/ 37 w 549"/>
              <a:gd name="T45" fmla="*/ 421 h 512"/>
              <a:gd name="T46" fmla="*/ 42 w 549"/>
              <a:gd name="T47" fmla="*/ 408 h 512"/>
              <a:gd name="T48" fmla="*/ 56 w 549"/>
              <a:gd name="T49" fmla="*/ 402 h 512"/>
              <a:gd name="T50" fmla="*/ 73 w 549"/>
              <a:gd name="T51" fmla="*/ 402 h 512"/>
              <a:gd name="T52" fmla="*/ 73 w 549"/>
              <a:gd name="T53" fmla="*/ 183 h 512"/>
              <a:gd name="T54" fmla="*/ 146 w 549"/>
              <a:gd name="T55" fmla="*/ 183 h 512"/>
              <a:gd name="T56" fmla="*/ 146 w 549"/>
              <a:gd name="T57" fmla="*/ 402 h 512"/>
              <a:gd name="T58" fmla="*/ 183 w 549"/>
              <a:gd name="T59" fmla="*/ 402 h 512"/>
              <a:gd name="T60" fmla="*/ 183 w 549"/>
              <a:gd name="T61" fmla="*/ 183 h 512"/>
              <a:gd name="T62" fmla="*/ 256 w 549"/>
              <a:gd name="T63" fmla="*/ 183 h 512"/>
              <a:gd name="T64" fmla="*/ 256 w 549"/>
              <a:gd name="T65" fmla="*/ 402 h 512"/>
              <a:gd name="T66" fmla="*/ 293 w 549"/>
              <a:gd name="T67" fmla="*/ 402 h 512"/>
              <a:gd name="T68" fmla="*/ 293 w 549"/>
              <a:gd name="T69" fmla="*/ 183 h 512"/>
              <a:gd name="T70" fmla="*/ 366 w 549"/>
              <a:gd name="T71" fmla="*/ 183 h 512"/>
              <a:gd name="T72" fmla="*/ 366 w 549"/>
              <a:gd name="T73" fmla="*/ 402 h 512"/>
              <a:gd name="T74" fmla="*/ 402 w 549"/>
              <a:gd name="T75" fmla="*/ 402 h 512"/>
              <a:gd name="T76" fmla="*/ 402 w 549"/>
              <a:gd name="T77" fmla="*/ 183 h 512"/>
              <a:gd name="T78" fmla="*/ 475 w 549"/>
              <a:gd name="T79" fmla="*/ 183 h 512"/>
              <a:gd name="T80" fmla="*/ 475 w 549"/>
              <a:gd name="T81" fmla="*/ 402 h 512"/>
              <a:gd name="T82" fmla="*/ 492 w 549"/>
              <a:gd name="T83" fmla="*/ 402 h 512"/>
              <a:gd name="T84" fmla="*/ 506 w 549"/>
              <a:gd name="T85" fmla="*/ 408 h 512"/>
              <a:gd name="T86" fmla="*/ 512 w 549"/>
              <a:gd name="T87" fmla="*/ 421 h 512"/>
              <a:gd name="T88" fmla="*/ 512 w 549"/>
              <a:gd name="T89" fmla="*/ 439 h 512"/>
              <a:gd name="T90" fmla="*/ 37 w 549"/>
              <a:gd name="T91" fmla="*/ 43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49" h="512">
                <a:moveTo>
                  <a:pt x="0" y="475"/>
                </a:moveTo>
                <a:cubicBezTo>
                  <a:pt x="0" y="470"/>
                  <a:pt x="2" y="466"/>
                  <a:pt x="6" y="463"/>
                </a:cubicBezTo>
                <a:cubicBezTo>
                  <a:pt x="10" y="459"/>
                  <a:pt x="14" y="457"/>
                  <a:pt x="20" y="457"/>
                </a:cubicBezTo>
                <a:cubicBezTo>
                  <a:pt x="529" y="457"/>
                  <a:pt x="529" y="457"/>
                  <a:pt x="529" y="457"/>
                </a:cubicBezTo>
                <a:cubicBezTo>
                  <a:pt x="534" y="457"/>
                  <a:pt x="539" y="459"/>
                  <a:pt x="543" y="463"/>
                </a:cubicBezTo>
                <a:cubicBezTo>
                  <a:pt x="547" y="466"/>
                  <a:pt x="549" y="470"/>
                  <a:pt x="549" y="475"/>
                </a:cubicBezTo>
                <a:cubicBezTo>
                  <a:pt x="549" y="512"/>
                  <a:pt x="549" y="512"/>
                  <a:pt x="549" y="512"/>
                </a:cubicBezTo>
                <a:cubicBezTo>
                  <a:pt x="0" y="512"/>
                  <a:pt x="0" y="512"/>
                  <a:pt x="0" y="512"/>
                </a:cubicBezTo>
                <a:cubicBezTo>
                  <a:pt x="0" y="475"/>
                  <a:pt x="0" y="475"/>
                  <a:pt x="0" y="475"/>
                </a:cubicBezTo>
                <a:close/>
                <a:moveTo>
                  <a:pt x="0" y="146"/>
                </a:moveTo>
                <a:cubicBezTo>
                  <a:pt x="0" y="110"/>
                  <a:pt x="0" y="110"/>
                  <a:pt x="0" y="110"/>
                </a:cubicBezTo>
                <a:cubicBezTo>
                  <a:pt x="274" y="0"/>
                  <a:pt x="274" y="0"/>
                  <a:pt x="274" y="0"/>
                </a:cubicBezTo>
                <a:cubicBezTo>
                  <a:pt x="549" y="110"/>
                  <a:pt x="549" y="110"/>
                  <a:pt x="549" y="110"/>
                </a:cubicBezTo>
                <a:cubicBezTo>
                  <a:pt x="549" y="146"/>
                  <a:pt x="549" y="146"/>
                  <a:pt x="549" y="146"/>
                </a:cubicBezTo>
                <a:cubicBezTo>
                  <a:pt x="512" y="146"/>
                  <a:pt x="512" y="146"/>
                  <a:pt x="512" y="146"/>
                </a:cubicBezTo>
                <a:cubicBezTo>
                  <a:pt x="512" y="151"/>
                  <a:pt x="510" y="156"/>
                  <a:pt x="506" y="159"/>
                </a:cubicBezTo>
                <a:cubicBezTo>
                  <a:pt x="502" y="163"/>
                  <a:pt x="498" y="165"/>
                  <a:pt x="492" y="165"/>
                </a:cubicBezTo>
                <a:cubicBezTo>
                  <a:pt x="56" y="165"/>
                  <a:pt x="56" y="165"/>
                  <a:pt x="56" y="165"/>
                </a:cubicBezTo>
                <a:cubicBezTo>
                  <a:pt x="51" y="165"/>
                  <a:pt x="46" y="163"/>
                  <a:pt x="42" y="159"/>
                </a:cubicBezTo>
                <a:cubicBezTo>
                  <a:pt x="39" y="156"/>
                  <a:pt x="37" y="151"/>
                  <a:pt x="37" y="146"/>
                </a:cubicBezTo>
                <a:lnTo>
                  <a:pt x="0" y="146"/>
                </a:lnTo>
                <a:close/>
                <a:moveTo>
                  <a:pt x="37" y="439"/>
                </a:moveTo>
                <a:cubicBezTo>
                  <a:pt x="37" y="421"/>
                  <a:pt x="37" y="421"/>
                  <a:pt x="37" y="421"/>
                </a:cubicBezTo>
                <a:cubicBezTo>
                  <a:pt x="37" y="416"/>
                  <a:pt x="39" y="411"/>
                  <a:pt x="42" y="408"/>
                </a:cubicBezTo>
                <a:cubicBezTo>
                  <a:pt x="46" y="404"/>
                  <a:pt x="51" y="402"/>
                  <a:pt x="56" y="402"/>
                </a:cubicBezTo>
                <a:cubicBezTo>
                  <a:pt x="73" y="402"/>
                  <a:pt x="73" y="402"/>
                  <a:pt x="73" y="402"/>
                </a:cubicBezTo>
                <a:cubicBezTo>
                  <a:pt x="73" y="183"/>
                  <a:pt x="73" y="183"/>
                  <a:pt x="73" y="183"/>
                </a:cubicBezTo>
                <a:cubicBezTo>
                  <a:pt x="146" y="183"/>
                  <a:pt x="146" y="183"/>
                  <a:pt x="146" y="183"/>
                </a:cubicBezTo>
                <a:cubicBezTo>
                  <a:pt x="146" y="402"/>
                  <a:pt x="146" y="402"/>
                  <a:pt x="146" y="402"/>
                </a:cubicBezTo>
                <a:cubicBezTo>
                  <a:pt x="183" y="402"/>
                  <a:pt x="183" y="402"/>
                  <a:pt x="183" y="402"/>
                </a:cubicBezTo>
                <a:cubicBezTo>
                  <a:pt x="183" y="183"/>
                  <a:pt x="183" y="183"/>
                  <a:pt x="183" y="183"/>
                </a:cubicBezTo>
                <a:cubicBezTo>
                  <a:pt x="256" y="183"/>
                  <a:pt x="256" y="183"/>
                  <a:pt x="256" y="183"/>
                </a:cubicBezTo>
                <a:cubicBezTo>
                  <a:pt x="256" y="402"/>
                  <a:pt x="256" y="402"/>
                  <a:pt x="256" y="402"/>
                </a:cubicBezTo>
                <a:cubicBezTo>
                  <a:pt x="293" y="402"/>
                  <a:pt x="293" y="402"/>
                  <a:pt x="293" y="402"/>
                </a:cubicBezTo>
                <a:cubicBezTo>
                  <a:pt x="293" y="183"/>
                  <a:pt x="293" y="183"/>
                  <a:pt x="293" y="183"/>
                </a:cubicBezTo>
                <a:cubicBezTo>
                  <a:pt x="366" y="183"/>
                  <a:pt x="366" y="183"/>
                  <a:pt x="366" y="183"/>
                </a:cubicBezTo>
                <a:cubicBezTo>
                  <a:pt x="366" y="402"/>
                  <a:pt x="366" y="402"/>
                  <a:pt x="366" y="402"/>
                </a:cubicBezTo>
                <a:cubicBezTo>
                  <a:pt x="402" y="402"/>
                  <a:pt x="402" y="402"/>
                  <a:pt x="402" y="402"/>
                </a:cubicBezTo>
                <a:cubicBezTo>
                  <a:pt x="402" y="183"/>
                  <a:pt x="402" y="183"/>
                  <a:pt x="402" y="183"/>
                </a:cubicBezTo>
                <a:cubicBezTo>
                  <a:pt x="475" y="183"/>
                  <a:pt x="475" y="183"/>
                  <a:pt x="475" y="183"/>
                </a:cubicBezTo>
                <a:cubicBezTo>
                  <a:pt x="475" y="402"/>
                  <a:pt x="475" y="402"/>
                  <a:pt x="475" y="402"/>
                </a:cubicBezTo>
                <a:cubicBezTo>
                  <a:pt x="492" y="402"/>
                  <a:pt x="492" y="402"/>
                  <a:pt x="492" y="402"/>
                </a:cubicBezTo>
                <a:cubicBezTo>
                  <a:pt x="498" y="402"/>
                  <a:pt x="502" y="404"/>
                  <a:pt x="506" y="408"/>
                </a:cubicBezTo>
                <a:cubicBezTo>
                  <a:pt x="510" y="411"/>
                  <a:pt x="512" y="416"/>
                  <a:pt x="512" y="421"/>
                </a:cubicBezTo>
                <a:cubicBezTo>
                  <a:pt x="512" y="439"/>
                  <a:pt x="512" y="439"/>
                  <a:pt x="512" y="439"/>
                </a:cubicBezTo>
                <a:lnTo>
                  <a:pt x="37" y="439"/>
                </a:ln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7" name="Freeform 280"/>
          <p:cNvSpPr>
            <a:spLocks noEditPoints="1"/>
          </p:cNvSpPr>
          <p:nvPr/>
        </p:nvSpPr>
        <p:spPr bwMode="auto">
          <a:xfrm>
            <a:off x="6677026" y="2615566"/>
            <a:ext cx="508636" cy="413386"/>
          </a:xfrm>
          <a:custGeom>
            <a:avLst/>
            <a:gdLst>
              <a:gd name="T0" fmla="*/ 0 w 283"/>
              <a:gd name="T1" fmla="*/ 282 h 282"/>
              <a:gd name="T2" fmla="*/ 142 w 283"/>
              <a:gd name="T3" fmla="*/ 282 h 282"/>
              <a:gd name="T4" fmla="*/ 142 w 283"/>
              <a:gd name="T5" fmla="*/ 0 h 282"/>
              <a:gd name="T6" fmla="*/ 0 w 283"/>
              <a:gd name="T7" fmla="*/ 0 h 282"/>
              <a:gd name="T8" fmla="*/ 0 w 283"/>
              <a:gd name="T9" fmla="*/ 282 h 282"/>
              <a:gd name="T10" fmla="*/ 89 w 283"/>
              <a:gd name="T11" fmla="*/ 35 h 282"/>
              <a:gd name="T12" fmla="*/ 124 w 283"/>
              <a:gd name="T13" fmla="*/ 35 h 282"/>
              <a:gd name="T14" fmla="*/ 124 w 283"/>
              <a:gd name="T15" fmla="*/ 70 h 282"/>
              <a:gd name="T16" fmla="*/ 89 w 283"/>
              <a:gd name="T17" fmla="*/ 70 h 282"/>
              <a:gd name="T18" fmla="*/ 89 w 283"/>
              <a:gd name="T19" fmla="*/ 35 h 282"/>
              <a:gd name="T20" fmla="*/ 89 w 283"/>
              <a:gd name="T21" fmla="*/ 106 h 282"/>
              <a:gd name="T22" fmla="*/ 124 w 283"/>
              <a:gd name="T23" fmla="*/ 106 h 282"/>
              <a:gd name="T24" fmla="*/ 124 w 283"/>
              <a:gd name="T25" fmla="*/ 141 h 282"/>
              <a:gd name="T26" fmla="*/ 89 w 283"/>
              <a:gd name="T27" fmla="*/ 141 h 282"/>
              <a:gd name="T28" fmla="*/ 89 w 283"/>
              <a:gd name="T29" fmla="*/ 106 h 282"/>
              <a:gd name="T30" fmla="*/ 89 w 283"/>
              <a:gd name="T31" fmla="*/ 176 h 282"/>
              <a:gd name="T32" fmla="*/ 124 w 283"/>
              <a:gd name="T33" fmla="*/ 176 h 282"/>
              <a:gd name="T34" fmla="*/ 124 w 283"/>
              <a:gd name="T35" fmla="*/ 212 h 282"/>
              <a:gd name="T36" fmla="*/ 89 w 283"/>
              <a:gd name="T37" fmla="*/ 212 h 282"/>
              <a:gd name="T38" fmla="*/ 89 w 283"/>
              <a:gd name="T39" fmla="*/ 176 h 282"/>
              <a:gd name="T40" fmla="*/ 18 w 283"/>
              <a:gd name="T41" fmla="*/ 35 h 282"/>
              <a:gd name="T42" fmla="*/ 53 w 283"/>
              <a:gd name="T43" fmla="*/ 35 h 282"/>
              <a:gd name="T44" fmla="*/ 53 w 283"/>
              <a:gd name="T45" fmla="*/ 70 h 282"/>
              <a:gd name="T46" fmla="*/ 18 w 283"/>
              <a:gd name="T47" fmla="*/ 70 h 282"/>
              <a:gd name="T48" fmla="*/ 18 w 283"/>
              <a:gd name="T49" fmla="*/ 35 h 282"/>
              <a:gd name="T50" fmla="*/ 18 w 283"/>
              <a:gd name="T51" fmla="*/ 106 h 282"/>
              <a:gd name="T52" fmla="*/ 53 w 283"/>
              <a:gd name="T53" fmla="*/ 106 h 282"/>
              <a:gd name="T54" fmla="*/ 53 w 283"/>
              <a:gd name="T55" fmla="*/ 141 h 282"/>
              <a:gd name="T56" fmla="*/ 18 w 283"/>
              <a:gd name="T57" fmla="*/ 141 h 282"/>
              <a:gd name="T58" fmla="*/ 18 w 283"/>
              <a:gd name="T59" fmla="*/ 106 h 282"/>
              <a:gd name="T60" fmla="*/ 18 w 283"/>
              <a:gd name="T61" fmla="*/ 176 h 282"/>
              <a:gd name="T62" fmla="*/ 53 w 283"/>
              <a:gd name="T63" fmla="*/ 176 h 282"/>
              <a:gd name="T64" fmla="*/ 53 w 283"/>
              <a:gd name="T65" fmla="*/ 212 h 282"/>
              <a:gd name="T66" fmla="*/ 18 w 283"/>
              <a:gd name="T67" fmla="*/ 212 h 282"/>
              <a:gd name="T68" fmla="*/ 18 w 283"/>
              <a:gd name="T69" fmla="*/ 176 h 282"/>
              <a:gd name="T70" fmla="*/ 159 w 283"/>
              <a:gd name="T71" fmla="*/ 88 h 282"/>
              <a:gd name="T72" fmla="*/ 283 w 283"/>
              <a:gd name="T73" fmla="*/ 88 h 282"/>
              <a:gd name="T74" fmla="*/ 283 w 283"/>
              <a:gd name="T75" fmla="*/ 106 h 282"/>
              <a:gd name="T76" fmla="*/ 159 w 283"/>
              <a:gd name="T77" fmla="*/ 106 h 282"/>
              <a:gd name="T78" fmla="*/ 159 w 283"/>
              <a:gd name="T79" fmla="*/ 88 h 282"/>
              <a:gd name="T80" fmla="*/ 159 w 283"/>
              <a:gd name="T81" fmla="*/ 282 h 282"/>
              <a:gd name="T82" fmla="*/ 195 w 283"/>
              <a:gd name="T83" fmla="*/ 282 h 282"/>
              <a:gd name="T84" fmla="*/ 195 w 283"/>
              <a:gd name="T85" fmla="*/ 212 h 282"/>
              <a:gd name="T86" fmla="*/ 248 w 283"/>
              <a:gd name="T87" fmla="*/ 212 h 282"/>
              <a:gd name="T88" fmla="*/ 248 w 283"/>
              <a:gd name="T89" fmla="*/ 282 h 282"/>
              <a:gd name="T90" fmla="*/ 283 w 283"/>
              <a:gd name="T91" fmla="*/ 282 h 282"/>
              <a:gd name="T92" fmla="*/ 283 w 283"/>
              <a:gd name="T93" fmla="*/ 123 h 282"/>
              <a:gd name="T94" fmla="*/ 159 w 283"/>
              <a:gd name="T95" fmla="*/ 123 h 282"/>
              <a:gd name="T96" fmla="*/ 159 w 283"/>
              <a:gd name="T97"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3" h="282">
                <a:moveTo>
                  <a:pt x="0" y="282"/>
                </a:moveTo>
                <a:lnTo>
                  <a:pt x="142" y="282"/>
                </a:lnTo>
                <a:lnTo>
                  <a:pt x="142" y="0"/>
                </a:lnTo>
                <a:lnTo>
                  <a:pt x="0" y="0"/>
                </a:lnTo>
                <a:lnTo>
                  <a:pt x="0" y="282"/>
                </a:lnTo>
                <a:close/>
                <a:moveTo>
                  <a:pt x="89" y="35"/>
                </a:moveTo>
                <a:lnTo>
                  <a:pt x="124" y="35"/>
                </a:lnTo>
                <a:lnTo>
                  <a:pt x="124" y="70"/>
                </a:lnTo>
                <a:lnTo>
                  <a:pt x="89" y="70"/>
                </a:lnTo>
                <a:lnTo>
                  <a:pt x="89" y="35"/>
                </a:lnTo>
                <a:close/>
                <a:moveTo>
                  <a:pt x="89" y="106"/>
                </a:moveTo>
                <a:lnTo>
                  <a:pt x="124" y="106"/>
                </a:lnTo>
                <a:lnTo>
                  <a:pt x="124" y="141"/>
                </a:lnTo>
                <a:lnTo>
                  <a:pt x="89" y="141"/>
                </a:lnTo>
                <a:lnTo>
                  <a:pt x="89" y="106"/>
                </a:lnTo>
                <a:close/>
                <a:moveTo>
                  <a:pt x="89" y="176"/>
                </a:moveTo>
                <a:lnTo>
                  <a:pt x="124" y="176"/>
                </a:lnTo>
                <a:lnTo>
                  <a:pt x="124" y="212"/>
                </a:lnTo>
                <a:lnTo>
                  <a:pt x="89" y="212"/>
                </a:lnTo>
                <a:lnTo>
                  <a:pt x="89" y="176"/>
                </a:lnTo>
                <a:close/>
                <a:moveTo>
                  <a:pt x="18" y="35"/>
                </a:moveTo>
                <a:lnTo>
                  <a:pt x="53" y="35"/>
                </a:lnTo>
                <a:lnTo>
                  <a:pt x="53" y="70"/>
                </a:lnTo>
                <a:lnTo>
                  <a:pt x="18" y="70"/>
                </a:lnTo>
                <a:lnTo>
                  <a:pt x="18" y="35"/>
                </a:lnTo>
                <a:close/>
                <a:moveTo>
                  <a:pt x="18" y="106"/>
                </a:moveTo>
                <a:lnTo>
                  <a:pt x="53" y="106"/>
                </a:lnTo>
                <a:lnTo>
                  <a:pt x="53" y="141"/>
                </a:lnTo>
                <a:lnTo>
                  <a:pt x="18" y="141"/>
                </a:lnTo>
                <a:lnTo>
                  <a:pt x="18" y="106"/>
                </a:lnTo>
                <a:close/>
                <a:moveTo>
                  <a:pt x="18" y="176"/>
                </a:moveTo>
                <a:lnTo>
                  <a:pt x="53" y="176"/>
                </a:lnTo>
                <a:lnTo>
                  <a:pt x="53" y="212"/>
                </a:lnTo>
                <a:lnTo>
                  <a:pt x="18" y="212"/>
                </a:lnTo>
                <a:lnTo>
                  <a:pt x="18" y="176"/>
                </a:lnTo>
                <a:close/>
                <a:moveTo>
                  <a:pt x="159" y="88"/>
                </a:moveTo>
                <a:lnTo>
                  <a:pt x="283" y="88"/>
                </a:lnTo>
                <a:lnTo>
                  <a:pt x="283" y="106"/>
                </a:lnTo>
                <a:lnTo>
                  <a:pt x="159" y="106"/>
                </a:lnTo>
                <a:lnTo>
                  <a:pt x="159" y="88"/>
                </a:lnTo>
                <a:close/>
                <a:moveTo>
                  <a:pt x="159" y="282"/>
                </a:moveTo>
                <a:lnTo>
                  <a:pt x="195" y="282"/>
                </a:lnTo>
                <a:lnTo>
                  <a:pt x="195" y="212"/>
                </a:lnTo>
                <a:lnTo>
                  <a:pt x="248" y="212"/>
                </a:lnTo>
                <a:lnTo>
                  <a:pt x="248" y="282"/>
                </a:lnTo>
                <a:lnTo>
                  <a:pt x="283" y="282"/>
                </a:lnTo>
                <a:lnTo>
                  <a:pt x="283" y="123"/>
                </a:lnTo>
                <a:lnTo>
                  <a:pt x="159" y="123"/>
                </a:lnTo>
                <a:lnTo>
                  <a:pt x="159" y="282"/>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8" name="Freeform 117"/>
          <p:cNvSpPr>
            <a:spLocks noEditPoints="1"/>
          </p:cNvSpPr>
          <p:nvPr/>
        </p:nvSpPr>
        <p:spPr bwMode="auto">
          <a:xfrm>
            <a:off x="4997196" y="2644140"/>
            <a:ext cx="476250" cy="384810"/>
          </a:xfrm>
          <a:custGeom>
            <a:avLst/>
            <a:gdLst>
              <a:gd name="T0" fmla="*/ 0 w 567"/>
              <a:gd name="T1" fmla="*/ 356 h 457"/>
              <a:gd name="T2" fmla="*/ 0 w 567"/>
              <a:gd name="T3" fmla="*/ 246 h 457"/>
              <a:gd name="T4" fmla="*/ 19 w 567"/>
              <a:gd name="T5" fmla="*/ 201 h 457"/>
              <a:gd name="T6" fmla="*/ 64 w 567"/>
              <a:gd name="T7" fmla="*/ 182 h 457"/>
              <a:gd name="T8" fmla="*/ 72 w 567"/>
              <a:gd name="T9" fmla="*/ 182 h 457"/>
              <a:gd name="T10" fmla="*/ 102 w 567"/>
              <a:gd name="T11" fmla="*/ 63 h 457"/>
              <a:gd name="T12" fmla="*/ 132 w 567"/>
              <a:gd name="T13" fmla="*/ 18 h 457"/>
              <a:gd name="T14" fmla="*/ 183 w 567"/>
              <a:gd name="T15" fmla="*/ 0 h 457"/>
              <a:gd name="T16" fmla="*/ 384 w 567"/>
              <a:gd name="T17" fmla="*/ 0 h 457"/>
              <a:gd name="T18" fmla="*/ 435 w 567"/>
              <a:gd name="T19" fmla="*/ 18 h 457"/>
              <a:gd name="T20" fmla="*/ 465 w 567"/>
              <a:gd name="T21" fmla="*/ 63 h 457"/>
              <a:gd name="T22" fmla="*/ 495 w 567"/>
              <a:gd name="T23" fmla="*/ 182 h 457"/>
              <a:gd name="T24" fmla="*/ 503 w 567"/>
              <a:gd name="T25" fmla="*/ 182 h 457"/>
              <a:gd name="T26" fmla="*/ 548 w 567"/>
              <a:gd name="T27" fmla="*/ 201 h 457"/>
              <a:gd name="T28" fmla="*/ 567 w 567"/>
              <a:gd name="T29" fmla="*/ 246 h 457"/>
              <a:gd name="T30" fmla="*/ 567 w 567"/>
              <a:gd name="T31" fmla="*/ 356 h 457"/>
              <a:gd name="T32" fmla="*/ 564 w 567"/>
              <a:gd name="T33" fmla="*/ 363 h 457"/>
              <a:gd name="T34" fmla="*/ 558 w 567"/>
              <a:gd name="T35" fmla="*/ 365 h 457"/>
              <a:gd name="T36" fmla="*/ 521 w 567"/>
              <a:gd name="T37" fmla="*/ 365 h 457"/>
              <a:gd name="T38" fmla="*/ 521 w 567"/>
              <a:gd name="T39" fmla="*/ 402 h 457"/>
              <a:gd name="T40" fmla="*/ 505 w 567"/>
              <a:gd name="T41" fmla="*/ 441 h 457"/>
              <a:gd name="T42" fmla="*/ 466 w 567"/>
              <a:gd name="T43" fmla="*/ 457 h 457"/>
              <a:gd name="T44" fmla="*/ 427 w 567"/>
              <a:gd name="T45" fmla="*/ 441 h 457"/>
              <a:gd name="T46" fmla="*/ 411 w 567"/>
              <a:gd name="T47" fmla="*/ 402 h 457"/>
              <a:gd name="T48" fmla="*/ 411 w 567"/>
              <a:gd name="T49" fmla="*/ 365 h 457"/>
              <a:gd name="T50" fmla="*/ 146 w 567"/>
              <a:gd name="T51" fmla="*/ 365 h 457"/>
              <a:gd name="T52" fmla="*/ 146 w 567"/>
              <a:gd name="T53" fmla="*/ 402 h 457"/>
              <a:gd name="T54" fmla="*/ 130 w 567"/>
              <a:gd name="T55" fmla="*/ 441 h 457"/>
              <a:gd name="T56" fmla="*/ 91 w 567"/>
              <a:gd name="T57" fmla="*/ 457 h 457"/>
              <a:gd name="T58" fmla="*/ 53 w 567"/>
              <a:gd name="T59" fmla="*/ 441 h 457"/>
              <a:gd name="T60" fmla="*/ 37 w 567"/>
              <a:gd name="T61" fmla="*/ 402 h 457"/>
              <a:gd name="T62" fmla="*/ 37 w 567"/>
              <a:gd name="T63" fmla="*/ 365 h 457"/>
              <a:gd name="T64" fmla="*/ 9 w 567"/>
              <a:gd name="T65" fmla="*/ 365 h 457"/>
              <a:gd name="T66" fmla="*/ 3 w 567"/>
              <a:gd name="T67" fmla="*/ 363 h 457"/>
              <a:gd name="T68" fmla="*/ 0 w 567"/>
              <a:gd name="T69" fmla="*/ 356 h 457"/>
              <a:gd name="T70" fmla="*/ 46 w 567"/>
              <a:gd name="T71" fmla="*/ 274 h 457"/>
              <a:gd name="T72" fmla="*/ 59 w 567"/>
              <a:gd name="T73" fmla="*/ 306 h 457"/>
              <a:gd name="T74" fmla="*/ 91 w 567"/>
              <a:gd name="T75" fmla="*/ 320 h 457"/>
              <a:gd name="T76" fmla="*/ 124 w 567"/>
              <a:gd name="T77" fmla="*/ 306 h 457"/>
              <a:gd name="T78" fmla="*/ 137 w 567"/>
              <a:gd name="T79" fmla="*/ 274 h 457"/>
              <a:gd name="T80" fmla="*/ 124 w 567"/>
              <a:gd name="T81" fmla="*/ 242 h 457"/>
              <a:gd name="T82" fmla="*/ 91 w 567"/>
              <a:gd name="T83" fmla="*/ 228 h 457"/>
              <a:gd name="T84" fmla="*/ 59 w 567"/>
              <a:gd name="T85" fmla="*/ 242 h 457"/>
              <a:gd name="T86" fmla="*/ 46 w 567"/>
              <a:gd name="T87" fmla="*/ 274 h 457"/>
              <a:gd name="T88" fmla="*/ 147 w 567"/>
              <a:gd name="T89" fmla="*/ 182 h 457"/>
              <a:gd name="T90" fmla="*/ 419 w 567"/>
              <a:gd name="T91" fmla="*/ 182 h 457"/>
              <a:gd name="T92" fmla="*/ 394 w 567"/>
              <a:gd name="T93" fmla="*/ 80 h 457"/>
              <a:gd name="T94" fmla="*/ 390 w 567"/>
              <a:gd name="T95" fmla="*/ 75 h 457"/>
              <a:gd name="T96" fmla="*/ 384 w 567"/>
              <a:gd name="T97" fmla="*/ 73 h 457"/>
              <a:gd name="T98" fmla="*/ 183 w 567"/>
              <a:gd name="T99" fmla="*/ 73 h 457"/>
              <a:gd name="T100" fmla="*/ 177 w 567"/>
              <a:gd name="T101" fmla="*/ 75 h 457"/>
              <a:gd name="T102" fmla="*/ 173 w 567"/>
              <a:gd name="T103" fmla="*/ 80 h 457"/>
              <a:gd name="T104" fmla="*/ 147 w 567"/>
              <a:gd name="T105" fmla="*/ 182 h 457"/>
              <a:gd name="T106" fmla="*/ 421 w 567"/>
              <a:gd name="T107" fmla="*/ 274 h 457"/>
              <a:gd name="T108" fmla="*/ 434 w 567"/>
              <a:gd name="T109" fmla="*/ 306 h 457"/>
              <a:gd name="T110" fmla="*/ 466 w 567"/>
              <a:gd name="T111" fmla="*/ 320 h 457"/>
              <a:gd name="T112" fmla="*/ 499 w 567"/>
              <a:gd name="T113" fmla="*/ 306 h 457"/>
              <a:gd name="T114" fmla="*/ 512 w 567"/>
              <a:gd name="T115" fmla="*/ 274 h 457"/>
              <a:gd name="T116" fmla="*/ 499 w 567"/>
              <a:gd name="T117" fmla="*/ 242 h 457"/>
              <a:gd name="T118" fmla="*/ 466 w 567"/>
              <a:gd name="T119" fmla="*/ 228 h 457"/>
              <a:gd name="T120" fmla="*/ 434 w 567"/>
              <a:gd name="T121" fmla="*/ 242 h 457"/>
              <a:gd name="T122" fmla="*/ 421 w 567"/>
              <a:gd name="T123" fmla="*/ 27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 h="457">
                <a:moveTo>
                  <a:pt x="0" y="356"/>
                </a:moveTo>
                <a:cubicBezTo>
                  <a:pt x="0" y="246"/>
                  <a:pt x="0" y="246"/>
                  <a:pt x="0" y="246"/>
                </a:cubicBezTo>
                <a:cubicBezTo>
                  <a:pt x="0" y="229"/>
                  <a:pt x="6" y="214"/>
                  <a:pt x="19" y="201"/>
                </a:cubicBezTo>
                <a:cubicBezTo>
                  <a:pt x="31" y="189"/>
                  <a:pt x="46" y="182"/>
                  <a:pt x="64" y="182"/>
                </a:cubicBezTo>
                <a:cubicBezTo>
                  <a:pt x="72" y="182"/>
                  <a:pt x="72" y="182"/>
                  <a:pt x="72" y="182"/>
                </a:cubicBezTo>
                <a:cubicBezTo>
                  <a:pt x="102" y="63"/>
                  <a:pt x="102" y="63"/>
                  <a:pt x="102" y="63"/>
                </a:cubicBezTo>
                <a:cubicBezTo>
                  <a:pt x="106" y="45"/>
                  <a:pt x="116" y="30"/>
                  <a:pt x="132" y="18"/>
                </a:cubicBezTo>
                <a:cubicBezTo>
                  <a:pt x="147" y="6"/>
                  <a:pt x="164" y="0"/>
                  <a:pt x="183" y="0"/>
                </a:cubicBezTo>
                <a:cubicBezTo>
                  <a:pt x="384" y="0"/>
                  <a:pt x="384" y="0"/>
                  <a:pt x="384" y="0"/>
                </a:cubicBezTo>
                <a:cubicBezTo>
                  <a:pt x="403" y="0"/>
                  <a:pt x="420" y="6"/>
                  <a:pt x="435" y="18"/>
                </a:cubicBezTo>
                <a:cubicBezTo>
                  <a:pt x="451" y="30"/>
                  <a:pt x="460" y="45"/>
                  <a:pt x="465" y="63"/>
                </a:cubicBezTo>
                <a:cubicBezTo>
                  <a:pt x="495" y="182"/>
                  <a:pt x="495" y="182"/>
                  <a:pt x="495" y="182"/>
                </a:cubicBezTo>
                <a:cubicBezTo>
                  <a:pt x="503" y="182"/>
                  <a:pt x="503" y="182"/>
                  <a:pt x="503" y="182"/>
                </a:cubicBezTo>
                <a:cubicBezTo>
                  <a:pt x="521" y="182"/>
                  <a:pt x="536" y="189"/>
                  <a:pt x="548" y="201"/>
                </a:cubicBezTo>
                <a:cubicBezTo>
                  <a:pt x="561" y="214"/>
                  <a:pt x="567" y="229"/>
                  <a:pt x="567" y="246"/>
                </a:cubicBezTo>
                <a:cubicBezTo>
                  <a:pt x="567" y="356"/>
                  <a:pt x="567" y="356"/>
                  <a:pt x="567" y="356"/>
                </a:cubicBezTo>
                <a:cubicBezTo>
                  <a:pt x="567" y="359"/>
                  <a:pt x="566" y="361"/>
                  <a:pt x="564" y="363"/>
                </a:cubicBezTo>
                <a:cubicBezTo>
                  <a:pt x="563" y="364"/>
                  <a:pt x="560" y="365"/>
                  <a:pt x="558" y="365"/>
                </a:cubicBezTo>
                <a:cubicBezTo>
                  <a:pt x="521" y="365"/>
                  <a:pt x="521" y="365"/>
                  <a:pt x="521" y="365"/>
                </a:cubicBezTo>
                <a:cubicBezTo>
                  <a:pt x="521" y="402"/>
                  <a:pt x="521" y="402"/>
                  <a:pt x="521" y="402"/>
                </a:cubicBezTo>
                <a:cubicBezTo>
                  <a:pt x="521" y="417"/>
                  <a:pt x="516" y="430"/>
                  <a:pt x="505" y="441"/>
                </a:cubicBezTo>
                <a:cubicBezTo>
                  <a:pt x="494" y="451"/>
                  <a:pt x="482" y="457"/>
                  <a:pt x="466" y="457"/>
                </a:cubicBezTo>
                <a:cubicBezTo>
                  <a:pt x="451" y="457"/>
                  <a:pt x="438" y="451"/>
                  <a:pt x="427" y="441"/>
                </a:cubicBezTo>
                <a:cubicBezTo>
                  <a:pt x="417" y="430"/>
                  <a:pt x="411" y="417"/>
                  <a:pt x="411" y="402"/>
                </a:cubicBezTo>
                <a:cubicBezTo>
                  <a:pt x="411" y="365"/>
                  <a:pt x="411" y="365"/>
                  <a:pt x="411" y="365"/>
                </a:cubicBezTo>
                <a:cubicBezTo>
                  <a:pt x="146" y="365"/>
                  <a:pt x="146" y="365"/>
                  <a:pt x="146" y="365"/>
                </a:cubicBezTo>
                <a:cubicBezTo>
                  <a:pt x="146" y="402"/>
                  <a:pt x="146" y="402"/>
                  <a:pt x="146" y="402"/>
                </a:cubicBezTo>
                <a:cubicBezTo>
                  <a:pt x="146" y="417"/>
                  <a:pt x="141" y="430"/>
                  <a:pt x="130" y="441"/>
                </a:cubicBezTo>
                <a:cubicBezTo>
                  <a:pt x="120" y="451"/>
                  <a:pt x="107" y="457"/>
                  <a:pt x="91" y="457"/>
                </a:cubicBezTo>
                <a:cubicBezTo>
                  <a:pt x="76" y="457"/>
                  <a:pt x="63" y="451"/>
                  <a:pt x="53" y="441"/>
                </a:cubicBezTo>
                <a:cubicBezTo>
                  <a:pt x="42" y="430"/>
                  <a:pt x="37" y="417"/>
                  <a:pt x="37" y="402"/>
                </a:cubicBezTo>
                <a:cubicBezTo>
                  <a:pt x="37" y="365"/>
                  <a:pt x="37" y="365"/>
                  <a:pt x="37" y="365"/>
                </a:cubicBezTo>
                <a:cubicBezTo>
                  <a:pt x="9" y="365"/>
                  <a:pt x="9" y="365"/>
                  <a:pt x="9" y="365"/>
                </a:cubicBezTo>
                <a:cubicBezTo>
                  <a:pt x="6" y="365"/>
                  <a:pt x="4" y="364"/>
                  <a:pt x="3" y="363"/>
                </a:cubicBezTo>
                <a:cubicBezTo>
                  <a:pt x="1" y="361"/>
                  <a:pt x="0" y="359"/>
                  <a:pt x="0" y="356"/>
                </a:cubicBezTo>
                <a:close/>
                <a:moveTo>
                  <a:pt x="46" y="274"/>
                </a:moveTo>
                <a:cubicBezTo>
                  <a:pt x="46" y="286"/>
                  <a:pt x="50" y="297"/>
                  <a:pt x="59" y="306"/>
                </a:cubicBezTo>
                <a:cubicBezTo>
                  <a:pt x="68" y="315"/>
                  <a:pt x="79" y="320"/>
                  <a:pt x="91" y="320"/>
                </a:cubicBezTo>
                <a:cubicBezTo>
                  <a:pt x="104" y="320"/>
                  <a:pt x="115" y="315"/>
                  <a:pt x="124" y="306"/>
                </a:cubicBezTo>
                <a:cubicBezTo>
                  <a:pt x="133" y="297"/>
                  <a:pt x="137" y="286"/>
                  <a:pt x="137" y="274"/>
                </a:cubicBezTo>
                <a:cubicBezTo>
                  <a:pt x="137" y="261"/>
                  <a:pt x="133" y="251"/>
                  <a:pt x="124" y="242"/>
                </a:cubicBezTo>
                <a:cubicBezTo>
                  <a:pt x="115" y="233"/>
                  <a:pt x="104" y="228"/>
                  <a:pt x="91" y="228"/>
                </a:cubicBezTo>
                <a:cubicBezTo>
                  <a:pt x="79" y="228"/>
                  <a:pt x="68" y="233"/>
                  <a:pt x="59" y="242"/>
                </a:cubicBezTo>
                <a:cubicBezTo>
                  <a:pt x="50" y="251"/>
                  <a:pt x="46" y="261"/>
                  <a:pt x="46" y="274"/>
                </a:cubicBezTo>
                <a:close/>
                <a:moveTo>
                  <a:pt x="147" y="182"/>
                </a:moveTo>
                <a:cubicBezTo>
                  <a:pt x="419" y="182"/>
                  <a:pt x="419" y="182"/>
                  <a:pt x="419" y="182"/>
                </a:cubicBezTo>
                <a:cubicBezTo>
                  <a:pt x="394" y="80"/>
                  <a:pt x="394" y="80"/>
                  <a:pt x="394" y="80"/>
                </a:cubicBezTo>
                <a:cubicBezTo>
                  <a:pt x="394" y="79"/>
                  <a:pt x="392" y="77"/>
                  <a:pt x="390" y="75"/>
                </a:cubicBezTo>
                <a:cubicBezTo>
                  <a:pt x="388" y="74"/>
                  <a:pt x="386" y="73"/>
                  <a:pt x="384" y="73"/>
                </a:cubicBezTo>
                <a:cubicBezTo>
                  <a:pt x="183" y="73"/>
                  <a:pt x="183" y="73"/>
                  <a:pt x="183" y="73"/>
                </a:cubicBezTo>
                <a:cubicBezTo>
                  <a:pt x="181" y="73"/>
                  <a:pt x="179" y="74"/>
                  <a:pt x="177" y="75"/>
                </a:cubicBezTo>
                <a:cubicBezTo>
                  <a:pt x="175" y="77"/>
                  <a:pt x="173" y="79"/>
                  <a:pt x="173" y="80"/>
                </a:cubicBezTo>
                <a:lnTo>
                  <a:pt x="147" y="182"/>
                </a:lnTo>
                <a:close/>
                <a:moveTo>
                  <a:pt x="421" y="274"/>
                </a:moveTo>
                <a:cubicBezTo>
                  <a:pt x="421" y="286"/>
                  <a:pt x="425" y="297"/>
                  <a:pt x="434" y="306"/>
                </a:cubicBezTo>
                <a:cubicBezTo>
                  <a:pt x="443" y="315"/>
                  <a:pt x="454" y="320"/>
                  <a:pt x="466" y="320"/>
                </a:cubicBezTo>
                <a:cubicBezTo>
                  <a:pt x="479" y="320"/>
                  <a:pt x="490" y="315"/>
                  <a:pt x="499" y="306"/>
                </a:cubicBezTo>
                <a:cubicBezTo>
                  <a:pt x="508" y="297"/>
                  <a:pt x="512" y="286"/>
                  <a:pt x="512" y="274"/>
                </a:cubicBezTo>
                <a:cubicBezTo>
                  <a:pt x="512" y="261"/>
                  <a:pt x="508" y="251"/>
                  <a:pt x="499" y="242"/>
                </a:cubicBezTo>
                <a:cubicBezTo>
                  <a:pt x="490" y="233"/>
                  <a:pt x="479" y="228"/>
                  <a:pt x="466" y="228"/>
                </a:cubicBezTo>
                <a:cubicBezTo>
                  <a:pt x="454" y="228"/>
                  <a:pt x="443" y="233"/>
                  <a:pt x="434" y="242"/>
                </a:cubicBezTo>
                <a:cubicBezTo>
                  <a:pt x="425" y="251"/>
                  <a:pt x="421" y="261"/>
                  <a:pt x="421" y="274"/>
                </a:cubicBez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accent6"/>
              </a:solidFill>
              <a:effectLst/>
              <a:uLnTx/>
              <a:uFillTx/>
              <a:latin typeface="+mn-lt"/>
              <a:ea typeface="+mn-ea"/>
              <a:cs typeface="+mn-cs"/>
            </a:endParaRPr>
          </a:p>
        </p:txBody>
      </p:sp>
      <p:sp>
        <p:nvSpPr>
          <p:cNvPr id="70" name="Freeform 9"/>
          <p:cNvSpPr/>
          <p:nvPr/>
        </p:nvSpPr>
        <p:spPr>
          <a:xfrm>
            <a:off x="1634490" y="3488056"/>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4" name="TextBox 71"/>
          <p:cNvSpPr txBox="1"/>
          <p:nvPr/>
        </p:nvSpPr>
        <p:spPr>
          <a:xfrm>
            <a:off x="329408" y="1740538"/>
            <a:ext cx="3868674" cy="1321308"/>
          </a:xfrm>
          <a:prstGeom prst="rect">
            <a:avLst/>
          </a:prstGeom>
          <a:noFill/>
          <a:ln w="9525">
            <a:noFill/>
          </a:ln>
        </p:spPr>
        <p:txBody>
          <a:bodyPr wrap="square">
            <a:noAutofit/>
          </a:bodyPr>
          <a:lstStyle/>
          <a:p>
            <a:pPr algn="just" eaLnBrk="1" hangingPunct="1">
              <a:buNone/>
            </a:pPr>
            <a:endParaRPr lang="en-US" altLang="zh-CN" sz="2160" dirty="0">
              <a:solidFill>
                <a:schemeClr val="accent1"/>
              </a:solidFill>
              <a:latin typeface="Times New Roman" panose="02020603050405020304" charset="0"/>
              <a:cs typeface="Times New Roman" panose="02020603050405020304" charset="0"/>
            </a:endParaRPr>
          </a:p>
          <a:p>
            <a:pPr algn="just" eaLnBrk="1" hangingPunct="1">
              <a:lnSpc>
                <a:spcPct val="150000"/>
              </a:lnSpc>
              <a:buNone/>
            </a:pPr>
            <a:r>
              <a:rPr lang="en-US" altLang="zh-CN" sz="2160" b="1" dirty="0">
                <a:solidFill>
                  <a:srgbClr val="C00000"/>
                </a:solidFill>
                <a:latin typeface="Times New Roman" panose="02020603050405020304" charset="0"/>
                <a:cs typeface="Times New Roman" panose="02020603050405020304" charset="0"/>
              </a:rPr>
              <a:t>Insight 1:</a:t>
            </a:r>
            <a:r>
              <a:rPr lang="en-US" altLang="zh-CN" sz="2160" b="1" dirty="0">
                <a:solidFill>
                  <a:schemeClr val="accent1"/>
                </a:solidFill>
                <a:latin typeface="Times New Roman" panose="02020603050405020304" charset="0"/>
                <a:cs typeface="Times New Roman" panose="02020603050405020304" charset="0"/>
              </a:rPr>
              <a:t> Larger Models Yield Better Performance in ICL</a:t>
            </a:r>
          </a:p>
        </p:txBody>
      </p:sp>
      <p:sp>
        <p:nvSpPr>
          <p:cNvPr id="7" name="TextBox 71"/>
          <p:cNvSpPr txBox="1"/>
          <p:nvPr/>
        </p:nvSpPr>
        <p:spPr>
          <a:xfrm>
            <a:off x="8040624" y="3863340"/>
            <a:ext cx="4151376" cy="1321308"/>
          </a:xfrm>
          <a:prstGeom prst="rect">
            <a:avLst/>
          </a:prstGeom>
          <a:noFill/>
          <a:ln w="9525">
            <a:noFill/>
          </a:ln>
        </p:spPr>
        <p:txBody>
          <a:bodyPr wrap="square">
            <a:noAutofit/>
          </a:bodyPr>
          <a:lstStyle/>
          <a:p>
            <a:pPr algn="just" eaLnBrk="1" hangingPunct="1">
              <a:lnSpc>
                <a:spcPct val="150000"/>
              </a:lnSpc>
              <a:buNone/>
            </a:pPr>
            <a:endParaRPr lang="en-US" altLang="zh-CN" sz="2160" dirty="0">
              <a:solidFill>
                <a:schemeClr val="accent1"/>
              </a:solidFill>
              <a:latin typeface="Times New Roman" panose="02020603050405020304" charset="0"/>
              <a:cs typeface="Times New Roman" panose="02020603050405020304" charset="0"/>
            </a:endParaRPr>
          </a:p>
          <a:p>
            <a:pPr algn="just" eaLnBrk="1" hangingPunct="1">
              <a:lnSpc>
                <a:spcPct val="150000"/>
              </a:lnSpc>
              <a:buNone/>
            </a:pPr>
            <a:r>
              <a:rPr lang="en-US" altLang="zh-CN" sz="2160" b="1" dirty="0">
                <a:solidFill>
                  <a:srgbClr val="C00000"/>
                </a:solidFill>
                <a:latin typeface="Times New Roman" panose="02020603050405020304" charset="0"/>
                <a:cs typeface="Times New Roman" panose="02020603050405020304" charset="0"/>
              </a:rPr>
              <a:t>Insight 4:</a:t>
            </a:r>
            <a:r>
              <a:rPr lang="en-US" altLang="zh-CN" sz="2160" b="1" dirty="0">
                <a:solidFill>
                  <a:schemeClr val="accent1"/>
                </a:solidFill>
                <a:latin typeface="Times New Roman" panose="02020603050405020304" charset="0"/>
                <a:cs typeface="Times New Roman" panose="02020603050405020304" charset="0"/>
              </a:rPr>
              <a:t> Prompt Format and Instruction Clarity Significantly Affect Output Quality</a:t>
            </a:r>
          </a:p>
        </p:txBody>
      </p:sp>
      <p:sp>
        <p:nvSpPr>
          <p:cNvPr id="8" name="TextBox 71"/>
          <p:cNvSpPr txBox="1"/>
          <p:nvPr/>
        </p:nvSpPr>
        <p:spPr>
          <a:xfrm>
            <a:off x="8004810" y="1383030"/>
            <a:ext cx="4152138" cy="2756154"/>
          </a:xfrm>
          <a:prstGeom prst="rect">
            <a:avLst/>
          </a:prstGeom>
          <a:noFill/>
          <a:ln w="9525">
            <a:noFill/>
          </a:ln>
        </p:spPr>
        <p:txBody>
          <a:bodyPr wrap="square">
            <a:noAutofit/>
          </a:bodyPr>
          <a:lstStyle/>
          <a:p>
            <a:pPr algn="just" eaLnBrk="1" hangingPunct="1">
              <a:lnSpc>
                <a:spcPct val="150000"/>
              </a:lnSpc>
              <a:buNone/>
            </a:pPr>
            <a:endParaRPr lang="en-US" altLang="zh-CN" sz="2160" dirty="0">
              <a:solidFill>
                <a:schemeClr val="accent1"/>
              </a:solidFill>
              <a:latin typeface="Times New Roman" panose="02020603050405020304" charset="0"/>
              <a:cs typeface="Times New Roman" panose="02020603050405020304" charset="0"/>
            </a:endParaRPr>
          </a:p>
          <a:p>
            <a:pPr algn="just" eaLnBrk="1" hangingPunct="1">
              <a:lnSpc>
                <a:spcPct val="150000"/>
              </a:lnSpc>
              <a:buNone/>
            </a:pPr>
            <a:r>
              <a:rPr lang="en-US" altLang="zh-CN" sz="2160" b="1" dirty="0">
                <a:solidFill>
                  <a:srgbClr val="C00000"/>
                </a:solidFill>
                <a:latin typeface="Times New Roman" panose="02020603050405020304" charset="0"/>
                <a:cs typeface="Times New Roman" panose="02020603050405020304" charset="0"/>
              </a:rPr>
              <a:t>Insight 3: </a:t>
            </a:r>
            <a:r>
              <a:rPr lang="en-US" altLang="zh-CN" sz="2160" b="1" dirty="0">
                <a:solidFill>
                  <a:schemeClr val="accent1"/>
                </a:solidFill>
                <a:latin typeface="Times New Roman" panose="02020603050405020304" charset="0"/>
                <a:cs typeface="Times New Roman" panose="02020603050405020304" charset="0"/>
              </a:rPr>
              <a:t>Task Type Affects Model Preference – Qwen Favors Classification, THUDM Favors Regression</a:t>
            </a:r>
          </a:p>
        </p:txBody>
      </p:sp>
      <p:sp>
        <p:nvSpPr>
          <p:cNvPr id="9" name="TextBox 71"/>
          <p:cNvSpPr txBox="1"/>
          <p:nvPr/>
        </p:nvSpPr>
        <p:spPr>
          <a:xfrm>
            <a:off x="128778" y="3726942"/>
            <a:ext cx="4237482" cy="1594866"/>
          </a:xfrm>
          <a:prstGeom prst="rect">
            <a:avLst/>
          </a:prstGeom>
          <a:noFill/>
          <a:ln w="9525">
            <a:noFill/>
          </a:ln>
        </p:spPr>
        <p:txBody>
          <a:bodyPr wrap="square">
            <a:noAutofit/>
          </a:bodyPr>
          <a:lstStyle/>
          <a:p>
            <a:pPr algn="just" eaLnBrk="1" hangingPunct="1">
              <a:lnSpc>
                <a:spcPct val="150000"/>
              </a:lnSpc>
              <a:buNone/>
            </a:pPr>
            <a:endParaRPr lang="en-US" altLang="zh-CN" sz="2160" dirty="0">
              <a:solidFill>
                <a:schemeClr val="accent1"/>
              </a:solidFill>
              <a:latin typeface="Times New Roman" panose="02020603050405020304" charset="0"/>
              <a:cs typeface="Times New Roman" panose="02020603050405020304" charset="0"/>
            </a:endParaRPr>
          </a:p>
          <a:p>
            <a:pPr algn="just" eaLnBrk="1" hangingPunct="1">
              <a:lnSpc>
                <a:spcPct val="150000"/>
              </a:lnSpc>
              <a:buNone/>
            </a:pPr>
            <a:r>
              <a:rPr lang="en-US" altLang="zh-CN" sz="2160" b="1" dirty="0">
                <a:solidFill>
                  <a:srgbClr val="C00000"/>
                </a:solidFill>
                <a:latin typeface="Times New Roman" panose="02020603050405020304" charset="0"/>
                <a:cs typeface="Times New Roman" panose="02020603050405020304" charset="0"/>
              </a:rPr>
              <a:t>Insight 2: </a:t>
            </a:r>
            <a:r>
              <a:rPr lang="en-US" altLang="zh-CN" sz="2160" b="1" dirty="0">
                <a:solidFill>
                  <a:schemeClr val="accent1"/>
                </a:solidFill>
                <a:latin typeface="Times New Roman" panose="02020603050405020304" charset="0"/>
                <a:cs typeface="Times New Roman" panose="02020603050405020304" charset="0"/>
              </a:rPr>
              <a:t>Increasing the Number of In-Context Examples Improves Accuracy</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1000" fill="hold"/>
                                        <p:tgtEl>
                                          <p:spTgt spid="65"/>
                                        </p:tgtEl>
                                        <p:attrNameLst>
                                          <p:attrName>ppt_w</p:attrName>
                                        </p:attrNameLst>
                                      </p:cBhvr>
                                      <p:tavLst>
                                        <p:tav tm="0">
                                          <p:val>
                                            <p:fltVal val="0"/>
                                          </p:val>
                                        </p:tav>
                                        <p:tav tm="100000">
                                          <p:val>
                                            <p:strVal val="#ppt_w"/>
                                          </p:val>
                                        </p:tav>
                                      </p:tavLst>
                                    </p:anim>
                                    <p:anim calcmode="lin" valueType="num">
                                      <p:cBhvr>
                                        <p:cTn id="8" dur="1000" fill="hold"/>
                                        <p:tgtEl>
                                          <p:spTgt spid="65"/>
                                        </p:tgtEl>
                                        <p:attrNameLst>
                                          <p:attrName>ppt_h</p:attrName>
                                        </p:attrNameLst>
                                      </p:cBhvr>
                                      <p:tavLst>
                                        <p:tav tm="0">
                                          <p:val>
                                            <p:fltVal val="0"/>
                                          </p:val>
                                        </p:tav>
                                        <p:tav tm="100000">
                                          <p:val>
                                            <p:strVal val="#ppt_h"/>
                                          </p:val>
                                        </p:tav>
                                      </p:tavLst>
                                    </p:anim>
                                    <p:anim calcmode="lin" valueType="num">
                                      <p:cBhvr>
                                        <p:cTn id="9" dur="1000" fill="hold"/>
                                        <p:tgtEl>
                                          <p:spTgt spid="65"/>
                                        </p:tgtEl>
                                        <p:attrNameLst>
                                          <p:attrName>style.rotation</p:attrName>
                                        </p:attrNameLst>
                                      </p:cBhvr>
                                      <p:tavLst>
                                        <p:tav tm="0">
                                          <p:val>
                                            <p:fltVal val="90"/>
                                          </p:val>
                                        </p:tav>
                                        <p:tav tm="100000">
                                          <p:val>
                                            <p:fltVal val="0"/>
                                          </p:val>
                                        </p:tav>
                                      </p:tavLst>
                                    </p:anim>
                                    <p:animEffect transition="in" filter="fade">
                                      <p:cBhvr>
                                        <p:cTn id="10" dur="1000"/>
                                        <p:tgtEl>
                                          <p:spTgt spid="65"/>
                                        </p:tgtEl>
                                      </p:cBhvr>
                                    </p:animEffect>
                                  </p:childTnLst>
                                </p:cTn>
                              </p:par>
                              <p:par>
                                <p:cTn id="11" presetID="3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 calcmode="lin" valueType="num">
                                      <p:cBhvr>
                                        <p:cTn id="13" dur="1000" fill="hold"/>
                                        <p:tgtEl>
                                          <p:spTgt spid="67"/>
                                        </p:tgtEl>
                                        <p:attrNameLst>
                                          <p:attrName>ppt_w</p:attrName>
                                        </p:attrNameLst>
                                      </p:cBhvr>
                                      <p:tavLst>
                                        <p:tav tm="0">
                                          <p:val>
                                            <p:fltVal val="0"/>
                                          </p:val>
                                        </p:tav>
                                        <p:tav tm="100000">
                                          <p:val>
                                            <p:strVal val="#ppt_w"/>
                                          </p:val>
                                        </p:tav>
                                      </p:tavLst>
                                    </p:anim>
                                    <p:anim calcmode="lin" valueType="num">
                                      <p:cBhvr>
                                        <p:cTn id="14" dur="1000" fill="hold"/>
                                        <p:tgtEl>
                                          <p:spTgt spid="67"/>
                                        </p:tgtEl>
                                        <p:attrNameLst>
                                          <p:attrName>ppt_h</p:attrName>
                                        </p:attrNameLst>
                                      </p:cBhvr>
                                      <p:tavLst>
                                        <p:tav tm="0">
                                          <p:val>
                                            <p:fltVal val="0"/>
                                          </p:val>
                                        </p:tav>
                                        <p:tav tm="100000">
                                          <p:val>
                                            <p:strVal val="#ppt_h"/>
                                          </p:val>
                                        </p:tav>
                                      </p:tavLst>
                                    </p:anim>
                                    <p:anim calcmode="lin" valueType="num">
                                      <p:cBhvr>
                                        <p:cTn id="15" dur="1000" fill="hold"/>
                                        <p:tgtEl>
                                          <p:spTgt spid="67"/>
                                        </p:tgtEl>
                                        <p:attrNameLst>
                                          <p:attrName>style.rotation</p:attrName>
                                        </p:attrNameLst>
                                      </p:cBhvr>
                                      <p:tavLst>
                                        <p:tav tm="0">
                                          <p:val>
                                            <p:fltVal val="90"/>
                                          </p:val>
                                        </p:tav>
                                        <p:tav tm="100000">
                                          <p:val>
                                            <p:fltVal val="0"/>
                                          </p:val>
                                        </p:tav>
                                      </p:tavLst>
                                    </p:anim>
                                    <p:animEffect transition="in" filter="fade">
                                      <p:cBhvr>
                                        <p:cTn id="16" dur="1000"/>
                                        <p:tgtEl>
                                          <p:spTgt spid="67"/>
                                        </p:tgtEl>
                                      </p:cBhvr>
                                    </p:animEffect>
                                  </p:childTnLst>
                                </p:cTn>
                              </p:par>
                              <p:par>
                                <p:cTn id="17" presetID="3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 calcmode="lin" valueType="num">
                                      <p:cBhvr>
                                        <p:cTn id="19" dur="1000" fill="hold"/>
                                        <p:tgtEl>
                                          <p:spTgt spid="57"/>
                                        </p:tgtEl>
                                        <p:attrNameLst>
                                          <p:attrName>ppt_w</p:attrName>
                                        </p:attrNameLst>
                                      </p:cBhvr>
                                      <p:tavLst>
                                        <p:tav tm="0">
                                          <p:val>
                                            <p:fltVal val="0"/>
                                          </p:val>
                                        </p:tav>
                                        <p:tav tm="100000">
                                          <p:val>
                                            <p:strVal val="#ppt_w"/>
                                          </p:val>
                                        </p:tav>
                                      </p:tavLst>
                                    </p:anim>
                                    <p:anim calcmode="lin" valueType="num">
                                      <p:cBhvr>
                                        <p:cTn id="20" dur="1000" fill="hold"/>
                                        <p:tgtEl>
                                          <p:spTgt spid="57"/>
                                        </p:tgtEl>
                                        <p:attrNameLst>
                                          <p:attrName>ppt_h</p:attrName>
                                        </p:attrNameLst>
                                      </p:cBhvr>
                                      <p:tavLst>
                                        <p:tav tm="0">
                                          <p:val>
                                            <p:fltVal val="0"/>
                                          </p:val>
                                        </p:tav>
                                        <p:tav tm="100000">
                                          <p:val>
                                            <p:strVal val="#ppt_h"/>
                                          </p:val>
                                        </p:tav>
                                      </p:tavLst>
                                    </p:anim>
                                    <p:anim calcmode="lin" valueType="num">
                                      <p:cBhvr>
                                        <p:cTn id="21" dur="1000" fill="hold"/>
                                        <p:tgtEl>
                                          <p:spTgt spid="57"/>
                                        </p:tgtEl>
                                        <p:attrNameLst>
                                          <p:attrName>style.rotation</p:attrName>
                                        </p:attrNameLst>
                                      </p:cBhvr>
                                      <p:tavLst>
                                        <p:tav tm="0">
                                          <p:val>
                                            <p:fltVal val="90"/>
                                          </p:val>
                                        </p:tav>
                                        <p:tav tm="100000">
                                          <p:val>
                                            <p:fltVal val="0"/>
                                          </p:val>
                                        </p:tav>
                                      </p:tavLst>
                                    </p:anim>
                                    <p:animEffect transition="in" filter="fade">
                                      <p:cBhvr>
                                        <p:cTn id="22" dur="1000"/>
                                        <p:tgtEl>
                                          <p:spTgt spid="57"/>
                                        </p:tgtEl>
                                      </p:cBhvr>
                                    </p:animEffect>
                                  </p:childTnLst>
                                </p:cTn>
                              </p:par>
                              <p:par>
                                <p:cTn id="23" presetID="3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anim calcmode="lin" valueType="num">
                                      <p:cBhvr>
                                        <p:cTn id="25" dur="1000" fill="hold"/>
                                        <p:tgtEl>
                                          <p:spTgt spid="59"/>
                                        </p:tgtEl>
                                        <p:attrNameLst>
                                          <p:attrName>ppt_w</p:attrName>
                                        </p:attrNameLst>
                                      </p:cBhvr>
                                      <p:tavLst>
                                        <p:tav tm="0">
                                          <p:val>
                                            <p:fltVal val="0"/>
                                          </p:val>
                                        </p:tav>
                                        <p:tav tm="100000">
                                          <p:val>
                                            <p:strVal val="#ppt_w"/>
                                          </p:val>
                                        </p:tav>
                                      </p:tavLst>
                                    </p:anim>
                                    <p:anim calcmode="lin" valueType="num">
                                      <p:cBhvr>
                                        <p:cTn id="26" dur="1000" fill="hold"/>
                                        <p:tgtEl>
                                          <p:spTgt spid="59"/>
                                        </p:tgtEl>
                                        <p:attrNameLst>
                                          <p:attrName>ppt_h</p:attrName>
                                        </p:attrNameLst>
                                      </p:cBhvr>
                                      <p:tavLst>
                                        <p:tav tm="0">
                                          <p:val>
                                            <p:fltVal val="0"/>
                                          </p:val>
                                        </p:tav>
                                        <p:tav tm="100000">
                                          <p:val>
                                            <p:strVal val="#ppt_h"/>
                                          </p:val>
                                        </p:tav>
                                      </p:tavLst>
                                    </p:anim>
                                    <p:anim calcmode="lin" valueType="num">
                                      <p:cBhvr>
                                        <p:cTn id="27" dur="1000" fill="hold"/>
                                        <p:tgtEl>
                                          <p:spTgt spid="59"/>
                                        </p:tgtEl>
                                        <p:attrNameLst>
                                          <p:attrName>style.rotation</p:attrName>
                                        </p:attrNameLst>
                                      </p:cBhvr>
                                      <p:tavLst>
                                        <p:tav tm="0">
                                          <p:val>
                                            <p:fltVal val="90"/>
                                          </p:val>
                                        </p:tav>
                                        <p:tav tm="100000">
                                          <p:val>
                                            <p:fltVal val="0"/>
                                          </p:val>
                                        </p:tav>
                                      </p:tavLst>
                                    </p:anim>
                                    <p:animEffect transition="in" filter="fade">
                                      <p:cBhvr>
                                        <p:cTn id="28" dur="1000"/>
                                        <p:tgtEl>
                                          <p:spTgt spid="59"/>
                                        </p:tgtEl>
                                      </p:cBhvr>
                                    </p:animEffect>
                                  </p:childTnLst>
                                </p:cTn>
                              </p:par>
                              <p:par>
                                <p:cTn id="29" presetID="3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 calcmode="lin" valueType="num">
                                      <p:cBhvr>
                                        <p:cTn id="31" dur="1000" fill="hold"/>
                                        <p:tgtEl>
                                          <p:spTgt spid="60"/>
                                        </p:tgtEl>
                                        <p:attrNameLst>
                                          <p:attrName>ppt_w</p:attrName>
                                        </p:attrNameLst>
                                      </p:cBhvr>
                                      <p:tavLst>
                                        <p:tav tm="0">
                                          <p:val>
                                            <p:fltVal val="0"/>
                                          </p:val>
                                        </p:tav>
                                        <p:tav tm="100000">
                                          <p:val>
                                            <p:strVal val="#ppt_w"/>
                                          </p:val>
                                        </p:tav>
                                      </p:tavLst>
                                    </p:anim>
                                    <p:anim calcmode="lin" valueType="num">
                                      <p:cBhvr>
                                        <p:cTn id="32" dur="1000" fill="hold"/>
                                        <p:tgtEl>
                                          <p:spTgt spid="60"/>
                                        </p:tgtEl>
                                        <p:attrNameLst>
                                          <p:attrName>ppt_h</p:attrName>
                                        </p:attrNameLst>
                                      </p:cBhvr>
                                      <p:tavLst>
                                        <p:tav tm="0">
                                          <p:val>
                                            <p:fltVal val="0"/>
                                          </p:val>
                                        </p:tav>
                                        <p:tav tm="100000">
                                          <p:val>
                                            <p:strVal val="#ppt_h"/>
                                          </p:val>
                                        </p:tav>
                                      </p:tavLst>
                                    </p:anim>
                                    <p:anim calcmode="lin" valueType="num">
                                      <p:cBhvr>
                                        <p:cTn id="33" dur="1000" fill="hold"/>
                                        <p:tgtEl>
                                          <p:spTgt spid="60"/>
                                        </p:tgtEl>
                                        <p:attrNameLst>
                                          <p:attrName>style.rotation</p:attrName>
                                        </p:attrNameLst>
                                      </p:cBhvr>
                                      <p:tavLst>
                                        <p:tav tm="0">
                                          <p:val>
                                            <p:fltVal val="90"/>
                                          </p:val>
                                        </p:tav>
                                        <p:tav tm="100000">
                                          <p:val>
                                            <p:fltVal val="0"/>
                                          </p:val>
                                        </p:tav>
                                      </p:tavLst>
                                    </p:anim>
                                    <p:animEffect transition="in" filter="fade">
                                      <p:cBhvr>
                                        <p:cTn id="34" dur="1000"/>
                                        <p:tgtEl>
                                          <p:spTgt spid="60"/>
                                        </p:tgtEl>
                                      </p:cBhvr>
                                    </p:animEffect>
                                  </p:childTnLst>
                                </p:cTn>
                              </p:par>
                              <p:par>
                                <p:cTn id="35" presetID="3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p:cTn id="37" dur="1000" fill="hold"/>
                                        <p:tgtEl>
                                          <p:spTgt spid="58"/>
                                        </p:tgtEl>
                                        <p:attrNameLst>
                                          <p:attrName>ppt_w</p:attrName>
                                        </p:attrNameLst>
                                      </p:cBhvr>
                                      <p:tavLst>
                                        <p:tav tm="0">
                                          <p:val>
                                            <p:fltVal val="0"/>
                                          </p:val>
                                        </p:tav>
                                        <p:tav tm="100000">
                                          <p:val>
                                            <p:strVal val="#ppt_w"/>
                                          </p:val>
                                        </p:tav>
                                      </p:tavLst>
                                    </p:anim>
                                    <p:anim calcmode="lin" valueType="num">
                                      <p:cBhvr>
                                        <p:cTn id="38" dur="1000" fill="hold"/>
                                        <p:tgtEl>
                                          <p:spTgt spid="58"/>
                                        </p:tgtEl>
                                        <p:attrNameLst>
                                          <p:attrName>ppt_h</p:attrName>
                                        </p:attrNameLst>
                                      </p:cBhvr>
                                      <p:tavLst>
                                        <p:tav tm="0">
                                          <p:val>
                                            <p:fltVal val="0"/>
                                          </p:val>
                                        </p:tav>
                                        <p:tav tm="100000">
                                          <p:val>
                                            <p:strVal val="#ppt_h"/>
                                          </p:val>
                                        </p:tav>
                                      </p:tavLst>
                                    </p:anim>
                                    <p:anim calcmode="lin" valueType="num">
                                      <p:cBhvr>
                                        <p:cTn id="39" dur="1000" fill="hold"/>
                                        <p:tgtEl>
                                          <p:spTgt spid="58"/>
                                        </p:tgtEl>
                                        <p:attrNameLst>
                                          <p:attrName>style.rotation</p:attrName>
                                        </p:attrNameLst>
                                      </p:cBhvr>
                                      <p:tavLst>
                                        <p:tav tm="0">
                                          <p:val>
                                            <p:fltVal val="90"/>
                                          </p:val>
                                        </p:tav>
                                        <p:tav tm="100000">
                                          <p:val>
                                            <p:fltVal val="0"/>
                                          </p:val>
                                        </p:tav>
                                      </p:tavLst>
                                    </p:anim>
                                    <p:animEffect transition="in" filter="fade">
                                      <p:cBhvr>
                                        <p:cTn id="40" dur="1000"/>
                                        <p:tgtEl>
                                          <p:spTgt spid="58"/>
                                        </p:tgtEl>
                                      </p:cBhvr>
                                    </p:animEffect>
                                  </p:childTnLst>
                                </p:cTn>
                              </p:par>
                            </p:childTnLst>
                          </p:cTn>
                        </p:par>
                        <p:par>
                          <p:cTn id="41" fill="hold">
                            <p:stCondLst>
                              <p:cond delay="1000"/>
                            </p:stCondLst>
                            <p:childTnLst>
                              <p:par>
                                <p:cTn id="42" presetID="22" presetClass="entr" presetSubtype="4" fill="hold" nodeType="after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wipe(down)">
                                      <p:cBhvr>
                                        <p:cTn id="44" dur="500"/>
                                        <p:tgtEl>
                                          <p:spTgt spid="66"/>
                                        </p:tgtEl>
                                      </p:cBhvr>
                                    </p:animEffect>
                                  </p:childTnLst>
                                </p:cTn>
                              </p:par>
                            </p:childTnLst>
                          </p:cTn>
                        </p:par>
                        <p:par>
                          <p:cTn id="45" fill="hold">
                            <p:stCondLst>
                              <p:cond delay="1500"/>
                            </p:stCondLst>
                            <p:childTnLst>
                              <p:par>
                                <p:cTn id="46" presetID="22" presetClass="entr" presetSubtype="4"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down)">
                                      <p:cBhvr>
                                        <p:cTn id="48" dur="500"/>
                                        <p:tgtEl>
                                          <p:spTgt spid="68"/>
                                        </p:tgtEl>
                                      </p:cBhvr>
                                    </p:animEffect>
                                  </p:childTnLst>
                                </p:cTn>
                              </p:par>
                              <p:par>
                                <p:cTn id="49" presetID="22" presetClass="entr" presetSubtype="4"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wipe(down)">
                                      <p:cBhvr>
                                        <p:cTn id="51" dur="500"/>
                                        <p:tgtEl>
                                          <p:spTgt spid="70"/>
                                        </p:tgtEl>
                                      </p:cBhvr>
                                    </p:animEffect>
                                  </p:childTnLst>
                                </p:cTn>
                              </p:par>
                            </p:childTnLst>
                          </p:cTn>
                        </p:par>
                        <p:par>
                          <p:cTn id="52" fill="hold">
                            <p:stCondLst>
                              <p:cond delay="2000"/>
                            </p:stCondLst>
                            <p:childTnLst>
                              <p:par>
                                <p:cTn id="53" presetID="2" presetClass="entr" presetSubtype="4" fill="hold" grpId="0" nodeType="after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par>
                          <p:cTn id="57" fill="hold">
                            <p:stCondLst>
                              <p:cond delay="2500"/>
                            </p:stCondLst>
                            <p:childTnLst>
                              <p:par>
                                <p:cTn id="58" presetID="2" presetClass="entr" presetSubtype="4"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 calcmode="lin" valueType="num">
                                      <p:cBhvr additive="base">
                                        <p:cTn id="60" dur="500" fill="hold"/>
                                        <p:tgtEl>
                                          <p:spTgt spid="7"/>
                                        </p:tgtEl>
                                        <p:attrNameLst>
                                          <p:attrName>ppt_x</p:attrName>
                                        </p:attrNameLst>
                                      </p:cBhvr>
                                      <p:tavLst>
                                        <p:tav tm="0">
                                          <p:val>
                                            <p:strVal val="#ppt_x"/>
                                          </p:val>
                                        </p:tav>
                                        <p:tav tm="100000">
                                          <p:val>
                                            <p:strVal val="#ppt_x"/>
                                          </p:val>
                                        </p:tav>
                                      </p:tavLst>
                                    </p:anim>
                                    <p:anim calcmode="lin" valueType="num">
                                      <p:cBhvr additive="base">
                                        <p:cTn id="61" dur="500" fill="hold"/>
                                        <p:tgtEl>
                                          <p:spTgt spid="7"/>
                                        </p:tgtEl>
                                        <p:attrNameLst>
                                          <p:attrName>ppt_y</p:attrName>
                                        </p:attrNameLst>
                                      </p:cBhvr>
                                      <p:tavLst>
                                        <p:tav tm="0">
                                          <p:val>
                                            <p:strVal val="1+#ppt_h/2"/>
                                          </p:val>
                                        </p:tav>
                                        <p:tav tm="100000">
                                          <p:val>
                                            <p:strVal val="#ppt_y"/>
                                          </p:val>
                                        </p:tav>
                                      </p:tavLst>
                                    </p:anim>
                                  </p:childTnLst>
                                </p:cTn>
                              </p:par>
                            </p:childTnLst>
                          </p:cTn>
                        </p:par>
                        <p:par>
                          <p:cTn id="62" fill="hold">
                            <p:stCondLst>
                              <p:cond delay="3000"/>
                            </p:stCondLst>
                            <p:childTnLst>
                              <p:par>
                                <p:cTn id="63" presetID="2" presetClass="entr" presetSubtype="4" fill="hold" grpId="0" nodeType="after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fill="hold"/>
                                        <p:tgtEl>
                                          <p:spTgt spid="8"/>
                                        </p:tgtEl>
                                        <p:attrNameLst>
                                          <p:attrName>ppt_x</p:attrName>
                                        </p:attrNameLst>
                                      </p:cBhvr>
                                      <p:tavLst>
                                        <p:tav tm="0">
                                          <p:val>
                                            <p:strVal val="#ppt_x"/>
                                          </p:val>
                                        </p:tav>
                                        <p:tav tm="100000">
                                          <p:val>
                                            <p:strVal val="#ppt_x"/>
                                          </p:val>
                                        </p:tav>
                                      </p:tavLst>
                                    </p:anim>
                                    <p:anim calcmode="lin" valueType="num">
                                      <p:cBhvr additive="base">
                                        <p:cTn id="66" dur="500" fill="hold"/>
                                        <p:tgtEl>
                                          <p:spTgt spid="8"/>
                                        </p:tgtEl>
                                        <p:attrNameLst>
                                          <p:attrName>ppt_y</p:attrName>
                                        </p:attrNameLst>
                                      </p:cBhvr>
                                      <p:tavLst>
                                        <p:tav tm="0">
                                          <p:val>
                                            <p:strVal val="1+#ppt_h/2"/>
                                          </p:val>
                                        </p:tav>
                                        <p:tav tm="100000">
                                          <p:val>
                                            <p:strVal val="#ppt_y"/>
                                          </p:val>
                                        </p:tav>
                                      </p:tavLst>
                                    </p:anim>
                                  </p:childTnLst>
                                </p:cTn>
                              </p:par>
                            </p:childTnLst>
                          </p:cTn>
                        </p:par>
                        <p:par>
                          <p:cTn id="67" fill="hold">
                            <p:stCondLst>
                              <p:cond delay="3500"/>
                            </p:stCondLst>
                            <p:childTnLst>
                              <p:par>
                                <p:cTn id="68" presetID="2" presetClass="entr" presetSubtype="4"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ppt_x</p:attrName>
                                        </p:attrNameLst>
                                      </p:cBhvr>
                                      <p:tavLst>
                                        <p:tav tm="0">
                                          <p:val>
                                            <p:strVal val="#ppt_x"/>
                                          </p:val>
                                        </p:tav>
                                        <p:tav tm="100000">
                                          <p:val>
                                            <p:strVal val="#ppt_x"/>
                                          </p:val>
                                        </p:tav>
                                      </p:tavLst>
                                    </p:anim>
                                    <p:anim calcmode="lin" valueType="num">
                                      <p:cBhvr additive="base">
                                        <p:cTn id="7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p:cNvSpPr/>
          <p:nvPr/>
        </p:nvSpPr>
        <p:spPr>
          <a:xfrm>
            <a:off x="6697980" y="1623060"/>
            <a:ext cx="1227582" cy="9243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2" name="Rectangle 21"/>
          <p:cNvSpPr/>
          <p:nvPr/>
        </p:nvSpPr>
        <p:spPr>
          <a:xfrm>
            <a:off x="765810" y="1623060"/>
            <a:ext cx="1182624" cy="1065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606" name="Title 2"/>
          <p:cNvSpPr>
            <a:spLocks noGrp="1"/>
          </p:cNvSpPr>
          <p:nvPr>
            <p:ph type="title"/>
          </p:nvPr>
        </p:nvSpPr>
        <p:spPr>
          <a:xfrm>
            <a:off x="838200" y="365760"/>
            <a:ext cx="10515600" cy="512446"/>
          </a:xfrm>
          <a:noFill/>
          <a:ln>
            <a:noFill/>
          </a:ln>
        </p:spPr>
        <p:txBody>
          <a:bodyPr lIns="109728" tIns="54864" rIns="109728" bIns="54864" anchor="ctr" anchorCtr="0">
            <a:normAutofit/>
          </a:bodyPr>
          <a:lstStyle/>
          <a:p>
            <a:pPr defTabSz="762000">
              <a:buNone/>
            </a:pPr>
            <a:r>
              <a:rPr lang="en-US" altLang="zh-CN" kern="1200" dirty="0">
                <a:latin typeface="Open Sans Light" pitchFamily="34" charset="0"/>
                <a:ea typeface="+mj-ea"/>
                <a:cs typeface="Open Sans Light" pitchFamily="34" charset="0"/>
              </a:rPr>
              <a:t>Insight 1: Larger Models Yield Better Performance in ICL</a:t>
            </a:r>
          </a:p>
        </p:txBody>
      </p:sp>
      <p:sp>
        <p:nvSpPr>
          <p:cNvPr id="25607"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8</a:t>
            </a:fld>
            <a:endParaRPr lang="en-US" altLang="zh-CN" sz="1200" dirty="0">
              <a:latin typeface="Open Sans" pitchFamily="34" charset="0"/>
              <a:ea typeface="Open Sans" pitchFamily="34" charset="0"/>
              <a:cs typeface="Open Sans" pitchFamily="34" charset="0"/>
            </a:endParaRPr>
          </a:p>
        </p:txBody>
      </p:sp>
      <p:sp>
        <p:nvSpPr>
          <p:cNvPr id="17" name="Round Same Side Corner Rectangle 16"/>
          <p:cNvSpPr/>
          <p:nvPr/>
        </p:nvSpPr>
        <p:spPr>
          <a:xfrm rot="16200000" flipH="1">
            <a:off x="3166110" y="4036314"/>
            <a:ext cx="112396" cy="824866"/>
          </a:xfrm>
          <a:prstGeom prst="round2SameRect">
            <a:avLst>
              <a:gd name="adj1" fmla="val 50000"/>
              <a:gd name="adj2"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0" name="Round Same Side Corner Rectangle 19"/>
          <p:cNvSpPr/>
          <p:nvPr/>
        </p:nvSpPr>
        <p:spPr>
          <a:xfrm rot="16200000" flipH="1">
            <a:off x="9475470" y="4035552"/>
            <a:ext cx="112396" cy="824866"/>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 name="Rectangle 24"/>
          <p:cNvSpPr/>
          <p:nvPr/>
        </p:nvSpPr>
        <p:spPr>
          <a:xfrm>
            <a:off x="1545908" y="1205104"/>
            <a:ext cx="291655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rPr>
              <a:t>5-shot accuracy comparison</a:t>
            </a:r>
          </a:p>
        </p:txBody>
      </p:sp>
      <p:sp>
        <p:nvSpPr>
          <p:cNvPr id="28" name="Rectangle 27"/>
          <p:cNvSpPr/>
          <p:nvPr/>
        </p:nvSpPr>
        <p:spPr>
          <a:xfrm>
            <a:off x="7840981" y="1206628"/>
            <a:ext cx="303847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rPr>
              <a:t>10-shot accuracy comparison</a:t>
            </a:r>
          </a:p>
        </p:txBody>
      </p:sp>
      <p:pic>
        <p:nvPicPr>
          <p:cNvPr id="8" name="图片 7"/>
          <p:cNvPicPr>
            <a:picLocks noChangeAspect="1"/>
          </p:cNvPicPr>
          <p:nvPr/>
        </p:nvPicPr>
        <p:blipFill>
          <a:blip r:embed="rId3"/>
          <a:stretch>
            <a:fillRect/>
          </a:stretch>
        </p:blipFill>
        <p:spPr>
          <a:xfrm>
            <a:off x="838200" y="1688592"/>
            <a:ext cx="5178552" cy="2589276"/>
          </a:xfrm>
          <a:prstGeom prst="rect">
            <a:avLst/>
          </a:prstGeom>
        </p:spPr>
      </p:pic>
      <p:pic>
        <p:nvPicPr>
          <p:cNvPr id="9" name="图片 8"/>
          <p:cNvPicPr>
            <a:picLocks noChangeAspect="1"/>
          </p:cNvPicPr>
          <p:nvPr/>
        </p:nvPicPr>
        <p:blipFill>
          <a:blip r:embed="rId4"/>
          <a:stretch>
            <a:fillRect/>
          </a:stretch>
        </p:blipFill>
        <p:spPr>
          <a:xfrm>
            <a:off x="6771132" y="1689354"/>
            <a:ext cx="5177028" cy="2588514"/>
          </a:xfrm>
          <a:prstGeom prst="rect">
            <a:avLst/>
          </a:prstGeom>
        </p:spPr>
      </p:pic>
      <p:sp>
        <p:nvSpPr>
          <p:cNvPr id="10" name="文本框 9"/>
          <p:cNvSpPr txBox="1"/>
          <p:nvPr/>
        </p:nvSpPr>
        <p:spPr>
          <a:xfrm>
            <a:off x="1396365" y="4504690"/>
            <a:ext cx="9015984" cy="1432560"/>
          </a:xfrm>
          <a:prstGeom prst="rect">
            <a:avLst/>
          </a:prstGeom>
          <a:noFill/>
        </p:spPr>
        <p:txBody>
          <a:bodyPr wrap="square" rtlCol="0">
            <a:noAutofit/>
          </a:bodyPr>
          <a:lstStyle/>
          <a:p>
            <a:pPr>
              <a:lnSpc>
                <a:spcPct val="150000"/>
              </a:lnSpc>
            </a:pPr>
            <a:r>
              <a:rPr lang="zh-CN" altLang="en-US" sz="1920" b="1">
                <a:solidFill>
                  <a:srgbClr val="C00000"/>
                </a:solidFill>
                <a:latin typeface="Times New Roman" panose="02020603050405020304" charset="0"/>
                <a:cs typeface="Times New Roman" panose="02020603050405020304" charset="0"/>
              </a:rPr>
              <a:t> Evidence from Classification Task (5-shot &amp; 10-shot)</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Qwen2.5-7B consistently outperforms Qwen2-1.5B</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GLM-4-9B outperforms ChatGLM3-6B, particularly in 10-shot settings</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Accuracy improvements more pronounced for larger models as shot size increases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p:cTn id="23" dur="500" fill="hold"/>
                                        <p:tgtEl>
                                          <p:spTgt spid="24"/>
                                        </p:tgtEl>
                                        <p:attrNameLst>
                                          <p:attrName>ppt_w</p:attrName>
                                        </p:attrNameLst>
                                      </p:cBhvr>
                                      <p:tavLst>
                                        <p:tav tm="0">
                                          <p:val>
                                            <p:fltVal val="0"/>
                                          </p:val>
                                        </p:tav>
                                        <p:tav tm="100000">
                                          <p:val>
                                            <p:strVal val="#ppt_w"/>
                                          </p:val>
                                        </p:tav>
                                      </p:tavLst>
                                    </p:anim>
                                    <p:anim calcmode="lin" valueType="num">
                                      <p:cBhvr>
                                        <p:cTn id="24" dur="500" fill="hold"/>
                                        <p:tgtEl>
                                          <p:spTgt spid="24"/>
                                        </p:tgtEl>
                                        <p:attrNameLst>
                                          <p:attrName>ppt_h</p:attrName>
                                        </p:attrNameLst>
                                      </p:cBhvr>
                                      <p:tavLst>
                                        <p:tav tm="0">
                                          <p:val>
                                            <p:fltVal val="0"/>
                                          </p:val>
                                        </p:tav>
                                        <p:tav tm="100000">
                                          <p:val>
                                            <p:strVal val="#ppt_h"/>
                                          </p:val>
                                        </p:tav>
                                      </p:tavLst>
                                    </p:anim>
                                    <p:animEffect transition="in" filter="fade">
                                      <p:cBhvr>
                                        <p:cTn id="25" dur="500"/>
                                        <p:tgtEl>
                                          <p:spTgt spid="24"/>
                                        </p:tgtEl>
                                      </p:cBhvr>
                                    </p:animEffect>
                                  </p:childTnLst>
                                </p:cTn>
                              </p:par>
                              <p:par>
                                <p:cTn id="26" presetID="53" presetClass="entr" presetSubtype="16"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p:cTn id="33" dur="500" fill="hold"/>
                                        <p:tgtEl>
                                          <p:spTgt spid="28"/>
                                        </p:tgtEl>
                                        <p:attrNameLst>
                                          <p:attrName>ppt_w</p:attrName>
                                        </p:attrNameLst>
                                      </p:cBhvr>
                                      <p:tavLst>
                                        <p:tav tm="0">
                                          <p:val>
                                            <p:fltVal val="0"/>
                                          </p:val>
                                        </p:tav>
                                        <p:tav tm="100000">
                                          <p:val>
                                            <p:strVal val="#ppt_w"/>
                                          </p:val>
                                        </p:tav>
                                      </p:tavLst>
                                    </p:anim>
                                    <p:anim calcmode="lin" valueType="num">
                                      <p:cBhvr>
                                        <p:cTn id="34" dur="500" fill="hold"/>
                                        <p:tgtEl>
                                          <p:spTgt spid="28"/>
                                        </p:tgtEl>
                                        <p:attrNameLst>
                                          <p:attrName>ppt_h</p:attrName>
                                        </p:attrNameLst>
                                      </p:cBhvr>
                                      <p:tavLst>
                                        <p:tav tm="0">
                                          <p:val>
                                            <p:fltVal val="0"/>
                                          </p:val>
                                        </p:tav>
                                        <p:tav tm="100000">
                                          <p:val>
                                            <p:strVal val="#ppt_h"/>
                                          </p:val>
                                        </p:tav>
                                      </p:tavLst>
                                    </p:anim>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2" grpId="0" bldLvl="0" animBg="1"/>
      <p:bldP spid="25"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p:cNvSpPr/>
          <p:nvPr/>
        </p:nvSpPr>
        <p:spPr>
          <a:xfrm>
            <a:off x="6697980" y="1623060"/>
            <a:ext cx="1227582" cy="9243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606" name="Title 2"/>
          <p:cNvSpPr>
            <a:spLocks noGrp="1"/>
          </p:cNvSpPr>
          <p:nvPr>
            <p:ph type="title"/>
          </p:nvPr>
        </p:nvSpPr>
        <p:spPr>
          <a:xfrm>
            <a:off x="838200" y="365760"/>
            <a:ext cx="10515600" cy="512446"/>
          </a:xfrm>
          <a:noFill/>
          <a:ln>
            <a:noFill/>
          </a:ln>
        </p:spPr>
        <p:txBody>
          <a:bodyPr lIns="109728" tIns="54864" rIns="109728" bIns="54864" anchor="ctr" anchorCtr="0">
            <a:normAutofit/>
          </a:bodyPr>
          <a:lstStyle/>
          <a:p>
            <a:pPr defTabSz="762000">
              <a:buNone/>
            </a:pPr>
            <a:r>
              <a:rPr lang="en-US" altLang="zh-CN" kern="1200" dirty="0">
                <a:latin typeface="Open Sans Light" pitchFamily="34" charset="0"/>
                <a:ea typeface="+mj-ea"/>
                <a:cs typeface="Open Sans Light" pitchFamily="34" charset="0"/>
              </a:rPr>
              <a:t>Insight 1: Larger Models Yield Better Performance in ICL</a:t>
            </a:r>
          </a:p>
        </p:txBody>
      </p:sp>
      <p:sp>
        <p:nvSpPr>
          <p:cNvPr id="25607"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9</a:t>
            </a:fld>
            <a:endParaRPr lang="en-US" altLang="zh-CN" sz="1200" dirty="0">
              <a:latin typeface="Open Sans" pitchFamily="34" charset="0"/>
              <a:ea typeface="Open Sans" pitchFamily="34" charset="0"/>
              <a:cs typeface="Open Sans" pitchFamily="34" charset="0"/>
            </a:endParaRPr>
          </a:p>
        </p:txBody>
      </p:sp>
      <p:sp>
        <p:nvSpPr>
          <p:cNvPr id="20" name="Round Same Side Corner Rectangle 19"/>
          <p:cNvSpPr/>
          <p:nvPr/>
        </p:nvSpPr>
        <p:spPr>
          <a:xfrm rot="16200000" flipH="1">
            <a:off x="9475470" y="4035552"/>
            <a:ext cx="112396" cy="824866"/>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8" name="Rectangle 27"/>
          <p:cNvSpPr/>
          <p:nvPr/>
        </p:nvSpPr>
        <p:spPr>
          <a:xfrm>
            <a:off x="8446135" y="1206628"/>
            <a:ext cx="182816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rPr>
              <a:t>Regression MSE</a:t>
            </a:r>
          </a:p>
        </p:txBody>
      </p:sp>
      <p:sp>
        <p:nvSpPr>
          <p:cNvPr id="10" name="文本框 9"/>
          <p:cNvSpPr txBox="1"/>
          <p:nvPr/>
        </p:nvSpPr>
        <p:spPr>
          <a:xfrm>
            <a:off x="263652" y="1301369"/>
            <a:ext cx="6072378" cy="1432560"/>
          </a:xfrm>
          <a:prstGeom prst="rect">
            <a:avLst/>
          </a:prstGeom>
          <a:noFill/>
        </p:spPr>
        <p:txBody>
          <a:bodyPr wrap="square" rtlCol="0">
            <a:noAutofit/>
          </a:bodyPr>
          <a:lstStyle/>
          <a:p>
            <a:pPr>
              <a:lnSpc>
                <a:spcPct val="150000"/>
              </a:lnSpc>
            </a:pPr>
            <a:r>
              <a:rPr lang="zh-CN" altLang="en-US" sz="1920" b="1">
                <a:solidFill>
                  <a:srgbClr val="C00000"/>
                </a:solidFill>
                <a:latin typeface="Times New Roman" panose="02020603050405020304" charset="0"/>
                <a:cs typeface="Times New Roman" panose="02020603050405020304" charset="0"/>
              </a:rPr>
              <a:t> Evidence from Regression Task</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GLM-4-9B yields the lowest Mean Squared Error (MSE).</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ChatGLM3-6B performs better than both Qwen models.</a:t>
            </a:r>
          </a:p>
        </p:txBody>
      </p:sp>
      <p:pic>
        <p:nvPicPr>
          <p:cNvPr id="2" name="图片 1"/>
          <p:cNvPicPr>
            <a:picLocks noChangeAspect="1"/>
          </p:cNvPicPr>
          <p:nvPr/>
        </p:nvPicPr>
        <p:blipFill>
          <a:blip r:embed="rId3"/>
          <a:stretch>
            <a:fillRect/>
          </a:stretch>
        </p:blipFill>
        <p:spPr>
          <a:xfrm>
            <a:off x="6767322" y="1687830"/>
            <a:ext cx="5093970" cy="2547366"/>
          </a:xfrm>
          <a:prstGeom prst="rect">
            <a:avLst/>
          </a:prstGeom>
        </p:spPr>
      </p:pic>
      <p:sp>
        <p:nvSpPr>
          <p:cNvPr id="3" name="文本框 2"/>
          <p:cNvSpPr txBox="1"/>
          <p:nvPr/>
        </p:nvSpPr>
        <p:spPr>
          <a:xfrm>
            <a:off x="304038" y="3064510"/>
            <a:ext cx="6072378" cy="2766822"/>
          </a:xfrm>
          <a:prstGeom prst="rect">
            <a:avLst/>
          </a:prstGeom>
          <a:noFill/>
        </p:spPr>
        <p:txBody>
          <a:bodyPr wrap="square" rtlCol="0">
            <a:noAutofit/>
          </a:bodyPr>
          <a:lstStyle/>
          <a:p>
            <a:pPr>
              <a:lnSpc>
                <a:spcPct val="150000"/>
              </a:lnSpc>
            </a:pPr>
            <a:r>
              <a:rPr lang="zh-CN" altLang="en-US" sz="1920" b="1">
                <a:solidFill>
                  <a:srgbClr val="C00000"/>
                </a:solidFill>
                <a:latin typeface="Times New Roman" panose="02020603050405020304" charset="0"/>
                <a:cs typeface="Times New Roman" panose="02020603050405020304" charset="0"/>
              </a:rPr>
              <a:t>Explanation</a:t>
            </a:r>
          </a:p>
          <a:p>
            <a:pPr>
              <a:lnSpc>
                <a:spcPct val="150000"/>
              </a:lnSpc>
            </a:pPr>
            <a:r>
              <a:rPr lang="zh-CN" altLang="en-US" sz="1920">
                <a:solidFill>
                  <a:srgbClr val="C00000"/>
                </a:solidFill>
                <a:latin typeface="Times New Roman" panose="02020603050405020304" charset="0"/>
                <a:cs typeface="Times New Roman" panose="02020603050405020304" charset="0"/>
              </a:rPr>
              <a:t>Larger models benefit from:</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Better representation learning due to wider and deeper transformer layers.</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Longer effective context usage to parse example patterns.</a:t>
            </a:r>
          </a:p>
          <a:p>
            <a:pPr marL="285750" indent="-285750">
              <a:lnSpc>
                <a:spcPct val="150000"/>
              </a:lnSpc>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Broader pretraining coverage including numerical and tabular reasoning tasks.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par>
                                <p:cTn id="10" presetID="53" presetClass="entr" presetSubtype="16"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p:cNvSpPr/>
          <p:nvPr/>
        </p:nvSpPr>
        <p:spPr>
          <a:xfrm>
            <a:off x="6697980" y="1623060"/>
            <a:ext cx="1227582" cy="9243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2" name="Rectangle 21"/>
          <p:cNvSpPr/>
          <p:nvPr/>
        </p:nvSpPr>
        <p:spPr>
          <a:xfrm>
            <a:off x="765810" y="1623060"/>
            <a:ext cx="1182624" cy="1065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606" name="Title 2"/>
          <p:cNvSpPr>
            <a:spLocks noGrp="1"/>
          </p:cNvSpPr>
          <p:nvPr>
            <p:ph type="title"/>
          </p:nvPr>
        </p:nvSpPr>
        <p:spPr>
          <a:xfrm>
            <a:off x="838200" y="365760"/>
            <a:ext cx="10850118" cy="512826"/>
          </a:xfrm>
          <a:noFill/>
          <a:ln>
            <a:noFill/>
          </a:ln>
        </p:spPr>
        <p:txBody>
          <a:bodyPr lIns="109728" tIns="54864" rIns="109728" bIns="54864" anchor="ctr" anchorCtr="0">
            <a:normAutofit fontScale="90000"/>
          </a:bodyPr>
          <a:lstStyle/>
          <a:p>
            <a:pPr defTabSz="762000">
              <a:buNone/>
            </a:pPr>
            <a:r>
              <a:rPr lang="en-US" altLang="zh-CN" kern="1200" dirty="0">
                <a:latin typeface="Open Sans Light" pitchFamily="34" charset="0"/>
                <a:ea typeface="+mj-ea"/>
                <a:cs typeface="Open Sans Light" pitchFamily="34" charset="0"/>
              </a:rPr>
              <a:t>Insight 2: Increasing the Number of In-Context Examples Improves Accuracy</a:t>
            </a:r>
          </a:p>
        </p:txBody>
      </p:sp>
      <p:sp>
        <p:nvSpPr>
          <p:cNvPr id="25607"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10</a:t>
            </a:fld>
            <a:endParaRPr lang="en-US" altLang="zh-CN" sz="1200" dirty="0">
              <a:latin typeface="Open Sans" pitchFamily="34" charset="0"/>
              <a:ea typeface="Open Sans" pitchFamily="34" charset="0"/>
              <a:cs typeface="Open Sans" pitchFamily="34" charset="0"/>
            </a:endParaRPr>
          </a:p>
        </p:txBody>
      </p:sp>
      <p:sp>
        <p:nvSpPr>
          <p:cNvPr id="17" name="Round Same Side Corner Rectangle 16"/>
          <p:cNvSpPr/>
          <p:nvPr/>
        </p:nvSpPr>
        <p:spPr>
          <a:xfrm rot="16200000" flipH="1">
            <a:off x="3166110" y="4036314"/>
            <a:ext cx="112396" cy="824866"/>
          </a:xfrm>
          <a:prstGeom prst="round2SameRect">
            <a:avLst>
              <a:gd name="adj1" fmla="val 50000"/>
              <a:gd name="adj2"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0" name="Round Same Side Corner Rectangle 19"/>
          <p:cNvSpPr/>
          <p:nvPr/>
        </p:nvSpPr>
        <p:spPr>
          <a:xfrm rot="16200000" flipH="1">
            <a:off x="9475470" y="4035552"/>
            <a:ext cx="112396" cy="824866"/>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 name="Rectangle 24"/>
          <p:cNvSpPr/>
          <p:nvPr/>
        </p:nvSpPr>
        <p:spPr>
          <a:xfrm>
            <a:off x="1545908" y="1205104"/>
            <a:ext cx="291655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rPr>
              <a:t>5-shot accuracy comparison</a:t>
            </a:r>
          </a:p>
        </p:txBody>
      </p:sp>
      <p:sp>
        <p:nvSpPr>
          <p:cNvPr id="28" name="Rectangle 27"/>
          <p:cNvSpPr/>
          <p:nvPr/>
        </p:nvSpPr>
        <p:spPr>
          <a:xfrm>
            <a:off x="7840981" y="1206628"/>
            <a:ext cx="303847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rPr>
              <a:t>10-shot accuracy comparison</a:t>
            </a:r>
          </a:p>
        </p:txBody>
      </p:sp>
      <p:pic>
        <p:nvPicPr>
          <p:cNvPr id="8" name="图片 7"/>
          <p:cNvPicPr>
            <a:picLocks noChangeAspect="1"/>
          </p:cNvPicPr>
          <p:nvPr/>
        </p:nvPicPr>
        <p:blipFill>
          <a:blip r:embed="rId3"/>
          <a:stretch>
            <a:fillRect/>
          </a:stretch>
        </p:blipFill>
        <p:spPr>
          <a:xfrm>
            <a:off x="838200" y="1688592"/>
            <a:ext cx="5178552" cy="2589276"/>
          </a:xfrm>
          <a:prstGeom prst="rect">
            <a:avLst/>
          </a:prstGeom>
        </p:spPr>
      </p:pic>
      <p:pic>
        <p:nvPicPr>
          <p:cNvPr id="9" name="图片 8"/>
          <p:cNvPicPr>
            <a:picLocks noChangeAspect="1"/>
          </p:cNvPicPr>
          <p:nvPr/>
        </p:nvPicPr>
        <p:blipFill>
          <a:blip r:embed="rId4"/>
          <a:stretch>
            <a:fillRect/>
          </a:stretch>
        </p:blipFill>
        <p:spPr>
          <a:xfrm>
            <a:off x="6771132" y="1689354"/>
            <a:ext cx="5177028" cy="2588514"/>
          </a:xfrm>
          <a:prstGeom prst="rect">
            <a:avLst/>
          </a:prstGeom>
        </p:spPr>
      </p:pic>
      <p:sp>
        <p:nvSpPr>
          <p:cNvPr id="10" name="文本框 9"/>
          <p:cNvSpPr txBox="1"/>
          <p:nvPr/>
        </p:nvSpPr>
        <p:spPr>
          <a:xfrm>
            <a:off x="437388" y="4652010"/>
            <a:ext cx="5751576" cy="1661160"/>
          </a:xfrm>
          <a:prstGeom prst="rect">
            <a:avLst/>
          </a:prstGeom>
          <a:noFill/>
        </p:spPr>
        <p:txBody>
          <a:bodyPr wrap="square" rtlCol="0">
            <a:noAutofit/>
          </a:bodyPr>
          <a:lstStyle/>
          <a:p>
            <a:r>
              <a:rPr lang="zh-CN" altLang="en-US" sz="1680" b="1">
                <a:solidFill>
                  <a:srgbClr val="C00000"/>
                </a:solidFill>
                <a:latin typeface="Times New Roman" panose="02020603050405020304" charset="0"/>
                <a:cs typeface="Times New Roman" panose="02020603050405020304" charset="0"/>
              </a:rPr>
              <a:t>Classification Task Accuracy Changes</a:t>
            </a:r>
          </a:p>
          <a:p>
            <a:pPr marL="285750" indent="-285750">
              <a:buFont typeface="Arial" panose="020B0604020202020204" pitchFamily="34" charset="0"/>
              <a:buChar char="•"/>
            </a:pPr>
            <a:r>
              <a:rPr lang="zh-CN" altLang="en-US" sz="1680">
                <a:solidFill>
                  <a:srgbClr val="C00000"/>
                </a:solidFill>
                <a:latin typeface="Times New Roman" panose="02020603050405020304" charset="0"/>
                <a:cs typeface="Times New Roman" panose="02020603050405020304" charset="0"/>
              </a:rPr>
              <a:t>From 5-shot to 10-shot, all models show accuracy improvements of 6-13%</a:t>
            </a:r>
          </a:p>
          <a:p>
            <a:pPr marL="285750" indent="-285750">
              <a:buFont typeface="Arial" panose="020B0604020202020204" pitchFamily="34" charset="0"/>
              <a:buChar char="•"/>
            </a:pPr>
            <a:r>
              <a:rPr lang="zh-CN" altLang="en-US" sz="1680">
                <a:solidFill>
                  <a:srgbClr val="C00000"/>
                </a:solidFill>
                <a:latin typeface="Times New Roman" panose="02020603050405020304" charset="0"/>
                <a:cs typeface="Times New Roman" panose="02020603050405020304" charset="0"/>
              </a:rPr>
              <a:t>Qwen2-1.5B jumps from 60% to 73%</a:t>
            </a:r>
          </a:p>
          <a:p>
            <a:pPr marL="285750" indent="-285750">
              <a:buFont typeface="Arial" panose="020B0604020202020204" pitchFamily="34" charset="0"/>
              <a:buChar char="•"/>
            </a:pPr>
            <a:r>
              <a:rPr lang="zh-CN" altLang="en-US" sz="1680">
                <a:solidFill>
                  <a:srgbClr val="C00000"/>
                </a:solidFill>
                <a:latin typeface="Times New Roman" panose="02020603050405020304" charset="0"/>
                <a:cs typeface="Times New Roman" panose="02020603050405020304" charset="0"/>
              </a:rPr>
              <a:t>Even the best-performing models (Qwen2.5-7B, GLM-4-9B) improve by 2-5%</a:t>
            </a:r>
          </a:p>
          <a:p>
            <a:endParaRPr lang="zh-CN" altLang="en-US" sz="1680">
              <a:solidFill>
                <a:srgbClr val="C00000"/>
              </a:solidFill>
              <a:latin typeface="Times New Roman" panose="02020603050405020304" charset="0"/>
              <a:cs typeface="Times New Roman" panose="02020603050405020304" charset="0"/>
            </a:endParaRPr>
          </a:p>
        </p:txBody>
      </p:sp>
      <p:sp>
        <p:nvSpPr>
          <p:cNvPr id="2" name="文本框 1"/>
          <p:cNvSpPr txBox="1"/>
          <p:nvPr/>
        </p:nvSpPr>
        <p:spPr>
          <a:xfrm>
            <a:off x="6381750" y="4652010"/>
            <a:ext cx="5751576" cy="1661160"/>
          </a:xfrm>
          <a:prstGeom prst="rect">
            <a:avLst/>
          </a:prstGeom>
          <a:noFill/>
        </p:spPr>
        <p:txBody>
          <a:bodyPr wrap="square" rtlCol="0">
            <a:noAutofit/>
          </a:bodyPr>
          <a:lstStyle/>
          <a:p>
            <a:r>
              <a:rPr lang="zh-CN" altLang="en-US" sz="1680" b="1">
                <a:solidFill>
                  <a:srgbClr val="C00000"/>
                </a:solidFill>
                <a:latin typeface="Times New Roman" panose="02020603050405020304" charset="0"/>
                <a:cs typeface="Times New Roman" panose="02020603050405020304" charset="0"/>
              </a:rPr>
              <a:t>Interpretation</a:t>
            </a:r>
          </a:p>
          <a:p>
            <a:pPr marL="285750" indent="-285750">
              <a:buFont typeface="Arial" panose="020B0604020202020204" pitchFamily="34" charset="0"/>
              <a:buChar char="•"/>
            </a:pPr>
            <a:r>
              <a:rPr lang="zh-CN" altLang="en-US" sz="1680">
                <a:solidFill>
                  <a:srgbClr val="C00000"/>
                </a:solidFill>
                <a:latin typeface="Times New Roman" panose="02020603050405020304" charset="0"/>
                <a:cs typeface="Times New Roman" panose="02020603050405020304" charset="0"/>
              </a:rPr>
              <a:t>Longer prompts offer better clarification of input-output format</a:t>
            </a:r>
          </a:p>
          <a:p>
            <a:pPr marL="285750" indent="-285750">
              <a:buFont typeface="Arial" panose="020B0604020202020204" pitchFamily="34" charset="0"/>
              <a:buChar char="•"/>
            </a:pPr>
            <a:r>
              <a:rPr lang="zh-CN" altLang="en-US" sz="1680">
                <a:solidFill>
                  <a:srgbClr val="C00000"/>
                </a:solidFill>
                <a:latin typeface="Times New Roman" panose="02020603050405020304" charset="0"/>
                <a:cs typeface="Times New Roman" panose="02020603050405020304" charset="0"/>
              </a:rPr>
              <a:t>Richer coverage of class distribution</a:t>
            </a:r>
          </a:p>
          <a:p>
            <a:pPr marL="285750" indent="-285750">
              <a:buFont typeface="Arial" panose="020B0604020202020204" pitchFamily="34" charset="0"/>
              <a:buChar char="•"/>
            </a:pPr>
            <a:r>
              <a:rPr lang="zh-CN" altLang="en-US" sz="1680">
                <a:solidFill>
                  <a:srgbClr val="C00000"/>
                </a:solidFill>
                <a:latin typeface="Times New Roman" panose="02020603050405020304" charset="0"/>
                <a:cs typeface="Times New Roman" panose="02020603050405020304" charset="0"/>
              </a:rPr>
              <a:t>More signal for models to detect task semantics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p:cTn id="23" dur="500" fill="hold"/>
                                        <p:tgtEl>
                                          <p:spTgt spid="24"/>
                                        </p:tgtEl>
                                        <p:attrNameLst>
                                          <p:attrName>ppt_w</p:attrName>
                                        </p:attrNameLst>
                                      </p:cBhvr>
                                      <p:tavLst>
                                        <p:tav tm="0">
                                          <p:val>
                                            <p:fltVal val="0"/>
                                          </p:val>
                                        </p:tav>
                                        <p:tav tm="100000">
                                          <p:val>
                                            <p:strVal val="#ppt_w"/>
                                          </p:val>
                                        </p:tav>
                                      </p:tavLst>
                                    </p:anim>
                                    <p:anim calcmode="lin" valueType="num">
                                      <p:cBhvr>
                                        <p:cTn id="24" dur="500" fill="hold"/>
                                        <p:tgtEl>
                                          <p:spTgt spid="24"/>
                                        </p:tgtEl>
                                        <p:attrNameLst>
                                          <p:attrName>ppt_h</p:attrName>
                                        </p:attrNameLst>
                                      </p:cBhvr>
                                      <p:tavLst>
                                        <p:tav tm="0">
                                          <p:val>
                                            <p:fltVal val="0"/>
                                          </p:val>
                                        </p:tav>
                                        <p:tav tm="100000">
                                          <p:val>
                                            <p:strVal val="#ppt_h"/>
                                          </p:val>
                                        </p:tav>
                                      </p:tavLst>
                                    </p:anim>
                                    <p:animEffect transition="in" filter="fade">
                                      <p:cBhvr>
                                        <p:cTn id="25" dur="500"/>
                                        <p:tgtEl>
                                          <p:spTgt spid="24"/>
                                        </p:tgtEl>
                                      </p:cBhvr>
                                    </p:animEffect>
                                  </p:childTnLst>
                                </p:cTn>
                              </p:par>
                              <p:par>
                                <p:cTn id="26" presetID="53" presetClass="entr" presetSubtype="16"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p:cTn id="33" dur="500" fill="hold"/>
                                        <p:tgtEl>
                                          <p:spTgt spid="28"/>
                                        </p:tgtEl>
                                        <p:attrNameLst>
                                          <p:attrName>ppt_w</p:attrName>
                                        </p:attrNameLst>
                                      </p:cBhvr>
                                      <p:tavLst>
                                        <p:tav tm="0">
                                          <p:val>
                                            <p:fltVal val="0"/>
                                          </p:val>
                                        </p:tav>
                                        <p:tav tm="100000">
                                          <p:val>
                                            <p:strVal val="#ppt_w"/>
                                          </p:val>
                                        </p:tav>
                                      </p:tavLst>
                                    </p:anim>
                                    <p:anim calcmode="lin" valueType="num">
                                      <p:cBhvr>
                                        <p:cTn id="34" dur="500" fill="hold"/>
                                        <p:tgtEl>
                                          <p:spTgt spid="28"/>
                                        </p:tgtEl>
                                        <p:attrNameLst>
                                          <p:attrName>ppt_h</p:attrName>
                                        </p:attrNameLst>
                                      </p:cBhvr>
                                      <p:tavLst>
                                        <p:tav tm="0">
                                          <p:val>
                                            <p:fltVal val="0"/>
                                          </p:val>
                                        </p:tav>
                                        <p:tav tm="100000">
                                          <p:val>
                                            <p:strVal val="#ppt_h"/>
                                          </p:val>
                                        </p:tav>
                                      </p:tavLst>
                                    </p:anim>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2" grpId="0" bldLvl="0" animBg="1"/>
      <p:bldP spid="25"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p:cNvSpPr/>
          <p:nvPr/>
        </p:nvSpPr>
        <p:spPr>
          <a:xfrm>
            <a:off x="6697980" y="1623060"/>
            <a:ext cx="1227582" cy="9243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2" name="Rectangle 21"/>
          <p:cNvSpPr/>
          <p:nvPr/>
        </p:nvSpPr>
        <p:spPr>
          <a:xfrm>
            <a:off x="765810" y="1623060"/>
            <a:ext cx="1182624" cy="1065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606" name="Title 2"/>
          <p:cNvSpPr>
            <a:spLocks noGrp="1"/>
          </p:cNvSpPr>
          <p:nvPr>
            <p:ph type="title"/>
          </p:nvPr>
        </p:nvSpPr>
        <p:spPr>
          <a:xfrm>
            <a:off x="264414" y="128016"/>
            <a:ext cx="11646408" cy="750570"/>
          </a:xfrm>
          <a:noFill/>
          <a:ln>
            <a:noFill/>
          </a:ln>
        </p:spPr>
        <p:txBody>
          <a:bodyPr lIns="109728" tIns="54864" rIns="109728" bIns="54864" anchor="ctr" anchorCtr="0">
            <a:normAutofit/>
          </a:bodyPr>
          <a:lstStyle/>
          <a:p>
            <a:pPr defTabSz="762000">
              <a:buNone/>
            </a:pPr>
            <a:r>
              <a:rPr lang="en-US" altLang="zh-CN" kern="1200" dirty="0">
                <a:latin typeface="Open Sans Light" pitchFamily="34" charset="0"/>
                <a:ea typeface="+mj-ea"/>
                <a:cs typeface="Open Sans Light" pitchFamily="34" charset="0"/>
              </a:rPr>
              <a:t>Insight 3: Task Type Affects Model Preference </a:t>
            </a:r>
          </a:p>
        </p:txBody>
      </p:sp>
      <p:sp>
        <p:nvSpPr>
          <p:cNvPr id="25607" name="Slide Number Placeholder 5"/>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11</a:t>
            </a:fld>
            <a:endParaRPr lang="en-US" altLang="zh-CN" sz="1200" dirty="0">
              <a:latin typeface="Open Sans" pitchFamily="34" charset="0"/>
              <a:ea typeface="Open Sans" pitchFamily="34" charset="0"/>
              <a:cs typeface="Open Sans" pitchFamily="34" charset="0"/>
            </a:endParaRPr>
          </a:p>
        </p:txBody>
      </p:sp>
      <p:sp>
        <p:nvSpPr>
          <p:cNvPr id="17" name="Round Same Side Corner Rectangle 16"/>
          <p:cNvSpPr/>
          <p:nvPr/>
        </p:nvSpPr>
        <p:spPr>
          <a:xfrm rot="16200000" flipH="1">
            <a:off x="3166110" y="4036314"/>
            <a:ext cx="112396" cy="824866"/>
          </a:xfrm>
          <a:prstGeom prst="round2SameRect">
            <a:avLst>
              <a:gd name="adj1" fmla="val 50000"/>
              <a:gd name="adj2"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0" name="Round Same Side Corner Rectangle 19"/>
          <p:cNvSpPr/>
          <p:nvPr/>
        </p:nvSpPr>
        <p:spPr>
          <a:xfrm rot="16200000" flipH="1">
            <a:off x="9475470" y="4035552"/>
            <a:ext cx="112396" cy="824866"/>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25" name="Rectangle 24"/>
          <p:cNvSpPr/>
          <p:nvPr/>
        </p:nvSpPr>
        <p:spPr>
          <a:xfrm>
            <a:off x="2090103" y="1205104"/>
            <a:ext cx="182816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sym typeface="+mn-ea"/>
              </a:rPr>
              <a:t>Regression</a:t>
            </a:r>
            <a:r>
              <a:rPr lang="en-US" altLang="zh-CN" sz="1920" dirty="0">
                <a:solidFill>
                  <a:schemeClr val="tx2"/>
                </a:solidFill>
                <a:latin typeface="Open Sans Light" pitchFamily="34" charset="0"/>
                <a:cs typeface="Open Sans Light" pitchFamily="34" charset="0"/>
              </a:rPr>
              <a:t> MSE</a:t>
            </a:r>
          </a:p>
        </p:txBody>
      </p:sp>
      <p:sp>
        <p:nvSpPr>
          <p:cNvPr id="28" name="Rectangle 27"/>
          <p:cNvSpPr/>
          <p:nvPr/>
        </p:nvSpPr>
        <p:spPr>
          <a:xfrm>
            <a:off x="7840981" y="1206628"/>
            <a:ext cx="3038475" cy="386080"/>
          </a:xfrm>
          <a:prstGeom prst="rect">
            <a:avLst/>
          </a:prstGeom>
          <a:noFill/>
          <a:ln w="9525">
            <a:noFill/>
          </a:ln>
        </p:spPr>
        <p:txBody>
          <a:bodyPr wrap="none">
            <a:spAutoFit/>
          </a:bodyPr>
          <a:lstStyle/>
          <a:p>
            <a:pPr algn="ctr" eaLnBrk="1" hangingPunct="1">
              <a:buNone/>
            </a:pPr>
            <a:r>
              <a:rPr lang="en-US" altLang="zh-CN" sz="1920" dirty="0">
                <a:solidFill>
                  <a:schemeClr val="tx2"/>
                </a:solidFill>
                <a:latin typeface="Open Sans Light" pitchFamily="34" charset="0"/>
                <a:cs typeface="Open Sans Light" pitchFamily="34" charset="0"/>
              </a:rPr>
              <a:t>10-shot accuracy comparison</a:t>
            </a:r>
          </a:p>
        </p:txBody>
      </p:sp>
      <p:pic>
        <p:nvPicPr>
          <p:cNvPr id="9" name="图片 8"/>
          <p:cNvPicPr>
            <a:picLocks noChangeAspect="1"/>
          </p:cNvPicPr>
          <p:nvPr/>
        </p:nvPicPr>
        <p:blipFill>
          <a:blip r:embed="rId3"/>
          <a:stretch>
            <a:fillRect/>
          </a:stretch>
        </p:blipFill>
        <p:spPr>
          <a:xfrm>
            <a:off x="6771132" y="1689354"/>
            <a:ext cx="5177028" cy="2588514"/>
          </a:xfrm>
          <a:prstGeom prst="rect">
            <a:avLst/>
          </a:prstGeom>
        </p:spPr>
      </p:pic>
      <p:pic>
        <p:nvPicPr>
          <p:cNvPr id="3" name="图片 2"/>
          <p:cNvPicPr>
            <a:picLocks noChangeAspect="1"/>
          </p:cNvPicPr>
          <p:nvPr/>
        </p:nvPicPr>
        <p:blipFill>
          <a:blip r:embed="rId4"/>
          <a:stretch>
            <a:fillRect/>
          </a:stretch>
        </p:blipFill>
        <p:spPr>
          <a:xfrm>
            <a:off x="838200" y="1698498"/>
            <a:ext cx="5093970" cy="2547366"/>
          </a:xfrm>
          <a:prstGeom prst="rect">
            <a:avLst/>
          </a:prstGeom>
        </p:spPr>
      </p:pic>
      <p:sp>
        <p:nvSpPr>
          <p:cNvPr id="4" name="文本框 3"/>
          <p:cNvSpPr txBox="1"/>
          <p:nvPr/>
        </p:nvSpPr>
        <p:spPr>
          <a:xfrm>
            <a:off x="1670304" y="4652010"/>
            <a:ext cx="9015984" cy="1716024"/>
          </a:xfrm>
          <a:prstGeom prst="rect">
            <a:avLst/>
          </a:prstGeom>
          <a:noFill/>
        </p:spPr>
        <p:txBody>
          <a:bodyPr wrap="square" rtlCol="0">
            <a:noAutofit/>
          </a:bodyPr>
          <a:lstStyle/>
          <a:p>
            <a:r>
              <a:rPr lang="zh-CN" altLang="en-US" sz="1920" b="1">
                <a:solidFill>
                  <a:srgbClr val="C00000"/>
                </a:solidFill>
                <a:latin typeface="Times New Roman" panose="02020603050405020304" charset="0"/>
                <a:cs typeface="Times New Roman" panose="02020603050405020304" charset="0"/>
              </a:rPr>
              <a:t>Conclusion</a:t>
            </a:r>
          </a:p>
          <a:p>
            <a:pPr marL="285750" indent="-285750">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Qwen excels at discrete label prediction, likely due to training on QA and classification tasks</a:t>
            </a:r>
          </a:p>
          <a:p>
            <a:pPr marL="285750" indent="-285750">
              <a:buFont typeface="Arial" panose="020B0604020202020204" pitchFamily="34" charset="0"/>
              <a:buChar char="•"/>
            </a:pPr>
            <a:r>
              <a:rPr lang="zh-CN" altLang="en-US" sz="1920">
                <a:solidFill>
                  <a:srgbClr val="C00000"/>
                </a:solidFill>
                <a:latin typeface="Times New Roman" panose="02020603050405020304" charset="0"/>
                <a:cs typeface="Times New Roman" panose="02020603050405020304" charset="0"/>
              </a:rPr>
              <a:t>THUDM models are stronger on continuous prediction, benefiting from more mathematical or numeric data exposure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p:cTn id="23" dur="500" fill="hold"/>
                                        <p:tgtEl>
                                          <p:spTgt spid="24"/>
                                        </p:tgtEl>
                                        <p:attrNameLst>
                                          <p:attrName>ppt_w</p:attrName>
                                        </p:attrNameLst>
                                      </p:cBhvr>
                                      <p:tavLst>
                                        <p:tav tm="0">
                                          <p:val>
                                            <p:fltVal val="0"/>
                                          </p:val>
                                        </p:tav>
                                        <p:tav tm="100000">
                                          <p:val>
                                            <p:strVal val="#ppt_w"/>
                                          </p:val>
                                        </p:tav>
                                      </p:tavLst>
                                    </p:anim>
                                    <p:anim calcmode="lin" valueType="num">
                                      <p:cBhvr>
                                        <p:cTn id="24" dur="500" fill="hold"/>
                                        <p:tgtEl>
                                          <p:spTgt spid="24"/>
                                        </p:tgtEl>
                                        <p:attrNameLst>
                                          <p:attrName>ppt_h</p:attrName>
                                        </p:attrNameLst>
                                      </p:cBhvr>
                                      <p:tavLst>
                                        <p:tav tm="0">
                                          <p:val>
                                            <p:fltVal val="0"/>
                                          </p:val>
                                        </p:tav>
                                        <p:tav tm="100000">
                                          <p:val>
                                            <p:strVal val="#ppt_h"/>
                                          </p:val>
                                        </p:tav>
                                      </p:tavLst>
                                    </p:anim>
                                    <p:animEffect transition="in" filter="fade">
                                      <p:cBhvr>
                                        <p:cTn id="25" dur="500"/>
                                        <p:tgtEl>
                                          <p:spTgt spid="24"/>
                                        </p:tgtEl>
                                      </p:cBhvr>
                                    </p:animEffect>
                                  </p:childTnLst>
                                </p:cTn>
                              </p:par>
                              <p:par>
                                <p:cTn id="26" presetID="53" presetClass="entr" presetSubtype="16"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p:cTn id="33" dur="500" fill="hold"/>
                                        <p:tgtEl>
                                          <p:spTgt spid="28"/>
                                        </p:tgtEl>
                                        <p:attrNameLst>
                                          <p:attrName>ppt_w</p:attrName>
                                        </p:attrNameLst>
                                      </p:cBhvr>
                                      <p:tavLst>
                                        <p:tav tm="0">
                                          <p:val>
                                            <p:fltVal val="0"/>
                                          </p:val>
                                        </p:tav>
                                        <p:tav tm="100000">
                                          <p:val>
                                            <p:strVal val="#ppt_w"/>
                                          </p:val>
                                        </p:tav>
                                      </p:tavLst>
                                    </p:anim>
                                    <p:anim calcmode="lin" valueType="num">
                                      <p:cBhvr>
                                        <p:cTn id="34" dur="500" fill="hold"/>
                                        <p:tgtEl>
                                          <p:spTgt spid="28"/>
                                        </p:tgtEl>
                                        <p:attrNameLst>
                                          <p:attrName>ppt_h</p:attrName>
                                        </p:attrNameLst>
                                      </p:cBhvr>
                                      <p:tavLst>
                                        <p:tav tm="0">
                                          <p:val>
                                            <p:fltVal val="0"/>
                                          </p:val>
                                        </p:tav>
                                        <p:tav tm="100000">
                                          <p:val>
                                            <p:strVal val="#ppt_h"/>
                                          </p:val>
                                        </p:tav>
                                      </p:tavLst>
                                    </p:anim>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2" grpId="0" bldLvl="0" animBg="1"/>
      <p:bldP spid="25"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2" name="Rectangle 31"/>
          <p:cNvSpPr/>
          <p:nvPr/>
        </p:nvSpPr>
        <p:spPr>
          <a:xfrm>
            <a:off x="7463790" y="0"/>
            <a:ext cx="4728210" cy="6858000"/>
          </a:xfrm>
          <a:prstGeom prst="rect">
            <a:avLst/>
          </a:prstGeom>
          <a:solidFill>
            <a:schemeClr val="tx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265" b="0" i="0" u="none" strike="noStrike" kern="1200" cap="none" spc="0" normalizeH="0" baseline="0" noProof="0" dirty="0">
              <a:ln>
                <a:noFill/>
              </a:ln>
              <a:solidFill>
                <a:schemeClr val="lt1"/>
              </a:solidFill>
              <a:effectLst/>
              <a:uLnTx/>
              <a:uFillTx/>
              <a:latin typeface="+mn-lt"/>
              <a:ea typeface="+mn-ea"/>
              <a:cs typeface="+mn-cs"/>
            </a:endParaRPr>
          </a:p>
        </p:txBody>
      </p:sp>
      <p:sp>
        <p:nvSpPr>
          <p:cNvPr id="35" name="Rectangle 34"/>
          <p:cNvSpPr/>
          <p:nvPr/>
        </p:nvSpPr>
        <p:spPr>
          <a:xfrm>
            <a:off x="9359266" y="4059556"/>
            <a:ext cx="923290" cy="349250"/>
          </a:xfrm>
          <a:prstGeom prst="rect">
            <a:avLst/>
          </a:prstGeom>
          <a:noFill/>
          <a:ln w="9525">
            <a:noFill/>
          </a:ln>
        </p:spPr>
        <p:txBody>
          <a:bodyPr wrap="none">
            <a:spAutoFit/>
          </a:bodyPr>
          <a:lstStyle/>
          <a:p>
            <a:pPr eaLnBrk="1" hangingPunct="1">
              <a:buNone/>
            </a:pPr>
            <a:r>
              <a:rPr lang="en-US" altLang="zh-CN" sz="1680" dirty="0">
                <a:latin typeface="Open Sans Light" pitchFamily="34" charset="0"/>
                <a:cs typeface="Open Sans Light" pitchFamily="34" charset="0"/>
              </a:rPr>
              <a:t>Iren Roe</a:t>
            </a:r>
            <a:endParaRPr lang="en-US" altLang="zh-CN" sz="1680" dirty="0">
              <a:latin typeface="Open Sans Light" pitchFamily="34" charset="0"/>
              <a:ea typeface="Open Sans Light" pitchFamily="34" charset="0"/>
              <a:cs typeface="Open Sans Light" pitchFamily="34" charset="0"/>
            </a:endParaRPr>
          </a:p>
        </p:txBody>
      </p:sp>
      <p:sp>
        <p:nvSpPr>
          <p:cNvPr id="38" name="Rectangle 37"/>
          <p:cNvSpPr/>
          <p:nvPr/>
        </p:nvSpPr>
        <p:spPr>
          <a:xfrm>
            <a:off x="9086850" y="4320540"/>
            <a:ext cx="1573530" cy="238760"/>
          </a:xfrm>
          <a:prstGeom prst="rect">
            <a:avLst/>
          </a:prstGeom>
        </p:spPr>
        <p:txBody>
          <a:bodyPr wrap="square">
            <a:spAutoFit/>
          </a:bodyPr>
          <a:lstStyle/>
          <a:p>
            <a:pPr marL="0" marR="0" lvl="0" indent="0" algn="ctr" defTabSz="713105" rtl="0" eaLnBrk="1" fontAlgn="auto" latinLnBrk="0" hangingPunct="1">
              <a:lnSpc>
                <a:spcPct val="100000"/>
              </a:lnSpc>
              <a:spcBef>
                <a:spcPts val="0"/>
              </a:spcBef>
              <a:spcAft>
                <a:spcPts val="0"/>
              </a:spcAft>
              <a:buClrTx/>
              <a:buSzTx/>
              <a:buFontTx/>
              <a:buNone/>
              <a:defRPr/>
            </a:pPr>
            <a:r>
              <a:rPr kumimoji="0" lang="en-US" sz="960" b="0" i="0" u="none" strike="noStrike" kern="1200" cap="none" spc="0" normalizeH="0" baseline="0" noProof="0" dirty="0">
                <a:ln>
                  <a:noFill/>
                </a:ln>
                <a:solidFill>
                  <a:schemeClr val="tx2">
                    <a:lumMod val="60000"/>
                    <a:lumOff val="40000"/>
                  </a:schemeClr>
                </a:solidFill>
                <a:effectLst/>
                <a:uLnTx/>
                <a:uFillTx/>
                <a:latin typeface="Open Sans Light" pitchFamily="34" charset="0"/>
                <a:ea typeface="Open Sans Light" pitchFamily="34" charset="0"/>
                <a:cs typeface="Open Sans Light" pitchFamily="34" charset="0"/>
              </a:rPr>
              <a:t>Manager</a:t>
            </a:r>
          </a:p>
        </p:txBody>
      </p:sp>
      <p:sp>
        <p:nvSpPr>
          <p:cNvPr id="40" name="Round Diagonal Corner Rectangle 39"/>
          <p:cNvSpPr/>
          <p:nvPr/>
        </p:nvSpPr>
        <p:spPr>
          <a:xfrm>
            <a:off x="9023986" y="2179320"/>
            <a:ext cx="1821180" cy="1821180"/>
          </a:xfrm>
          <a:prstGeom prst="round2DiagRect">
            <a:avLst>
              <a:gd name="adj1" fmla="val 50000"/>
              <a:gd name="adj2" fmla="val 0"/>
            </a:avLst>
          </a:prstGeom>
          <a:solidFill>
            <a:schemeClr val="tx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41" name="Round Diagonal Corner Rectangle 40"/>
          <p:cNvSpPr/>
          <p:nvPr/>
        </p:nvSpPr>
        <p:spPr>
          <a:xfrm>
            <a:off x="9199246" y="2354580"/>
            <a:ext cx="1470660" cy="1470660"/>
          </a:xfrm>
          <a:prstGeom prst="round2DiagRect">
            <a:avLst>
              <a:gd name="adj1" fmla="val 50000"/>
              <a:gd name="adj2" fmla="val 0"/>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lt1"/>
              </a:solidFill>
              <a:effectLst/>
              <a:uLnTx/>
              <a:uFillTx/>
              <a:latin typeface="+mn-lt"/>
              <a:ea typeface="+mn-ea"/>
              <a:cs typeface="+mn-cs"/>
            </a:endParaRPr>
          </a:p>
        </p:txBody>
      </p:sp>
      <p:sp>
        <p:nvSpPr>
          <p:cNvPr id="42" name="TextBox 41"/>
          <p:cNvSpPr txBox="1"/>
          <p:nvPr/>
        </p:nvSpPr>
        <p:spPr>
          <a:xfrm>
            <a:off x="551688" y="1208532"/>
            <a:ext cx="6584442" cy="4515485"/>
          </a:xfrm>
          <a:prstGeom prst="rect">
            <a:avLst/>
          </a:prstGeom>
          <a:noFill/>
          <a:ln w="9525">
            <a:noFill/>
          </a:ln>
        </p:spPr>
        <p:txBody>
          <a:bodyPr wrap="square">
            <a:spAutoFit/>
          </a:bodyPr>
          <a:lstStyle/>
          <a:p>
            <a:pPr algn="just" eaLnBrk="1" hangingPunct="1">
              <a:lnSpc>
                <a:spcPct val="100000"/>
              </a:lnSpc>
              <a:buNone/>
            </a:pPr>
            <a:r>
              <a:rPr lang="en-US" altLang="zh-CN" sz="1920" b="1" dirty="0">
                <a:solidFill>
                  <a:schemeClr val="accent2"/>
                </a:solidFill>
                <a:latin typeface="Open Sans Light" pitchFamily="34" charset="0"/>
                <a:ea typeface="Open Sans Light" pitchFamily="34" charset="0"/>
              </a:rPr>
              <a:t>Common Issues</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Output formatting mismatches (extra text, units, or no output at all)</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Misinterpretation of numeric output in regression tasks</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Default fallback to the most frequent class label</a:t>
            </a:r>
          </a:p>
          <a:p>
            <a:pPr algn="just" eaLnBrk="1" hangingPunct="1">
              <a:lnSpc>
                <a:spcPct val="100000"/>
              </a:lnSpc>
              <a:buNone/>
            </a:pPr>
            <a:endParaRPr lang="en-US" altLang="zh-CN" sz="1920" dirty="0">
              <a:solidFill>
                <a:schemeClr val="tx2"/>
              </a:solidFill>
              <a:latin typeface="Open Sans Light" pitchFamily="34" charset="0"/>
              <a:ea typeface="Open Sans Light" pitchFamily="34" charset="0"/>
            </a:endParaRPr>
          </a:p>
          <a:p>
            <a:pPr algn="just" eaLnBrk="1" hangingPunct="1">
              <a:lnSpc>
                <a:spcPct val="100000"/>
              </a:lnSpc>
              <a:buNone/>
            </a:pPr>
            <a:r>
              <a:rPr lang="en-US" altLang="zh-CN" sz="1920" b="1" dirty="0">
                <a:solidFill>
                  <a:schemeClr val="accent2"/>
                </a:solidFill>
                <a:latin typeface="Open Sans Light" pitchFamily="34" charset="0"/>
                <a:ea typeface="Open Sans Light" pitchFamily="34" charset="0"/>
              </a:rPr>
              <a:t>Mitigation Measures</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Add explicit instructions: "Your response should contain only an integer label"</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Apply temperature = 0 to enforce deterministic behavior</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Use regex or numeric validation post-processing</a:t>
            </a:r>
          </a:p>
          <a:p>
            <a:pPr algn="just" eaLnBrk="1" hangingPunct="1">
              <a:lnSpc>
                <a:spcPct val="100000"/>
              </a:lnSpc>
              <a:buNone/>
            </a:pPr>
            <a:endParaRPr lang="en-US" altLang="zh-CN" sz="1920" dirty="0">
              <a:solidFill>
                <a:schemeClr val="tx2"/>
              </a:solidFill>
              <a:latin typeface="Open Sans Light" pitchFamily="34" charset="0"/>
              <a:ea typeface="Open Sans Light" pitchFamily="34" charset="0"/>
            </a:endParaRPr>
          </a:p>
          <a:p>
            <a:pPr algn="just" eaLnBrk="1" hangingPunct="1">
              <a:lnSpc>
                <a:spcPct val="100000"/>
              </a:lnSpc>
              <a:buNone/>
            </a:pPr>
            <a:r>
              <a:rPr lang="en-US" altLang="zh-CN" sz="1920" b="1" dirty="0">
                <a:solidFill>
                  <a:schemeClr val="accent2"/>
                </a:solidFill>
                <a:latin typeface="Open Sans Light" pitchFamily="34" charset="0"/>
                <a:ea typeface="Open Sans Light" pitchFamily="34" charset="0"/>
              </a:rPr>
              <a:t>Conclusion</a:t>
            </a:r>
          </a:p>
          <a:p>
            <a:pPr marL="285750" indent="-285750" algn="just" eaLnBrk="1" hangingPunct="1">
              <a:lnSpc>
                <a:spcPct val="100000"/>
              </a:lnSpc>
              <a:buFont typeface="Arial" panose="020B0604020202020204" pitchFamily="34" charset="0"/>
              <a:buChar char="•"/>
            </a:pPr>
            <a:r>
              <a:rPr lang="en-US" altLang="zh-CN" sz="1920" dirty="0">
                <a:solidFill>
                  <a:schemeClr val="tx2"/>
                </a:solidFill>
                <a:latin typeface="Open Sans Light" pitchFamily="34" charset="0"/>
                <a:ea typeface="Open Sans Light" pitchFamily="34" charset="0"/>
              </a:rPr>
              <a:t>This fragility makes ICL pipelines more susceptible to formatting issues compared to robust CML models</a:t>
            </a:r>
          </a:p>
        </p:txBody>
      </p:sp>
      <p:grpSp>
        <p:nvGrpSpPr>
          <p:cNvPr id="43" name="Group 42"/>
          <p:cNvGrpSpPr/>
          <p:nvPr/>
        </p:nvGrpSpPr>
        <p:grpSpPr>
          <a:xfrm>
            <a:off x="9458326" y="4636770"/>
            <a:ext cx="832484" cy="262890"/>
            <a:chOff x="1995996" y="4539778"/>
            <a:chExt cx="693093" cy="219742"/>
          </a:xfrm>
        </p:grpSpPr>
        <p:sp>
          <p:nvSpPr>
            <p:cNvPr id="44" name="Freeform 978"/>
            <p:cNvSpPr>
              <a:spLocks noEditPoints="1"/>
            </p:cNvSpPr>
            <p:nvPr/>
          </p:nvSpPr>
          <p:spPr bwMode="auto">
            <a:xfrm>
              <a:off x="1995996" y="4541506"/>
              <a:ext cx="207757" cy="208523"/>
            </a:xfrm>
            <a:custGeom>
              <a:avLst/>
              <a:gdLst>
                <a:gd name="T0" fmla="*/ 246 w 492"/>
                <a:gd name="T1" fmla="*/ 0 h 492"/>
                <a:gd name="T2" fmla="*/ 0 w 492"/>
                <a:gd name="T3" fmla="*/ 246 h 492"/>
                <a:gd name="T4" fmla="*/ 246 w 492"/>
                <a:gd name="T5" fmla="*/ 492 h 492"/>
                <a:gd name="T6" fmla="*/ 492 w 492"/>
                <a:gd name="T7" fmla="*/ 246 h 492"/>
                <a:gd name="T8" fmla="*/ 246 w 492"/>
                <a:gd name="T9" fmla="*/ 0 h 492"/>
                <a:gd name="T10" fmla="*/ 304 w 492"/>
                <a:gd name="T11" fmla="*/ 170 h 492"/>
                <a:gd name="T12" fmla="*/ 267 w 492"/>
                <a:gd name="T13" fmla="*/ 170 h 492"/>
                <a:gd name="T14" fmla="*/ 258 w 492"/>
                <a:gd name="T15" fmla="*/ 183 h 492"/>
                <a:gd name="T16" fmla="*/ 258 w 492"/>
                <a:gd name="T17" fmla="*/ 210 h 492"/>
                <a:gd name="T18" fmla="*/ 304 w 492"/>
                <a:gd name="T19" fmla="*/ 210 h 492"/>
                <a:gd name="T20" fmla="*/ 304 w 492"/>
                <a:gd name="T21" fmla="*/ 248 h 492"/>
                <a:gd name="T22" fmla="*/ 258 w 492"/>
                <a:gd name="T23" fmla="*/ 248 h 492"/>
                <a:gd name="T24" fmla="*/ 258 w 492"/>
                <a:gd name="T25" fmla="*/ 362 h 492"/>
                <a:gd name="T26" fmla="*/ 214 w 492"/>
                <a:gd name="T27" fmla="*/ 362 h 492"/>
                <a:gd name="T28" fmla="*/ 214 w 492"/>
                <a:gd name="T29" fmla="*/ 248 h 492"/>
                <a:gd name="T30" fmla="*/ 175 w 492"/>
                <a:gd name="T31" fmla="*/ 248 h 492"/>
                <a:gd name="T32" fmla="*/ 175 w 492"/>
                <a:gd name="T33" fmla="*/ 210 h 492"/>
                <a:gd name="T34" fmla="*/ 214 w 492"/>
                <a:gd name="T35" fmla="*/ 210 h 492"/>
                <a:gd name="T36" fmla="*/ 214 w 492"/>
                <a:gd name="T37" fmla="*/ 188 h 492"/>
                <a:gd name="T38" fmla="*/ 267 w 492"/>
                <a:gd name="T39" fmla="*/ 130 h 492"/>
                <a:gd name="T40" fmla="*/ 304 w 492"/>
                <a:gd name="T41" fmla="*/ 130 h 492"/>
                <a:gd name="T42" fmla="*/ 304 w 492"/>
                <a:gd name="T43" fmla="*/ 17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92" h="492">
                  <a:moveTo>
                    <a:pt x="246" y="0"/>
                  </a:moveTo>
                  <a:cubicBezTo>
                    <a:pt x="110" y="0"/>
                    <a:pt x="0" y="110"/>
                    <a:pt x="0" y="246"/>
                  </a:cubicBezTo>
                  <a:cubicBezTo>
                    <a:pt x="0" y="382"/>
                    <a:pt x="110" y="492"/>
                    <a:pt x="246" y="492"/>
                  </a:cubicBezTo>
                  <a:cubicBezTo>
                    <a:pt x="382" y="492"/>
                    <a:pt x="492" y="382"/>
                    <a:pt x="492" y="246"/>
                  </a:cubicBezTo>
                  <a:cubicBezTo>
                    <a:pt x="492" y="110"/>
                    <a:pt x="382" y="0"/>
                    <a:pt x="246" y="0"/>
                  </a:cubicBezTo>
                  <a:close/>
                  <a:moveTo>
                    <a:pt x="304" y="170"/>
                  </a:moveTo>
                  <a:cubicBezTo>
                    <a:pt x="267" y="170"/>
                    <a:pt x="267" y="170"/>
                    <a:pt x="267" y="170"/>
                  </a:cubicBezTo>
                  <a:cubicBezTo>
                    <a:pt x="263" y="170"/>
                    <a:pt x="258" y="176"/>
                    <a:pt x="258" y="183"/>
                  </a:cubicBezTo>
                  <a:cubicBezTo>
                    <a:pt x="258" y="210"/>
                    <a:pt x="258" y="210"/>
                    <a:pt x="258" y="210"/>
                  </a:cubicBezTo>
                  <a:cubicBezTo>
                    <a:pt x="304" y="210"/>
                    <a:pt x="304" y="210"/>
                    <a:pt x="304" y="210"/>
                  </a:cubicBezTo>
                  <a:cubicBezTo>
                    <a:pt x="304" y="248"/>
                    <a:pt x="304" y="248"/>
                    <a:pt x="304" y="248"/>
                  </a:cubicBezTo>
                  <a:cubicBezTo>
                    <a:pt x="258" y="248"/>
                    <a:pt x="258" y="248"/>
                    <a:pt x="258" y="248"/>
                  </a:cubicBezTo>
                  <a:cubicBezTo>
                    <a:pt x="258" y="362"/>
                    <a:pt x="258" y="362"/>
                    <a:pt x="258" y="362"/>
                  </a:cubicBezTo>
                  <a:cubicBezTo>
                    <a:pt x="214" y="362"/>
                    <a:pt x="214" y="362"/>
                    <a:pt x="214" y="362"/>
                  </a:cubicBezTo>
                  <a:cubicBezTo>
                    <a:pt x="214" y="248"/>
                    <a:pt x="214" y="248"/>
                    <a:pt x="214" y="248"/>
                  </a:cubicBezTo>
                  <a:cubicBezTo>
                    <a:pt x="175" y="248"/>
                    <a:pt x="175" y="248"/>
                    <a:pt x="175" y="248"/>
                  </a:cubicBezTo>
                  <a:cubicBezTo>
                    <a:pt x="175" y="210"/>
                    <a:pt x="175" y="210"/>
                    <a:pt x="175" y="210"/>
                  </a:cubicBezTo>
                  <a:cubicBezTo>
                    <a:pt x="214" y="210"/>
                    <a:pt x="214" y="210"/>
                    <a:pt x="214" y="210"/>
                  </a:cubicBezTo>
                  <a:cubicBezTo>
                    <a:pt x="214" y="188"/>
                    <a:pt x="214" y="188"/>
                    <a:pt x="214" y="188"/>
                  </a:cubicBezTo>
                  <a:cubicBezTo>
                    <a:pt x="214" y="156"/>
                    <a:pt x="237" y="130"/>
                    <a:pt x="267" y="130"/>
                  </a:cubicBezTo>
                  <a:cubicBezTo>
                    <a:pt x="304" y="130"/>
                    <a:pt x="304" y="130"/>
                    <a:pt x="304" y="130"/>
                  </a:cubicBezTo>
                  <a:lnTo>
                    <a:pt x="304" y="170"/>
                  </a:ln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45" name="Freeform 985"/>
            <p:cNvSpPr>
              <a:spLocks noEditPoints="1"/>
            </p:cNvSpPr>
            <p:nvPr/>
          </p:nvSpPr>
          <p:spPr bwMode="auto">
            <a:xfrm>
              <a:off x="2231742" y="4539778"/>
              <a:ext cx="218195" cy="218195"/>
            </a:xfrm>
            <a:custGeom>
              <a:avLst/>
              <a:gdLst>
                <a:gd name="T0" fmla="*/ 246 w 492"/>
                <a:gd name="T1" fmla="*/ 0 h 492"/>
                <a:gd name="T2" fmla="*/ 0 w 492"/>
                <a:gd name="T3" fmla="*/ 246 h 492"/>
                <a:gd name="T4" fmla="*/ 246 w 492"/>
                <a:gd name="T5" fmla="*/ 492 h 492"/>
                <a:gd name="T6" fmla="*/ 492 w 492"/>
                <a:gd name="T7" fmla="*/ 246 h 492"/>
                <a:gd name="T8" fmla="*/ 246 w 492"/>
                <a:gd name="T9" fmla="*/ 0 h 492"/>
                <a:gd name="T10" fmla="*/ 312 w 492"/>
                <a:gd name="T11" fmla="*/ 352 h 492"/>
                <a:gd name="T12" fmla="*/ 285 w 492"/>
                <a:gd name="T13" fmla="*/ 362 h 492"/>
                <a:gd name="T14" fmla="*/ 258 w 492"/>
                <a:gd name="T15" fmla="*/ 365 h 492"/>
                <a:gd name="T16" fmla="*/ 230 w 492"/>
                <a:gd name="T17" fmla="*/ 361 h 492"/>
                <a:gd name="T18" fmla="*/ 209 w 492"/>
                <a:gd name="T19" fmla="*/ 349 h 492"/>
                <a:gd name="T20" fmla="*/ 196 w 492"/>
                <a:gd name="T21" fmla="*/ 333 h 492"/>
                <a:gd name="T22" fmla="*/ 193 w 492"/>
                <a:gd name="T23" fmla="*/ 308 h 492"/>
                <a:gd name="T24" fmla="*/ 193 w 492"/>
                <a:gd name="T25" fmla="*/ 225 h 492"/>
                <a:gd name="T26" fmla="*/ 167 w 492"/>
                <a:gd name="T27" fmla="*/ 225 h 492"/>
                <a:gd name="T28" fmla="*/ 167 w 492"/>
                <a:gd name="T29" fmla="*/ 191 h 492"/>
                <a:gd name="T30" fmla="*/ 191 w 492"/>
                <a:gd name="T31" fmla="*/ 178 h 492"/>
                <a:gd name="T32" fmla="*/ 207 w 492"/>
                <a:gd name="T33" fmla="*/ 157 h 492"/>
                <a:gd name="T34" fmla="*/ 215 w 492"/>
                <a:gd name="T35" fmla="*/ 127 h 492"/>
                <a:gd name="T36" fmla="*/ 248 w 492"/>
                <a:gd name="T37" fmla="*/ 127 h 492"/>
                <a:gd name="T38" fmla="*/ 248 w 492"/>
                <a:gd name="T39" fmla="*/ 187 h 492"/>
                <a:gd name="T40" fmla="*/ 304 w 492"/>
                <a:gd name="T41" fmla="*/ 187 h 492"/>
                <a:gd name="T42" fmla="*/ 304 w 492"/>
                <a:gd name="T43" fmla="*/ 225 h 492"/>
                <a:gd name="T44" fmla="*/ 248 w 492"/>
                <a:gd name="T45" fmla="*/ 225 h 492"/>
                <a:gd name="T46" fmla="*/ 248 w 492"/>
                <a:gd name="T47" fmla="*/ 286 h 492"/>
                <a:gd name="T48" fmla="*/ 251 w 492"/>
                <a:gd name="T49" fmla="*/ 312 h 492"/>
                <a:gd name="T50" fmla="*/ 259 w 492"/>
                <a:gd name="T51" fmla="*/ 322 h 492"/>
                <a:gd name="T52" fmla="*/ 276 w 492"/>
                <a:gd name="T53" fmla="*/ 326 h 492"/>
                <a:gd name="T54" fmla="*/ 312 w 492"/>
                <a:gd name="T55" fmla="*/ 315 h 492"/>
                <a:gd name="T56" fmla="*/ 312 w 492"/>
                <a:gd name="T57" fmla="*/ 352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2" h="492">
                  <a:moveTo>
                    <a:pt x="246" y="0"/>
                  </a:moveTo>
                  <a:cubicBezTo>
                    <a:pt x="110" y="0"/>
                    <a:pt x="0" y="110"/>
                    <a:pt x="0" y="246"/>
                  </a:cubicBezTo>
                  <a:cubicBezTo>
                    <a:pt x="0" y="382"/>
                    <a:pt x="110" y="492"/>
                    <a:pt x="246" y="492"/>
                  </a:cubicBezTo>
                  <a:cubicBezTo>
                    <a:pt x="382" y="492"/>
                    <a:pt x="492" y="382"/>
                    <a:pt x="492" y="246"/>
                  </a:cubicBezTo>
                  <a:cubicBezTo>
                    <a:pt x="492" y="110"/>
                    <a:pt x="382" y="0"/>
                    <a:pt x="246" y="0"/>
                  </a:cubicBezTo>
                  <a:close/>
                  <a:moveTo>
                    <a:pt x="312" y="352"/>
                  </a:moveTo>
                  <a:cubicBezTo>
                    <a:pt x="302" y="357"/>
                    <a:pt x="293" y="360"/>
                    <a:pt x="285" y="362"/>
                  </a:cubicBezTo>
                  <a:cubicBezTo>
                    <a:pt x="277" y="364"/>
                    <a:pt x="268" y="365"/>
                    <a:pt x="258" y="365"/>
                  </a:cubicBezTo>
                  <a:cubicBezTo>
                    <a:pt x="248" y="365"/>
                    <a:pt x="238" y="364"/>
                    <a:pt x="230" y="361"/>
                  </a:cubicBezTo>
                  <a:cubicBezTo>
                    <a:pt x="221" y="358"/>
                    <a:pt x="214" y="354"/>
                    <a:pt x="209" y="349"/>
                  </a:cubicBezTo>
                  <a:cubicBezTo>
                    <a:pt x="203" y="344"/>
                    <a:pt x="199" y="339"/>
                    <a:pt x="196" y="333"/>
                  </a:cubicBezTo>
                  <a:cubicBezTo>
                    <a:pt x="194" y="327"/>
                    <a:pt x="193" y="319"/>
                    <a:pt x="193" y="308"/>
                  </a:cubicBezTo>
                  <a:cubicBezTo>
                    <a:pt x="193" y="225"/>
                    <a:pt x="193" y="225"/>
                    <a:pt x="193" y="225"/>
                  </a:cubicBezTo>
                  <a:cubicBezTo>
                    <a:pt x="167" y="225"/>
                    <a:pt x="167" y="225"/>
                    <a:pt x="167" y="225"/>
                  </a:cubicBezTo>
                  <a:cubicBezTo>
                    <a:pt x="167" y="191"/>
                    <a:pt x="167" y="191"/>
                    <a:pt x="167" y="191"/>
                  </a:cubicBezTo>
                  <a:cubicBezTo>
                    <a:pt x="176" y="188"/>
                    <a:pt x="184" y="183"/>
                    <a:pt x="191" y="178"/>
                  </a:cubicBezTo>
                  <a:cubicBezTo>
                    <a:pt x="197" y="172"/>
                    <a:pt x="203" y="165"/>
                    <a:pt x="207" y="157"/>
                  </a:cubicBezTo>
                  <a:cubicBezTo>
                    <a:pt x="211" y="149"/>
                    <a:pt x="213" y="139"/>
                    <a:pt x="215" y="127"/>
                  </a:cubicBezTo>
                  <a:cubicBezTo>
                    <a:pt x="248" y="127"/>
                    <a:pt x="248" y="127"/>
                    <a:pt x="248" y="127"/>
                  </a:cubicBezTo>
                  <a:cubicBezTo>
                    <a:pt x="248" y="187"/>
                    <a:pt x="248" y="187"/>
                    <a:pt x="248" y="187"/>
                  </a:cubicBezTo>
                  <a:cubicBezTo>
                    <a:pt x="304" y="187"/>
                    <a:pt x="304" y="187"/>
                    <a:pt x="304" y="187"/>
                  </a:cubicBezTo>
                  <a:cubicBezTo>
                    <a:pt x="304" y="225"/>
                    <a:pt x="304" y="225"/>
                    <a:pt x="304" y="225"/>
                  </a:cubicBezTo>
                  <a:cubicBezTo>
                    <a:pt x="248" y="225"/>
                    <a:pt x="248" y="225"/>
                    <a:pt x="248" y="225"/>
                  </a:cubicBezTo>
                  <a:cubicBezTo>
                    <a:pt x="248" y="286"/>
                    <a:pt x="248" y="286"/>
                    <a:pt x="248" y="286"/>
                  </a:cubicBezTo>
                  <a:cubicBezTo>
                    <a:pt x="248" y="299"/>
                    <a:pt x="249" y="308"/>
                    <a:pt x="251" y="312"/>
                  </a:cubicBezTo>
                  <a:cubicBezTo>
                    <a:pt x="252" y="316"/>
                    <a:pt x="255" y="319"/>
                    <a:pt x="259" y="322"/>
                  </a:cubicBezTo>
                  <a:cubicBezTo>
                    <a:pt x="264" y="325"/>
                    <a:pt x="270" y="326"/>
                    <a:pt x="276" y="326"/>
                  </a:cubicBezTo>
                  <a:cubicBezTo>
                    <a:pt x="288" y="326"/>
                    <a:pt x="300" y="322"/>
                    <a:pt x="312" y="315"/>
                  </a:cubicBezTo>
                  <a:lnTo>
                    <a:pt x="312" y="352"/>
                  </a:ln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46" name="Freeform 987"/>
            <p:cNvSpPr>
              <a:spLocks noEditPoints="1"/>
            </p:cNvSpPr>
            <p:nvPr/>
          </p:nvSpPr>
          <p:spPr bwMode="auto">
            <a:xfrm>
              <a:off x="2473032" y="4542666"/>
              <a:ext cx="216057" cy="216854"/>
            </a:xfrm>
            <a:custGeom>
              <a:avLst/>
              <a:gdLst>
                <a:gd name="T0" fmla="*/ 246 w 492"/>
                <a:gd name="T1" fmla="*/ 0 h 492"/>
                <a:gd name="T2" fmla="*/ 0 w 492"/>
                <a:gd name="T3" fmla="*/ 246 h 492"/>
                <a:gd name="T4" fmla="*/ 246 w 492"/>
                <a:gd name="T5" fmla="*/ 492 h 492"/>
                <a:gd name="T6" fmla="*/ 492 w 492"/>
                <a:gd name="T7" fmla="*/ 246 h 492"/>
                <a:gd name="T8" fmla="*/ 246 w 492"/>
                <a:gd name="T9" fmla="*/ 0 h 492"/>
                <a:gd name="T10" fmla="*/ 186 w 492"/>
                <a:gd name="T11" fmla="*/ 348 h 492"/>
                <a:gd name="T12" fmla="*/ 136 w 492"/>
                <a:gd name="T13" fmla="*/ 348 h 492"/>
                <a:gd name="T14" fmla="*/ 136 w 492"/>
                <a:gd name="T15" fmla="*/ 188 h 492"/>
                <a:gd name="T16" fmla="*/ 186 w 492"/>
                <a:gd name="T17" fmla="*/ 188 h 492"/>
                <a:gd name="T18" fmla="*/ 186 w 492"/>
                <a:gd name="T19" fmla="*/ 348 h 492"/>
                <a:gd name="T20" fmla="*/ 161 w 492"/>
                <a:gd name="T21" fmla="*/ 168 h 492"/>
                <a:gd name="T22" fmla="*/ 135 w 492"/>
                <a:gd name="T23" fmla="*/ 143 h 492"/>
                <a:gd name="T24" fmla="*/ 161 w 492"/>
                <a:gd name="T25" fmla="*/ 118 h 492"/>
                <a:gd name="T26" fmla="*/ 187 w 492"/>
                <a:gd name="T27" fmla="*/ 143 h 492"/>
                <a:gd name="T28" fmla="*/ 161 w 492"/>
                <a:gd name="T29" fmla="*/ 168 h 492"/>
                <a:gd name="T30" fmla="*/ 368 w 492"/>
                <a:gd name="T31" fmla="*/ 348 h 492"/>
                <a:gd name="T32" fmla="*/ 318 w 492"/>
                <a:gd name="T33" fmla="*/ 348 h 492"/>
                <a:gd name="T34" fmla="*/ 318 w 492"/>
                <a:gd name="T35" fmla="*/ 259 h 492"/>
                <a:gd name="T36" fmla="*/ 293 w 492"/>
                <a:gd name="T37" fmla="*/ 224 h 492"/>
                <a:gd name="T38" fmla="*/ 267 w 492"/>
                <a:gd name="T39" fmla="*/ 243 h 492"/>
                <a:gd name="T40" fmla="*/ 265 w 492"/>
                <a:gd name="T41" fmla="*/ 256 h 492"/>
                <a:gd name="T42" fmla="*/ 265 w 492"/>
                <a:gd name="T43" fmla="*/ 348 h 492"/>
                <a:gd name="T44" fmla="*/ 216 w 492"/>
                <a:gd name="T45" fmla="*/ 348 h 492"/>
                <a:gd name="T46" fmla="*/ 216 w 492"/>
                <a:gd name="T47" fmla="*/ 239 h 492"/>
                <a:gd name="T48" fmla="*/ 214 w 492"/>
                <a:gd name="T49" fmla="*/ 188 h 492"/>
                <a:gd name="T50" fmla="*/ 258 w 492"/>
                <a:gd name="T51" fmla="*/ 188 h 492"/>
                <a:gd name="T52" fmla="*/ 260 w 492"/>
                <a:gd name="T53" fmla="*/ 210 h 492"/>
                <a:gd name="T54" fmla="*/ 261 w 492"/>
                <a:gd name="T55" fmla="*/ 210 h 492"/>
                <a:gd name="T56" fmla="*/ 310 w 492"/>
                <a:gd name="T57" fmla="*/ 184 h 492"/>
                <a:gd name="T58" fmla="*/ 368 w 492"/>
                <a:gd name="T59" fmla="*/ 253 h 492"/>
                <a:gd name="T60" fmla="*/ 368 w 492"/>
                <a:gd name="T61" fmla="*/ 348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2" h="492">
                  <a:moveTo>
                    <a:pt x="246" y="0"/>
                  </a:moveTo>
                  <a:cubicBezTo>
                    <a:pt x="110" y="0"/>
                    <a:pt x="0" y="110"/>
                    <a:pt x="0" y="246"/>
                  </a:cubicBezTo>
                  <a:cubicBezTo>
                    <a:pt x="0" y="382"/>
                    <a:pt x="110" y="492"/>
                    <a:pt x="246" y="492"/>
                  </a:cubicBezTo>
                  <a:cubicBezTo>
                    <a:pt x="382" y="492"/>
                    <a:pt x="492" y="382"/>
                    <a:pt x="492" y="246"/>
                  </a:cubicBezTo>
                  <a:cubicBezTo>
                    <a:pt x="492" y="110"/>
                    <a:pt x="382" y="0"/>
                    <a:pt x="246" y="0"/>
                  </a:cubicBezTo>
                  <a:close/>
                  <a:moveTo>
                    <a:pt x="186" y="348"/>
                  </a:moveTo>
                  <a:cubicBezTo>
                    <a:pt x="136" y="348"/>
                    <a:pt x="136" y="348"/>
                    <a:pt x="136" y="348"/>
                  </a:cubicBezTo>
                  <a:cubicBezTo>
                    <a:pt x="136" y="188"/>
                    <a:pt x="136" y="188"/>
                    <a:pt x="136" y="188"/>
                  </a:cubicBezTo>
                  <a:cubicBezTo>
                    <a:pt x="186" y="188"/>
                    <a:pt x="186" y="188"/>
                    <a:pt x="186" y="188"/>
                  </a:cubicBezTo>
                  <a:lnTo>
                    <a:pt x="186" y="348"/>
                  </a:lnTo>
                  <a:close/>
                  <a:moveTo>
                    <a:pt x="161" y="168"/>
                  </a:moveTo>
                  <a:cubicBezTo>
                    <a:pt x="145" y="168"/>
                    <a:pt x="135" y="157"/>
                    <a:pt x="135" y="143"/>
                  </a:cubicBezTo>
                  <a:cubicBezTo>
                    <a:pt x="135" y="129"/>
                    <a:pt x="145" y="118"/>
                    <a:pt x="161" y="118"/>
                  </a:cubicBezTo>
                  <a:cubicBezTo>
                    <a:pt x="177" y="118"/>
                    <a:pt x="187" y="129"/>
                    <a:pt x="187" y="143"/>
                  </a:cubicBezTo>
                  <a:cubicBezTo>
                    <a:pt x="188" y="157"/>
                    <a:pt x="177" y="168"/>
                    <a:pt x="161" y="168"/>
                  </a:cubicBezTo>
                  <a:close/>
                  <a:moveTo>
                    <a:pt x="368" y="348"/>
                  </a:moveTo>
                  <a:cubicBezTo>
                    <a:pt x="318" y="348"/>
                    <a:pt x="318" y="348"/>
                    <a:pt x="318" y="348"/>
                  </a:cubicBezTo>
                  <a:cubicBezTo>
                    <a:pt x="318" y="259"/>
                    <a:pt x="318" y="259"/>
                    <a:pt x="318" y="259"/>
                  </a:cubicBezTo>
                  <a:cubicBezTo>
                    <a:pt x="318" y="238"/>
                    <a:pt x="311" y="224"/>
                    <a:pt x="293" y="224"/>
                  </a:cubicBezTo>
                  <a:cubicBezTo>
                    <a:pt x="279" y="224"/>
                    <a:pt x="271" y="234"/>
                    <a:pt x="267" y="243"/>
                  </a:cubicBezTo>
                  <a:cubicBezTo>
                    <a:pt x="266" y="246"/>
                    <a:pt x="265" y="251"/>
                    <a:pt x="265" y="256"/>
                  </a:cubicBezTo>
                  <a:cubicBezTo>
                    <a:pt x="265" y="348"/>
                    <a:pt x="265" y="348"/>
                    <a:pt x="265" y="348"/>
                  </a:cubicBezTo>
                  <a:cubicBezTo>
                    <a:pt x="216" y="348"/>
                    <a:pt x="216" y="348"/>
                    <a:pt x="216" y="348"/>
                  </a:cubicBezTo>
                  <a:cubicBezTo>
                    <a:pt x="216" y="239"/>
                    <a:pt x="216" y="239"/>
                    <a:pt x="216" y="239"/>
                  </a:cubicBezTo>
                  <a:cubicBezTo>
                    <a:pt x="216" y="219"/>
                    <a:pt x="215" y="202"/>
                    <a:pt x="214" y="188"/>
                  </a:cubicBezTo>
                  <a:cubicBezTo>
                    <a:pt x="258" y="188"/>
                    <a:pt x="258" y="188"/>
                    <a:pt x="258" y="188"/>
                  </a:cubicBezTo>
                  <a:cubicBezTo>
                    <a:pt x="260" y="210"/>
                    <a:pt x="260" y="210"/>
                    <a:pt x="260" y="210"/>
                  </a:cubicBezTo>
                  <a:cubicBezTo>
                    <a:pt x="261" y="210"/>
                    <a:pt x="261" y="210"/>
                    <a:pt x="261" y="210"/>
                  </a:cubicBezTo>
                  <a:cubicBezTo>
                    <a:pt x="267" y="199"/>
                    <a:pt x="283" y="184"/>
                    <a:pt x="310" y="184"/>
                  </a:cubicBezTo>
                  <a:cubicBezTo>
                    <a:pt x="343" y="184"/>
                    <a:pt x="368" y="206"/>
                    <a:pt x="368" y="253"/>
                  </a:cubicBezTo>
                  <a:cubicBezTo>
                    <a:pt x="368" y="348"/>
                    <a:pt x="368" y="348"/>
                    <a:pt x="368" y="348"/>
                  </a:cubicBezTo>
                  <a:close/>
                </a:path>
              </a:pathLst>
            </a:custGeom>
            <a:solidFill>
              <a:schemeClr val="tx1">
                <a:lumMod val="90000"/>
              </a:schemeClr>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grpSp>
      <p:sp>
        <p:nvSpPr>
          <p:cNvPr id="25606" name="Title 2"/>
          <p:cNvSpPr>
            <a:spLocks noGrp="1"/>
          </p:cNvSpPr>
          <p:nvPr/>
        </p:nvSpPr>
        <p:spPr>
          <a:xfrm>
            <a:off x="-147066" y="102108"/>
            <a:ext cx="12147042" cy="750570"/>
          </a:xfrm>
          <a:prstGeom prst="rect">
            <a:avLst/>
          </a:prstGeom>
          <a:noFill/>
          <a:ln>
            <a:noFill/>
          </a:ln>
        </p:spPr>
        <p:txBody>
          <a:bodyPr vert="horz" lIns="109728" tIns="54864" rIns="109728" bIns="54864" rtlCol="0" anchor="ctr" anchorCtr="0"/>
          <a:lstStyle>
            <a:lvl1pPr algn="ctr" defTabSz="762000" rtl="0" eaLnBrk="1" latinLnBrk="0" hangingPunct="1">
              <a:lnSpc>
                <a:spcPct val="90000"/>
              </a:lnSpc>
              <a:spcBef>
                <a:spcPct val="0"/>
              </a:spcBef>
              <a:buNone/>
              <a:defRPr sz="2400" kern="1200">
                <a:solidFill>
                  <a:schemeClr val="tx2"/>
                </a:solidFill>
                <a:latin typeface="Open Sans Light" pitchFamily="34" charset="0"/>
                <a:ea typeface="Open Sans Light" pitchFamily="34" charset="0"/>
                <a:cs typeface="Open Sans Light" pitchFamily="34" charset="0"/>
              </a:defRPr>
            </a:lvl1pPr>
          </a:lstStyle>
          <a:p>
            <a:pPr defTabSz="762000">
              <a:buNone/>
            </a:pPr>
            <a:r>
              <a:rPr lang="en-US" altLang="zh-CN" sz="2880" kern="1200" dirty="0">
                <a:latin typeface="Open Sans Light" pitchFamily="34" charset="0"/>
                <a:ea typeface="+mj-ea"/>
                <a:cs typeface="Open Sans Light" pitchFamily="34" charset="0"/>
              </a:rPr>
              <a:t>Insight 4: Prompt Format and Instruction Clarity </a:t>
            </a:r>
            <a:r>
              <a:rPr lang="en-US" altLang="zh-CN" sz="2880" kern="1200" dirty="0">
                <a:solidFill>
                  <a:schemeClr val="tx1"/>
                </a:solidFill>
                <a:latin typeface="Open Sans Light" pitchFamily="34" charset="0"/>
                <a:ea typeface="+mj-ea"/>
                <a:cs typeface="Open Sans Light" pitchFamily="34" charset="0"/>
              </a:rPr>
              <a:t>Significantly Affect Output </a:t>
            </a:r>
            <a:r>
              <a:rPr lang="en-US" altLang="zh-CN" sz="2880" kern="1200" dirty="0">
                <a:latin typeface="Open Sans Light" pitchFamily="34" charset="0"/>
                <a:ea typeface="+mj-ea"/>
                <a:cs typeface="Open Sans Light" pitchFamily="34" charset="0"/>
              </a:rPr>
              <a:t>Quality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par>
                                <p:cTn id="10" presetID="53" presetClass="entr" presetSubtype="16" fill="hold" nodeType="with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p:cTn id="12" dur="500" fill="hold"/>
                                        <p:tgtEl>
                                          <p:spTgt spid="41"/>
                                        </p:tgtEl>
                                        <p:attrNameLst>
                                          <p:attrName>ppt_w</p:attrName>
                                        </p:attrNameLst>
                                      </p:cBhvr>
                                      <p:tavLst>
                                        <p:tav tm="0">
                                          <p:val>
                                            <p:fltVal val="0"/>
                                          </p:val>
                                        </p:tav>
                                        <p:tav tm="100000">
                                          <p:val>
                                            <p:strVal val="#ppt_w"/>
                                          </p:val>
                                        </p:tav>
                                      </p:tavLst>
                                    </p:anim>
                                    <p:anim calcmode="lin" valueType="num">
                                      <p:cBhvr>
                                        <p:cTn id="13" dur="500" fill="hold"/>
                                        <p:tgtEl>
                                          <p:spTgt spid="41"/>
                                        </p:tgtEl>
                                        <p:attrNameLst>
                                          <p:attrName>ppt_h</p:attrName>
                                        </p:attrNameLst>
                                      </p:cBhvr>
                                      <p:tavLst>
                                        <p:tav tm="0">
                                          <p:val>
                                            <p:fltVal val="0"/>
                                          </p:val>
                                        </p:tav>
                                        <p:tav tm="100000">
                                          <p:val>
                                            <p:strVal val="#ppt_h"/>
                                          </p:val>
                                        </p:tav>
                                      </p:tavLst>
                                    </p:anim>
                                    <p:animEffect transition="in" filter="fade">
                                      <p:cBhvr>
                                        <p:cTn id="14" dur="500"/>
                                        <p:tgtEl>
                                          <p:spTgt spid="41"/>
                                        </p:tgtEl>
                                      </p:cBhvr>
                                    </p:animEffect>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ppt_x"/>
                                          </p:val>
                                        </p:tav>
                                        <p:tav tm="100000">
                                          <p:val>
                                            <p:strVal val="#ppt_x"/>
                                          </p:val>
                                        </p:tav>
                                      </p:tavLst>
                                    </p:anim>
                                    <p:anim calcmode="lin" valueType="num">
                                      <p:cBhvr additive="base">
                                        <p:cTn id="19" dur="500" fill="hold"/>
                                        <p:tgtEl>
                                          <p:spTgt spid="3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500" fill="hold"/>
                                        <p:tgtEl>
                                          <p:spTgt spid="38"/>
                                        </p:tgtEl>
                                        <p:attrNameLst>
                                          <p:attrName>ppt_x</p:attrName>
                                        </p:attrNameLst>
                                      </p:cBhvr>
                                      <p:tavLst>
                                        <p:tav tm="0">
                                          <p:val>
                                            <p:strVal val="#ppt_x"/>
                                          </p:val>
                                        </p:tav>
                                        <p:tav tm="100000">
                                          <p:val>
                                            <p:strVal val="#ppt_x"/>
                                          </p:val>
                                        </p:tav>
                                      </p:tavLst>
                                    </p:anim>
                                    <p:anim calcmode="lin" valueType="num">
                                      <p:cBhvr additive="base">
                                        <p:cTn id="23" dur="500" fill="hold"/>
                                        <p:tgtEl>
                                          <p:spTgt spid="38"/>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ppt_x"/>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 calcmode="lin" valueType="num">
                                      <p:cBhvr additive="base">
                                        <p:cTn id="30" dur="500" fill="hold"/>
                                        <p:tgtEl>
                                          <p:spTgt spid="42"/>
                                        </p:tgtEl>
                                        <p:attrNameLst>
                                          <p:attrName>ppt_x</p:attrName>
                                        </p:attrNameLst>
                                      </p:cBhvr>
                                      <p:tavLst>
                                        <p:tav tm="0">
                                          <p:val>
                                            <p:strVal val="0-#ppt_w/2"/>
                                          </p:val>
                                        </p:tav>
                                        <p:tav tm="100000">
                                          <p:val>
                                            <p:strVal val="#ppt_x"/>
                                          </p:val>
                                        </p:tav>
                                      </p:tavLst>
                                    </p:anim>
                                    <p:anim calcmode="lin" valueType="num">
                                      <p:cBhvr additive="base">
                                        <p:cTn id="31"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8" grpId="0"/>
      <p:bldP spid="4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1E87-3D24-B5E7-0B6C-EEF3AE569207}"/>
            </a:ext>
          </a:extLst>
        </p:cNvPr>
        <p:cNvGrpSpPr/>
        <p:nvPr/>
      </p:nvGrpSpPr>
      <p:grpSpPr>
        <a:xfrm>
          <a:off x="0" y="0"/>
          <a:ext cx="0" cy="0"/>
          <a:chOff x="0" y="0"/>
          <a:chExt cx="0" cy="0"/>
        </a:xfrm>
      </p:grpSpPr>
      <p:sp>
        <p:nvSpPr>
          <p:cNvPr id="21506" name="Title 2">
            <a:extLst>
              <a:ext uri="{FF2B5EF4-FFF2-40B4-BE49-F238E27FC236}">
                <a16:creationId xmlns:a16="http://schemas.microsoft.com/office/drawing/2014/main" id="{3522E0A2-E859-C08F-5538-C8FA2CCC4844}"/>
              </a:ext>
            </a:extLst>
          </p:cNvPr>
          <p:cNvSpPr>
            <a:spLocks noGrp="1"/>
          </p:cNvSpPr>
          <p:nvPr>
            <p:ph type="title"/>
          </p:nvPr>
        </p:nvSpPr>
        <p:spPr>
          <a:xfrm>
            <a:off x="838200" y="365760"/>
            <a:ext cx="10515600" cy="512446"/>
          </a:xfrm>
          <a:noFill/>
          <a:ln>
            <a:noFill/>
          </a:ln>
        </p:spPr>
        <p:txBody>
          <a:bodyPr lIns="109728" tIns="54864" rIns="109728" bIns="54864" anchor="ctr" anchorCtr="0">
            <a:noAutofit/>
          </a:bodyPr>
          <a:lstStyle/>
          <a:p>
            <a:pPr algn="ctr" defTabSz="762000">
              <a:buClrTx/>
              <a:buSzTx/>
              <a:buFontTx/>
              <a:buNone/>
            </a:pPr>
            <a:r>
              <a:rPr lang="en-US" altLang="zh-CN" sz="3360" b="1" dirty="0">
                <a:latin typeface="Times New Roman" panose="02020603050405020304" pitchFamily="18" charset="0"/>
                <a:ea typeface="+mj-ea"/>
                <a:cs typeface="Times New Roman" panose="02020603050405020304" pitchFamily="18" charset="0"/>
              </a:rPr>
              <a:t>4</a:t>
            </a:r>
            <a:r>
              <a:rPr lang="en-US" altLang="zh-CN" sz="3360" b="1" kern="1200" dirty="0">
                <a:latin typeface="Times New Roman" panose="02020603050405020304" pitchFamily="18" charset="0"/>
                <a:ea typeface="+mj-ea"/>
                <a:cs typeface="Times New Roman" panose="02020603050405020304" pitchFamily="18" charset="0"/>
              </a:rPr>
              <a:t> Insights on </a:t>
            </a:r>
            <a:r>
              <a:rPr lang="en-US" altLang="zh-CN" sz="3360" b="1" dirty="0">
                <a:latin typeface="Times New Roman" panose="02020603050405020304" pitchFamily="18" charset="0"/>
                <a:ea typeface="+mj-ea"/>
                <a:cs typeface="Times New Roman" panose="02020603050405020304" pitchFamily="18" charset="0"/>
              </a:rPr>
              <a:t>CML</a:t>
            </a:r>
            <a:endParaRPr lang="en-US" altLang="zh-CN" sz="3360" b="1" kern="1200" dirty="0">
              <a:latin typeface="Times New Roman" panose="02020603050405020304" pitchFamily="18" charset="0"/>
              <a:ea typeface="+mj-ea"/>
              <a:cs typeface="Times New Roman" panose="02020603050405020304" pitchFamily="18" charset="0"/>
            </a:endParaRPr>
          </a:p>
        </p:txBody>
      </p:sp>
      <p:sp>
        <p:nvSpPr>
          <p:cNvPr id="21507" name="Slide Number Placeholder 5">
            <a:extLst>
              <a:ext uri="{FF2B5EF4-FFF2-40B4-BE49-F238E27FC236}">
                <a16:creationId xmlns:a16="http://schemas.microsoft.com/office/drawing/2014/main" id="{462CF1D8-7BA2-39A0-AC77-12B8775B4AEF}"/>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13</a:t>
            </a:fld>
            <a:endParaRPr lang="en-US" altLang="zh-CN" sz="1200" dirty="0">
              <a:latin typeface="Open Sans" pitchFamily="34" charset="0"/>
              <a:ea typeface="Open Sans" pitchFamily="34" charset="0"/>
              <a:cs typeface="Open Sans" pitchFamily="34" charset="0"/>
            </a:endParaRPr>
          </a:p>
        </p:txBody>
      </p:sp>
      <p:sp>
        <p:nvSpPr>
          <p:cNvPr id="57" name="Freeform 5">
            <a:extLst>
              <a:ext uri="{FF2B5EF4-FFF2-40B4-BE49-F238E27FC236}">
                <a16:creationId xmlns:a16="http://schemas.microsoft.com/office/drawing/2014/main" id="{B97EC8F5-A8C5-711C-4033-7B7C791C5278}"/>
              </a:ext>
            </a:extLst>
          </p:cNvPr>
          <p:cNvSpPr/>
          <p:nvPr/>
        </p:nvSpPr>
        <p:spPr bwMode="auto">
          <a:xfrm rot="18900000">
            <a:off x="4322446" y="1687830"/>
            <a:ext cx="1838326" cy="2350770"/>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bg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8" name="Freeform 5">
            <a:extLst>
              <a:ext uri="{FF2B5EF4-FFF2-40B4-BE49-F238E27FC236}">
                <a16:creationId xmlns:a16="http://schemas.microsoft.com/office/drawing/2014/main" id="{F0321202-6CFB-0100-F074-9BBDD80DC0A9}"/>
              </a:ext>
            </a:extLst>
          </p:cNvPr>
          <p:cNvSpPr/>
          <p:nvPr/>
        </p:nvSpPr>
        <p:spPr bwMode="auto">
          <a:xfrm rot="2700000">
            <a:off x="6035993" y="1686877"/>
            <a:ext cx="1840230" cy="2352676"/>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9" name="Freeform 5">
            <a:extLst>
              <a:ext uri="{FF2B5EF4-FFF2-40B4-BE49-F238E27FC236}">
                <a16:creationId xmlns:a16="http://schemas.microsoft.com/office/drawing/2014/main" id="{FFDDE797-3CA6-C287-B8C1-0F8C27D8BE50}"/>
              </a:ext>
            </a:extLst>
          </p:cNvPr>
          <p:cNvSpPr/>
          <p:nvPr/>
        </p:nvSpPr>
        <p:spPr bwMode="auto">
          <a:xfrm flipH="1">
            <a:off x="5185408" y="3726942"/>
            <a:ext cx="1838326" cy="2350770"/>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6" name="Freeform 90">
            <a:extLst>
              <a:ext uri="{FF2B5EF4-FFF2-40B4-BE49-F238E27FC236}">
                <a16:creationId xmlns:a16="http://schemas.microsoft.com/office/drawing/2014/main" id="{3CEA8C3C-9BDB-43AF-29C3-BD4CD063E0B2}"/>
              </a:ext>
            </a:extLst>
          </p:cNvPr>
          <p:cNvSpPr>
            <a:spLocks noEditPoints="1"/>
          </p:cNvSpPr>
          <p:nvPr/>
        </p:nvSpPr>
        <p:spPr bwMode="auto">
          <a:xfrm>
            <a:off x="5866446" y="4679442"/>
            <a:ext cx="476250" cy="445770"/>
          </a:xfrm>
          <a:custGeom>
            <a:avLst/>
            <a:gdLst>
              <a:gd name="T0" fmla="*/ 0 w 549"/>
              <a:gd name="T1" fmla="*/ 475 h 512"/>
              <a:gd name="T2" fmla="*/ 6 w 549"/>
              <a:gd name="T3" fmla="*/ 463 h 512"/>
              <a:gd name="T4" fmla="*/ 20 w 549"/>
              <a:gd name="T5" fmla="*/ 457 h 512"/>
              <a:gd name="T6" fmla="*/ 529 w 549"/>
              <a:gd name="T7" fmla="*/ 457 h 512"/>
              <a:gd name="T8" fmla="*/ 543 w 549"/>
              <a:gd name="T9" fmla="*/ 463 h 512"/>
              <a:gd name="T10" fmla="*/ 549 w 549"/>
              <a:gd name="T11" fmla="*/ 475 h 512"/>
              <a:gd name="T12" fmla="*/ 549 w 549"/>
              <a:gd name="T13" fmla="*/ 512 h 512"/>
              <a:gd name="T14" fmla="*/ 0 w 549"/>
              <a:gd name="T15" fmla="*/ 512 h 512"/>
              <a:gd name="T16" fmla="*/ 0 w 549"/>
              <a:gd name="T17" fmla="*/ 475 h 512"/>
              <a:gd name="T18" fmla="*/ 0 w 549"/>
              <a:gd name="T19" fmla="*/ 146 h 512"/>
              <a:gd name="T20" fmla="*/ 0 w 549"/>
              <a:gd name="T21" fmla="*/ 110 h 512"/>
              <a:gd name="T22" fmla="*/ 274 w 549"/>
              <a:gd name="T23" fmla="*/ 0 h 512"/>
              <a:gd name="T24" fmla="*/ 549 w 549"/>
              <a:gd name="T25" fmla="*/ 110 h 512"/>
              <a:gd name="T26" fmla="*/ 549 w 549"/>
              <a:gd name="T27" fmla="*/ 146 h 512"/>
              <a:gd name="T28" fmla="*/ 512 w 549"/>
              <a:gd name="T29" fmla="*/ 146 h 512"/>
              <a:gd name="T30" fmla="*/ 506 w 549"/>
              <a:gd name="T31" fmla="*/ 159 h 512"/>
              <a:gd name="T32" fmla="*/ 492 w 549"/>
              <a:gd name="T33" fmla="*/ 165 h 512"/>
              <a:gd name="T34" fmla="*/ 56 w 549"/>
              <a:gd name="T35" fmla="*/ 165 h 512"/>
              <a:gd name="T36" fmla="*/ 42 w 549"/>
              <a:gd name="T37" fmla="*/ 159 h 512"/>
              <a:gd name="T38" fmla="*/ 37 w 549"/>
              <a:gd name="T39" fmla="*/ 146 h 512"/>
              <a:gd name="T40" fmla="*/ 0 w 549"/>
              <a:gd name="T41" fmla="*/ 146 h 512"/>
              <a:gd name="T42" fmla="*/ 37 w 549"/>
              <a:gd name="T43" fmla="*/ 439 h 512"/>
              <a:gd name="T44" fmla="*/ 37 w 549"/>
              <a:gd name="T45" fmla="*/ 421 h 512"/>
              <a:gd name="T46" fmla="*/ 42 w 549"/>
              <a:gd name="T47" fmla="*/ 408 h 512"/>
              <a:gd name="T48" fmla="*/ 56 w 549"/>
              <a:gd name="T49" fmla="*/ 402 h 512"/>
              <a:gd name="T50" fmla="*/ 73 w 549"/>
              <a:gd name="T51" fmla="*/ 402 h 512"/>
              <a:gd name="T52" fmla="*/ 73 w 549"/>
              <a:gd name="T53" fmla="*/ 183 h 512"/>
              <a:gd name="T54" fmla="*/ 146 w 549"/>
              <a:gd name="T55" fmla="*/ 183 h 512"/>
              <a:gd name="T56" fmla="*/ 146 w 549"/>
              <a:gd name="T57" fmla="*/ 402 h 512"/>
              <a:gd name="T58" fmla="*/ 183 w 549"/>
              <a:gd name="T59" fmla="*/ 402 h 512"/>
              <a:gd name="T60" fmla="*/ 183 w 549"/>
              <a:gd name="T61" fmla="*/ 183 h 512"/>
              <a:gd name="T62" fmla="*/ 256 w 549"/>
              <a:gd name="T63" fmla="*/ 183 h 512"/>
              <a:gd name="T64" fmla="*/ 256 w 549"/>
              <a:gd name="T65" fmla="*/ 402 h 512"/>
              <a:gd name="T66" fmla="*/ 293 w 549"/>
              <a:gd name="T67" fmla="*/ 402 h 512"/>
              <a:gd name="T68" fmla="*/ 293 w 549"/>
              <a:gd name="T69" fmla="*/ 183 h 512"/>
              <a:gd name="T70" fmla="*/ 366 w 549"/>
              <a:gd name="T71" fmla="*/ 183 h 512"/>
              <a:gd name="T72" fmla="*/ 366 w 549"/>
              <a:gd name="T73" fmla="*/ 402 h 512"/>
              <a:gd name="T74" fmla="*/ 402 w 549"/>
              <a:gd name="T75" fmla="*/ 402 h 512"/>
              <a:gd name="T76" fmla="*/ 402 w 549"/>
              <a:gd name="T77" fmla="*/ 183 h 512"/>
              <a:gd name="T78" fmla="*/ 475 w 549"/>
              <a:gd name="T79" fmla="*/ 183 h 512"/>
              <a:gd name="T80" fmla="*/ 475 w 549"/>
              <a:gd name="T81" fmla="*/ 402 h 512"/>
              <a:gd name="T82" fmla="*/ 492 w 549"/>
              <a:gd name="T83" fmla="*/ 402 h 512"/>
              <a:gd name="T84" fmla="*/ 506 w 549"/>
              <a:gd name="T85" fmla="*/ 408 h 512"/>
              <a:gd name="T86" fmla="*/ 512 w 549"/>
              <a:gd name="T87" fmla="*/ 421 h 512"/>
              <a:gd name="T88" fmla="*/ 512 w 549"/>
              <a:gd name="T89" fmla="*/ 439 h 512"/>
              <a:gd name="T90" fmla="*/ 37 w 549"/>
              <a:gd name="T91" fmla="*/ 43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49" h="512">
                <a:moveTo>
                  <a:pt x="0" y="475"/>
                </a:moveTo>
                <a:cubicBezTo>
                  <a:pt x="0" y="470"/>
                  <a:pt x="2" y="466"/>
                  <a:pt x="6" y="463"/>
                </a:cubicBezTo>
                <a:cubicBezTo>
                  <a:pt x="10" y="459"/>
                  <a:pt x="14" y="457"/>
                  <a:pt x="20" y="457"/>
                </a:cubicBezTo>
                <a:cubicBezTo>
                  <a:pt x="529" y="457"/>
                  <a:pt x="529" y="457"/>
                  <a:pt x="529" y="457"/>
                </a:cubicBezTo>
                <a:cubicBezTo>
                  <a:pt x="534" y="457"/>
                  <a:pt x="539" y="459"/>
                  <a:pt x="543" y="463"/>
                </a:cubicBezTo>
                <a:cubicBezTo>
                  <a:pt x="547" y="466"/>
                  <a:pt x="549" y="470"/>
                  <a:pt x="549" y="475"/>
                </a:cubicBezTo>
                <a:cubicBezTo>
                  <a:pt x="549" y="512"/>
                  <a:pt x="549" y="512"/>
                  <a:pt x="549" y="512"/>
                </a:cubicBezTo>
                <a:cubicBezTo>
                  <a:pt x="0" y="512"/>
                  <a:pt x="0" y="512"/>
                  <a:pt x="0" y="512"/>
                </a:cubicBezTo>
                <a:cubicBezTo>
                  <a:pt x="0" y="475"/>
                  <a:pt x="0" y="475"/>
                  <a:pt x="0" y="475"/>
                </a:cubicBezTo>
                <a:close/>
                <a:moveTo>
                  <a:pt x="0" y="146"/>
                </a:moveTo>
                <a:cubicBezTo>
                  <a:pt x="0" y="110"/>
                  <a:pt x="0" y="110"/>
                  <a:pt x="0" y="110"/>
                </a:cubicBezTo>
                <a:cubicBezTo>
                  <a:pt x="274" y="0"/>
                  <a:pt x="274" y="0"/>
                  <a:pt x="274" y="0"/>
                </a:cubicBezTo>
                <a:cubicBezTo>
                  <a:pt x="549" y="110"/>
                  <a:pt x="549" y="110"/>
                  <a:pt x="549" y="110"/>
                </a:cubicBezTo>
                <a:cubicBezTo>
                  <a:pt x="549" y="146"/>
                  <a:pt x="549" y="146"/>
                  <a:pt x="549" y="146"/>
                </a:cubicBezTo>
                <a:cubicBezTo>
                  <a:pt x="512" y="146"/>
                  <a:pt x="512" y="146"/>
                  <a:pt x="512" y="146"/>
                </a:cubicBezTo>
                <a:cubicBezTo>
                  <a:pt x="512" y="151"/>
                  <a:pt x="510" y="156"/>
                  <a:pt x="506" y="159"/>
                </a:cubicBezTo>
                <a:cubicBezTo>
                  <a:pt x="502" y="163"/>
                  <a:pt x="498" y="165"/>
                  <a:pt x="492" y="165"/>
                </a:cubicBezTo>
                <a:cubicBezTo>
                  <a:pt x="56" y="165"/>
                  <a:pt x="56" y="165"/>
                  <a:pt x="56" y="165"/>
                </a:cubicBezTo>
                <a:cubicBezTo>
                  <a:pt x="51" y="165"/>
                  <a:pt x="46" y="163"/>
                  <a:pt x="42" y="159"/>
                </a:cubicBezTo>
                <a:cubicBezTo>
                  <a:pt x="39" y="156"/>
                  <a:pt x="37" y="151"/>
                  <a:pt x="37" y="146"/>
                </a:cubicBezTo>
                <a:lnTo>
                  <a:pt x="0" y="146"/>
                </a:lnTo>
                <a:close/>
                <a:moveTo>
                  <a:pt x="37" y="439"/>
                </a:moveTo>
                <a:cubicBezTo>
                  <a:pt x="37" y="421"/>
                  <a:pt x="37" y="421"/>
                  <a:pt x="37" y="421"/>
                </a:cubicBezTo>
                <a:cubicBezTo>
                  <a:pt x="37" y="416"/>
                  <a:pt x="39" y="411"/>
                  <a:pt x="42" y="408"/>
                </a:cubicBezTo>
                <a:cubicBezTo>
                  <a:pt x="46" y="404"/>
                  <a:pt x="51" y="402"/>
                  <a:pt x="56" y="402"/>
                </a:cubicBezTo>
                <a:cubicBezTo>
                  <a:pt x="73" y="402"/>
                  <a:pt x="73" y="402"/>
                  <a:pt x="73" y="402"/>
                </a:cubicBezTo>
                <a:cubicBezTo>
                  <a:pt x="73" y="183"/>
                  <a:pt x="73" y="183"/>
                  <a:pt x="73" y="183"/>
                </a:cubicBezTo>
                <a:cubicBezTo>
                  <a:pt x="146" y="183"/>
                  <a:pt x="146" y="183"/>
                  <a:pt x="146" y="183"/>
                </a:cubicBezTo>
                <a:cubicBezTo>
                  <a:pt x="146" y="402"/>
                  <a:pt x="146" y="402"/>
                  <a:pt x="146" y="402"/>
                </a:cubicBezTo>
                <a:cubicBezTo>
                  <a:pt x="183" y="402"/>
                  <a:pt x="183" y="402"/>
                  <a:pt x="183" y="402"/>
                </a:cubicBezTo>
                <a:cubicBezTo>
                  <a:pt x="183" y="183"/>
                  <a:pt x="183" y="183"/>
                  <a:pt x="183" y="183"/>
                </a:cubicBezTo>
                <a:cubicBezTo>
                  <a:pt x="256" y="183"/>
                  <a:pt x="256" y="183"/>
                  <a:pt x="256" y="183"/>
                </a:cubicBezTo>
                <a:cubicBezTo>
                  <a:pt x="256" y="402"/>
                  <a:pt x="256" y="402"/>
                  <a:pt x="256" y="402"/>
                </a:cubicBezTo>
                <a:cubicBezTo>
                  <a:pt x="293" y="402"/>
                  <a:pt x="293" y="402"/>
                  <a:pt x="293" y="402"/>
                </a:cubicBezTo>
                <a:cubicBezTo>
                  <a:pt x="293" y="183"/>
                  <a:pt x="293" y="183"/>
                  <a:pt x="293" y="183"/>
                </a:cubicBezTo>
                <a:cubicBezTo>
                  <a:pt x="366" y="183"/>
                  <a:pt x="366" y="183"/>
                  <a:pt x="366" y="183"/>
                </a:cubicBezTo>
                <a:cubicBezTo>
                  <a:pt x="366" y="402"/>
                  <a:pt x="366" y="402"/>
                  <a:pt x="366" y="402"/>
                </a:cubicBezTo>
                <a:cubicBezTo>
                  <a:pt x="402" y="402"/>
                  <a:pt x="402" y="402"/>
                  <a:pt x="402" y="402"/>
                </a:cubicBezTo>
                <a:cubicBezTo>
                  <a:pt x="402" y="183"/>
                  <a:pt x="402" y="183"/>
                  <a:pt x="402" y="183"/>
                </a:cubicBezTo>
                <a:cubicBezTo>
                  <a:pt x="475" y="183"/>
                  <a:pt x="475" y="183"/>
                  <a:pt x="475" y="183"/>
                </a:cubicBezTo>
                <a:cubicBezTo>
                  <a:pt x="475" y="402"/>
                  <a:pt x="475" y="402"/>
                  <a:pt x="475" y="402"/>
                </a:cubicBezTo>
                <a:cubicBezTo>
                  <a:pt x="492" y="402"/>
                  <a:pt x="492" y="402"/>
                  <a:pt x="492" y="402"/>
                </a:cubicBezTo>
                <a:cubicBezTo>
                  <a:pt x="498" y="402"/>
                  <a:pt x="502" y="404"/>
                  <a:pt x="506" y="408"/>
                </a:cubicBezTo>
                <a:cubicBezTo>
                  <a:pt x="510" y="411"/>
                  <a:pt x="512" y="416"/>
                  <a:pt x="512" y="421"/>
                </a:cubicBezTo>
                <a:cubicBezTo>
                  <a:pt x="512" y="439"/>
                  <a:pt x="512" y="439"/>
                  <a:pt x="512" y="439"/>
                </a:cubicBezTo>
                <a:lnTo>
                  <a:pt x="37" y="439"/>
                </a:ln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7" name="Freeform 280">
            <a:extLst>
              <a:ext uri="{FF2B5EF4-FFF2-40B4-BE49-F238E27FC236}">
                <a16:creationId xmlns:a16="http://schemas.microsoft.com/office/drawing/2014/main" id="{04E6BFBB-7846-8BBE-81BA-5D94E693BE97}"/>
              </a:ext>
            </a:extLst>
          </p:cNvPr>
          <p:cNvSpPr>
            <a:spLocks noEditPoints="1"/>
          </p:cNvSpPr>
          <p:nvPr/>
        </p:nvSpPr>
        <p:spPr bwMode="auto">
          <a:xfrm>
            <a:off x="6677026" y="2615566"/>
            <a:ext cx="508636" cy="413386"/>
          </a:xfrm>
          <a:custGeom>
            <a:avLst/>
            <a:gdLst>
              <a:gd name="T0" fmla="*/ 0 w 283"/>
              <a:gd name="T1" fmla="*/ 282 h 282"/>
              <a:gd name="T2" fmla="*/ 142 w 283"/>
              <a:gd name="T3" fmla="*/ 282 h 282"/>
              <a:gd name="T4" fmla="*/ 142 w 283"/>
              <a:gd name="T5" fmla="*/ 0 h 282"/>
              <a:gd name="T6" fmla="*/ 0 w 283"/>
              <a:gd name="T7" fmla="*/ 0 h 282"/>
              <a:gd name="T8" fmla="*/ 0 w 283"/>
              <a:gd name="T9" fmla="*/ 282 h 282"/>
              <a:gd name="T10" fmla="*/ 89 w 283"/>
              <a:gd name="T11" fmla="*/ 35 h 282"/>
              <a:gd name="T12" fmla="*/ 124 w 283"/>
              <a:gd name="T13" fmla="*/ 35 h 282"/>
              <a:gd name="T14" fmla="*/ 124 w 283"/>
              <a:gd name="T15" fmla="*/ 70 h 282"/>
              <a:gd name="T16" fmla="*/ 89 w 283"/>
              <a:gd name="T17" fmla="*/ 70 h 282"/>
              <a:gd name="T18" fmla="*/ 89 w 283"/>
              <a:gd name="T19" fmla="*/ 35 h 282"/>
              <a:gd name="T20" fmla="*/ 89 w 283"/>
              <a:gd name="T21" fmla="*/ 106 h 282"/>
              <a:gd name="T22" fmla="*/ 124 w 283"/>
              <a:gd name="T23" fmla="*/ 106 h 282"/>
              <a:gd name="T24" fmla="*/ 124 w 283"/>
              <a:gd name="T25" fmla="*/ 141 h 282"/>
              <a:gd name="T26" fmla="*/ 89 w 283"/>
              <a:gd name="T27" fmla="*/ 141 h 282"/>
              <a:gd name="T28" fmla="*/ 89 w 283"/>
              <a:gd name="T29" fmla="*/ 106 h 282"/>
              <a:gd name="T30" fmla="*/ 89 w 283"/>
              <a:gd name="T31" fmla="*/ 176 h 282"/>
              <a:gd name="T32" fmla="*/ 124 w 283"/>
              <a:gd name="T33" fmla="*/ 176 h 282"/>
              <a:gd name="T34" fmla="*/ 124 w 283"/>
              <a:gd name="T35" fmla="*/ 212 h 282"/>
              <a:gd name="T36" fmla="*/ 89 w 283"/>
              <a:gd name="T37" fmla="*/ 212 h 282"/>
              <a:gd name="T38" fmla="*/ 89 w 283"/>
              <a:gd name="T39" fmla="*/ 176 h 282"/>
              <a:gd name="T40" fmla="*/ 18 w 283"/>
              <a:gd name="T41" fmla="*/ 35 h 282"/>
              <a:gd name="T42" fmla="*/ 53 w 283"/>
              <a:gd name="T43" fmla="*/ 35 h 282"/>
              <a:gd name="T44" fmla="*/ 53 w 283"/>
              <a:gd name="T45" fmla="*/ 70 h 282"/>
              <a:gd name="T46" fmla="*/ 18 w 283"/>
              <a:gd name="T47" fmla="*/ 70 h 282"/>
              <a:gd name="T48" fmla="*/ 18 w 283"/>
              <a:gd name="T49" fmla="*/ 35 h 282"/>
              <a:gd name="T50" fmla="*/ 18 w 283"/>
              <a:gd name="T51" fmla="*/ 106 h 282"/>
              <a:gd name="T52" fmla="*/ 53 w 283"/>
              <a:gd name="T53" fmla="*/ 106 h 282"/>
              <a:gd name="T54" fmla="*/ 53 w 283"/>
              <a:gd name="T55" fmla="*/ 141 h 282"/>
              <a:gd name="T56" fmla="*/ 18 w 283"/>
              <a:gd name="T57" fmla="*/ 141 h 282"/>
              <a:gd name="T58" fmla="*/ 18 w 283"/>
              <a:gd name="T59" fmla="*/ 106 h 282"/>
              <a:gd name="T60" fmla="*/ 18 w 283"/>
              <a:gd name="T61" fmla="*/ 176 h 282"/>
              <a:gd name="T62" fmla="*/ 53 w 283"/>
              <a:gd name="T63" fmla="*/ 176 h 282"/>
              <a:gd name="T64" fmla="*/ 53 w 283"/>
              <a:gd name="T65" fmla="*/ 212 h 282"/>
              <a:gd name="T66" fmla="*/ 18 w 283"/>
              <a:gd name="T67" fmla="*/ 212 h 282"/>
              <a:gd name="T68" fmla="*/ 18 w 283"/>
              <a:gd name="T69" fmla="*/ 176 h 282"/>
              <a:gd name="T70" fmla="*/ 159 w 283"/>
              <a:gd name="T71" fmla="*/ 88 h 282"/>
              <a:gd name="T72" fmla="*/ 283 w 283"/>
              <a:gd name="T73" fmla="*/ 88 h 282"/>
              <a:gd name="T74" fmla="*/ 283 w 283"/>
              <a:gd name="T75" fmla="*/ 106 h 282"/>
              <a:gd name="T76" fmla="*/ 159 w 283"/>
              <a:gd name="T77" fmla="*/ 106 h 282"/>
              <a:gd name="T78" fmla="*/ 159 w 283"/>
              <a:gd name="T79" fmla="*/ 88 h 282"/>
              <a:gd name="T80" fmla="*/ 159 w 283"/>
              <a:gd name="T81" fmla="*/ 282 h 282"/>
              <a:gd name="T82" fmla="*/ 195 w 283"/>
              <a:gd name="T83" fmla="*/ 282 h 282"/>
              <a:gd name="T84" fmla="*/ 195 w 283"/>
              <a:gd name="T85" fmla="*/ 212 h 282"/>
              <a:gd name="T86" fmla="*/ 248 w 283"/>
              <a:gd name="T87" fmla="*/ 212 h 282"/>
              <a:gd name="T88" fmla="*/ 248 w 283"/>
              <a:gd name="T89" fmla="*/ 282 h 282"/>
              <a:gd name="T90" fmla="*/ 283 w 283"/>
              <a:gd name="T91" fmla="*/ 282 h 282"/>
              <a:gd name="T92" fmla="*/ 283 w 283"/>
              <a:gd name="T93" fmla="*/ 123 h 282"/>
              <a:gd name="T94" fmla="*/ 159 w 283"/>
              <a:gd name="T95" fmla="*/ 123 h 282"/>
              <a:gd name="T96" fmla="*/ 159 w 283"/>
              <a:gd name="T97"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3" h="282">
                <a:moveTo>
                  <a:pt x="0" y="282"/>
                </a:moveTo>
                <a:lnTo>
                  <a:pt x="142" y="282"/>
                </a:lnTo>
                <a:lnTo>
                  <a:pt x="142" y="0"/>
                </a:lnTo>
                <a:lnTo>
                  <a:pt x="0" y="0"/>
                </a:lnTo>
                <a:lnTo>
                  <a:pt x="0" y="282"/>
                </a:lnTo>
                <a:close/>
                <a:moveTo>
                  <a:pt x="89" y="35"/>
                </a:moveTo>
                <a:lnTo>
                  <a:pt x="124" y="35"/>
                </a:lnTo>
                <a:lnTo>
                  <a:pt x="124" y="70"/>
                </a:lnTo>
                <a:lnTo>
                  <a:pt x="89" y="70"/>
                </a:lnTo>
                <a:lnTo>
                  <a:pt x="89" y="35"/>
                </a:lnTo>
                <a:close/>
                <a:moveTo>
                  <a:pt x="89" y="106"/>
                </a:moveTo>
                <a:lnTo>
                  <a:pt x="124" y="106"/>
                </a:lnTo>
                <a:lnTo>
                  <a:pt x="124" y="141"/>
                </a:lnTo>
                <a:lnTo>
                  <a:pt x="89" y="141"/>
                </a:lnTo>
                <a:lnTo>
                  <a:pt x="89" y="106"/>
                </a:lnTo>
                <a:close/>
                <a:moveTo>
                  <a:pt x="89" y="176"/>
                </a:moveTo>
                <a:lnTo>
                  <a:pt x="124" y="176"/>
                </a:lnTo>
                <a:lnTo>
                  <a:pt x="124" y="212"/>
                </a:lnTo>
                <a:lnTo>
                  <a:pt x="89" y="212"/>
                </a:lnTo>
                <a:lnTo>
                  <a:pt x="89" y="176"/>
                </a:lnTo>
                <a:close/>
                <a:moveTo>
                  <a:pt x="18" y="35"/>
                </a:moveTo>
                <a:lnTo>
                  <a:pt x="53" y="35"/>
                </a:lnTo>
                <a:lnTo>
                  <a:pt x="53" y="70"/>
                </a:lnTo>
                <a:lnTo>
                  <a:pt x="18" y="70"/>
                </a:lnTo>
                <a:lnTo>
                  <a:pt x="18" y="35"/>
                </a:lnTo>
                <a:close/>
                <a:moveTo>
                  <a:pt x="18" y="106"/>
                </a:moveTo>
                <a:lnTo>
                  <a:pt x="53" y="106"/>
                </a:lnTo>
                <a:lnTo>
                  <a:pt x="53" y="141"/>
                </a:lnTo>
                <a:lnTo>
                  <a:pt x="18" y="141"/>
                </a:lnTo>
                <a:lnTo>
                  <a:pt x="18" y="106"/>
                </a:lnTo>
                <a:close/>
                <a:moveTo>
                  <a:pt x="18" y="176"/>
                </a:moveTo>
                <a:lnTo>
                  <a:pt x="53" y="176"/>
                </a:lnTo>
                <a:lnTo>
                  <a:pt x="53" y="212"/>
                </a:lnTo>
                <a:lnTo>
                  <a:pt x="18" y="212"/>
                </a:lnTo>
                <a:lnTo>
                  <a:pt x="18" y="176"/>
                </a:lnTo>
                <a:close/>
                <a:moveTo>
                  <a:pt x="159" y="88"/>
                </a:moveTo>
                <a:lnTo>
                  <a:pt x="283" y="88"/>
                </a:lnTo>
                <a:lnTo>
                  <a:pt x="283" y="106"/>
                </a:lnTo>
                <a:lnTo>
                  <a:pt x="159" y="106"/>
                </a:lnTo>
                <a:lnTo>
                  <a:pt x="159" y="88"/>
                </a:lnTo>
                <a:close/>
                <a:moveTo>
                  <a:pt x="159" y="282"/>
                </a:moveTo>
                <a:lnTo>
                  <a:pt x="195" y="282"/>
                </a:lnTo>
                <a:lnTo>
                  <a:pt x="195" y="212"/>
                </a:lnTo>
                <a:lnTo>
                  <a:pt x="248" y="212"/>
                </a:lnTo>
                <a:lnTo>
                  <a:pt x="248" y="282"/>
                </a:lnTo>
                <a:lnTo>
                  <a:pt x="283" y="282"/>
                </a:lnTo>
                <a:lnTo>
                  <a:pt x="283" y="123"/>
                </a:lnTo>
                <a:lnTo>
                  <a:pt x="159" y="123"/>
                </a:lnTo>
                <a:lnTo>
                  <a:pt x="159" y="282"/>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8" name="Freeform 117">
            <a:extLst>
              <a:ext uri="{FF2B5EF4-FFF2-40B4-BE49-F238E27FC236}">
                <a16:creationId xmlns:a16="http://schemas.microsoft.com/office/drawing/2014/main" id="{204E07B1-F8C9-DA86-88D0-705A4067EB75}"/>
              </a:ext>
            </a:extLst>
          </p:cNvPr>
          <p:cNvSpPr>
            <a:spLocks noEditPoints="1"/>
          </p:cNvSpPr>
          <p:nvPr/>
        </p:nvSpPr>
        <p:spPr bwMode="auto">
          <a:xfrm>
            <a:off x="4997196" y="2644140"/>
            <a:ext cx="476250" cy="384810"/>
          </a:xfrm>
          <a:custGeom>
            <a:avLst/>
            <a:gdLst>
              <a:gd name="T0" fmla="*/ 0 w 567"/>
              <a:gd name="T1" fmla="*/ 356 h 457"/>
              <a:gd name="T2" fmla="*/ 0 w 567"/>
              <a:gd name="T3" fmla="*/ 246 h 457"/>
              <a:gd name="T4" fmla="*/ 19 w 567"/>
              <a:gd name="T5" fmla="*/ 201 h 457"/>
              <a:gd name="T6" fmla="*/ 64 w 567"/>
              <a:gd name="T7" fmla="*/ 182 h 457"/>
              <a:gd name="T8" fmla="*/ 72 w 567"/>
              <a:gd name="T9" fmla="*/ 182 h 457"/>
              <a:gd name="T10" fmla="*/ 102 w 567"/>
              <a:gd name="T11" fmla="*/ 63 h 457"/>
              <a:gd name="T12" fmla="*/ 132 w 567"/>
              <a:gd name="T13" fmla="*/ 18 h 457"/>
              <a:gd name="T14" fmla="*/ 183 w 567"/>
              <a:gd name="T15" fmla="*/ 0 h 457"/>
              <a:gd name="T16" fmla="*/ 384 w 567"/>
              <a:gd name="T17" fmla="*/ 0 h 457"/>
              <a:gd name="T18" fmla="*/ 435 w 567"/>
              <a:gd name="T19" fmla="*/ 18 h 457"/>
              <a:gd name="T20" fmla="*/ 465 w 567"/>
              <a:gd name="T21" fmla="*/ 63 h 457"/>
              <a:gd name="T22" fmla="*/ 495 w 567"/>
              <a:gd name="T23" fmla="*/ 182 h 457"/>
              <a:gd name="T24" fmla="*/ 503 w 567"/>
              <a:gd name="T25" fmla="*/ 182 h 457"/>
              <a:gd name="T26" fmla="*/ 548 w 567"/>
              <a:gd name="T27" fmla="*/ 201 h 457"/>
              <a:gd name="T28" fmla="*/ 567 w 567"/>
              <a:gd name="T29" fmla="*/ 246 h 457"/>
              <a:gd name="T30" fmla="*/ 567 w 567"/>
              <a:gd name="T31" fmla="*/ 356 h 457"/>
              <a:gd name="T32" fmla="*/ 564 w 567"/>
              <a:gd name="T33" fmla="*/ 363 h 457"/>
              <a:gd name="T34" fmla="*/ 558 w 567"/>
              <a:gd name="T35" fmla="*/ 365 h 457"/>
              <a:gd name="T36" fmla="*/ 521 w 567"/>
              <a:gd name="T37" fmla="*/ 365 h 457"/>
              <a:gd name="T38" fmla="*/ 521 w 567"/>
              <a:gd name="T39" fmla="*/ 402 h 457"/>
              <a:gd name="T40" fmla="*/ 505 w 567"/>
              <a:gd name="T41" fmla="*/ 441 h 457"/>
              <a:gd name="T42" fmla="*/ 466 w 567"/>
              <a:gd name="T43" fmla="*/ 457 h 457"/>
              <a:gd name="T44" fmla="*/ 427 w 567"/>
              <a:gd name="T45" fmla="*/ 441 h 457"/>
              <a:gd name="T46" fmla="*/ 411 w 567"/>
              <a:gd name="T47" fmla="*/ 402 h 457"/>
              <a:gd name="T48" fmla="*/ 411 w 567"/>
              <a:gd name="T49" fmla="*/ 365 h 457"/>
              <a:gd name="T50" fmla="*/ 146 w 567"/>
              <a:gd name="T51" fmla="*/ 365 h 457"/>
              <a:gd name="T52" fmla="*/ 146 w 567"/>
              <a:gd name="T53" fmla="*/ 402 h 457"/>
              <a:gd name="T54" fmla="*/ 130 w 567"/>
              <a:gd name="T55" fmla="*/ 441 h 457"/>
              <a:gd name="T56" fmla="*/ 91 w 567"/>
              <a:gd name="T57" fmla="*/ 457 h 457"/>
              <a:gd name="T58" fmla="*/ 53 w 567"/>
              <a:gd name="T59" fmla="*/ 441 h 457"/>
              <a:gd name="T60" fmla="*/ 37 w 567"/>
              <a:gd name="T61" fmla="*/ 402 h 457"/>
              <a:gd name="T62" fmla="*/ 37 w 567"/>
              <a:gd name="T63" fmla="*/ 365 h 457"/>
              <a:gd name="T64" fmla="*/ 9 w 567"/>
              <a:gd name="T65" fmla="*/ 365 h 457"/>
              <a:gd name="T66" fmla="*/ 3 w 567"/>
              <a:gd name="T67" fmla="*/ 363 h 457"/>
              <a:gd name="T68" fmla="*/ 0 w 567"/>
              <a:gd name="T69" fmla="*/ 356 h 457"/>
              <a:gd name="T70" fmla="*/ 46 w 567"/>
              <a:gd name="T71" fmla="*/ 274 h 457"/>
              <a:gd name="T72" fmla="*/ 59 w 567"/>
              <a:gd name="T73" fmla="*/ 306 h 457"/>
              <a:gd name="T74" fmla="*/ 91 w 567"/>
              <a:gd name="T75" fmla="*/ 320 h 457"/>
              <a:gd name="T76" fmla="*/ 124 w 567"/>
              <a:gd name="T77" fmla="*/ 306 h 457"/>
              <a:gd name="T78" fmla="*/ 137 w 567"/>
              <a:gd name="T79" fmla="*/ 274 h 457"/>
              <a:gd name="T80" fmla="*/ 124 w 567"/>
              <a:gd name="T81" fmla="*/ 242 h 457"/>
              <a:gd name="T82" fmla="*/ 91 w 567"/>
              <a:gd name="T83" fmla="*/ 228 h 457"/>
              <a:gd name="T84" fmla="*/ 59 w 567"/>
              <a:gd name="T85" fmla="*/ 242 h 457"/>
              <a:gd name="T86" fmla="*/ 46 w 567"/>
              <a:gd name="T87" fmla="*/ 274 h 457"/>
              <a:gd name="T88" fmla="*/ 147 w 567"/>
              <a:gd name="T89" fmla="*/ 182 h 457"/>
              <a:gd name="T90" fmla="*/ 419 w 567"/>
              <a:gd name="T91" fmla="*/ 182 h 457"/>
              <a:gd name="T92" fmla="*/ 394 w 567"/>
              <a:gd name="T93" fmla="*/ 80 h 457"/>
              <a:gd name="T94" fmla="*/ 390 w 567"/>
              <a:gd name="T95" fmla="*/ 75 h 457"/>
              <a:gd name="T96" fmla="*/ 384 w 567"/>
              <a:gd name="T97" fmla="*/ 73 h 457"/>
              <a:gd name="T98" fmla="*/ 183 w 567"/>
              <a:gd name="T99" fmla="*/ 73 h 457"/>
              <a:gd name="T100" fmla="*/ 177 w 567"/>
              <a:gd name="T101" fmla="*/ 75 h 457"/>
              <a:gd name="T102" fmla="*/ 173 w 567"/>
              <a:gd name="T103" fmla="*/ 80 h 457"/>
              <a:gd name="T104" fmla="*/ 147 w 567"/>
              <a:gd name="T105" fmla="*/ 182 h 457"/>
              <a:gd name="T106" fmla="*/ 421 w 567"/>
              <a:gd name="T107" fmla="*/ 274 h 457"/>
              <a:gd name="T108" fmla="*/ 434 w 567"/>
              <a:gd name="T109" fmla="*/ 306 h 457"/>
              <a:gd name="T110" fmla="*/ 466 w 567"/>
              <a:gd name="T111" fmla="*/ 320 h 457"/>
              <a:gd name="T112" fmla="*/ 499 w 567"/>
              <a:gd name="T113" fmla="*/ 306 h 457"/>
              <a:gd name="T114" fmla="*/ 512 w 567"/>
              <a:gd name="T115" fmla="*/ 274 h 457"/>
              <a:gd name="T116" fmla="*/ 499 w 567"/>
              <a:gd name="T117" fmla="*/ 242 h 457"/>
              <a:gd name="T118" fmla="*/ 466 w 567"/>
              <a:gd name="T119" fmla="*/ 228 h 457"/>
              <a:gd name="T120" fmla="*/ 434 w 567"/>
              <a:gd name="T121" fmla="*/ 242 h 457"/>
              <a:gd name="T122" fmla="*/ 421 w 567"/>
              <a:gd name="T123" fmla="*/ 27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 h="457">
                <a:moveTo>
                  <a:pt x="0" y="356"/>
                </a:moveTo>
                <a:cubicBezTo>
                  <a:pt x="0" y="246"/>
                  <a:pt x="0" y="246"/>
                  <a:pt x="0" y="246"/>
                </a:cubicBezTo>
                <a:cubicBezTo>
                  <a:pt x="0" y="229"/>
                  <a:pt x="6" y="214"/>
                  <a:pt x="19" y="201"/>
                </a:cubicBezTo>
                <a:cubicBezTo>
                  <a:pt x="31" y="189"/>
                  <a:pt x="46" y="182"/>
                  <a:pt x="64" y="182"/>
                </a:cubicBezTo>
                <a:cubicBezTo>
                  <a:pt x="72" y="182"/>
                  <a:pt x="72" y="182"/>
                  <a:pt x="72" y="182"/>
                </a:cubicBezTo>
                <a:cubicBezTo>
                  <a:pt x="102" y="63"/>
                  <a:pt x="102" y="63"/>
                  <a:pt x="102" y="63"/>
                </a:cubicBezTo>
                <a:cubicBezTo>
                  <a:pt x="106" y="45"/>
                  <a:pt x="116" y="30"/>
                  <a:pt x="132" y="18"/>
                </a:cubicBezTo>
                <a:cubicBezTo>
                  <a:pt x="147" y="6"/>
                  <a:pt x="164" y="0"/>
                  <a:pt x="183" y="0"/>
                </a:cubicBezTo>
                <a:cubicBezTo>
                  <a:pt x="384" y="0"/>
                  <a:pt x="384" y="0"/>
                  <a:pt x="384" y="0"/>
                </a:cubicBezTo>
                <a:cubicBezTo>
                  <a:pt x="403" y="0"/>
                  <a:pt x="420" y="6"/>
                  <a:pt x="435" y="18"/>
                </a:cubicBezTo>
                <a:cubicBezTo>
                  <a:pt x="451" y="30"/>
                  <a:pt x="460" y="45"/>
                  <a:pt x="465" y="63"/>
                </a:cubicBezTo>
                <a:cubicBezTo>
                  <a:pt x="495" y="182"/>
                  <a:pt x="495" y="182"/>
                  <a:pt x="495" y="182"/>
                </a:cubicBezTo>
                <a:cubicBezTo>
                  <a:pt x="503" y="182"/>
                  <a:pt x="503" y="182"/>
                  <a:pt x="503" y="182"/>
                </a:cubicBezTo>
                <a:cubicBezTo>
                  <a:pt x="521" y="182"/>
                  <a:pt x="536" y="189"/>
                  <a:pt x="548" y="201"/>
                </a:cubicBezTo>
                <a:cubicBezTo>
                  <a:pt x="561" y="214"/>
                  <a:pt x="567" y="229"/>
                  <a:pt x="567" y="246"/>
                </a:cubicBezTo>
                <a:cubicBezTo>
                  <a:pt x="567" y="356"/>
                  <a:pt x="567" y="356"/>
                  <a:pt x="567" y="356"/>
                </a:cubicBezTo>
                <a:cubicBezTo>
                  <a:pt x="567" y="359"/>
                  <a:pt x="566" y="361"/>
                  <a:pt x="564" y="363"/>
                </a:cubicBezTo>
                <a:cubicBezTo>
                  <a:pt x="563" y="364"/>
                  <a:pt x="560" y="365"/>
                  <a:pt x="558" y="365"/>
                </a:cubicBezTo>
                <a:cubicBezTo>
                  <a:pt x="521" y="365"/>
                  <a:pt x="521" y="365"/>
                  <a:pt x="521" y="365"/>
                </a:cubicBezTo>
                <a:cubicBezTo>
                  <a:pt x="521" y="402"/>
                  <a:pt x="521" y="402"/>
                  <a:pt x="521" y="402"/>
                </a:cubicBezTo>
                <a:cubicBezTo>
                  <a:pt x="521" y="417"/>
                  <a:pt x="516" y="430"/>
                  <a:pt x="505" y="441"/>
                </a:cubicBezTo>
                <a:cubicBezTo>
                  <a:pt x="494" y="451"/>
                  <a:pt x="482" y="457"/>
                  <a:pt x="466" y="457"/>
                </a:cubicBezTo>
                <a:cubicBezTo>
                  <a:pt x="451" y="457"/>
                  <a:pt x="438" y="451"/>
                  <a:pt x="427" y="441"/>
                </a:cubicBezTo>
                <a:cubicBezTo>
                  <a:pt x="417" y="430"/>
                  <a:pt x="411" y="417"/>
                  <a:pt x="411" y="402"/>
                </a:cubicBezTo>
                <a:cubicBezTo>
                  <a:pt x="411" y="365"/>
                  <a:pt x="411" y="365"/>
                  <a:pt x="411" y="365"/>
                </a:cubicBezTo>
                <a:cubicBezTo>
                  <a:pt x="146" y="365"/>
                  <a:pt x="146" y="365"/>
                  <a:pt x="146" y="365"/>
                </a:cubicBezTo>
                <a:cubicBezTo>
                  <a:pt x="146" y="402"/>
                  <a:pt x="146" y="402"/>
                  <a:pt x="146" y="402"/>
                </a:cubicBezTo>
                <a:cubicBezTo>
                  <a:pt x="146" y="417"/>
                  <a:pt x="141" y="430"/>
                  <a:pt x="130" y="441"/>
                </a:cubicBezTo>
                <a:cubicBezTo>
                  <a:pt x="120" y="451"/>
                  <a:pt x="107" y="457"/>
                  <a:pt x="91" y="457"/>
                </a:cubicBezTo>
                <a:cubicBezTo>
                  <a:pt x="76" y="457"/>
                  <a:pt x="63" y="451"/>
                  <a:pt x="53" y="441"/>
                </a:cubicBezTo>
                <a:cubicBezTo>
                  <a:pt x="42" y="430"/>
                  <a:pt x="37" y="417"/>
                  <a:pt x="37" y="402"/>
                </a:cubicBezTo>
                <a:cubicBezTo>
                  <a:pt x="37" y="365"/>
                  <a:pt x="37" y="365"/>
                  <a:pt x="37" y="365"/>
                </a:cubicBezTo>
                <a:cubicBezTo>
                  <a:pt x="9" y="365"/>
                  <a:pt x="9" y="365"/>
                  <a:pt x="9" y="365"/>
                </a:cubicBezTo>
                <a:cubicBezTo>
                  <a:pt x="6" y="365"/>
                  <a:pt x="4" y="364"/>
                  <a:pt x="3" y="363"/>
                </a:cubicBezTo>
                <a:cubicBezTo>
                  <a:pt x="1" y="361"/>
                  <a:pt x="0" y="359"/>
                  <a:pt x="0" y="356"/>
                </a:cubicBezTo>
                <a:close/>
                <a:moveTo>
                  <a:pt x="46" y="274"/>
                </a:moveTo>
                <a:cubicBezTo>
                  <a:pt x="46" y="286"/>
                  <a:pt x="50" y="297"/>
                  <a:pt x="59" y="306"/>
                </a:cubicBezTo>
                <a:cubicBezTo>
                  <a:pt x="68" y="315"/>
                  <a:pt x="79" y="320"/>
                  <a:pt x="91" y="320"/>
                </a:cubicBezTo>
                <a:cubicBezTo>
                  <a:pt x="104" y="320"/>
                  <a:pt x="115" y="315"/>
                  <a:pt x="124" y="306"/>
                </a:cubicBezTo>
                <a:cubicBezTo>
                  <a:pt x="133" y="297"/>
                  <a:pt x="137" y="286"/>
                  <a:pt x="137" y="274"/>
                </a:cubicBezTo>
                <a:cubicBezTo>
                  <a:pt x="137" y="261"/>
                  <a:pt x="133" y="251"/>
                  <a:pt x="124" y="242"/>
                </a:cubicBezTo>
                <a:cubicBezTo>
                  <a:pt x="115" y="233"/>
                  <a:pt x="104" y="228"/>
                  <a:pt x="91" y="228"/>
                </a:cubicBezTo>
                <a:cubicBezTo>
                  <a:pt x="79" y="228"/>
                  <a:pt x="68" y="233"/>
                  <a:pt x="59" y="242"/>
                </a:cubicBezTo>
                <a:cubicBezTo>
                  <a:pt x="50" y="251"/>
                  <a:pt x="46" y="261"/>
                  <a:pt x="46" y="274"/>
                </a:cubicBezTo>
                <a:close/>
                <a:moveTo>
                  <a:pt x="147" y="182"/>
                </a:moveTo>
                <a:cubicBezTo>
                  <a:pt x="419" y="182"/>
                  <a:pt x="419" y="182"/>
                  <a:pt x="419" y="182"/>
                </a:cubicBezTo>
                <a:cubicBezTo>
                  <a:pt x="394" y="80"/>
                  <a:pt x="394" y="80"/>
                  <a:pt x="394" y="80"/>
                </a:cubicBezTo>
                <a:cubicBezTo>
                  <a:pt x="394" y="79"/>
                  <a:pt x="392" y="77"/>
                  <a:pt x="390" y="75"/>
                </a:cubicBezTo>
                <a:cubicBezTo>
                  <a:pt x="388" y="74"/>
                  <a:pt x="386" y="73"/>
                  <a:pt x="384" y="73"/>
                </a:cubicBezTo>
                <a:cubicBezTo>
                  <a:pt x="183" y="73"/>
                  <a:pt x="183" y="73"/>
                  <a:pt x="183" y="73"/>
                </a:cubicBezTo>
                <a:cubicBezTo>
                  <a:pt x="181" y="73"/>
                  <a:pt x="179" y="74"/>
                  <a:pt x="177" y="75"/>
                </a:cubicBezTo>
                <a:cubicBezTo>
                  <a:pt x="175" y="77"/>
                  <a:pt x="173" y="79"/>
                  <a:pt x="173" y="80"/>
                </a:cubicBezTo>
                <a:lnTo>
                  <a:pt x="147" y="182"/>
                </a:lnTo>
                <a:close/>
                <a:moveTo>
                  <a:pt x="421" y="274"/>
                </a:moveTo>
                <a:cubicBezTo>
                  <a:pt x="421" y="286"/>
                  <a:pt x="425" y="297"/>
                  <a:pt x="434" y="306"/>
                </a:cubicBezTo>
                <a:cubicBezTo>
                  <a:pt x="443" y="315"/>
                  <a:pt x="454" y="320"/>
                  <a:pt x="466" y="320"/>
                </a:cubicBezTo>
                <a:cubicBezTo>
                  <a:pt x="479" y="320"/>
                  <a:pt x="490" y="315"/>
                  <a:pt x="499" y="306"/>
                </a:cubicBezTo>
                <a:cubicBezTo>
                  <a:pt x="508" y="297"/>
                  <a:pt x="512" y="286"/>
                  <a:pt x="512" y="274"/>
                </a:cubicBezTo>
                <a:cubicBezTo>
                  <a:pt x="512" y="261"/>
                  <a:pt x="508" y="251"/>
                  <a:pt x="499" y="242"/>
                </a:cubicBezTo>
                <a:cubicBezTo>
                  <a:pt x="490" y="233"/>
                  <a:pt x="479" y="228"/>
                  <a:pt x="466" y="228"/>
                </a:cubicBezTo>
                <a:cubicBezTo>
                  <a:pt x="454" y="228"/>
                  <a:pt x="443" y="233"/>
                  <a:pt x="434" y="242"/>
                </a:cubicBezTo>
                <a:cubicBezTo>
                  <a:pt x="425" y="251"/>
                  <a:pt x="421" y="261"/>
                  <a:pt x="421" y="274"/>
                </a:cubicBez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accent6"/>
              </a:solidFill>
              <a:effectLst/>
              <a:uLnTx/>
              <a:uFillTx/>
              <a:latin typeface="+mn-lt"/>
              <a:ea typeface="+mn-ea"/>
              <a:cs typeface="+mn-cs"/>
            </a:endParaRPr>
          </a:p>
        </p:txBody>
      </p:sp>
      <p:sp>
        <p:nvSpPr>
          <p:cNvPr id="70" name="Freeform 9">
            <a:extLst>
              <a:ext uri="{FF2B5EF4-FFF2-40B4-BE49-F238E27FC236}">
                <a16:creationId xmlns:a16="http://schemas.microsoft.com/office/drawing/2014/main" id="{52B38B9E-E42D-142E-A5D8-C2D99E04B621}"/>
              </a:ext>
            </a:extLst>
          </p:cNvPr>
          <p:cNvSpPr/>
          <p:nvPr/>
        </p:nvSpPr>
        <p:spPr>
          <a:xfrm>
            <a:off x="1634490" y="3488056"/>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4" name="TextBox 71">
            <a:extLst>
              <a:ext uri="{FF2B5EF4-FFF2-40B4-BE49-F238E27FC236}">
                <a16:creationId xmlns:a16="http://schemas.microsoft.com/office/drawing/2014/main" id="{0666B925-40CE-E209-190B-A1DA0A244A65}"/>
              </a:ext>
            </a:extLst>
          </p:cNvPr>
          <p:cNvSpPr txBox="1"/>
          <p:nvPr/>
        </p:nvSpPr>
        <p:spPr>
          <a:xfrm>
            <a:off x="313182" y="1620774"/>
            <a:ext cx="3868674" cy="1321308"/>
          </a:xfrm>
          <a:prstGeom prst="rect">
            <a:avLst/>
          </a:prstGeom>
          <a:noFill/>
          <a:ln w="9525">
            <a:noFill/>
          </a:ln>
        </p:spPr>
        <p:txBody>
          <a:bodyPr wrap="square">
            <a:noAutofit/>
          </a:bodyPr>
          <a:lstStyle/>
          <a:p>
            <a:pPr algn="just" eaLnBrk="1" hangingPunct="1">
              <a:buNone/>
            </a:pPr>
            <a:endParaRPr lang="en-US" altLang="zh-CN" sz="2160" dirty="0">
              <a:solidFill>
                <a:schemeClr val="accent1"/>
              </a:solidFill>
              <a:latin typeface="Times New Roman" panose="02020603050405020304" charset="0"/>
              <a:cs typeface="Times New Roman" panose="02020603050405020304" charset="0"/>
            </a:endParaRPr>
          </a:p>
          <a:p>
            <a:pPr algn="just">
              <a:lnSpc>
                <a:spcPct val="150000"/>
              </a:lnSpc>
            </a:pPr>
            <a:r>
              <a:rPr lang="en-US" altLang="zh-CN" sz="2160" b="1" dirty="0">
                <a:solidFill>
                  <a:srgbClr val="C00000"/>
                </a:solidFill>
                <a:latin typeface="Times New Roman" panose="02020603050405020304" charset="0"/>
                <a:cs typeface="Times New Roman" panose="02020603050405020304" charset="0"/>
              </a:rPr>
              <a:t>Insight 5:</a:t>
            </a:r>
            <a:r>
              <a:rPr lang="en-US" altLang="zh-CN" sz="2160" b="1" dirty="0">
                <a:solidFill>
                  <a:schemeClr val="accent1"/>
                </a:solidFill>
                <a:latin typeface="Times New Roman" panose="02020603050405020304" charset="0"/>
                <a:cs typeface="Times New Roman" panose="02020603050405020304" charset="0"/>
              </a:rPr>
              <a:t>CML Models Achieve Near-Perfect Accuracy</a:t>
            </a:r>
          </a:p>
        </p:txBody>
      </p:sp>
      <p:sp>
        <p:nvSpPr>
          <p:cNvPr id="8" name="TextBox 71">
            <a:extLst>
              <a:ext uri="{FF2B5EF4-FFF2-40B4-BE49-F238E27FC236}">
                <a16:creationId xmlns:a16="http://schemas.microsoft.com/office/drawing/2014/main" id="{E6D5BA3E-60FE-BEAA-0388-02E5E94FA89F}"/>
              </a:ext>
            </a:extLst>
          </p:cNvPr>
          <p:cNvSpPr txBox="1"/>
          <p:nvPr/>
        </p:nvSpPr>
        <p:spPr>
          <a:xfrm>
            <a:off x="8004810" y="1383030"/>
            <a:ext cx="3874008" cy="2343912"/>
          </a:xfrm>
          <a:prstGeom prst="rect">
            <a:avLst/>
          </a:prstGeom>
          <a:noFill/>
          <a:ln w="9525">
            <a:noFill/>
          </a:ln>
        </p:spPr>
        <p:txBody>
          <a:bodyPr wrap="square">
            <a:noAutofit/>
          </a:bodyPr>
          <a:lstStyle/>
          <a:p>
            <a:pPr algn="just" eaLnBrk="1" hangingPunct="1">
              <a:lnSpc>
                <a:spcPct val="150000"/>
              </a:lnSpc>
              <a:buNone/>
            </a:pPr>
            <a:endParaRPr lang="en-US" altLang="zh-CN" sz="2160" dirty="0">
              <a:solidFill>
                <a:schemeClr val="accent1"/>
              </a:solidFill>
              <a:latin typeface="Times New Roman" panose="02020603050405020304" pitchFamily="18" charset="0"/>
              <a:cs typeface="Times New Roman" panose="02020603050405020304" pitchFamily="18" charset="0"/>
            </a:endParaRPr>
          </a:p>
          <a:p>
            <a:pPr algn="just">
              <a:lnSpc>
                <a:spcPct val="150000"/>
              </a:lnSpc>
            </a:pPr>
            <a:r>
              <a:rPr lang="en-US" altLang="zh-CN" sz="2160" b="1" dirty="0">
                <a:solidFill>
                  <a:srgbClr val="C00000"/>
                </a:solidFill>
                <a:latin typeface="Times New Roman" panose="02020603050405020304" pitchFamily="18" charset="0"/>
                <a:cs typeface="Times New Roman" panose="02020603050405020304" pitchFamily="18" charset="0"/>
              </a:rPr>
              <a:t>Insight 6: </a:t>
            </a:r>
            <a:r>
              <a:rPr lang="en-US" altLang="zh-CN" sz="2160" b="1" dirty="0">
                <a:solidFill>
                  <a:schemeClr val="accent1"/>
                </a:solidFill>
                <a:latin typeface="Times New Roman" panose="02020603050405020304" pitchFamily="18" charset="0"/>
                <a:cs typeface="Times New Roman" panose="02020603050405020304" pitchFamily="18" charset="0"/>
              </a:rPr>
              <a:t>Visual Separation in Feature Space Explains Model Success</a:t>
            </a:r>
            <a:endParaRPr lang="zh-CN" altLang="zh-CN" sz="2160" b="1" dirty="0">
              <a:solidFill>
                <a:schemeClr val="accent1"/>
              </a:solidFill>
              <a:latin typeface="Times New Roman" panose="02020603050405020304" pitchFamily="18" charset="0"/>
              <a:cs typeface="Times New Roman" panose="02020603050405020304" pitchFamily="18" charset="0"/>
            </a:endParaRPr>
          </a:p>
          <a:p>
            <a:pPr algn="just">
              <a:lnSpc>
                <a:spcPct val="150000"/>
              </a:lnSpc>
            </a:pPr>
            <a:endParaRPr lang="en-US" altLang="zh-CN" sz="2160" b="1" dirty="0">
              <a:solidFill>
                <a:schemeClr val="accent1"/>
              </a:solidFill>
              <a:latin typeface="Times New Roman" panose="02020603050405020304" pitchFamily="18" charset="0"/>
              <a:cs typeface="Times New Roman" panose="02020603050405020304" pitchFamily="18" charset="0"/>
            </a:endParaRPr>
          </a:p>
        </p:txBody>
      </p:sp>
      <p:sp>
        <p:nvSpPr>
          <p:cNvPr id="9" name="TextBox 71">
            <a:extLst>
              <a:ext uri="{FF2B5EF4-FFF2-40B4-BE49-F238E27FC236}">
                <a16:creationId xmlns:a16="http://schemas.microsoft.com/office/drawing/2014/main" id="{683CA617-7933-DA02-7A26-94BBDD849B0E}"/>
              </a:ext>
            </a:extLst>
          </p:cNvPr>
          <p:cNvSpPr txBox="1"/>
          <p:nvPr/>
        </p:nvSpPr>
        <p:spPr>
          <a:xfrm>
            <a:off x="442305" y="3775711"/>
            <a:ext cx="3868674" cy="1981962"/>
          </a:xfrm>
          <a:prstGeom prst="rect">
            <a:avLst/>
          </a:prstGeom>
          <a:noFill/>
          <a:ln w="9525">
            <a:noFill/>
          </a:ln>
        </p:spPr>
        <p:txBody>
          <a:bodyPr wrap="square">
            <a:noAutofit/>
          </a:bodyPr>
          <a:lstStyle/>
          <a:p>
            <a:pPr algn="just" eaLnBrk="1" hangingPunct="1">
              <a:lnSpc>
                <a:spcPct val="150000"/>
              </a:lnSpc>
              <a:buNone/>
            </a:pPr>
            <a:endParaRPr lang="en-US" altLang="zh-CN" sz="2160" dirty="0">
              <a:solidFill>
                <a:schemeClr val="accent1"/>
              </a:solidFill>
              <a:latin typeface="Times New Roman" panose="02020603050405020304" pitchFamily="18" charset="0"/>
              <a:cs typeface="Times New Roman" panose="02020603050405020304" pitchFamily="18" charset="0"/>
            </a:endParaRPr>
          </a:p>
          <a:p>
            <a:pPr algn="just">
              <a:lnSpc>
                <a:spcPct val="150000"/>
              </a:lnSpc>
            </a:pPr>
            <a:r>
              <a:rPr lang="en-US" altLang="zh-CN" sz="2160" b="1" dirty="0">
                <a:solidFill>
                  <a:srgbClr val="C00000"/>
                </a:solidFill>
                <a:latin typeface="Times New Roman" panose="02020603050405020304" pitchFamily="18" charset="0"/>
                <a:cs typeface="Times New Roman" panose="02020603050405020304" pitchFamily="18" charset="0"/>
              </a:rPr>
              <a:t>Insight 7: </a:t>
            </a:r>
            <a:r>
              <a:rPr lang="en-US" altLang="zh-CN" sz="2160" b="1" dirty="0">
                <a:solidFill>
                  <a:schemeClr val="accent1"/>
                </a:solidFill>
                <a:latin typeface="Times New Roman" panose="02020603050405020304" pitchFamily="18" charset="0"/>
                <a:cs typeface="Times New Roman" panose="02020603050405020304" pitchFamily="18" charset="0"/>
              </a:rPr>
              <a:t>Full Training and Optimization Gives CML a Structural Advantage</a:t>
            </a:r>
          </a:p>
        </p:txBody>
      </p:sp>
    </p:spTree>
    <p:extLst>
      <p:ext uri="{BB962C8B-B14F-4D97-AF65-F5344CB8AC3E}">
        <p14:creationId xmlns:p14="http://schemas.microsoft.com/office/powerpoint/2010/main" val="264110172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1000" fill="hold"/>
                                        <p:tgtEl>
                                          <p:spTgt spid="67"/>
                                        </p:tgtEl>
                                        <p:attrNameLst>
                                          <p:attrName>ppt_w</p:attrName>
                                        </p:attrNameLst>
                                      </p:cBhvr>
                                      <p:tavLst>
                                        <p:tav tm="0">
                                          <p:val>
                                            <p:fltVal val="0"/>
                                          </p:val>
                                        </p:tav>
                                        <p:tav tm="100000">
                                          <p:val>
                                            <p:strVal val="#ppt_w"/>
                                          </p:val>
                                        </p:tav>
                                      </p:tavLst>
                                    </p:anim>
                                    <p:anim calcmode="lin" valueType="num">
                                      <p:cBhvr>
                                        <p:cTn id="8" dur="1000" fill="hold"/>
                                        <p:tgtEl>
                                          <p:spTgt spid="67"/>
                                        </p:tgtEl>
                                        <p:attrNameLst>
                                          <p:attrName>ppt_h</p:attrName>
                                        </p:attrNameLst>
                                      </p:cBhvr>
                                      <p:tavLst>
                                        <p:tav tm="0">
                                          <p:val>
                                            <p:fltVal val="0"/>
                                          </p:val>
                                        </p:tav>
                                        <p:tav tm="100000">
                                          <p:val>
                                            <p:strVal val="#ppt_h"/>
                                          </p:val>
                                        </p:tav>
                                      </p:tavLst>
                                    </p:anim>
                                    <p:anim calcmode="lin" valueType="num">
                                      <p:cBhvr>
                                        <p:cTn id="9" dur="1000" fill="hold"/>
                                        <p:tgtEl>
                                          <p:spTgt spid="67"/>
                                        </p:tgtEl>
                                        <p:attrNameLst>
                                          <p:attrName>style.rotation</p:attrName>
                                        </p:attrNameLst>
                                      </p:cBhvr>
                                      <p:tavLst>
                                        <p:tav tm="0">
                                          <p:val>
                                            <p:fltVal val="90"/>
                                          </p:val>
                                        </p:tav>
                                        <p:tav tm="100000">
                                          <p:val>
                                            <p:fltVal val="0"/>
                                          </p:val>
                                        </p:tav>
                                      </p:tavLst>
                                    </p:anim>
                                    <p:animEffect transition="in" filter="fade">
                                      <p:cBhvr>
                                        <p:cTn id="10" dur="1000"/>
                                        <p:tgtEl>
                                          <p:spTgt spid="67"/>
                                        </p:tgtEl>
                                      </p:cBhvr>
                                    </p:animEffect>
                                  </p:childTnLst>
                                </p:cTn>
                              </p:par>
                              <p:par>
                                <p:cTn id="11" presetID="31"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 calcmode="lin" valueType="num">
                                      <p:cBhvr>
                                        <p:cTn id="13" dur="1000" fill="hold"/>
                                        <p:tgtEl>
                                          <p:spTgt spid="57"/>
                                        </p:tgtEl>
                                        <p:attrNameLst>
                                          <p:attrName>ppt_w</p:attrName>
                                        </p:attrNameLst>
                                      </p:cBhvr>
                                      <p:tavLst>
                                        <p:tav tm="0">
                                          <p:val>
                                            <p:fltVal val="0"/>
                                          </p:val>
                                        </p:tav>
                                        <p:tav tm="100000">
                                          <p:val>
                                            <p:strVal val="#ppt_w"/>
                                          </p:val>
                                        </p:tav>
                                      </p:tavLst>
                                    </p:anim>
                                    <p:anim calcmode="lin" valueType="num">
                                      <p:cBhvr>
                                        <p:cTn id="14" dur="1000" fill="hold"/>
                                        <p:tgtEl>
                                          <p:spTgt spid="57"/>
                                        </p:tgtEl>
                                        <p:attrNameLst>
                                          <p:attrName>ppt_h</p:attrName>
                                        </p:attrNameLst>
                                      </p:cBhvr>
                                      <p:tavLst>
                                        <p:tav tm="0">
                                          <p:val>
                                            <p:fltVal val="0"/>
                                          </p:val>
                                        </p:tav>
                                        <p:tav tm="100000">
                                          <p:val>
                                            <p:strVal val="#ppt_h"/>
                                          </p:val>
                                        </p:tav>
                                      </p:tavLst>
                                    </p:anim>
                                    <p:anim calcmode="lin" valueType="num">
                                      <p:cBhvr>
                                        <p:cTn id="15" dur="1000" fill="hold"/>
                                        <p:tgtEl>
                                          <p:spTgt spid="57"/>
                                        </p:tgtEl>
                                        <p:attrNameLst>
                                          <p:attrName>style.rotation</p:attrName>
                                        </p:attrNameLst>
                                      </p:cBhvr>
                                      <p:tavLst>
                                        <p:tav tm="0">
                                          <p:val>
                                            <p:fltVal val="90"/>
                                          </p:val>
                                        </p:tav>
                                        <p:tav tm="100000">
                                          <p:val>
                                            <p:fltVal val="0"/>
                                          </p:val>
                                        </p:tav>
                                      </p:tavLst>
                                    </p:anim>
                                    <p:animEffect transition="in" filter="fade">
                                      <p:cBhvr>
                                        <p:cTn id="16" dur="1000"/>
                                        <p:tgtEl>
                                          <p:spTgt spid="57"/>
                                        </p:tgtEl>
                                      </p:cBhvr>
                                    </p:animEffect>
                                  </p:childTnLst>
                                </p:cTn>
                              </p:par>
                              <p:par>
                                <p:cTn id="17" presetID="3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anim calcmode="lin" valueType="num">
                                      <p:cBhvr>
                                        <p:cTn id="19" dur="1000" fill="hold"/>
                                        <p:tgtEl>
                                          <p:spTgt spid="59"/>
                                        </p:tgtEl>
                                        <p:attrNameLst>
                                          <p:attrName>ppt_w</p:attrName>
                                        </p:attrNameLst>
                                      </p:cBhvr>
                                      <p:tavLst>
                                        <p:tav tm="0">
                                          <p:val>
                                            <p:fltVal val="0"/>
                                          </p:val>
                                        </p:tav>
                                        <p:tav tm="100000">
                                          <p:val>
                                            <p:strVal val="#ppt_w"/>
                                          </p:val>
                                        </p:tav>
                                      </p:tavLst>
                                    </p:anim>
                                    <p:anim calcmode="lin" valueType="num">
                                      <p:cBhvr>
                                        <p:cTn id="20" dur="1000" fill="hold"/>
                                        <p:tgtEl>
                                          <p:spTgt spid="59"/>
                                        </p:tgtEl>
                                        <p:attrNameLst>
                                          <p:attrName>ppt_h</p:attrName>
                                        </p:attrNameLst>
                                      </p:cBhvr>
                                      <p:tavLst>
                                        <p:tav tm="0">
                                          <p:val>
                                            <p:fltVal val="0"/>
                                          </p:val>
                                        </p:tav>
                                        <p:tav tm="100000">
                                          <p:val>
                                            <p:strVal val="#ppt_h"/>
                                          </p:val>
                                        </p:tav>
                                      </p:tavLst>
                                    </p:anim>
                                    <p:anim calcmode="lin" valueType="num">
                                      <p:cBhvr>
                                        <p:cTn id="21" dur="1000" fill="hold"/>
                                        <p:tgtEl>
                                          <p:spTgt spid="59"/>
                                        </p:tgtEl>
                                        <p:attrNameLst>
                                          <p:attrName>style.rotation</p:attrName>
                                        </p:attrNameLst>
                                      </p:cBhvr>
                                      <p:tavLst>
                                        <p:tav tm="0">
                                          <p:val>
                                            <p:fltVal val="90"/>
                                          </p:val>
                                        </p:tav>
                                        <p:tav tm="100000">
                                          <p:val>
                                            <p:fltVal val="0"/>
                                          </p:val>
                                        </p:tav>
                                      </p:tavLst>
                                    </p:anim>
                                    <p:animEffect transition="in" filter="fade">
                                      <p:cBhvr>
                                        <p:cTn id="22" dur="1000"/>
                                        <p:tgtEl>
                                          <p:spTgt spid="59"/>
                                        </p:tgtEl>
                                      </p:cBhvr>
                                    </p:animEffect>
                                  </p:childTnLst>
                                </p:cTn>
                              </p:par>
                              <p:par>
                                <p:cTn id="23" presetID="31" presetClass="entr" presetSubtype="0"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1000" fill="hold"/>
                                        <p:tgtEl>
                                          <p:spTgt spid="58"/>
                                        </p:tgtEl>
                                        <p:attrNameLst>
                                          <p:attrName>ppt_w</p:attrName>
                                        </p:attrNameLst>
                                      </p:cBhvr>
                                      <p:tavLst>
                                        <p:tav tm="0">
                                          <p:val>
                                            <p:fltVal val="0"/>
                                          </p:val>
                                        </p:tav>
                                        <p:tav tm="100000">
                                          <p:val>
                                            <p:strVal val="#ppt_w"/>
                                          </p:val>
                                        </p:tav>
                                      </p:tavLst>
                                    </p:anim>
                                    <p:anim calcmode="lin" valueType="num">
                                      <p:cBhvr>
                                        <p:cTn id="26" dur="1000" fill="hold"/>
                                        <p:tgtEl>
                                          <p:spTgt spid="58"/>
                                        </p:tgtEl>
                                        <p:attrNameLst>
                                          <p:attrName>ppt_h</p:attrName>
                                        </p:attrNameLst>
                                      </p:cBhvr>
                                      <p:tavLst>
                                        <p:tav tm="0">
                                          <p:val>
                                            <p:fltVal val="0"/>
                                          </p:val>
                                        </p:tav>
                                        <p:tav tm="100000">
                                          <p:val>
                                            <p:strVal val="#ppt_h"/>
                                          </p:val>
                                        </p:tav>
                                      </p:tavLst>
                                    </p:anim>
                                    <p:anim calcmode="lin" valueType="num">
                                      <p:cBhvr>
                                        <p:cTn id="27" dur="1000" fill="hold"/>
                                        <p:tgtEl>
                                          <p:spTgt spid="58"/>
                                        </p:tgtEl>
                                        <p:attrNameLst>
                                          <p:attrName>style.rotation</p:attrName>
                                        </p:attrNameLst>
                                      </p:cBhvr>
                                      <p:tavLst>
                                        <p:tav tm="0">
                                          <p:val>
                                            <p:fltVal val="90"/>
                                          </p:val>
                                        </p:tav>
                                        <p:tav tm="100000">
                                          <p:val>
                                            <p:fltVal val="0"/>
                                          </p:val>
                                        </p:tav>
                                      </p:tavLst>
                                    </p:anim>
                                    <p:animEffect transition="in" filter="fade">
                                      <p:cBhvr>
                                        <p:cTn id="28" dur="1000"/>
                                        <p:tgtEl>
                                          <p:spTgt spid="58"/>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down)">
                                      <p:cBhvr>
                                        <p:cTn id="32" dur="500"/>
                                        <p:tgtEl>
                                          <p:spTgt spid="66"/>
                                        </p:tgtEl>
                                      </p:cBhvr>
                                    </p:animEffect>
                                  </p:childTnLst>
                                </p:cTn>
                              </p:par>
                            </p:childTnLst>
                          </p:cTn>
                        </p:par>
                        <p:par>
                          <p:cTn id="33" fill="hold">
                            <p:stCondLst>
                              <p:cond delay="1500"/>
                            </p:stCondLst>
                            <p:childTnLst>
                              <p:par>
                                <p:cTn id="34" presetID="22" presetClass="entr" presetSubtype="4" fill="hold" nodeType="after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wipe(down)">
                                      <p:cBhvr>
                                        <p:cTn id="36" dur="500"/>
                                        <p:tgtEl>
                                          <p:spTgt spid="68"/>
                                        </p:tgtEl>
                                      </p:cBhvr>
                                    </p:animEffect>
                                  </p:childTnLst>
                                </p:cTn>
                              </p:par>
                              <p:par>
                                <p:cTn id="37" presetID="22" presetClass="entr" presetSubtype="4"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wipe(down)">
                                      <p:cBhvr>
                                        <p:cTn id="39" dur="500"/>
                                        <p:tgtEl>
                                          <p:spTgt spid="70"/>
                                        </p:tgtEl>
                                      </p:cBhvr>
                                    </p:animEffect>
                                  </p:childTnLst>
                                </p:cTn>
                              </p:par>
                            </p:childTnLst>
                          </p:cTn>
                        </p:par>
                        <p:par>
                          <p:cTn id="40" fill="hold">
                            <p:stCondLst>
                              <p:cond delay="2000"/>
                            </p:stCondLst>
                            <p:childTnLst>
                              <p:par>
                                <p:cTn id="41" presetID="2" presetClass="entr" presetSubtype="4" fill="hold" grpId="0" nodeType="after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par>
                          <p:cTn id="45" fill="hold">
                            <p:stCondLst>
                              <p:cond delay="2500"/>
                            </p:stCondLst>
                            <p:childTnLst>
                              <p:par>
                                <p:cTn id="46" presetID="2" presetClass="entr" presetSubtype="4"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500" fill="hold"/>
                                        <p:tgtEl>
                                          <p:spTgt spid="8"/>
                                        </p:tgtEl>
                                        <p:attrNameLst>
                                          <p:attrName>ppt_x</p:attrName>
                                        </p:attrNameLst>
                                      </p:cBhvr>
                                      <p:tavLst>
                                        <p:tav tm="0">
                                          <p:val>
                                            <p:strVal val="#ppt_x"/>
                                          </p:val>
                                        </p:tav>
                                        <p:tav tm="100000">
                                          <p:val>
                                            <p:strVal val="#ppt_x"/>
                                          </p:val>
                                        </p:tav>
                                      </p:tavLst>
                                    </p:anim>
                                    <p:anim calcmode="lin" valueType="num">
                                      <p:cBhvr additive="base">
                                        <p:cTn id="49" dur="500" fill="hold"/>
                                        <p:tgtEl>
                                          <p:spTgt spid="8"/>
                                        </p:tgtEl>
                                        <p:attrNameLst>
                                          <p:attrName>ppt_y</p:attrName>
                                        </p:attrNameLst>
                                      </p:cBhvr>
                                      <p:tavLst>
                                        <p:tav tm="0">
                                          <p:val>
                                            <p:strVal val="1+#ppt_h/2"/>
                                          </p:val>
                                        </p:tav>
                                        <p:tav tm="100000">
                                          <p:val>
                                            <p:strVal val="#ppt_y"/>
                                          </p:val>
                                        </p:tav>
                                      </p:tavLst>
                                    </p:anim>
                                  </p:childTnLst>
                                </p:cTn>
                              </p:par>
                            </p:childTnLst>
                          </p:cTn>
                        </p:par>
                        <p:par>
                          <p:cTn id="50" fill="hold">
                            <p:stCondLst>
                              <p:cond delay="3000"/>
                            </p:stCondLst>
                            <p:childTnLst>
                              <p:par>
                                <p:cTn id="51" presetID="2" presetClass="entr" presetSubtype="4" fill="hold" grpId="0" nodeType="after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0707F-D425-EA4B-09CA-DAD98D5B9886}"/>
            </a:ext>
          </a:extLst>
        </p:cNvPr>
        <p:cNvGrpSpPr/>
        <p:nvPr/>
      </p:nvGrpSpPr>
      <p:grpSpPr>
        <a:xfrm>
          <a:off x="0" y="0"/>
          <a:ext cx="0" cy="0"/>
          <a:chOff x="0" y="0"/>
          <a:chExt cx="0" cy="0"/>
        </a:xfrm>
      </p:grpSpPr>
      <p:sp>
        <p:nvSpPr>
          <p:cNvPr id="25606" name="Title 2">
            <a:extLst>
              <a:ext uri="{FF2B5EF4-FFF2-40B4-BE49-F238E27FC236}">
                <a16:creationId xmlns:a16="http://schemas.microsoft.com/office/drawing/2014/main" id="{F23F0C31-00C9-7F33-581E-ACF8A2D0139F}"/>
              </a:ext>
            </a:extLst>
          </p:cNvPr>
          <p:cNvSpPr>
            <a:spLocks noGrp="1"/>
          </p:cNvSpPr>
          <p:nvPr>
            <p:ph type="title"/>
          </p:nvPr>
        </p:nvSpPr>
        <p:spPr>
          <a:xfrm>
            <a:off x="838200" y="365760"/>
            <a:ext cx="10515600" cy="512446"/>
          </a:xfrm>
          <a:noFill/>
          <a:ln>
            <a:noFill/>
          </a:ln>
        </p:spPr>
        <p:txBody>
          <a:bodyPr lIns="109728" tIns="54864" rIns="109728" bIns="54864" anchor="ctr" anchorCtr="0">
            <a:normAutofit/>
          </a:bodyPr>
          <a:lstStyle/>
          <a:p>
            <a:pPr defTabSz="762000">
              <a:buNone/>
            </a:pPr>
            <a:r>
              <a:rPr lang="en-US" altLang="zh-CN" kern="1200" dirty="0">
                <a:latin typeface="Times New Roman" panose="02020603050405020304" pitchFamily="18" charset="0"/>
                <a:ea typeface="+mj-ea"/>
                <a:cs typeface="Times New Roman" panose="02020603050405020304" pitchFamily="18" charset="0"/>
              </a:rPr>
              <a:t>Insight 5: </a:t>
            </a:r>
            <a:r>
              <a:rPr lang="en-US" altLang="zh-CN" dirty="0">
                <a:latin typeface="Times New Roman" panose="02020603050405020304" pitchFamily="18" charset="0"/>
                <a:ea typeface="+mj-ea"/>
                <a:cs typeface="Times New Roman" panose="02020603050405020304" pitchFamily="18" charset="0"/>
              </a:rPr>
              <a:t>CML Models Achieve Near-Perfect Accuracy</a:t>
            </a:r>
          </a:p>
        </p:txBody>
      </p:sp>
      <p:sp>
        <p:nvSpPr>
          <p:cNvPr id="25607" name="Slide Number Placeholder 5">
            <a:extLst>
              <a:ext uri="{FF2B5EF4-FFF2-40B4-BE49-F238E27FC236}">
                <a16:creationId xmlns:a16="http://schemas.microsoft.com/office/drawing/2014/main" id="{8C664A74-632E-19D3-B8AC-115EA319B4E6}"/>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14</a:t>
            </a:fld>
            <a:endParaRPr lang="en-US" altLang="zh-CN" sz="1200" dirty="0">
              <a:latin typeface="Open Sans" pitchFamily="34" charset="0"/>
              <a:ea typeface="Open Sans" pitchFamily="34" charset="0"/>
              <a:cs typeface="Open Sans" pitchFamily="34" charset="0"/>
            </a:endParaRPr>
          </a:p>
        </p:txBody>
      </p:sp>
      <p:sp>
        <p:nvSpPr>
          <p:cNvPr id="10" name="文本框 9">
            <a:extLst>
              <a:ext uri="{FF2B5EF4-FFF2-40B4-BE49-F238E27FC236}">
                <a16:creationId xmlns:a16="http://schemas.microsoft.com/office/drawing/2014/main" id="{8FA4487E-3A8B-2881-A225-6F06151304B7}"/>
              </a:ext>
            </a:extLst>
          </p:cNvPr>
          <p:cNvSpPr txBox="1"/>
          <p:nvPr/>
        </p:nvSpPr>
        <p:spPr>
          <a:xfrm>
            <a:off x="780669" y="2414398"/>
            <a:ext cx="5315331" cy="1554098"/>
          </a:xfrm>
          <a:prstGeom prst="rect">
            <a:avLst/>
          </a:prstGeom>
          <a:noFill/>
        </p:spPr>
        <p:txBody>
          <a:bodyPr wrap="square" rtlCol="0">
            <a:noAutofit/>
          </a:bodyPr>
          <a:lstStyle/>
          <a:p>
            <a:pPr>
              <a:lnSpc>
                <a:spcPct val="150000"/>
              </a:lnSpc>
            </a:pPr>
            <a:r>
              <a:rPr lang="zh-CN" altLang="en-US" sz="1920" b="1" dirty="0">
                <a:solidFill>
                  <a:srgbClr val="C00000"/>
                </a:solidFill>
                <a:latin typeface="Times New Roman" panose="02020603050405020304" pitchFamily="18" charset="0"/>
                <a:cs typeface="Times New Roman" panose="02020603050405020304" pitchFamily="18" charset="0"/>
              </a:rPr>
              <a:t> </a:t>
            </a:r>
            <a:r>
              <a:rPr lang="en-US" altLang="zh-CN" sz="1920" b="1" dirty="0">
                <a:solidFill>
                  <a:srgbClr val="C00000"/>
                </a:solidFill>
                <a:latin typeface="Times New Roman" panose="02020603050405020304" pitchFamily="18" charset="0"/>
                <a:cs typeface="Times New Roman" panose="02020603050405020304" pitchFamily="18" charset="0"/>
              </a:rPr>
              <a:t>AUPR &amp; AUROC Performance                          </a:t>
            </a:r>
          </a:p>
          <a:p>
            <a:pPr marL="342900" lvl="0" indent="-342900">
              <a:buSzPts val="1000"/>
              <a:buFont typeface="Symbol" panose="05050102010706020507" pitchFamily="18" charset="2"/>
              <a:buChar char=""/>
              <a:tabLst>
                <a:tab pos="457200" algn="l"/>
              </a:tabLst>
            </a:pPr>
            <a:r>
              <a:rPr lang="en-US" altLang="zh-CN" sz="1920" dirty="0">
                <a:solidFill>
                  <a:srgbClr val="C00000"/>
                </a:solidFill>
                <a:latin typeface="Times New Roman" panose="02020603050405020304" pitchFamily="18" charset="0"/>
                <a:cs typeface="Times New Roman" panose="02020603050405020304" pitchFamily="18" charset="0"/>
              </a:rPr>
              <a:t>SVM: AUROC ≈ 0.99, AUPR ≈ 0.98</a:t>
            </a:r>
            <a:endParaRPr lang="zh-CN" altLang="zh-CN" sz="1920" dirty="0">
              <a:solidFill>
                <a:srgbClr val="C00000"/>
              </a:solidFill>
              <a:latin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920" dirty="0">
                <a:solidFill>
                  <a:srgbClr val="C00000"/>
                </a:solidFill>
                <a:latin typeface="Times New Roman" panose="02020603050405020304" pitchFamily="18" charset="0"/>
                <a:cs typeface="Times New Roman" panose="02020603050405020304" pitchFamily="18" charset="0"/>
              </a:rPr>
              <a:t>Random Forest: AUROC ≈ 1.00, AUPR ≈ 1.00</a:t>
            </a:r>
            <a:endParaRPr lang="zh-CN" altLang="zh-CN" sz="1920" dirty="0">
              <a:solidFill>
                <a:srgbClr val="C00000"/>
              </a:solidFill>
              <a:latin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920" dirty="0">
                <a:solidFill>
                  <a:srgbClr val="C00000"/>
                </a:solidFill>
                <a:latin typeface="Times New Roman" panose="02020603050405020304" pitchFamily="18" charset="0"/>
                <a:cs typeface="Times New Roman" panose="02020603050405020304" pitchFamily="18" charset="0"/>
              </a:rPr>
              <a:t>MLP: AUROC ≈ 0.98, AUPR ≈ 0.97</a:t>
            </a:r>
            <a:endParaRPr lang="zh-CN" altLang="zh-CN" sz="1920" dirty="0">
              <a:solidFill>
                <a:srgbClr val="C00000"/>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86420D79-F6C3-4AC6-CF29-B8F9D419D3FE}"/>
              </a:ext>
            </a:extLst>
          </p:cNvPr>
          <p:cNvPicPr>
            <a:picLocks noChangeAspect="1"/>
          </p:cNvPicPr>
          <p:nvPr/>
        </p:nvPicPr>
        <p:blipFill>
          <a:blip r:embed="rId3"/>
          <a:stretch>
            <a:fillRect/>
          </a:stretch>
        </p:blipFill>
        <p:spPr>
          <a:xfrm>
            <a:off x="6573289" y="1032890"/>
            <a:ext cx="4618967" cy="5239894"/>
          </a:xfrm>
          <a:prstGeom prst="rect">
            <a:avLst/>
          </a:prstGeom>
        </p:spPr>
      </p:pic>
    </p:spTree>
    <p:extLst>
      <p:ext uri="{BB962C8B-B14F-4D97-AF65-F5344CB8AC3E}">
        <p14:creationId xmlns:p14="http://schemas.microsoft.com/office/powerpoint/2010/main" val="3959911126"/>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CDAC-F851-15FA-987C-103CA390E065}"/>
            </a:ext>
          </a:extLst>
        </p:cNvPr>
        <p:cNvGrpSpPr/>
        <p:nvPr/>
      </p:nvGrpSpPr>
      <p:grpSpPr>
        <a:xfrm>
          <a:off x="0" y="0"/>
          <a:ext cx="0" cy="0"/>
          <a:chOff x="0" y="0"/>
          <a:chExt cx="0" cy="0"/>
        </a:xfrm>
      </p:grpSpPr>
      <p:sp>
        <p:nvSpPr>
          <p:cNvPr id="25606" name="Title 2">
            <a:extLst>
              <a:ext uri="{FF2B5EF4-FFF2-40B4-BE49-F238E27FC236}">
                <a16:creationId xmlns:a16="http://schemas.microsoft.com/office/drawing/2014/main" id="{0DD99619-0C4C-BA92-C4C3-B8E661EE4CD8}"/>
              </a:ext>
            </a:extLst>
          </p:cNvPr>
          <p:cNvSpPr>
            <a:spLocks noGrp="1"/>
          </p:cNvSpPr>
          <p:nvPr>
            <p:ph type="title"/>
          </p:nvPr>
        </p:nvSpPr>
        <p:spPr>
          <a:xfrm>
            <a:off x="838200" y="365760"/>
            <a:ext cx="10515600" cy="512446"/>
          </a:xfrm>
          <a:noFill/>
          <a:ln>
            <a:noFill/>
          </a:ln>
        </p:spPr>
        <p:txBody>
          <a:bodyPr lIns="109728" tIns="54864" rIns="109728" bIns="54864" anchor="ctr" anchorCtr="0">
            <a:normAutofit/>
          </a:bodyPr>
          <a:lstStyle/>
          <a:p>
            <a:pPr defTabSz="762000">
              <a:buNone/>
            </a:pPr>
            <a:r>
              <a:rPr lang="en-US" altLang="zh-CN" kern="1200" dirty="0">
                <a:latin typeface="Times New Roman" panose="02020603050405020304" pitchFamily="18" charset="0"/>
                <a:ea typeface="+mj-ea"/>
                <a:cs typeface="Times New Roman" panose="02020603050405020304" pitchFamily="18" charset="0"/>
              </a:rPr>
              <a:t>Insight 5: </a:t>
            </a:r>
            <a:r>
              <a:rPr lang="en-US" altLang="zh-CN" dirty="0">
                <a:latin typeface="Times New Roman" panose="02020603050405020304" pitchFamily="18" charset="0"/>
                <a:ea typeface="+mj-ea"/>
                <a:cs typeface="Times New Roman" panose="02020603050405020304" pitchFamily="18" charset="0"/>
              </a:rPr>
              <a:t>CML Models Achieve Near-Perfect Accuracy</a:t>
            </a:r>
          </a:p>
        </p:txBody>
      </p:sp>
      <p:sp>
        <p:nvSpPr>
          <p:cNvPr id="25607" name="Slide Number Placeholder 5">
            <a:extLst>
              <a:ext uri="{FF2B5EF4-FFF2-40B4-BE49-F238E27FC236}">
                <a16:creationId xmlns:a16="http://schemas.microsoft.com/office/drawing/2014/main" id="{ACDEFF11-8456-45E1-24CD-082F9C217218}"/>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15</a:t>
            </a:fld>
            <a:endParaRPr lang="en-US" altLang="zh-CN" sz="1200" dirty="0">
              <a:latin typeface="Open Sans" pitchFamily="34" charset="0"/>
              <a:ea typeface="Open Sans" pitchFamily="34" charset="0"/>
              <a:cs typeface="Open Sans" pitchFamily="34" charset="0"/>
            </a:endParaRPr>
          </a:p>
        </p:txBody>
      </p:sp>
      <p:sp>
        <p:nvSpPr>
          <p:cNvPr id="10" name="文本框 9">
            <a:extLst>
              <a:ext uri="{FF2B5EF4-FFF2-40B4-BE49-F238E27FC236}">
                <a16:creationId xmlns:a16="http://schemas.microsoft.com/office/drawing/2014/main" id="{FE449CF0-98DA-50B6-A7E1-DE9C12AB4A94}"/>
              </a:ext>
            </a:extLst>
          </p:cNvPr>
          <p:cNvSpPr txBox="1"/>
          <p:nvPr/>
        </p:nvSpPr>
        <p:spPr>
          <a:xfrm>
            <a:off x="1755838" y="1328803"/>
            <a:ext cx="8302562" cy="1897550"/>
          </a:xfrm>
          <a:prstGeom prst="rect">
            <a:avLst/>
          </a:prstGeom>
          <a:noFill/>
        </p:spPr>
        <p:txBody>
          <a:bodyPr wrap="square" rtlCol="0">
            <a:noAutofit/>
          </a:bodyPr>
          <a:lstStyle/>
          <a:p>
            <a:pPr>
              <a:lnSpc>
                <a:spcPts val="2300"/>
              </a:lnSpc>
            </a:pPr>
            <a:r>
              <a:rPr lang="zh-CN" altLang="en-US" sz="2000" b="1" dirty="0">
                <a:solidFill>
                  <a:srgbClr val="C00000"/>
                </a:solidFill>
                <a:latin typeface="Times New Roman" panose="02020603050405020304" pitchFamily="18" charset="0"/>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Confusion Matrix Results</a:t>
            </a:r>
          </a:p>
          <a:p>
            <a:pPr>
              <a:lnSpc>
                <a:spcPts val="2300"/>
              </a:lnSpc>
            </a:pPr>
            <a:r>
              <a:rPr lang="en-US" altLang="zh-CN" sz="2000" dirty="0">
                <a:solidFill>
                  <a:srgbClr val="C00000"/>
                </a:solidFill>
                <a:latin typeface="Times New Roman" panose="02020603050405020304" pitchFamily="18" charset="0"/>
                <a:cs typeface="Times New Roman" panose="02020603050405020304" pitchFamily="18" charset="0"/>
              </a:rPr>
              <a:t>Each model's confusion matrix shows a dense diagonal, indicating highly accurate predictions with very few misclassifications:</a:t>
            </a:r>
          </a:p>
          <a:p>
            <a:pPr marL="342900" lvl="0" indent="-342900">
              <a:lnSpc>
                <a:spcPts val="2300"/>
              </a:lnSpc>
              <a:buSzPts val="1000"/>
              <a:buFont typeface="Symbol" panose="05050102010706020507" pitchFamily="18" charset="2"/>
              <a:buChar char=""/>
              <a:tabLst>
                <a:tab pos="457200" algn="l"/>
              </a:tabLst>
            </a:pPr>
            <a:r>
              <a:rPr lang="en-US" altLang="zh-CN" sz="2000" dirty="0">
                <a:solidFill>
                  <a:srgbClr val="C00000"/>
                </a:solidFill>
                <a:latin typeface="Times New Roman" panose="02020603050405020304" pitchFamily="18" charset="0"/>
                <a:cs typeface="Times New Roman" panose="02020603050405020304" pitchFamily="18" charset="0"/>
              </a:rPr>
              <a:t>Random Forest achieved perfect prediction on all three classes.</a:t>
            </a:r>
          </a:p>
          <a:p>
            <a:pPr marL="342900" lvl="0" indent="-342900">
              <a:lnSpc>
                <a:spcPts val="2300"/>
              </a:lnSpc>
              <a:buSzPts val="1000"/>
              <a:buFont typeface="Symbol" panose="05050102010706020507" pitchFamily="18" charset="2"/>
              <a:buChar char=""/>
              <a:tabLst>
                <a:tab pos="457200" algn="l"/>
              </a:tabLst>
            </a:pPr>
            <a:r>
              <a:rPr lang="en-US" altLang="zh-CN" sz="2000" dirty="0">
                <a:solidFill>
                  <a:srgbClr val="C00000"/>
                </a:solidFill>
                <a:latin typeface="Times New Roman" panose="02020603050405020304" pitchFamily="18" charset="0"/>
                <a:cs typeface="Times New Roman" panose="02020603050405020304" pitchFamily="18" charset="0"/>
              </a:rPr>
              <a:t>MLP and SVM had 1–2 off-diagonal entries, still yielding accuracy above 96%.</a:t>
            </a:r>
            <a:endParaRPr lang="zh-CN" altLang="zh-CN" sz="2000" dirty="0">
              <a:solidFill>
                <a:srgbClr val="C00000"/>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4850DF0-1D0B-41C9-C3BD-6C80A0F41D55}"/>
              </a:ext>
            </a:extLst>
          </p:cNvPr>
          <p:cNvPicPr>
            <a:picLocks noChangeAspect="1"/>
          </p:cNvPicPr>
          <p:nvPr/>
        </p:nvPicPr>
        <p:blipFill>
          <a:blip r:embed="rId3"/>
          <a:stretch>
            <a:fillRect/>
          </a:stretch>
        </p:blipFill>
        <p:spPr>
          <a:xfrm>
            <a:off x="1755838" y="3354369"/>
            <a:ext cx="7827074" cy="2769258"/>
          </a:xfrm>
          <a:prstGeom prst="rect">
            <a:avLst/>
          </a:prstGeom>
        </p:spPr>
      </p:pic>
    </p:spTree>
    <p:extLst>
      <p:ext uri="{BB962C8B-B14F-4D97-AF65-F5344CB8AC3E}">
        <p14:creationId xmlns:p14="http://schemas.microsoft.com/office/powerpoint/2010/main" val="3910708457"/>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60BA-E04A-D142-71C6-FDF7A75A3954}"/>
            </a:ext>
          </a:extLst>
        </p:cNvPr>
        <p:cNvGrpSpPr/>
        <p:nvPr/>
      </p:nvGrpSpPr>
      <p:grpSpPr>
        <a:xfrm>
          <a:off x="0" y="0"/>
          <a:ext cx="0" cy="0"/>
          <a:chOff x="0" y="0"/>
          <a:chExt cx="0" cy="0"/>
        </a:xfrm>
      </p:grpSpPr>
      <p:sp>
        <p:nvSpPr>
          <p:cNvPr id="25606" name="Title 2">
            <a:extLst>
              <a:ext uri="{FF2B5EF4-FFF2-40B4-BE49-F238E27FC236}">
                <a16:creationId xmlns:a16="http://schemas.microsoft.com/office/drawing/2014/main" id="{E1937684-CD28-C247-9E11-AACB92AC0549}"/>
              </a:ext>
            </a:extLst>
          </p:cNvPr>
          <p:cNvSpPr>
            <a:spLocks noGrp="1"/>
          </p:cNvSpPr>
          <p:nvPr>
            <p:ph type="title"/>
          </p:nvPr>
        </p:nvSpPr>
        <p:spPr>
          <a:xfrm>
            <a:off x="838200" y="365760"/>
            <a:ext cx="10515600" cy="512446"/>
          </a:xfrm>
          <a:noFill/>
          <a:ln>
            <a:noFill/>
          </a:ln>
        </p:spPr>
        <p:txBody>
          <a:bodyPr lIns="109728" tIns="54864" rIns="109728" bIns="54864" anchor="ctr" anchorCtr="0">
            <a:normAutofit fontScale="90000"/>
          </a:bodyPr>
          <a:lstStyle/>
          <a:p>
            <a:pPr defTabSz="762000"/>
            <a:r>
              <a:rPr lang="en-US" altLang="zh-CN" kern="1200" dirty="0">
                <a:latin typeface="Open Sans Light" pitchFamily="34" charset="0"/>
                <a:ea typeface="+mj-ea"/>
                <a:cs typeface="Open Sans Light" pitchFamily="34" charset="0"/>
              </a:rPr>
              <a:t>Insight </a:t>
            </a:r>
            <a:r>
              <a:rPr lang="en-US" altLang="zh-CN" dirty="0">
                <a:ea typeface="+mj-ea"/>
              </a:rPr>
              <a:t>6</a:t>
            </a:r>
            <a:r>
              <a:rPr lang="en-US" altLang="zh-CN" sz="2900" dirty="0">
                <a:ea typeface="+mj-ea"/>
              </a:rPr>
              <a:t>: Visual Separation in Feature Space Explains Model Success</a:t>
            </a:r>
            <a:br>
              <a:rPr lang="zh-CN" altLang="zh-CN" sz="2900" dirty="0">
                <a:ea typeface="+mj-ea"/>
              </a:rPr>
            </a:br>
            <a:endParaRPr lang="en-US" altLang="zh-CN" sz="2900" dirty="0">
              <a:ea typeface="+mj-ea"/>
            </a:endParaRPr>
          </a:p>
        </p:txBody>
      </p:sp>
      <p:sp>
        <p:nvSpPr>
          <p:cNvPr id="25607" name="Slide Number Placeholder 5">
            <a:extLst>
              <a:ext uri="{FF2B5EF4-FFF2-40B4-BE49-F238E27FC236}">
                <a16:creationId xmlns:a16="http://schemas.microsoft.com/office/drawing/2014/main" id="{16E6B2C1-3FB0-9F00-B90F-D60F35BD3A18}"/>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16</a:t>
            </a:fld>
            <a:endParaRPr lang="en-US" altLang="zh-CN" sz="1200" dirty="0">
              <a:latin typeface="Open Sans" pitchFamily="34" charset="0"/>
              <a:ea typeface="Open Sans" pitchFamily="34" charset="0"/>
              <a:cs typeface="Open Sans" pitchFamily="34" charset="0"/>
            </a:endParaRPr>
          </a:p>
        </p:txBody>
      </p:sp>
      <p:sp>
        <p:nvSpPr>
          <p:cNvPr id="10" name="文本框 9">
            <a:extLst>
              <a:ext uri="{FF2B5EF4-FFF2-40B4-BE49-F238E27FC236}">
                <a16:creationId xmlns:a16="http://schemas.microsoft.com/office/drawing/2014/main" id="{882CAF64-5866-FB44-BA8C-0CEFD0B94843}"/>
              </a:ext>
            </a:extLst>
          </p:cNvPr>
          <p:cNvSpPr txBox="1"/>
          <p:nvPr/>
        </p:nvSpPr>
        <p:spPr>
          <a:xfrm>
            <a:off x="1297019" y="1167512"/>
            <a:ext cx="9597962" cy="2756788"/>
          </a:xfrm>
          <a:prstGeom prst="rect">
            <a:avLst/>
          </a:prstGeom>
          <a:noFill/>
        </p:spPr>
        <p:txBody>
          <a:bodyPr wrap="square" rtlCol="0">
            <a:noAutofit/>
          </a:bodyPr>
          <a:lstStyle/>
          <a:p>
            <a:pPr>
              <a:lnSpc>
                <a:spcPts val="2300"/>
              </a:lnSpc>
            </a:pPr>
            <a:r>
              <a:rPr lang="en-US" altLang="zh-CN" sz="2000" dirty="0">
                <a:solidFill>
                  <a:srgbClr val="C00000"/>
                </a:solidFill>
                <a:latin typeface="Times New Roman" panose="02020603050405020304" pitchFamily="18" charset="0"/>
                <a:cs typeface="Times New Roman" panose="02020603050405020304" pitchFamily="18" charset="0"/>
              </a:rPr>
              <a:t>One reason CML performs so well on the Iris dataset is the clear feature separability in the original input space. When visualizing the petal and sepal measurements, the three Iris classes form distinct clusters, enabling models like SVM or Random Forest to find optimal decision boundaries.</a:t>
            </a:r>
            <a:endParaRPr lang="zh-CN" altLang="zh-CN" sz="2000" dirty="0">
              <a:solidFill>
                <a:srgbClr val="C00000"/>
              </a:solidFill>
              <a:latin typeface="Times New Roman" panose="02020603050405020304" pitchFamily="18" charset="0"/>
              <a:cs typeface="Times New Roman" panose="02020603050405020304" pitchFamily="18" charset="0"/>
            </a:endParaRPr>
          </a:p>
          <a:p>
            <a:pPr>
              <a:lnSpc>
                <a:spcPts val="2300"/>
              </a:lnSpc>
            </a:pPr>
            <a:endParaRPr lang="en-US" altLang="zh-CN" sz="2000" b="1" dirty="0">
              <a:solidFill>
                <a:srgbClr val="C00000"/>
              </a:solidFill>
              <a:latin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2000" dirty="0">
                <a:solidFill>
                  <a:srgbClr val="C00000"/>
                </a:solidFill>
                <a:latin typeface="Times New Roman" panose="02020603050405020304" pitchFamily="18" charset="0"/>
                <a:cs typeface="Times New Roman" panose="02020603050405020304" pitchFamily="18" charset="0"/>
              </a:rPr>
              <a:t>Petal length and width: Near-perfect linear separability</a:t>
            </a:r>
            <a:endParaRPr lang="zh-CN" altLang="zh-CN" sz="2000" dirty="0">
              <a:solidFill>
                <a:srgbClr val="C00000"/>
              </a:solidFill>
              <a:latin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2000" dirty="0">
                <a:solidFill>
                  <a:srgbClr val="C00000"/>
                </a:solidFill>
                <a:latin typeface="Times New Roman" panose="02020603050405020304" pitchFamily="18" charset="0"/>
                <a:cs typeface="Times New Roman" panose="02020603050405020304" pitchFamily="18" charset="0"/>
              </a:rPr>
              <a:t>Sepal length and width: Moderate but informative clustering</a:t>
            </a:r>
            <a:endParaRPr lang="zh-CN" altLang="zh-CN" sz="2000" dirty="0">
              <a:solidFill>
                <a:srgbClr val="C00000"/>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1F566F1-3A80-25FC-CF2F-BDFB68D6677C}"/>
              </a:ext>
            </a:extLst>
          </p:cNvPr>
          <p:cNvSpPr txBox="1"/>
          <p:nvPr/>
        </p:nvSpPr>
        <p:spPr>
          <a:xfrm>
            <a:off x="1189053" y="4090899"/>
            <a:ext cx="9813893" cy="1015663"/>
          </a:xfrm>
          <a:prstGeom prst="rect">
            <a:avLst/>
          </a:prstGeom>
          <a:noFill/>
        </p:spPr>
        <p:txBody>
          <a:bodyPr wrap="square">
            <a:spAutoFit/>
          </a:bodyPr>
          <a:lstStyle/>
          <a:p>
            <a:r>
              <a:rPr lang="en-US" altLang="zh-CN" sz="2000" dirty="0">
                <a:solidFill>
                  <a:srgbClr val="C00000"/>
                </a:solidFill>
                <a:latin typeface="Times New Roman" panose="02020603050405020304" pitchFamily="18" charset="0"/>
                <a:cs typeface="Times New Roman" panose="02020603050405020304" pitchFamily="18" charset="0"/>
              </a:rPr>
              <a:t>This makes the dataset highly “learnable” using traditional methods, especially when the entire dataset is available during training. In contrast, ICL models operate on a small number of examples (5 or 10), limiting their exposure to the full class distributions.</a:t>
            </a:r>
            <a:endParaRPr lang="zh-CN" altLang="en-US" sz="20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205776"/>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E7A30-D939-F8F3-62E6-D9BBF6791392}"/>
            </a:ext>
          </a:extLst>
        </p:cNvPr>
        <p:cNvGrpSpPr/>
        <p:nvPr/>
      </p:nvGrpSpPr>
      <p:grpSpPr>
        <a:xfrm>
          <a:off x="0" y="0"/>
          <a:ext cx="0" cy="0"/>
          <a:chOff x="0" y="0"/>
          <a:chExt cx="0" cy="0"/>
        </a:xfrm>
      </p:grpSpPr>
      <p:sp>
        <p:nvSpPr>
          <p:cNvPr id="25606" name="Title 2">
            <a:extLst>
              <a:ext uri="{FF2B5EF4-FFF2-40B4-BE49-F238E27FC236}">
                <a16:creationId xmlns:a16="http://schemas.microsoft.com/office/drawing/2014/main" id="{D59A222B-5BB5-A1D1-180D-D23D0622E5A3}"/>
              </a:ext>
            </a:extLst>
          </p:cNvPr>
          <p:cNvSpPr>
            <a:spLocks noGrp="1"/>
          </p:cNvSpPr>
          <p:nvPr>
            <p:ph type="title"/>
          </p:nvPr>
        </p:nvSpPr>
        <p:spPr>
          <a:xfrm>
            <a:off x="838200" y="391401"/>
            <a:ext cx="10515600" cy="616077"/>
          </a:xfrm>
          <a:noFill/>
          <a:ln>
            <a:noFill/>
          </a:ln>
        </p:spPr>
        <p:txBody>
          <a:bodyPr lIns="109728" tIns="54864" rIns="109728" bIns="54864" anchor="ctr" anchorCtr="0">
            <a:normAutofit fontScale="90000"/>
          </a:bodyPr>
          <a:lstStyle/>
          <a:p>
            <a:pPr defTabSz="762000"/>
            <a:r>
              <a:rPr lang="en-US" altLang="zh-CN" kern="1200" dirty="0">
                <a:latin typeface="Times New Roman" panose="02020603050405020304" pitchFamily="18" charset="0"/>
                <a:ea typeface="+mj-ea"/>
                <a:cs typeface="Times New Roman" panose="02020603050405020304" pitchFamily="18" charset="0"/>
              </a:rPr>
              <a:t>Insight 7</a:t>
            </a:r>
            <a:r>
              <a:rPr lang="en-US" altLang="zh-CN" sz="2900" dirty="0">
                <a:latin typeface="Times New Roman" panose="02020603050405020304" pitchFamily="18" charset="0"/>
                <a:ea typeface="+mj-ea"/>
                <a:cs typeface="Times New Roman" panose="02020603050405020304" pitchFamily="18" charset="0"/>
              </a:rPr>
              <a:t>: Full Training and Optimization Gives CML a Structural Advantage</a:t>
            </a:r>
            <a:br>
              <a:rPr lang="zh-CN" altLang="zh-CN" sz="2900" dirty="0">
                <a:latin typeface="Times New Roman" panose="02020603050405020304" pitchFamily="18" charset="0"/>
                <a:ea typeface="+mj-ea"/>
                <a:cs typeface="Times New Roman" panose="02020603050405020304" pitchFamily="18" charset="0"/>
              </a:rPr>
            </a:br>
            <a:endParaRPr lang="en-US" altLang="zh-CN" sz="2900" dirty="0">
              <a:latin typeface="Times New Roman" panose="02020603050405020304" pitchFamily="18" charset="0"/>
              <a:ea typeface="+mj-ea"/>
              <a:cs typeface="Times New Roman" panose="02020603050405020304" pitchFamily="18" charset="0"/>
            </a:endParaRPr>
          </a:p>
        </p:txBody>
      </p:sp>
      <p:sp>
        <p:nvSpPr>
          <p:cNvPr id="25607" name="Slide Number Placeholder 5">
            <a:extLst>
              <a:ext uri="{FF2B5EF4-FFF2-40B4-BE49-F238E27FC236}">
                <a16:creationId xmlns:a16="http://schemas.microsoft.com/office/drawing/2014/main" id="{D4478567-B90C-771A-882C-500F78B4140A}"/>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17</a:t>
            </a:fld>
            <a:endParaRPr lang="en-US" altLang="zh-CN" sz="1200" dirty="0">
              <a:latin typeface="Open Sans" pitchFamily="34" charset="0"/>
              <a:ea typeface="Open Sans" pitchFamily="34" charset="0"/>
              <a:cs typeface="Open Sans" pitchFamily="34" charset="0"/>
            </a:endParaRPr>
          </a:p>
        </p:txBody>
      </p:sp>
      <p:pic>
        <p:nvPicPr>
          <p:cNvPr id="2" name="图片 1">
            <a:extLst>
              <a:ext uri="{FF2B5EF4-FFF2-40B4-BE49-F238E27FC236}">
                <a16:creationId xmlns:a16="http://schemas.microsoft.com/office/drawing/2014/main" id="{A69A401B-6B13-4A3D-DCD7-1EC0709F4E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4444" y="1295400"/>
            <a:ext cx="9663112" cy="4600042"/>
          </a:xfrm>
          <a:prstGeom prst="rect">
            <a:avLst/>
          </a:prstGeom>
        </p:spPr>
      </p:pic>
    </p:spTree>
    <p:extLst>
      <p:ext uri="{BB962C8B-B14F-4D97-AF65-F5344CB8AC3E}">
        <p14:creationId xmlns:p14="http://schemas.microsoft.com/office/powerpoint/2010/main" val="4108841463"/>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91452-99EE-1190-5A78-002117D1CC8B}"/>
            </a:ext>
          </a:extLst>
        </p:cNvPr>
        <p:cNvGrpSpPr/>
        <p:nvPr/>
      </p:nvGrpSpPr>
      <p:grpSpPr>
        <a:xfrm>
          <a:off x="0" y="0"/>
          <a:ext cx="0" cy="0"/>
          <a:chOff x="0" y="0"/>
          <a:chExt cx="0" cy="0"/>
        </a:xfrm>
      </p:grpSpPr>
      <p:sp>
        <p:nvSpPr>
          <p:cNvPr id="21507" name="Slide Number Placeholder 5">
            <a:extLst>
              <a:ext uri="{FF2B5EF4-FFF2-40B4-BE49-F238E27FC236}">
                <a16:creationId xmlns:a16="http://schemas.microsoft.com/office/drawing/2014/main" id="{6BE502CD-CFCD-D0D2-4428-7B5A97BD6FAC}"/>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18</a:t>
            </a:fld>
            <a:endParaRPr lang="en-US" altLang="zh-CN" sz="1200" dirty="0">
              <a:latin typeface="Open Sans" pitchFamily="34" charset="0"/>
              <a:ea typeface="Open Sans" pitchFamily="34" charset="0"/>
              <a:cs typeface="Open Sans" pitchFamily="34" charset="0"/>
            </a:endParaRPr>
          </a:p>
        </p:txBody>
      </p:sp>
      <p:sp>
        <p:nvSpPr>
          <p:cNvPr id="57" name="Freeform 5">
            <a:extLst>
              <a:ext uri="{FF2B5EF4-FFF2-40B4-BE49-F238E27FC236}">
                <a16:creationId xmlns:a16="http://schemas.microsoft.com/office/drawing/2014/main" id="{DC1B7280-A57D-97FD-7594-6346E04595FC}"/>
              </a:ext>
            </a:extLst>
          </p:cNvPr>
          <p:cNvSpPr/>
          <p:nvPr/>
        </p:nvSpPr>
        <p:spPr bwMode="auto">
          <a:xfrm rot="18900000">
            <a:off x="4171092" y="2261010"/>
            <a:ext cx="1562495" cy="2042753"/>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bg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8" name="Freeform 5">
            <a:extLst>
              <a:ext uri="{FF2B5EF4-FFF2-40B4-BE49-F238E27FC236}">
                <a16:creationId xmlns:a16="http://schemas.microsoft.com/office/drawing/2014/main" id="{39012097-DAE2-A12C-4B29-026742A6445D}"/>
              </a:ext>
            </a:extLst>
          </p:cNvPr>
          <p:cNvSpPr/>
          <p:nvPr/>
        </p:nvSpPr>
        <p:spPr bwMode="auto">
          <a:xfrm rot="2700000">
            <a:off x="5863650" y="2333488"/>
            <a:ext cx="1599107" cy="1999669"/>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9" name="Freeform 5">
            <a:extLst>
              <a:ext uri="{FF2B5EF4-FFF2-40B4-BE49-F238E27FC236}">
                <a16:creationId xmlns:a16="http://schemas.microsoft.com/office/drawing/2014/main" id="{95C4C91D-83BC-7F49-3B2A-3A338372B223}"/>
              </a:ext>
            </a:extLst>
          </p:cNvPr>
          <p:cNvSpPr/>
          <p:nvPr/>
        </p:nvSpPr>
        <p:spPr bwMode="auto">
          <a:xfrm rot="2700000" flipH="1">
            <a:off x="4150167" y="4046881"/>
            <a:ext cx="1597453" cy="1998049"/>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0" name="Freeform 5">
            <a:extLst>
              <a:ext uri="{FF2B5EF4-FFF2-40B4-BE49-F238E27FC236}">
                <a16:creationId xmlns:a16="http://schemas.microsoft.com/office/drawing/2014/main" id="{0E83D73D-BC78-DD44-653E-FD41A0EBFF00}"/>
              </a:ext>
            </a:extLst>
          </p:cNvPr>
          <p:cNvSpPr/>
          <p:nvPr/>
        </p:nvSpPr>
        <p:spPr bwMode="auto">
          <a:xfrm rot="18900000" flipH="1">
            <a:off x="5884592" y="3972791"/>
            <a:ext cx="1564113" cy="2044408"/>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3"/>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5" name="Freeform 106">
            <a:extLst>
              <a:ext uri="{FF2B5EF4-FFF2-40B4-BE49-F238E27FC236}">
                <a16:creationId xmlns:a16="http://schemas.microsoft.com/office/drawing/2014/main" id="{05EF15D3-F4D0-0335-1E40-2C5B636C3B13}"/>
              </a:ext>
            </a:extLst>
          </p:cNvPr>
          <p:cNvSpPr>
            <a:spLocks noEditPoints="1"/>
          </p:cNvSpPr>
          <p:nvPr/>
        </p:nvSpPr>
        <p:spPr bwMode="auto">
          <a:xfrm rot="16200000">
            <a:off x="6461303" y="4794036"/>
            <a:ext cx="365842" cy="458224"/>
          </a:xfrm>
          <a:custGeom>
            <a:avLst/>
            <a:gdLst>
              <a:gd name="T0" fmla="*/ 384 w 402"/>
              <a:gd name="T1" fmla="*/ 0 h 512"/>
              <a:gd name="T2" fmla="*/ 384 w 402"/>
              <a:gd name="T3" fmla="*/ 512 h 512"/>
              <a:gd name="T4" fmla="*/ 76 w 402"/>
              <a:gd name="T5" fmla="*/ 400 h 512"/>
              <a:gd name="T6" fmla="*/ 110 w 402"/>
              <a:gd name="T7" fmla="*/ 375 h 512"/>
              <a:gd name="T8" fmla="*/ 73 w 402"/>
              <a:gd name="T9" fmla="*/ 375 h 512"/>
              <a:gd name="T10" fmla="*/ 101 w 402"/>
              <a:gd name="T11" fmla="*/ 329 h 512"/>
              <a:gd name="T12" fmla="*/ 101 w 402"/>
              <a:gd name="T13" fmla="*/ 293 h 512"/>
              <a:gd name="T14" fmla="*/ 73 w 402"/>
              <a:gd name="T15" fmla="*/ 247 h 512"/>
              <a:gd name="T16" fmla="*/ 110 w 402"/>
              <a:gd name="T17" fmla="*/ 247 h 512"/>
              <a:gd name="T18" fmla="*/ 76 w 402"/>
              <a:gd name="T19" fmla="*/ 222 h 512"/>
              <a:gd name="T20" fmla="*/ 82 w 402"/>
              <a:gd name="T21" fmla="*/ 183 h 512"/>
              <a:gd name="T22" fmla="*/ 107 w 402"/>
              <a:gd name="T23" fmla="*/ 149 h 512"/>
              <a:gd name="T24" fmla="*/ 73 w 402"/>
              <a:gd name="T25" fmla="*/ 174 h 512"/>
              <a:gd name="T26" fmla="*/ 107 w 402"/>
              <a:gd name="T27" fmla="*/ 107 h 512"/>
              <a:gd name="T28" fmla="*/ 82 w 402"/>
              <a:gd name="T29" fmla="*/ 73 h 512"/>
              <a:gd name="T30" fmla="*/ 146 w 402"/>
              <a:gd name="T31" fmla="*/ 466 h 512"/>
              <a:gd name="T32" fmla="*/ 256 w 402"/>
              <a:gd name="T33" fmla="*/ 466 h 512"/>
              <a:gd name="T34" fmla="*/ 149 w 402"/>
              <a:gd name="T35" fmla="*/ 405 h 512"/>
              <a:gd name="T36" fmla="*/ 174 w 402"/>
              <a:gd name="T37" fmla="*/ 329 h 512"/>
              <a:gd name="T38" fmla="*/ 174 w 402"/>
              <a:gd name="T39" fmla="*/ 293 h 512"/>
              <a:gd name="T40" fmla="*/ 146 w 402"/>
              <a:gd name="T41" fmla="*/ 247 h 512"/>
              <a:gd name="T42" fmla="*/ 183 w 402"/>
              <a:gd name="T43" fmla="*/ 247 h 512"/>
              <a:gd name="T44" fmla="*/ 149 w 402"/>
              <a:gd name="T45" fmla="*/ 222 h 512"/>
              <a:gd name="T46" fmla="*/ 155 w 402"/>
              <a:gd name="T47" fmla="*/ 183 h 512"/>
              <a:gd name="T48" fmla="*/ 180 w 402"/>
              <a:gd name="T49" fmla="*/ 149 h 512"/>
              <a:gd name="T50" fmla="*/ 146 w 402"/>
              <a:gd name="T51" fmla="*/ 174 h 512"/>
              <a:gd name="T52" fmla="*/ 180 w 402"/>
              <a:gd name="T53" fmla="*/ 107 h 512"/>
              <a:gd name="T54" fmla="*/ 155 w 402"/>
              <a:gd name="T55" fmla="*/ 73 h 512"/>
              <a:gd name="T56" fmla="*/ 222 w 402"/>
              <a:gd name="T57" fmla="*/ 327 h 512"/>
              <a:gd name="T58" fmla="*/ 256 w 402"/>
              <a:gd name="T59" fmla="*/ 302 h 512"/>
              <a:gd name="T60" fmla="*/ 219 w 402"/>
              <a:gd name="T61" fmla="*/ 302 h 512"/>
              <a:gd name="T62" fmla="*/ 247 w 402"/>
              <a:gd name="T63" fmla="*/ 256 h 512"/>
              <a:gd name="T64" fmla="*/ 247 w 402"/>
              <a:gd name="T65" fmla="*/ 219 h 512"/>
              <a:gd name="T66" fmla="*/ 219 w 402"/>
              <a:gd name="T67" fmla="*/ 174 h 512"/>
              <a:gd name="T68" fmla="*/ 256 w 402"/>
              <a:gd name="T69" fmla="*/ 174 h 512"/>
              <a:gd name="T70" fmla="*/ 222 w 402"/>
              <a:gd name="T71" fmla="*/ 149 h 512"/>
              <a:gd name="T72" fmla="*/ 229 w 402"/>
              <a:gd name="T73" fmla="*/ 110 h 512"/>
              <a:gd name="T74" fmla="*/ 253 w 402"/>
              <a:gd name="T75" fmla="*/ 76 h 512"/>
              <a:gd name="T76" fmla="*/ 219 w 402"/>
              <a:gd name="T77" fmla="*/ 101 h 512"/>
              <a:gd name="T78" fmla="*/ 327 w 402"/>
              <a:gd name="T79" fmla="*/ 400 h 512"/>
              <a:gd name="T80" fmla="*/ 302 w 402"/>
              <a:gd name="T81" fmla="*/ 366 h 512"/>
              <a:gd name="T82" fmla="*/ 295 w 402"/>
              <a:gd name="T83" fmla="*/ 327 h 512"/>
              <a:gd name="T84" fmla="*/ 329 w 402"/>
              <a:gd name="T85" fmla="*/ 302 h 512"/>
              <a:gd name="T86" fmla="*/ 293 w 402"/>
              <a:gd name="T87" fmla="*/ 302 h 512"/>
              <a:gd name="T88" fmla="*/ 320 w 402"/>
              <a:gd name="T89" fmla="*/ 256 h 512"/>
              <a:gd name="T90" fmla="*/ 320 w 402"/>
              <a:gd name="T91" fmla="*/ 219 h 512"/>
              <a:gd name="T92" fmla="*/ 293 w 402"/>
              <a:gd name="T93" fmla="*/ 174 h 512"/>
              <a:gd name="T94" fmla="*/ 329 w 402"/>
              <a:gd name="T95" fmla="*/ 174 h 512"/>
              <a:gd name="T96" fmla="*/ 295 w 402"/>
              <a:gd name="T97" fmla="*/ 149 h 512"/>
              <a:gd name="T98" fmla="*/ 302 w 402"/>
              <a:gd name="T99" fmla="*/ 110 h 512"/>
              <a:gd name="T100" fmla="*/ 327 w 402"/>
              <a:gd name="T101" fmla="*/ 76 h 512"/>
              <a:gd name="T102" fmla="*/ 293 w 402"/>
              <a:gd name="T103" fmla="*/ 1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2" h="512">
                <a:moveTo>
                  <a:pt x="0" y="494"/>
                </a:moveTo>
                <a:cubicBezTo>
                  <a:pt x="0" y="18"/>
                  <a:pt x="0" y="18"/>
                  <a:pt x="0" y="18"/>
                </a:cubicBezTo>
                <a:cubicBezTo>
                  <a:pt x="0" y="13"/>
                  <a:pt x="2" y="9"/>
                  <a:pt x="5" y="5"/>
                </a:cubicBezTo>
                <a:cubicBezTo>
                  <a:pt x="9" y="2"/>
                  <a:pt x="13" y="0"/>
                  <a:pt x="18" y="0"/>
                </a:cubicBezTo>
                <a:cubicBezTo>
                  <a:pt x="384" y="0"/>
                  <a:pt x="384" y="0"/>
                  <a:pt x="384" y="0"/>
                </a:cubicBezTo>
                <a:cubicBezTo>
                  <a:pt x="389" y="0"/>
                  <a:pt x="393" y="2"/>
                  <a:pt x="397" y="5"/>
                </a:cubicBezTo>
                <a:cubicBezTo>
                  <a:pt x="400" y="9"/>
                  <a:pt x="402" y="13"/>
                  <a:pt x="402" y="18"/>
                </a:cubicBezTo>
                <a:cubicBezTo>
                  <a:pt x="402" y="494"/>
                  <a:pt x="402" y="494"/>
                  <a:pt x="402" y="494"/>
                </a:cubicBezTo>
                <a:cubicBezTo>
                  <a:pt x="402" y="499"/>
                  <a:pt x="400" y="503"/>
                  <a:pt x="397" y="507"/>
                </a:cubicBezTo>
                <a:cubicBezTo>
                  <a:pt x="393" y="510"/>
                  <a:pt x="389" y="512"/>
                  <a:pt x="384" y="512"/>
                </a:cubicBezTo>
                <a:cubicBezTo>
                  <a:pt x="18" y="512"/>
                  <a:pt x="18" y="512"/>
                  <a:pt x="18" y="512"/>
                </a:cubicBezTo>
                <a:cubicBezTo>
                  <a:pt x="13" y="512"/>
                  <a:pt x="9" y="510"/>
                  <a:pt x="5" y="507"/>
                </a:cubicBezTo>
                <a:cubicBezTo>
                  <a:pt x="2" y="503"/>
                  <a:pt x="0" y="499"/>
                  <a:pt x="0" y="494"/>
                </a:cubicBezTo>
                <a:close/>
                <a:moveTo>
                  <a:pt x="73" y="393"/>
                </a:moveTo>
                <a:cubicBezTo>
                  <a:pt x="73" y="396"/>
                  <a:pt x="74" y="398"/>
                  <a:pt x="76" y="400"/>
                </a:cubicBezTo>
                <a:cubicBezTo>
                  <a:pt x="77" y="401"/>
                  <a:pt x="80" y="402"/>
                  <a:pt x="82" y="402"/>
                </a:cubicBezTo>
                <a:cubicBezTo>
                  <a:pt x="101" y="402"/>
                  <a:pt x="101" y="402"/>
                  <a:pt x="101" y="402"/>
                </a:cubicBezTo>
                <a:cubicBezTo>
                  <a:pt x="103" y="402"/>
                  <a:pt x="105" y="401"/>
                  <a:pt x="107" y="400"/>
                </a:cubicBezTo>
                <a:cubicBezTo>
                  <a:pt x="109" y="398"/>
                  <a:pt x="110" y="396"/>
                  <a:pt x="110" y="393"/>
                </a:cubicBezTo>
                <a:cubicBezTo>
                  <a:pt x="110" y="375"/>
                  <a:pt x="110" y="375"/>
                  <a:pt x="110" y="375"/>
                </a:cubicBezTo>
                <a:cubicBezTo>
                  <a:pt x="110" y="372"/>
                  <a:pt x="109" y="370"/>
                  <a:pt x="107" y="368"/>
                </a:cubicBezTo>
                <a:cubicBezTo>
                  <a:pt x="105" y="367"/>
                  <a:pt x="103" y="366"/>
                  <a:pt x="101" y="366"/>
                </a:cubicBezTo>
                <a:cubicBezTo>
                  <a:pt x="82" y="366"/>
                  <a:pt x="82" y="366"/>
                  <a:pt x="82" y="366"/>
                </a:cubicBezTo>
                <a:cubicBezTo>
                  <a:pt x="80" y="366"/>
                  <a:pt x="77" y="367"/>
                  <a:pt x="76" y="368"/>
                </a:cubicBezTo>
                <a:cubicBezTo>
                  <a:pt x="74" y="370"/>
                  <a:pt x="73" y="372"/>
                  <a:pt x="73" y="375"/>
                </a:cubicBezTo>
                <a:lnTo>
                  <a:pt x="73" y="393"/>
                </a:lnTo>
                <a:close/>
                <a:moveTo>
                  <a:pt x="73" y="320"/>
                </a:moveTo>
                <a:cubicBezTo>
                  <a:pt x="73" y="323"/>
                  <a:pt x="74" y="325"/>
                  <a:pt x="76" y="327"/>
                </a:cubicBezTo>
                <a:cubicBezTo>
                  <a:pt x="77" y="328"/>
                  <a:pt x="80" y="329"/>
                  <a:pt x="82" y="329"/>
                </a:cubicBezTo>
                <a:cubicBezTo>
                  <a:pt x="101" y="329"/>
                  <a:pt x="101" y="329"/>
                  <a:pt x="101" y="329"/>
                </a:cubicBezTo>
                <a:cubicBezTo>
                  <a:pt x="103" y="329"/>
                  <a:pt x="105" y="328"/>
                  <a:pt x="107" y="327"/>
                </a:cubicBezTo>
                <a:cubicBezTo>
                  <a:pt x="109" y="325"/>
                  <a:pt x="110" y="323"/>
                  <a:pt x="110" y="320"/>
                </a:cubicBezTo>
                <a:cubicBezTo>
                  <a:pt x="110" y="302"/>
                  <a:pt x="110" y="302"/>
                  <a:pt x="110" y="302"/>
                </a:cubicBezTo>
                <a:cubicBezTo>
                  <a:pt x="110" y="299"/>
                  <a:pt x="109" y="297"/>
                  <a:pt x="107" y="295"/>
                </a:cubicBezTo>
                <a:cubicBezTo>
                  <a:pt x="105" y="293"/>
                  <a:pt x="103" y="293"/>
                  <a:pt x="101" y="293"/>
                </a:cubicBezTo>
                <a:cubicBezTo>
                  <a:pt x="82" y="293"/>
                  <a:pt x="82" y="293"/>
                  <a:pt x="82" y="293"/>
                </a:cubicBezTo>
                <a:cubicBezTo>
                  <a:pt x="80" y="293"/>
                  <a:pt x="77" y="293"/>
                  <a:pt x="76" y="295"/>
                </a:cubicBezTo>
                <a:cubicBezTo>
                  <a:pt x="74" y="297"/>
                  <a:pt x="73" y="299"/>
                  <a:pt x="73" y="302"/>
                </a:cubicBezTo>
                <a:lnTo>
                  <a:pt x="73" y="320"/>
                </a:lnTo>
                <a:close/>
                <a:moveTo>
                  <a:pt x="73" y="247"/>
                </a:moveTo>
                <a:cubicBezTo>
                  <a:pt x="73" y="250"/>
                  <a:pt x="74" y="252"/>
                  <a:pt x="76" y="253"/>
                </a:cubicBezTo>
                <a:cubicBezTo>
                  <a:pt x="77" y="255"/>
                  <a:pt x="80" y="256"/>
                  <a:pt x="82" y="256"/>
                </a:cubicBezTo>
                <a:cubicBezTo>
                  <a:pt x="101" y="256"/>
                  <a:pt x="101" y="256"/>
                  <a:pt x="101" y="256"/>
                </a:cubicBezTo>
                <a:cubicBezTo>
                  <a:pt x="103" y="256"/>
                  <a:pt x="105" y="255"/>
                  <a:pt x="107" y="253"/>
                </a:cubicBezTo>
                <a:cubicBezTo>
                  <a:pt x="109" y="252"/>
                  <a:pt x="110" y="250"/>
                  <a:pt x="110" y="247"/>
                </a:cubicBezTo>
                <a:cubicBezTo>
                  <a:pt x="110" y="229"/>
                  <a:pt x="110" y="229"/>
                  <a:pt x="110" y="229"/>
                </a:cubicBezTo>
                <a:cubicBezTo>
                  <a:pt x="110" y="226"/>
                  <a:pt x="109" y="224"/>
                  <a:pt x="107" y="222"/>
                </a:cubicBezTo>
                <a:cubicBezTo>
                  <a:pt x="105" y="220"/>
                  <a:pt x="103" y="219"/>
                  <a:pt x="101" y="219"/>
                </a:cubicBezTo>
                <a:cubicBezTo>
                  <a:pt x="82" y="219"/>
                  <a:pt x="82" y="219"/>
                  <a:pt x="82" y="219"/>
                </a:cubicBezTo>
                <a:cubicBezTo>
                  <a:pt x="80" y="219"/>
                  <a:pt x="77" y="220"/>
                  <a:pt x="76" y="222"/>
                </a:cubicBezTo>
                <a:cubicBezTo>
                  <a:pt x="74" y="224"/>
                  <a:pt x="73" y="226"/>
                  <a:pt x="73" y="229"/>
                </a:cubicBezTo>
                <a:lnTo>
                  <a:pt x="73" y="247"/>
                </a:lnTo>
                <a:close/>
                <a:moveTo>
                  <a:pt x="73" y="174"/>
                </a:moveTo>
                <a:cubicBezTo>
                  <a:pt x="73" y="176"/>
                  <a:pt x="74" y="179"/>
                  <a:pt x="76" y="180"/>
                </a:cubicBezTo>
                <a:cubicBezTo>
                  <a:pt x="77" y="182"/>
                  <a:pt x="80" y="183"/>
                  <a:pt x="82" y="183"/>
                </a:cubicBezTo>
                <a:cubicBezTo>
                  <a:pt x="101" y="183"/>
                  <a:pt x="101" y="183"/>
                  <a:pt x="101" y="183"/>
                </a:cubicBezTo>
                <a:cubicBezTo>
                  <a:pt x="103" y="183"/>
                  <a:pt x="105" y="182"/>
                  <a:pt x="107" y="180"/>
                </a:cubicBezTo>
                <a:cubicBezTo>
                  <a:pt x="109" y="179"/>
                  <a:pt x="110" y="176"/>
                  <a:pt x="110" y="174"/>
                </a:cubicBezTo>
                <a:cubicBezTo>
                  <a:pt x="110" y="155"/>
                  <a:pt x="110" y="155"/>
                  <a:pt x="110" y="155"/>
                </a:cubicBezTo>
                <a:cubicBezTo>
                  <a:pt x="110" y="153"/>
                  <a:pt x="109" y="151"/>
                  <a:pt x="107" y="149"/>
                </a:cubicBezTo>
                <a:cubicBezTo>
                  <a:pt x="105" y="147"/>
                  <a:pt x="103" y="146"/>
                  <a:pt x="101" y="146"/>
                </a:cubicBezTo>
                <a:cubicBezTo>
                  <a:pt x="82" y="146"/>
                  <a:pt x="82" y="146"/>
                  <a:pt x="82" y="146"/>
                </a:cubicBezTo>
                <a:cubicBezTo>
                  <a:pt x="80" y="146"/>
                  <a:pt x="77" y="147"/>
                  <a:pt x="76" y="149"/>
                </a:cubicBezTo>
                <a:cubicBezTo>
                  <a:pt x="74" y="151"/>
                  <a:pt x="73" y="153"/>
                  <a:pt x="73" y="155"/>
                </a:cubicBezTo>
                <a:lnTo>
                  <a:pt x="73" y="174"/>
                </a:lnTo>
                <a:close/>
                <a:moveTo>
                  <a:pt x="73" y="101"/>
                </a:moveTo>
                <a:cubicBezTo>
                  <a:pt x="73" y="103"/>
                  <a:pt x="74" y="105"/>
                  <a:pt x="76" y="107"/>
                </a:cubicBezTo>
                <a:cubicBezTo>
                  <a:pt x="77" y="109"/>
                  <a:pt x="80" y="110"/>
                  <a:pt x="82" y="110"/>
                </a:cubicBezTo>
                <a:cubicBezTo>
                  <a:pt x="101" y="110"/>
                  <a:pt x="101" y="110"/>
                  <a:pt x="101" y="110"/>
                </a:cubicBezTo>
                <a:cubicBezTo>
                  <a:pt x="103" y="110"/>
                  <a:pt x="105" y="109"/>
                  <a:pt x="107" y="107"/>
                </a:cubicBezTo>
                <a:cubicBezTo>
                  <a:pt x="109" y="105"/>
                  <a:pt x="110" y="103"/>
                  <a:pt x="110" y="101"/>
                </a:cubicBezTo>
                <a:cubicBezTo>
                  <a:pt x="110" y="82"/>
                  <a:pt x="110" y="82"/>
                  <a:pt x="110" y="82"/>
                </a:cubicBezTo>
                <a:cubicBezTo>
                  <a:pt x="110" y="80"/>
                  <a:pt x="109" y="77"/>
                  <a:pt x="107" y="76"/>
                </a:cubicBezTo>
                <a:cubicBezTo>
                  <a:pt x="105" y="74"/>
                  <a:pt x="103" y="73"/>
                  <a:pt x="101" y="73"/>
                </a:cubicBezTo>
                <a:cubicBezTo>
                  <a:pt x="82" y="73"/>
                  <a:pt x="82" y="73"/>
                  <a:pt x="82" y="73"/>
                </a:cubicBezTo>
                <a:cubicBezTo>
                  <a:pt x="80" y="73"/>
                  <a:pt x="77" y="74"/>
                  <a:pt x="76" y="76"/>
                </a:cubicBezTo>
                <a:cubicBezTo>
                  <a:pt x="74" y="77"/>
                  <a:pt x="73" y="80"/>
                  <a:pt x="73" y="82"/>
                </a:cubicBezTo>
                <a:lnTo>
                  <a:pt x="73" y="101"/>
                </a:lnTo>
                <a:close/>
                <a:moveTo>
                  <a:pt x="146" y="411"/>
                </a:moveTo>
                <a:cubicBezTo>
                  <a:pt x="146" y="466"/>
                  <a:pt x="146" y="466"/>
                  <a:pt x="146" y="466"/>
                </a:cubicBezTo>
                <a:cubicBezTo>
                  <a:pt x="146" y="469"/>
                  <a:pt x="147" y="471"/>
                  <a:pt x="149" y="473"/>
                </a:cubicBezTo>
                <a:cubicBezTo>
                  <a:pt x="151" y="475"/>
                  <a:pt x="153" y="475"/>
                  <a:pt x="155" y="475"/>
                </a:cubicBezTo>
                <a:cubicBezTo>
                  <a:pt x="247" y="475"/>
                  <a:pt x="247" y="475"/>
                  <a:pt x="247" y="475"/>
                </a:cubicBezTo>
                <a:cubicBezTo>
                  <a:pt x="250" y="475"/>
                  <a:pt x="252" y="475"/>
                  <a:pt x="253" y="473"/>
                </a:cubicBezTo>
                <a:cubicBezTo>
                  <a:pt x="255" y="471"/>
                  <a:pt x="256" y="469"/>
                  <a:pt x="256" y="466"/>
                </a:cubicBezTo>
                <a:cubicBezTo>
                  <a:pt x="256" y="411"/>
                  <a:pt x="256" y="411"/>
                  <a:pt x="256" y="411"/>
                </a:cubicBezTo>
                <a:cubicBezTo>
                  <a:pt x="256" y="409"/>
                  <a:pt x="255" y="407"/>
                  <a:pt x="253" y="405"/>
                </a:cubicBezTo>
                <a:cubicBezTo>
                  <a:pt x="252" y="403"/>
                  <a:pt x="250" y="402"/>
                  <a:pt x="247" y="402"/>
                </a:cubicBezTo>
                <a:cubicBezTo>
                  <a:pt x="155" y="402"/>
                  <a:pt x="155" y="402"/>
                  <a:pt x="155" y="402"/>
                </a:cubicBezTo>
                <a:cubicBezTo>
                  <a:pt x="153" y="402"/>
                  <a:pt x="151" y="403"/>
                  <a:pt x="149" y="405"/>
                </a:cubicBezTo>
                <a:cubicBezTo>
                  <a:pt x="147" y="407"/>
                  <a:pt x="146" y="409"/>
                  <a:pt x="146" y="411"/>
                </a:cubicBezTo>
                <a:close/>
                <a:moveTo>
                  <a:pt x="146" y="320"/>
                </a:moveTo>
                <a:cubicBezTo>
                  <a:pt x="146" y="323"/>
                  <a:pt x="147" y="325"/>
                  <a:pt x="149" y="327"/>
                </a:cubicBezTo>
                <a:cubicBezTo>
                  <a:pt x="151" y="328"/>
                  <a:pt x="153" y="329"/>
                  <a:pt x="155" y="329"/>
                </a:cubicBezTo>
                <a:cubicBezTo>
                  <a:pt x="174" y="329"/>
                  <a:pt x="174" y="329"/>
                  <a:pt x="174" y="329"/>
                </a:cubicBezTo>
                <a:cubicBezTo>
                  <a:pt x="176" y="329"/>
                  <a:pt x="179" y="328"/>
                  <a:pt x="180" y="327"/>
                </a:cubicBezTo>
                <a:cubicBezTo>
                  <a:pt x="182" y="325"/>
                  <a:pt x="183" y="323"/>
                  <a:pt x="183" y="320"/>
                </a:cubicBezTo>
                <a:cubicBezTo>
                  <a:pt x="183" y="302"/>
                  <a:pt x="183" y="302"/>
                  <a:pt x="183" y="302"/>
                </a:cubicBezTo>
                <a:cubicBezTo>
                  <a:pt x="183" y="299"/>
                  <a:pt x="182" y="297"/>
                  <a:pt x="180" y="295"/>
                </a:cubicBezTo>
                <a:cubicBezTo>
                  <a:pt x="179" y="293"/>
                  <a:pt x="176" y="293"/>
                  <a:pt x="174" y="293"/>
                </a:cubicBezTo>
                <a:cubicBezTo>
                  <a:pt x="155" y="293"/>
                  <a:pt x="155" y="293"/>
                  <a:pt x="155" y="293"/>
                </a:cubicBezTo>
                <a:cubicBezTo>
                  <a:pt x="153" y="293"/>
                  <a:pt x="151" y="293"/>
                  <a:pt x="149" y="295"/>
                </a:cubicBezTo>
                <a:cubicBezTo>
                  <a:pt x="147" y="297"/>
                  <a:pt x="146" y="299"/>
                  <a:pt x="146" y="302"/>
                </a:cubicBezTo>
                <a:lnTo>
                  <a:pt x="146" y="320"/>
                </a:lnTo>
                <a:close/>
                <a:moveTo>
                  <a:pt x="146" y="247"/>
                </a:moveTo>
                <a:cubicBezTo>
                  <a:pt x="146" y="250"/>
                  <a:pt x="147" y="252"/>
                  <a:pt x="149" y="253"/>
                </a:cubicBezTo>
                <a:cubicBezTo>
                  <a:pt x="151" y="255"/>
                  <a:pt x="153" y="256"/>
                  <a:pt x="155" y="256"/>
                </a:cubicBezTo>
                <a:cubicBezTo>
                  <a:pt x="174" y="256"/>
                  <a:pt x="174" y="256"/>
                  <a:pt x="174" y="256"/>
                </a:cubicBezTo>
                <a:cubicBezTo>
                  <a:pt x="176" y="256"/>
                  <a:pt x="179" y="255"/>
                  <a:pt x="180" y="253"/>
                </a:cubicBezTo>
                <a:cubicBezTo>
                  <a:pt x="182" y="252"/>
                  <a:pt x="183" y="250"/>
                  <a:pt x="183" y="247"/>
                </a:cubicBezTo>
                <a:cubicBezTo>
                  <a:pt x="183" y="229"/>
                  <a:pt x="183" y="229"/>
                  <a:pt x="183" y="229"/>
                </a:cubicBezTo>
                <a:cubicBezTo>
                  <a:pt x="183" y="226"/>
                  <a:pt x="182" y="224"/>
                  <a:pt x="180" y="222"/>
                </a:cubicBezTo>
                <a:cubicBezTo>
                  <a:pt x="179" y="220"/>
                  <a:pt x="176" y="219"/>
                  <a:pt x="174" y="219"/>
                </a:cubicBezTo>
                <a:cubicBezTo>
                  <a:pt x="155" y="219"/>
                  <a:pt x="155" y="219"/>
                  <a:pt x="155" y="219"/>
                </a:cubicBezTo>
                <a:cubicBezTo>
                  <a:pt x="153" y="219"/>
                  <a:pt x="151" y="220"/>
                  <a:pt x="149" y="222"/>
                </a:cubicBezTo>
                <a:cubicBezTo>
                  <a:pt x="147" y="224"/>
                  <a:pt x="146" y="226"/>
                  <a:pt x="146" y="229"/>
                </a:cubicBezTo>
                <a:lnTo>
                  <a:pt x="146" y="247"/>
                </a:lnTo>
                <a:close/>
                <a:moveTo>
                  <a:pt x="146" y="174"/>
                </a:moveTo>
                <a:cubicBezTo>
                  <a:pt x="146" y="176"/>
                  <a:pt x="147" y="179"/>
                  <a:pt x="149" y="180"/>
                </a:cubicBezTo>
                <a:cubicBezTo>
                  <a:pt x="151" y="182"/>
                  <a:pt x="153" y="183"/>
                  <a:pt x="155" y="183"/>
                </a:cubicBezTo>
                <a:cubicBezTo>
                  <a:pt x="174" y="183"/>
                  <a:pt x="174" y="183"/>
                  <a:pt x="174" y="183"/>
                </a:cubicBezTo>
                <a:cubicBezTo>
                  <a:pt x="176" y="183"/>
                  <a:pt x="179" y="182"/>
                  <a:pt x="180" y="180"/>
                </a:cubicBezTo>
                <a:cubicBezTo>
                  <a:pt x="182" y="179"/>
                  <a:pt x="183" y="176"/>
                  <a:pt x="183" y="174"/>
                </a:cubicBezTo>
                <a:cubicBezTo>
                  <a:pt x="183" y="155"/>
                  <a:pt x="183" y="155"/>
                  <a:pt x="183" y="155"/>
                </a:cubicBezTo>
                <a:cubicBezTo>
                  <a:pt x="183" y="153"/>
                  <a:pt x="182" y="151"/>
                  <a:pt x="180" y="149"/>
                </a:cubicBezTo>
                <a:cubicBezTo>
                  <a:pt x="179" y="147"/>
                  <a:pt x="176" y="146"/>
                  <a:pt x="174" y="146"/>
                </a:cubicBezTo>
                <a:cubicBezTo>
                  <a:pt x="155" y="146"/>
                  <a:pt x="155" y="146"/>
                  <a:pt x="155" y="146"/>
                </a:cubicBezTo>
                <a:cubicBezTo>
                  <a:pt x="153" y="146"/>
                  <a:pt x="151" y="147"/>
                  <a:pt x="149" y="149"/>
                </a:cubicBezTo>
                <a:cubicBezTo>
                  <a:pt x="147" y="151"/>
                  <a:pt x="146" y="153"/>
                  <a:pt x="146" y="155"/>
                </a:cubicBezTo>
                <a:lnTo>
                  <a:pt x="146" y="174"/>
                </a:lnTo>
                <a:close/>
                <a:moveTo>
                  <a:pt x="146" y="101"/>
                </a:moveTo>
                <a:cubicBezTo>
                  <a:pt x="146" y="103"/>
                  <a:pt x="147" y="105"/>
                  <a:pt x="149" y="107"/>
                </a:cubicBezTo>
                <a:cubicBezTo>
                  <a:pt x="151" y="109"/>
                  <a:pt x="153" y="110"/>
                  <a:pt x="155" y="110"/>
                </a:cubicBezTo>
                <a:cubicBezTo>
                  <a:pt x="174" y="110"/>
                  <a:pt x="174" y="110"/>
                  <a:pt x="174" y="110"/>
                </a:cubicBezTo>
                <a:cubicBezTo>
                  <a:pt x="176" y="110"/>
                  <a:pt x="179" y="109"/>
                  <a:pt x="180" y="107"/>
                </a:cubicBezTo>
                <a:cubicBezTo>
                  <a:pt x="182" y="105"/>
                  <a:pt x="183" y="103"/>
                  <a:pt x="183" y="101"/>
                </a:cubicBezTo>
                <a:cubicBezTo>
                  <a:pt x="183" y="82"/>
                  <a:pt x="183" y="82"/>
                  <a:pt x="183" y="82"/>
                </a:cubicBezTo>
                <a:cubicBezTo>
                  <a:pt x="183" y="80"/>
                  <a:pt x="182" y="77"/>
                  <a:pt x="180" y="76"/>
                </a:cubicBezTo>
                <a:cubicBezTo>
                  <a:pt x="179" y="74"/>
                  <a:pt x="176" y="73"/>
                  <a:pt x="174" y="73"/>
                </a:cubicBezTo>
                <a:cubicBezTo>
                  <a:pt x="155" y="73"/>
                  <a:pt x="155" y="73"/>
                  <a:pt x="155" y="73"/>
                </a:cubicBezTo>
                <a:cubicBezTo>
                  <a:pt x="153" y="73"/>
                  <a:pt x="151" y="74"/>
                  <a:pt x="149" y="76"/>
                </a:cubicBezTo>
                <a:cubicBezTo>
                  <a:pt x="147" y="77"/>
                  <a:pt x="146" y="80"/>
                  <a:pt x="146" y="82"/>
                </a:cubicBezTo>
                <a:lnTo>
                  <a:pt x="146" y="101"/>
                </a:lnTo>
                <a:close/>
                <a:moveTo>
                  <a:pt x="219" y="320"/>
                </a:moveTo>
                <a:cubicBezTo>
                  <a:pt x="219" y="323"/>
                  <a:pt x="220" y="325"/>
                  <a:pt x="222" y="327"/>
                </a:cubicBezTo>
                <a:cubicBezTo>
                  <a:pt x="224" y="328"/>
                  <a:pt x="226" y="329"/>
                  <a:pt x="229" y="329"/>
                </a:cubicBezTo>
                <a:cubicBezTo>
                  <a:pt x="247" y="329"/>
                  <a:pt x="247" y="329"/>
                  <a:pt x="247" y="329"/>
                </a:cubicBezTo>
                <a:cubicBezTo>
                  <a:pt x="250" y="329"/>
                  <a:pt x="252" y="328"/>
                  <a:pt x="253" y="327"/>
                </a:cubicBezTo>
                <a:cubicBezTo>
                  <a:pt x="255" y="325"/>
                  <a:pt x="256" y="323"/>
                  <a:pt x="256" y="320"/>
                </a:cubicBezTo>
                <a:cubicBezTo>
                  <a:pt x="256" y="302"/>
                  <a:pt x="256" y="302"/>
                  <a:pt x="256" y="302"/>
                </a:cubicBezTo>
                <a:cubicBezTo>
                  <a:pt x="256" y="299"/>
                  <a:pt x="255" y="297"/>
                  <a:pt x="253" y="295"/>
                </a:cubicBezTo>
                <a:cubicBezTo>
                  <a:pt x="252" y="293"/>
                  <a:pt x="250" y="293"/>
                  <a:pt x="247" y="293"/>
                </a:cubicBezTo>
                <a:cubicBezTo>
                  <a:pt x="229" y="293"/>
                  <a:pt x="229" y="293"/>
                  <a:pt x="229" y="293"/>
                </a:cubicBezTo>
                <a:cubicBezTo>
                  <a:pt x="226" y="293"/>
                  <a:pt x="224" y="293"/>
                  <a:pt x="222" y="295"/>
                </a:cubicBezTo>
                <a:cubicBezTo>
                  <a:pt x="220" y="297"/>
                  <a:pt x="219" y="299"/>
                  <a:pt x="219" y="302"/>
                </a:cubicBezTo>
                <a:lnTo>
                  <a:pt x="219" y="320"/>
                </a:lnTo>
                <a:close/>
                <a:moveTo>
                  <a:pt x="219" y="247"/>
                </a:moveTo>
                <a:cubicBezTo>
                  <a:pt x="219" y="250"/>
                  <a:pt x="220" y="252"/>
                  <a:pt x="222" y="253"/>
                </a:cubicBezTo>
                <a:cubicBezTo>
                  <a:pt x="224" y="255"/>
                  <a:pt x="226" y="256"/>
                  <a:pt x="229" y="256"/>
                </a:cubicBezTo>
                <a:cubicBezTo>
                  <a:pt x="247" y="256"/>
                  <a:pt x="247" y="256"/>
                  <a:pt x="247" y="256"/>
                </a:cubicBezTo>
                <a:cubicBezTo>
                  <a:pt x="250" y="256"/>
                  <a:pt x="252" y="255"/>
                  <a:pt x="253" y="253"/>
                </a:cubicBezTo>
                <a:cubicBezTo>
                  <a:pt x="255" y="252"/>
                  <a:pt x="256" y="250"/>
                  <a:pt x="256" y="247"/>
                </a:cubicBezTo>
                <a:cubicBezTo>
                  <a:pt x="256" y="229"/>
                  <a:pt x="256" y="229"/>
                  <a:pt x="256" y="229"/>
                </a:cubicBezTo>
                <a:cubicBezTo>
                  <a:pt x="256" y="226"/>
                  <a:pt x="255" y="224"/>
                  <a:pt x="253" y="222"/>
                </a:cubicBezTo>
                <a:cubicBezTo>
                  <a:pt x="252" y="220"/>
                  <a:pt x="250" y="219"/>
                  <a:pt x="247" y="219"/>
                </a:cubicBezTo>
                <a:cubicBezTo>
                  <a:pt x="229" y="219"/>
                  <a:pt x="229" y="219"/>
                  <a:pt x="229" y="219"/>
                </a:cubicBezTo>
                <a:cubicBezTo>
                  <a:pt x="226" y="219"/>
                  <a:pt x="224" y="220"/>
                  <a:pt x="222" y="222"/>
                </a:cubicBezTo>
                <a:cubicBezTo>
                  <a:pt x="220" y="224"/>
                  <a:pt x="219" y="226"/>
                  <a:pt x="219" y="229"/>
                </a:cubicBezTo>
                <a:lnTo>
                  <a:pt x="219" y="247"/>
                </a:lnTo>
                <a:close/>
                <a:moveTo>
                  <a:pt x="219" y="174"/>
                </a:moveTo>
                <a:cubicBezTo>
                  <a:pt x="219" y="176"/>
                  <a:pt x="220" y="179"/>
                  <a:pt x="222" y="180"/>
                </a:cubicBezTo>
                <a:cubicBezTo>
                  <a:pt x="224" y="182"/>
                  <a:pt x="226" y="183"/>
                  <a:pt x="229" y="183"/>
                </a:cubicBezTo>
                <a:cubicBezTo>
                  <a:pt x="247" y="183"/>
                  <a:pt x="247" y="183"/>
                  <a:pt x="247" y="183"/>
                </a:cubicBezTo>
                <a:cubicBezTo>
                  <a:pt x="250" y="183"/>
                  <a:pt x="252" y="182"/>
                  <a:pt x="253" y="180"/>
                </a:cubicBezTo>
                <a:cubicBezTo>
                  <a:pt x="255" y="179"/>
                  <a:pt x="256" y="176"/>
                  <a:pt x="256" y="174"/>
                </a:cubicBezTo>
                <a:cubicBezTo>
                  <a:pt x="256" y="155"/>
                  <a:pt x="256" y="155"/>
                  <a:pt x="256" y="155"/>
                </a:cubicBezTo>
                <a:cubicBezTo>
                  <a:pt x="256" y="153"/>
                  <a:pt x="255" y="151"/>
                  <a:pt x="253" y="149"/>
                </a:cubicBezTo>
                <a:cubicBezTo>
                  <a:pt x="252" y="147"/>
                  <a:pt x="250" y="146"/>
                  <a:pt x="247" y="146"/>
                </a:cubicBezTo>
                <a:cubicBezTo>
                  <a:pt x="229" y="146"/>
                  <a:pt x="229" y="146"/>
                  <a:pt x="229" y="146"/>
                </a:cubicBezTo>
                <a:cubicBezTo>
                  <a:pt x="226" y="146"/>
                  <a:pt x="224" y="147"/>
                  <a:pt x="222" y="149"/>
                </a:cubicBezTo>
                <a:cubicBezTo>
                  <a:pt x="220" y="151"/>
                  <a:pt x="219" y="153"/>
                  <a:pt x="219" y="155"/>
                </a:cubicBezTo>
                <a:lnTo>
                  <a:pt x="219" y="174"/>
                </a:lnTo>
                <a:close/>
                <a:moveTo>
                  <a:pt x="219" y="101"/>
                </a:moveTo>
                <a:cubicBezTo>
                  <a:pt x="219" y="103"/>
                  <a:pt x="220" y="105"/>
                  <a:pt x="222" y="107"/>
                </a:cubicBezTo>
                <a:cubicBezTo>
                  <a:pt x="224" y="109"/>
                  <a:pt x="226" y="110"/>
                  <a:pt x="229" y="110"/>
                </a:cubicBezTo>
                <a:cubicBezTo>
                  <a:pt x="247" y="110"/>
                  <a:pt x="247" y="110"/>
                  <a:pt x="247" y="110"/>
                </a:cubicBezTo>
                <a:cubicBezTo>
                  <a:pt x="250" y="110"/>
                  <a:pt x="252" y="109"/>
                  <a:pt x="253" y="107"/>
                </a:cubicBezTo>
                <a:cubicBezTo>
                  <a:pt x="255" y="105"/>
                  <a:pt x="256" y="103"/>
                  <a:pt x="256" y="101"/>
                </a:cubicBezTo>
                <a:cubicBezTo>
                  <a:pt x="256" y="82"/>
                  <a:pt x="256" y="82"/>
                  <a:pt x="256" y="82"/>
                </a:cubicBezTo>
                <a:cubicBezTo>
                  <a:pt x="256" y="80"/>
                  <a:pt x="255" y="77"/>
                  <a:pt x="253" y="76"/>
                </a:cubicBezTo>
                <a:cubicBezTo>
                  <a:pt x="252" y="74"/>
                  <a:pt x="250" y="73"/>
                  <a:pt x="247" y="73"/>
                </a:cubicBezTo>
                <a:cubicBezTo>
                  <a:pt x="229" y="73"/>
                  <a:pt x="229" y="73"/>
                  <a:pt x="229" y="73"/>
                </a:cubicBezTo>
                <a:cubicBezTo>
                  <a:pt x="226" y="73"/>
                  <a:pt x="224" y="74"/>
                  <a:pt x="222" y="76"/>
                </a:cubicBezTo>
                <a:cubicBezTo>
                  <a:pt x="220" y="77"/>
                  <a:pt x="219" y="80"/>
                  <a:pt x="219" y="82"/>
                </a:cubicBezTo>
                <a:lnTo>
                  <a:pt x="219" y="101"/>
                </a:lnTo>
                <a:close/>
                <a:moveTo>
                  <a:pt x="293" y="393"/>
                </a:moveTo>
                <a:cubicBezTo>
                  <a:pt x="293" y="396"/>
                  <a:pt x="293" y="398"/>
                  <a:pt x="295" y="400"/>
                </a:cubicBezTo>
                <a:cubicBezTo>
                  <a:pt x="297" y="401"/>
                  <a:pt x="299" y="402"/>
                  <a:pt x="302" y="402"/>
                </a:cubicBezTo>
                <a:cubicBezTo>
                  <a:pt x="320" y="402"/>
                  <a:pt x="320" y="402"/>
                  <a:pt x="320" y="402"/>
                </a:cubicBezTo>
                <a:cubicBezTo>
                  <a:pt x="323" y="402"/>
                  <a:pt x="325" y="401"/>
                  <a:pt x="327" y="400"/>
                </a:cubicBezTo>
                <a:cubicBezTo>
                  <a:pt x="328" y="398"/>
                  <a:pt x="329" y="396"/>
                  <a:pt x="329" y="393"/>
                </a:cubicBezTo>
                <a:cubicBezTo>
                  <a:pt x="329" y="375"/>
                  <a:pt x="329" y="375"/>
                  <a:pt x="329" y="375"/>
                </a:cubicBezTo>
                <a:cubicBezTo>
                  <a:pt x="329" y="372"/>
                  <a:pt x="328" y="370"/>
                  <a:pt x="327" y="368"/>
                </a:cubicBezTo>
                <a:cubicBezTo>
                  <a:pt x="325" y="367"/>
                  <a:pt x="323" y="366"/>
                  <a:pt x="320" y="366"/>
                </a:cubicBezTo>
                <a:cubicBezTo>
                  <a:pt x="302" y="366"/>
                  <a:pt x="302" y="366"/>
                  <a:pt x="302" y="366"/>
                </a:cubicBezTo>
                <a:cubicBezTo>
                  <a:pt x="299" y="366"/>
                  <a:pt x="297" y="367"/>
                  <a:pt x="295" y="368"/>
                </a:cubicBezTo>
                <a:cubicBezTo>
                  <a:pt x="293" y="370"/>
                  <a:pt x="293" y="372"/>
                  <a:pt x="293" y="375"/>
                </a:cubicBezTo>
                <a:lnTo>
                  <a:pt x="293" y="393"/>
                </a:lnTo>
                <a:close/>
                <a:moveTo>
                  <a:pt x="293" y="320"/>
                </a:moveTo>
                <a:cubicBezTo>
                  <a:pt x="293" y="323"/>
                  <a:pt x="293" y="325"/>
                  <a:pt x="295" y="327"/>
                </a:cubicBezTo>
                <a:cubicBezTo>
                  <a:pt x="297" y="328"/>
                  <a:pt x="299" y="329"/>
                  <a:pt x="302" y="329"/>
                </a:cubicBezTo>
                <a:cubicBezTo>
                  <a:pt x="320" y="329"/>
                  <a:pt x="320" y="329"/>
                  <a:pt x="320" y="329"/>
                </a:cubicBezTo>
                <a:cubicBezTo>
                  <a:pt x="323" y="329"/>
                  <a:pt x="325" y="328"/>
                  <a:pt x="327" y="327"/>
                </a:cubicBezTo>
                <a:cubicBezTo>
                  <a:pt x="328" y="325"/>
                  <a:pt x="329" y="323"/>
                  <a:pt x="329" y="320"/>
                </a:cubicBezTo>
                <a:cubicBezTo>
                  <a:pt x="329" y="302"/>
                  <a:pt x="329" y="302"/>
                  <a:pt x="329" y="302"/>
                </a:cubicBezTo>
                <a:cubicBezTo>
                  <a:pt x="329" y="299"/>
                  <a:pt x="328" y="297"/>
                  <a:pt x="327" y="295"/>
                </a:cubicBezTo>
                <a:cubicBezTo>
                  <a:pt x="325" y="293"/>
                  <a:pt x="323" y="293"/>
                  <a:pt x="320" y="293"/>
                </a:cubicBezTo>
                <a:cubicBezTo>
                  <a:pt x="302" y="293"/>
                  <a:pt x="302" y="293"/>
                  <a:pt x="302" y="293"/>
                </a:cubicBezTo>
                <a:cubicBezTo>
                  <a:pt x="299" y="293"/>
                  <a:pt x="297" y="293"/>
                  <a:pt x="295" y="295"/>
                </a:cubicBezTo>
                <a:cubicBezTo>
                  <a:pt x="293" y="297"/>
                  <a:pt x="293" y="299"/>
                  <a:pt x="293" y="302"/>
                </a:cubicBezTo>
                <a:lnTo>
                  <a:pt x="293" y="320"/>
                </a:lnTo>
                <a:close/>
                <a:moveTo>
                  <a:pt x="293" y="247"/>
                </a:moveTo>
                <a:cubicBezTo>
                  <a:pt x="293" y="250"/>
                  <a:pt x="293" y="252"/>
                  <a:pt x="295" y="253"/>
                </a:cubicBezTo>
                <a:cubicBezTo>
                  <a:pt x="297" y="255"/>
                  <a:pt x="299" y="256"/>
                  <a:pt x="302" y="256"/>
                </a:cubicBezTo>
                <a:cubicBezTo>
                  <a:pt x="320" y="256"/>
                  <a:pt x="320" y="256"/>
                  <a:pt x="320" y="256"/>
                </a:cubicBezTo>
                <a:cubicBezTo>
                  <a:pt x="323" y="256"/>
                  <a:pt x="325" y="255"/>
                  <a:pt x="327" y="253"/>
                </a:cubicBezTo>
                <a:cubicBezTo>
                  <a:pt x="328" y="252"/>
                  <a:pt x="329" y="250"/>
                  <a:pt x="329" y="247"/>
                </a:cubicBezTo>
                <a:cubicBezTo>
                  <a:pt x="329" y="229"/>
                  <a:pt x="329" y="229"/>
                  <a:pt x="329" y="229"/>
                </a:cubicBezTo>
                <a:cubicBezTo>
                  <a:pt x="329" y="226"/>
                  <a:pt x="328" y="224"/>
                  <a:pt x="327" y="222"/>
                </a:cubicBezTo>
                <a:cubicBezTo>
                  <a:pt x="325" y="220"/>
                  <a:pt x="323" y="219"/>
                  <a:pt x="320" y="219"/>
                </a:cubicBezTo>
                <a:cubicBezTo>
                  <a:pt x="302" y="219"/>
                  <a:pt x="302" y="219"/>
                  <a:pt x="302" y="219"/>
                </a:cubicBezTo>
                <a:cubicBezTo>
                  <a:pt x="299" y="219"/>
                  <a:pt x="297" y="220"/>
                  <a:pt x="295" y="222"/>
                </a:cubicBezTo>
                <a:cubicBezTo>
                  <a:pt x="293" y="224"/>
                  <a:pt x="293" y="226"/>
                  <a:pt x="293" y="229"/>
                </a:cubicBezTo>
                <a:lnTo>
                  <a:pt x="293" y="247"/>
                </a:lnTo>
                <a:close/>
                <a:moveTo>
                  <a:pt x="293" y="174"/>
                </a:moveTo>
                <a:cubicBezTo>
                  <a:pt x="293" y="176"/>
                  <a:pt x="293" y="179"/>
                  <a:pt x="295" y="180"/>
                </a:cubicBezTo>
                <a:cubicBezTo>
                  <a:pt x="297" y="182"/>
                  <a:pt x="299" y="183"/>
                  <a:pt x="302" y="183"/>
                </a:cubicBezTo>
                <a:cubicBezTo>
                  <a:pt x="320" y="183"/>
                  <a:pt x="320" y="183"/>
                  <a:pt x="320" y="183"/>
                </a:cubicBezTo>
                <a:cubicBezTo>
                  <a:pt x="323" y="183"/>
                  <a:pt x="325" y="182"/>
                  <a:pt x="327" y="180"/>
                </a:cubicBezTo>
                <a:cubicBezTo>
                  <a:pt x="328" y="179"/>
                  <a:pt x="329" y="176"/>
                  <a:pt x="329" y="174"/>
                </a:cubicBezTo>
                <a:cubicBezTo>
                  <a:pt x="329" y="155"/>
                  <a:pt x="329" y="155"/>
                  <a:pt x="329" y="155"/>
                </a:cubicBezTo>
                <a:cubicBezTo>
                  <a:pt x="329" y="153"/>
                  <a:pt x="328" y="151"/>
                  <a:pt x="327" y="149"/>
                </a:cubicBezTo>
                <a:cubicBezTo>
                  <a:pt x="325" y="147"/>
                  <a:pt x="323" y="146"/>
                  <a:pt x="320" y="146"/>
                </a:cubicBezTo>
                <a:cubicBezTo>
                  <a:pt x="302" y="146"/>
                  <a:pt x="302" y="146"/>
                  <a:pt x="302" y="146"/>
                </a:cubicBezTo>
                <a:cubicBezTo>
                  <a:pt x="299" y="146"/>
                  <a:pt x="297" y="147"/>
                  <a:pt x="295" y="149"/>
                </a:cubicBezTo>
                <a:cubicBezTo>
                  <a:pt x="293" y="151"/>
                  <a:pt x="293" y="153"/>
                  <a:pt x="293" y="155"/>
                </a:cubicBezTo>
                <a:lnTo>
                  <a:pt x="293" y="174"/>
                </a:lnTo>
                <a:close/>
                <a:moveTo>
                  <a:pt x="293" y="101"/>
                </a:moveTo>
                <a:cubicBezTo>
                  <a:pt x="293" y="103"/>
                  <a:pt x="293" y="105"/>
                  <a:pt x="295" y="107"/>
                </a:cubicBezTo>
                <a:cubicBezTo>
                  <a:pt x="297" y="109"/>
                  <a:pt x="299" y="110"/>
                  <a:pt x="302" y="110"/>
                </a:cubicBezTo>
                <a:cubicBezTo>
                  <a:pt x="320" y="110"/>
                  <a:pt x="320" y="110"/>
                  <a:pt x="320" y="110"/>
                </a:cubicBezTo>
                <a:cubicBezTo>
                  <a:pt x="323" y="110"/>
                  <a:pt x="325" y="109"/>
                  <a:pt x="327" y="107"/>
                </a:cubicBezTo>
                <a:cubicBezTo>
                  <a:pt x="328" y="105"/>
                  <a:pt x="329" y="103"/>
                  <a:pt x="329" y="101"/>
                </a:cubicBezTo>
                <a:cubicBezTo>
                  <a:pt x="329" y="82"/>
                  <a:pt x="329" y="82"/>
                  <a:pt x="329" y="82"/>
                </a:cubicBezTo>
                <a:cubicBezTo>
                  <a:pt x="329" y="80"/>
                  <a:pt x="328" y="77"/>
                  <a:pt x="327" y="76"/>
                </a:cubicBezTo>
                <a:cubicBezTo>
                  <a:pt x="325" y="74"/>
                  <a:pt x="323" y="73"/>
                  <a:pt x="320" y="73"/>
                </a:cubicBezTo>
                <a:cubicBezTo>
                  <a:pt x="302" y="73"/>
                  <a:pt x="302" y="73"/>
                  <a:pt x="302" y="73"/>
                </a:cubicBezTo>
                <a:cubicBezTo>
                  <a:pt x="299" y="73"/>
                  <a:pt x="297" y="74"/>
                  <a:pt x="295" y="76"/>
                </a:cubicBezTo>
                <a:cubicBezTo>
                  <a:pt x="293" y="77"/>
                  <a:pt x="293" y="80"/>
                  <a:pt x="293" y="82"/>
                </a:cubicBezTo>
                <a:lnTo>
                  <a:pt x="293" y="101"/>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6" name="Freeform 90">
            <a:extLst>
              <a:ext uri="{FF2B5EF4-FFF2-40B4-BE49-F238E27FC236}">
                <a16:creationId xmlns:a16="http://schemas.microsoft.com/office/drawing/2014/main" id="{1B07BEC6-D291-EF83-198F-05981BFC8C6B}"/>
              </a:ext>
            </a:extLst>
          </p:cNvPr>
          <p:cNvSpPr>
            <a:spLocks noEditPoints="1"/>
          </p:cNvSpPr>
          <p:nvPr/>
        </p:nvSpPr>
        <p:spPr bwMode="auto">
          <a:xfrm>
            <a:off x="4829345" y="4840227"/>
            <a:ext cx="404791" cy="387361"/>
          </a:xfrm>
          <a:custGeom>
            <a:avLst/>
            <a:gdLst>
              <a:gd name="T0" fmla="*/ 0 w 549"/>
              <a:gd name="T1" fmla="*/ 475 h 512"/>
              <a:gd name="T2" fmla="*/ 6 w 549"/>
              <a:gd name="T3" fmla="*/ 463 h 512"/>
              <a:gd name="T4" fmla="*/ 20 w 549"/>
              <a:gd name="T5" fmla="*/ 457 h 512"/>
              <a:gd name="T6" fmla="*/ 529 w 549"/>
              <a:gd name="T7" fmla="*/ 457 h 512"/>
              <a:gd name="T8" fmla="*/ 543 w 549"/>
              <a:gd name="T9" fmla="*/ 463 h 512"/>
              <a:gd name="T10" fmla="*/ 549 w 549"/>
              <a:gd name="T11" fmla="*/ 475 h 512"/>
              <a:gd name="T12" fmla="*/ 549 w 549"/>
              <a:gd name="T13" fmla="*/ 512 h 512"/>
              <a:gd name="T14" fmla="*/ 0 w 549"/>
              <a:gd name="T15" fmla="*/ 512 h 512"/>
              <a:gd name="T16" fmla="*/ 0 w 549"/>
              <a:gd name="T17" fmla="*/ 475 h 512"/>
              <a:gd name="T18" fmla="*/ 0 w 549"/>
              <a:gd name="T19" fmla="*/ 146 h 512"/>
              <a:gd name="T20" fmla="*/ 0 w 549"/>
              <a:gd name="T21" fmla="*/ 110 h 512"/>
              <a:gd name="T22" fmla="*/ 274 w 549"/>
              <a:gd name="T23" fmla="*/ 0 h 512"/>
              <a:gd name="T24" fmla="*/ 549 w 549"/>
              <a:gd name="T25" fmla="*/ 110 h 512"/>
              <a:gd name="T26" fmla="*/ 549 w 549"/>
              <a:gd name="T27" fmla="*/ 146 h 512"/>
              <a:gd name="T28" fmla="*/ 512 w 549"/>
              <a:gd name="T29" fmla="*/ 146 h 512"/>
              <a:gd name="T30" fmla="*/ 506 w 549"/>
              <a:gd name="T31" fmla="*/ 159 h 512"/>
              <a:gd name="T32" fmla="*/ 492 w 549"/>
              <a:gd name="T33" fmla="*/ 165 h 512"/>
              <a:gd name="T34" fmla="*/ 56 w 549"/>
              <a:gd name="T35" fmla="*/ 165 h 512"/>
              <a:gd name="T36" fmla="*/ 42 w 549"/>
              <a:gd name="T37" fmla="*/ 159 h 512"/>
              <a:gd name="T38" fmla="*/ 37 w 549"/>
              <a:gd name="T39" fmla="*/ 146 h 512"/>
              <a:gd name="T40" fmla="*/ 0 w 549"/>
              <a:gd name="T41" fmla="*/ 146 h 512"/>
              <a:gd name="T42" fmla="*/ 37 w 549"/>
              <a:gd name="T43" fmla="*/ 439 h 512"/>
              <a:gd name="T44" fmla="*/ 37 w 549"/>
              <a:gd name="T45" fmla="*/ 421 h 512"/>
              <a:gd name="T46" fmla="*/ 42 w 549"/>
              <a:gd name="T47" fmla="*/ 408 h 512"/>
              <a:gd name="T48" fmla="*/ 56 w 549"/>
              <a:gd name="T49" fmla="*/ 402 h 512"/>
              <a:gd name="T50" fmla="*/ 73 w 549"/>
              <a:gd name="T51" fmla="*/ 402 h 512"/>
              <a:gd name="T52" fmla="*/ 73 w 549"/>
              <a:gd name="T53" fmla="*/ 183 h 512"/>
              <a:gd name="T54" fmla="*/ 146 w 549"/>
              <a:gd name="T55" fmla="*/ 183 h 512"/>
              <a:gd name="T56" fmla="*/ 146 w 549"/>
              <a:gd name="T57" fmla="*/ 402 h 512"/>
              <a:gd name="T58" fmla="*/ 183 w 549"/>
              <a:gd name="T59" fmla="*/ 402 h 512"/>
              <a:gd name="T60" fmla="*/ 183 w 549"/>
              <a:gd name="T61" fmla="*/ 183 h 512"/>
              <a:gd name="T62" fmla="*/ 256 w 549"/>
              <a:gd name="T63" fmla="*/ 183 h 512"/>
              <a:gd name="T64" fmla="*/ 256 w 549"/>
              <a:gd name="T65" fmla="*/ 402 h 512"/>
              <a:gd name="T66" fmla="*/ 293 w 549"/>
              <a:gd name="T67" fmla="*/ 402 h 512"/>
              <a:gd name="T68" fmla="*/ 293 w 549"/>
              <a:gd name="T69" fmla="*/ 183 h 512"/>
              <a:gd name="T70" fmla="*/ 366 w 549"/>
              <a:gd name="T71" fmla="*/ 183 h 512"/>
              <a:gd name="T72" fmla="*/ 366 w 549"/>
              <a:gd name="T73" fmla="*/ 402 h 512"/>
              <a:gd name="T74" fmla="*/ 402 w 549"/>
              <a:gd name="T75" fmla="*/ 402 h 512"/>
              <a:gd name="T76" fmla="*/ 402 w 549"/>
              <a:gd name="T77" fmla="*/ 183 h 512"/>
              <a:gd name="T78" fmla="*/ 475 w 549"/>
              <a:gd name="T79" fmla="*/ 183 h 512"/>
              <a:gd name="T80" fmla="*/ 475 w 549"/>
              <a:gd name="T81" fmla="*/ 402 h 512"/>
              <a:gd name="T82" fmla="*/ 492 w 549"/>
              <a:gd name="T83" fmla="*/ 402 h 512"/>
              <a:gd name="T84" fmla="*/ 506 w 549"/>
              <a:gd name="T85" fmla="*/ 408 h 512"/>
              <a:gd name="T86" fmla="*/ 512 w 549"/>
              <a:gd name="T87" fmla="*/ 421 h 512"/>
              <a:gd name="T88" fmla="*/ 512 w 549"/>
              <a:gd name="T89" fmla="*/ 439 h 512"/>
              <a:gd name="T90" fmla="*/ 37 w 549"/>
              <a:gd name="T91" fmla="*/ 43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49" h="512">
                <a:moveTo>
                  <a:pt x="0" y="475"/>
                </a:moveTo>
                <a:cubicBezTo>
                  <a:pt x="0" y="470"/>
                  <a:pt x="2" y="466"/>
                  <a:pt x="6" y="463"/>
                </a:cubicBezTo>
                <a:cubicBezTo>
                  <a:pt x="10" y="459"/>
                  <a:pt x="14" y="457"/>
                  <a:pt x="20" y="457"/>
                </a:cubicBezTo>
                <a:cubicBezTo>
                  <a:pt x="529" y="457"/>
                  <a:pt x="529" y="457"/>
                  <a:pt x="529" y="457"/>
                </a:cubicBezTo>
                <a:cubicBezTo>
                  <a:pt x="534" y="457"/>
                  <a:pt x="539" y="459"/>
                  <a:pt x="543" y="463"/>
                </a:cubicBezTo>
                <a:cubicBezTo>
                  <a:pt x="547" y="466"/>
                  <a:pt x="549" y="470"/>
                  <a:pt x="549" y="475"/>
                </a:cubicBezTo>
                <a:cubicBezTo>
                  <a:pt x="549" y="512"/>
                  <a:pt x="549" y="512"/>
                  <a:pt x="549" y="512"/>
                </a:cubicBezTo>
                <a:cubicBezTo>
                  <a:pt x="0" y="512"/>
                  <a:pt x="0" y="512"/>
                  <a:pt x="0" y="512"/>
                </a:cubicBezTo>
                <a:cubicBezTo>
                  <a:pt x="0" y="475"/>
                  <a:pt x="0" y="475"/>
                  <a:pt x="0" y="475"/>
                </a:cubicBezTo>
                <a:close/>
                <a:moveTo>
                  <a:pt x="0" y="146"/>
                </a:moveTo>
                <a:cubicBezTo>
                  <a:pt x="0" y="110"/>
                  <a:pt x="0" y="110"/>
                  <a:pt x="0" y="110"/>
                </a:cubicBezTo>
                <a:cubicBezTo>
                  <a:pt x="274" y="0"/>
                  <a:pt x="274" y="0"/>
                  <a:pt x="274" y="0"/>
                </a:cubicBezTo>
                <a:cubicBezTo>
                  <a:pt x="549" y="110"/>
                  <a:pt x="549" y="110"/>
                  <a:pt x="549" y="110"/>
                </a:cubicBezTo>
                <a:cubicBezTo>
                  <a:pt x="549" y="146"/>
                  <a:pt x="549" y="146"/>
                  <a:pt x="549" y="146"/>
                </a:cubicBezTo>
                <a:cubicBezTo>
                  <a:pt x="512" y="146"/>
                  <a:pt x="512" y="146"/>
                  <a:pt x="512" y="146"/>
                </a:cubicBezTo>
                <a:cubicBezTo>
                  <a:pt x="512" y="151"/>
                  <a:pt x="510" y="156"/>
                  <a:pt x="506" y="159"/>
                </a:cubicBezTo>
                <a:cubicBezTo>
                  <a:pt x="502" y="163"/>
                  <a:pt x="498" y="165"/>
                  <a:pt x="492" y="165"/>
                </a:cubicBezTo>
                <a:cubicBezTo>
                  <a:pt x="56" y="165"/>
                  <a:pt x="56" y="165"/>
                  <a:pt x="56" y="165"/>
                </a:cubicBezTo>
                <a:cubicBezTo>
                  <a:pt x="51" y="165"/>
                  <a:pt x="46" y="163"/>
                  <a:pt x="42" y="159"/>
                </a:cubicBezTo>
                <a:cubicBezTo>
                  <a:pt x="39" y="156"/>
                  <a:pt x="37" y="151"/>
                  <a:pt x="37" y="146"/>
                </a:cubicBezTo>
                <a:lnTo>
                  <a:pt x="0" y="146"/>
                </a:lnTo>
                <a:close/>
                <a:moveTo>
                  <a:pt x="37" y="439"/>
                </a:moveTo>
                <a:cubicBezTo>
                  <a:pt x="37" y="421"/>
                  <a:pt x="37" y="421"/>
                  <a:pt x="37" y="421"/>
                </a:cubicBezTo>
                <a:cubicBezTo>
                  <a:pt x="37" y="416"/>
                  <a:pt x="39" y="411"/>
                  <a:pt x="42" y="408"/>
                </a:cubicBezTo>
                <a:cubicBezTo>
                  <a:pt x="46" y="404"/>
                  <a:pt x="51" y="402"/>
                  <a:pt x="56" y="402"/>
                </a:cubicBezTo>
                <a:cubicBezTo>
                  <a:pt x="73" y="402"/>
                  <a:pt x="73" y="402"/>
                  <a:pt x="73" y="402"/>
                </a:cubicBezTo>
                <a:cubicBezTo>
                  <a:pt x="73" y="183"/>
                  <a:pt x="73" y="183"/>
                  <a:pt x="73" y="183"/>
                </a:cubicBezTo>
                <a:cubicBezTo>
                  <a:pt x="146" y="183"/>
                  <a:pt x="146" y="183"/>
                  <a:pt x="146" y="183"/>
                </a:cubicBezTo>
                <a:cubicBezTo>
                  <a:pt x="146" y="402"/>
                  <a:pt x="146" y="402"/>
                  <a:pt x="146" y="402"/>
                </a:cubicBezTo>
                <a:cubicBezTo>
                  <a:pt x="183" y="402"/>
                  <a:pt x="183" y="402"/>
                  <a:pt x="183" y="402"/>
                </a:cubicBezTo>
                <a:cubicBezTo>
                  <a:pt x="183" y="183"/>
                  <a:pt x="183" y="183"/>
                  <a:pt x="183" y="183"/>
                </a:cubicBezTo>
                <a:cubicBezTo>
                  <a:pt x="256" y="183"/>
                  <a:pt x="256" y="183"/>
                  <a:pt x="256" y="183"/>
                </a:cubicBezTo>
                <a:cubicBezTo>
                  <a:pt x="256" y="402"/>
                  <a:pt x="256" y="402"/>
                  <a:pt x="256" y="402"/>
                </a:cubicBezTo>
                <a:cubicBezTo>
                  <a:pt x="293" y="402"/>
                  <a:pt x="293" y="402"/>
                  <a:pt x="293" y="402"/>
                </a:cubicBezTo>
                <a:cubicBezTo>
                  <a:pt x="293" y="183"/>
                  <a:pt x="293" y="183"/>
                  <a:pt x="293" y="183"/>
                </a:cubicBezTo>
                <a:cubicBezTo>
                  <a:pt x="366" y="183"/>
                  <a:pt x="366" y="183"/>
                  <a:pt x="366" y="183"/>
                </a:cubicBezTo>
                <a:cubicBezTo>
                  <a:pt x="366" y="402"/>
                  <a:pt x="366" y="402"/>
                  <a:pt x="366" y="402"/>
                </a:cubicBezTo>
                <a:cubicBezTo>
                  <a:pt x="402" y="402"/>
                  <a:pt x="402" y="402"/>
                  <a:pt x="402" y="402"/>
                </a:cubicBezTo>
                <a:cubicBezTo>
                  <a:pt x="402" y="183"/>
                  <a:pt x="402" y="183"/>
                  <a:pt x="402" y="183"/>
                </a:cubicBezTo>
                <a:cubicBezTo>
                  <a:pt x="475" y="183"/>
                  <a:pt x="475" y="183"/>
                  <a:pt x="475" y="183"/>
                </a:cubicBezTo>
                <a:cubicBezTo>
                  <a:pt x="475" y="402"/>
                  <a:pt x="475" y="402"/>
                  <a:pt x="475" y="402"/>
                </a:cubicBezTo>
                <a:cubicBezTo>
                  <a:pt x="492" y="402"/>
                  <a:pt x="492" y="402"/>
                  <a:pt x="492" y="402"/>
                </a:cubicBezTo>
                <a:cubicBezTo>
                  <a:pt x="498" y="402"/>
                  <a:pt x="502" y="404"/>
                  <a:pt x="506" y="408"/>
                </a:cubicBezTo>
                <a:cubicBezTo>
                  <a:pt x="510" y="411"/>
                  <a:pt x="512" y="416"/>
                  <a:pt x="512" y="421"/>
                </a:cubicBezTo>
                <a:cubicBezTo>
                  <a:pt x="512" y="439"/>
                  <a:pt x="512" y="439"/>
                  <a:pt x="512" y="439"/>
                </a:cubicBezTo>
                <a:lnTo>
                  <a:pt x="37" y="439"/>
                </a:ln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7" name="Freeform 280">
            <a:extLst>
              <a:ext uri="{FF2B5EF4-FFF2-40B4-BE49-F238E27FC236}">
                <a16:creationId xmlns:a16="http://schemas.microsoft.com/office/drawing/2014/main" id="{4C763656-AD93-0D08-62B6-61E6634E4A9A}"/>
              </a:ext>
            </a:extLst>
          </p:cNvPr>
          <p:cNvSpPr>
            <a:spLocks noEditPoints="1"/>
          </p:cNvSpPr>
          <p:nvPr/>
        </p:nvSpPr>
        <p:spPr bwMode="auto">
          <a:xfrm>
            <a:off x="6483684" y="3104419"/>
            <a:ext cx="432318" cy="359221"/>
          </a:xfrm>
          <a:custGeom>
            <a:avLst/>
            <a:gdLst>
              <a:gd name="T0" fmla="*/ 0 w 283"/>
              <a:gd name="T1" fmla="*/ 282 h 282"/>
              <a:gd name="T2" fmla="*/ 142 w 283"/>
              <a:gd name="T3" fmla="*/ 282 h 282"/>
              <a:gd name="T4" fmla="*/ 142 w 283"/>
              <a:gd name="T5" fmla="*/ 0 h 282"/>
              <a:gd name="T6" fmla="*/ 0 w 283"/>
              <a:gd name="T7" fmla="*/ 0 h 282"/>
              <a:gd name="T8" fmla="*/ 0 w 283"/>
              <a:gd name="T9" fmla="*/ 282 h 282"/>
              <a:gd name="T10" fmla="*/ 89 w 283"/>
              <a:gd name="T11" fmla="*/ 35 h 282"/>
              <a:gd name="T12" fmla="*/ 124 w 283"/>
              <a:gd name="T13" fmla="*/ 35 h 282"/>
              <a:gd name="T14" fmla="*/ 124 w 283"/>
              <a:gd name="T15" fmla="*/ 70 h 282"/>
              <a:gd name="T16" fmla="*/ 89 w 283"/>
              <a:gd name="T17" fmla="*/ 70 h 282"/>
              <a:gd name="T18" fmla="*/ 89 w 283"/>
              <a:gd name="T19" fmla="*/ 35 h 282"/>
              <a:gd name="T20" fmla="*/ 89 w 283"/>
              <a:gd name="T21" fmla="*/ 106 h 282"/>
              <a:gd name="T22" fmla="*/ 124 w 283"/>
              <a:gd name="T23" fmla="*/ 106 h 282"/>
              <a:gd name="T24" fmla="*/ 124 w 283"/>
              <a:gd name="T25" fmla="*/ 141 h 282"/>
              <a:gd name="T26" fmla="*/ 89 w 283"/>
              <a:gd name="T27" fmla="*/ 141 h 282"/>
              <a:gd name="T28" fmla="*/ 89 w 283"/>
              <a:gd name="T29" fmla="*/ 106 h 282"/>
              <a:gd name="T30" fmla="*/ 89 w 283"/>
              <a:gd name="T31" fmla="*/ 176 h 282"/>
              <a:gd name="T32" fmla="*/ 124 w 283"/>
              <a:gd name="T33" fmla="*/ 176 h 282"/>
              <a:gd name="T34" fmla="*/ 124 w 283"/>
              <a:gd name="T35" fmla="*/ 212 h 282"/>
              <a:gd name="T36" fmla="*/ 89 w 283"/>
              <a:gd name="T37" fmla="*/ 212 h 282"/>
              <a:gd name="T38" fmla="*/ 89 w 283"/>
              <a:gd name="T39" fmla="*/ 176 h 282"/>
              <a:gd name="T40" fmla="*/ 18 w 283"/>
              <a:gd name="T41" fmla="*/ 35 h 282"/>
              <a:gd name="T42" fmla="*/ 53 w 283"/>
              <a:gd name="T43" fmla="*/ 35 h 282"/>
              <a:gd name="T44" fmla="*/ 53 w 283"/>
              <a:gd name="T45" fmla="*/ 70 h 282"/>
              <a:gd name="T46" fmla="*/ 18 w 283"/>
              <a:gd name="T47" fmla="*/ 70 h 282"/>
              <a:gd name="T48" fmla="*/ 18 w 283"/>
              <a:gd name="T49" fmla="*/ 35 h 282"/>
              <a:gd name="T50" fmla="*/ 18 w 283"/>
              <a:gd name="T51" fmla="*/ 106 h 282"/>
              <a:gd name="T52" fmla="*/ 53 w 283"/>
              <a:gd name="T53" fmla="*/ 106 h 282"/>
              <a:gd name="T54" fmla="*/ 53 w 283"/>
              <a:gd name="T55" fmla="*/ 141 h 282"/>
              <a:gd name="T56" fmla="*/ 18 w 283"/>
              <a:gd name="T57" fmla="*/ 141 h 282"/>
              <a:gd name="T58" fmla="*/ 18 w 283"/>
              <a:gd name="T59" fmla="*/ 106 h 282"/>
              <a:gd name="T60" fmla="*/ 18 w 283"/>
              <a:gd name="T61" fmla="*/ 176 h 282"/>
              <a:gd name="T62" fmla="*/ 53 w 283"/>
              <a:gd name="T63" fmla="*/ 176 h 282"/>
              <a:gd name="T64" fmla="*/ 53 w 283"/>
              <a:gd name="T65" fmla="*/ 212 h 282"/>
              <a:gd name="T66" fmla="*/ 18 w 283"/>
              <a:gd name="T67" fmla="*/ 212 h 282"/>
              <a:gd name="T68" fmla="*/ 18 w 283"/>
              <a:gd name="T69" fmla="*/ 176 h 282"/>
              <a:gd name="T70" fmla="*/ 159 w 283"/>
              <a:gd name="T71" fmla="*/ 88 h 282"/>
              <a:gd name="T72" fmla="*/ 283 w 283"/>
              <a:gd name="T73" fmla="*/ 88 h 282"/>
              <a:gd name="T74" fmla="*/ 283 w 283"/>
              <a:gd name="T75" fmla="*/ 106 h 282"/>
              <a:gd name="T76" fmla="*/ 159 w 283"/>
              <a:gd name="T77" fmla="*/ 106 h 282"/>
              <a:gd name="T78" fmla="*/ 159 w 283"/>
              <a:gd name="T79" fmla="*/ 88 h 282"/>
              <a:gd name="T80" fmla="*/ 159 w 283"/>
              <a:gd name="T81" fmla="*/ 282 h 282"/>
              <a:gd name="T82" fmla="*/ 195 w 283"/>
              <a:gd name="T83" fmla="*/ 282 h 282"/>
              <a:gd name="T84" fmla="*/ 195 w 283"/>
              <a:gd name="T85" fmla="*/ 212 h 282"/>
              <a:gd name="T86" fmla="*/ 248 w 283"/>
              <a:gd name="T87" fmla="*/ 212 h 282"/>
              <a:gd name="T88" fmla="*/ 248 w 283"/>
              <a:gd name="T89" fmla="*/ 282 h 282"/>
              <a:gd name="T90" fmla="*/ 283 w 283"/>
              <a:gd name="T91" fmla="*/ 282 h 282"/>
              <a:gd name="T92" fmla="*/ 283 w 283"/>
              <a:gd name="T93" fmla="*/ 123 h 282"/>
              <a:gd name="T94" fmla="*/ 159 w 283"/>
              <a:gd name="T95" fmla="*/ 123 h 282"/>
              <a:gd name="T96" fmla="*/ 159 w 283"/>
              <a:gd name="T97"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3" h="282">
                <a:moveTo>
                  <a:pt x="0" y="282"/>
                </a:moveTo>
                <a:lnTo>
                  <a:pt x="142" y="282"/>
                </a:lnTo>
                <a:lnTo>
                  <a:pt x="142" y="0"/>
                </a:lnTo>
                <a:lnTo>
                  <a:pt x="0" y="0"/>
                </a:lnTo>
                <a:lnTo>
                  <a:pt x="0" y="282"/>
                </a:lnTo>
                <a:close/>
                <a:moveTo>
                  <a:pt x="89" y="35"/>
                </a:moveTo>
                <a:lnTo>
                  <a:pt x="124" y="35"/>
                </a:lnTo>
                <a:lnTo>
                  <a:pt x="124" y="70"/>
                </a:lnTo>
                <a:lnTo>
                  <a:pt x="89" y="70"/>
                </a:lnTo>
                <a:lnTo>
                  <a:pt x="89" y="35"/>
                </a:lnTo>
                <a:close/>
                <a:moveTo>
                  <a:pt x="89" y="106"/>
                </a:moveTo>
                <a:lnTo>
                  <a:pt x="124" y="106"/>
                </a:lnTo>
                <a:lnTo>
                  <a:pt x="124" y="141"/>
                </a:lnTo>
                <a:lnTo>
                  <a:pt x="89" y="141"/>
                </a:lnTo>
                <a:lnTo>
                  <a:pt x="89" y="106"/>
                </a:lnTo>
                <a:close/>
                <a:moveTo>
                  <a:pt x="89" y="176"/>
                </a:moveTo>
                <a:lnTo>
                  <a:pt x="124" y="176"/>
                </a:lnTo>
                <a:lnTo>
                  <a:pt x="124" y="212"/>
                </a:lnTo>
                <a:lnTo>
                  <a:pt x="89" y="212"/>
                </a:lnTo>
                <a:lnTo>
                  <a:pt x="89" y="176"/>
                </a:lnTo>
                <a:close/>
                <a:moveTo>
                  <a:pt x="18" y="35"/>
                </a:moveTo>
                <a:lnTo>
                  <a:pt x="53" y="35"/>
                </a:lnTo>
                <a:lnTo>
                  <a:pt x="53" y="70"/>
                </a:lnTo>
                <a:lnTo>
                  <a:pt x="18" y="70"/>
                </a:lnTo>
                <a:lnTo>
                  <a:pt x="18" y="35"/>
                </a:lnTo>
                <a:close/>
                <a:moveTo>
                  <a:pt x="18" y="106"/>
                </a:moveTo>
                <a:lnTo>
                  <a:pt x="53" y="106"/>
                </a:lnTo>
                <a:lnTo>
                  <a:pt x="53" y="141"/>
                </a:lnTo>
                <a:lnTo>
                  <a:pt x="18" y="141"/>
                </a:lnTo>
                <a:lnTo>
                  <a:pt x="18" y="106"/>
                </a:lnTo>
                <a:close/>
                <a:moveTo>
                  <a:pt x="18" y="176"/>
                </a:moveTo>
                <a:lnTo>
                  <a:pt x="53" y="176"/>
                </a:lnTo>
                <a:lnTo>
                  <a:pt x="53" y="212"/>
                </a:lnTo>
                <a:lnTo>
                  <a:pt x="18" y="212"/>
                </a:lnTo>
                <a:lnTo>
                  <a:pt x="18" y="176"/>
                </a:lnTo>
                <a:close/>
                <a:moveTo>
                  <a:pt x="159" y="88"/>
                </a:moveTo>
                <a:lnTo>
                  <a:pt x="283" y="88"/>
                </a:lnTo>
                <a:lnTo>
                  <a:pt x="283" y="106"/>
                </a:lnTo>
                <a:lnTo>
                  <a:pt x="159" y="106"/>
                </a:lnTo>
                <a:lnTo>
                  <a:pt x="159" y="88"/>
                </a:lnTo>
                <a:close/>
                <a:moveTo>
                  <a:pt x="159" y="282"/>
                </a:moveTo>
                <a:lnTo>
                  <a:pt x="195" y="282"/>
                </a:lnTo>
                <a:lnTo>
                  <a:pt x="195" y="212"/>
                </a:lnTo>
                <a:lnTo>
                  <a:pt x="248" y="212"/>
                </a:lnTo>
                <a:lnTo>
                  <a:pt x="248" y="282"/>
                </a:lnTo>
                <a:lnTo>
                  <a:pt x="283" y="282"/>
                </a:lnTo>
                <a:lnTo>
                  <a:pt x="283" y="123"/>
                </a:lnTo>
                <a:lnTo>
                  <a:pt x="159" y="123"/>
                </a:lnTo>
                <a:lnTo>
                  <a:pt x="159" y="282"/>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8" name="Freeform 117">
            <a:extLst>
              <a:ext uri="{FF2B5EF4-FFF2-40B4-BE49-F238E27FC236}">
                <a16:creationId xmlns:a16="http://schemas.microsoft.com/office/drawing/2014/main" id="{3F519860-6642-6AC5-ECF5-A08D345EF66E}"/>
              </a:ext>
            </a:extLst>
          </p:cNvPr>
          <p:cNvSpPr>
            <a:spLocks noEditPoints="1"/>
          </p:cNvSpPr>
          <p:nvPr/>
        </p:nvSpPr>
        <p:spPr bwMode="auto">
          <a:xfrm>
            <a:off x="4778595" y="3113043"/>
            <a:ext cx="404791" cy="334389"/>
          </a:xfrm>
          <a:custGeom>
            <a:avLst/>
            <a:gdLst>
              <a:gd name="T0" fmla="*/ 0 w 567"/>
              <a:gd name="T1" fmla="*/ 356 h 457"/>
              <a:gd name="T2" fmla="*/ 0 w 567"/>
              <a:gd name="T3" fmla="*/ 246 h 457"/>
              <a:gd name="T4" fmla="*/ 19 w 567"/>
              <a:gd name="T5" fmla="*/ 201 h 457"/>
              <a:gd name="T6" fmla="*/ 64 w 567"/>
              <a:gd name="T7" fmla="*/ 182 h 457"/>
              <a:gd name="T8" fmla="*/ 72 w 567"/>
              <a:gd name="T9" fmla="*/ 182 h 457"/>
              <a:gd name="T10" fmla="*/ 102 w 567"/>
              <a:gd name="T11" fmla="*/ 63 h 457"/>
              <a:gd name="T12" fmla="*/ 132 w 567"/>
              <a:gd name="T13" fmla="*/ 18 h 457"/>
              <a:gd name="T14" fmla="*/ 183 w 567"/>
              <a:gd name="T15" fmla="*/ 0 h 457"/>
              <a:gd name="T16" fmla="*/ 384 w 567"/>
              <a:gd name="T17" fmla="*/ 0 h 457"/>
              <a:gd name="T18" fmla="*/ 435 w 567"/>
              <a:gd name="T19" fmla="*/ 18 h 457"/>
              <a:gd name="T20" fmla="*/ 465 w 567"/>
              <a:gd name="T21" fmla="*/ 63 h 457"/>
              <a:gd name="T22" fmla="*/ 495 w 567"/>
              <a:gd name="T23" fmla="*/ 182 h 457"/>
              <a:gd name="T24" fmla="*/ 503 w 567"/>
              <a:gd name="T25" fmla="*/ 182 h 457"/>
              <a:gd name="T26" fmla="*/ 548 w 567"/>
              <a:gd name="T27" fmla="*/ 201 h 457"/>
              <a:gd name="T28" fmla="*/ 567 w 567"/>
              <a:gd name="T29" fmla="*/ 246 h 457"/>
              <a:gd name="T30" fmla="*/ 567 w 567"/>
              <a:gd name="T31" fmla="*/ 356 h 457"/>
              <a:gd name="T32" fmla="*/ 564 w 567"/>
              <a:gd name="T33" fmla="*/ 363 h 457"/>
              <a:gd name="T34" fmla="*/ 558 w 567"/>
              <a:gd name="T35" fmla="*/ 365 h 457"/>
              <a:gd name="T36" fmla="*/ 521 w 567"/>
              <a:gd name="T37" fmla="*/ 365 h 457"/>
              <a:gd name="T38" fmla="*/ 521 w 567"/>
              <a:gd name="T39" fmla="*/ 402 h 457"/>
              <a:gd name="T40" fmla="*/ 505 w 567"/>
              <a:gd name="T41" fmla="*/ 441 h 457"/>
              <a:gd name="T42" fmla="*/ 466 w 567"/>
              <a:gd name="T43" fmla="*/ 457 h 457"/>
              <a:gd name="T44" fmla="*/ 427 w 567"/>
              <a:gd name="T45" fmla="*/ 441 h 457"/>
              <a:gd name="T46" fmla="*/ 411 w 567"/>
              <a:gd name="T47" fmla="*/ 402 h 457"/>
              <a:gd name="T48" fmla="*/ 411 w 567"/>
              <a:gd name="T49" fmla="*/ 365 h 457"/>
              <a:gd name="T50" fmla="*/ 146 w 567"/>
              <a:gd name="T51" fmla="*/ 365 h 457"/>
              <a:gd name="T52" fmla="*/ 146 w 567"/>
              <a:gd name="T53" fmla="*/ 402 h 457"/>
              <a:gd name="T54" fmla="*/ 130 w 567"/>
              <a:gd name="T55" fmla="*/ 441 h 457"/>
              <a:gd name="T56" fmla="*/ 91 w 567"/>
              <a:gd name="T57" fmla="*/ 457 h 457"/>
              <a:gd name="T58" fmla="*/ 53 w 567"/>
              <a:gd name="T59" fmla="*/ 441 h 457"/>
              <a:gd name="T60" fmla="*/ 37 w 567"/>
              <a:gd name="T61" fmla="*/ 402 h 457"/>
              <a:gd name="T62" fmla="*/ 37 w 567"/>
              <a:gd name="T63" fmla="*/ 365 h 457"/>
              <a:gd name="T64" fmla="*/ 9 w 567"/>
              <a:gd name="T65" fmla="*/ 365 h 457"/>
              <a:gd name="T66" fmla="*/ 3 w 567"/>
              <a:gd name="T67" fmla="*/ 363 h 457"/>
              <a:gd name="T68" fmla="*/ 0 w 567"/>
              <a:gd name="T69" fmla="*/ 356 h 457"/>
              <a:gd name="T70" fmla="*/ 46 w 567"/>
              <a:gd name="T71" fmla="*/ 274 h 457"/>
              <a:gd name="T72" fmla="*/ 59 w 567"/>
              <a:gd name="T73" fmla="*/ 306 h 457"/>
              <a:gd name="T74" fmla="*/ 91 w 567"/>
              <a:gd name="T75" fmla="*/ 320 h 457"/>
              <a:gd name="T76" fmla="*/ 124 w 567"/>
              <a:gd name="T77" fmla="*/ 306 h 457"/>
              <a:gd name="T78" fmla="*/ 137 w 567"/>
              <a:gd name="T79" fmla="*/ 274 h 457"/>
              <a:gd name="T80" fmla="*/ 124 w 567"/>
              <a:gd name="T81" fmla="*/ 242 h 457"/>
              <a:gd name="T82" fmla="*/ 91 w 567"/>
              <a:gd name="T83" fmla="*/ 228 h 457"/>
              <a:gd name="T84" fmla="*/ 59 w 567"/>
              <a:gd name="T85" fmla="*/ 242 h 457"/>
              <a:gd name="T86" fmla="*/ 46 w 567"/>
              <a:gd name="T87" fmla="*/ 274 h 457"/>
              <a:gd name="T88" fmla="*/ 147 w 567"/>
              <a:gd name="T89" fmla="*/ 182 h 457"/>
              <a:gd name="T90" fmla="*/ 419 w 567"/>
              <a:gd name="T91" fmla="*/ 182 h 457"/>
              <a:gd name="T92" fmla="*/ 394 w 567"/>
              <a:gd name="T93" fmla="*/ 80 h 457"/>
              <a:gd name="T94" fmla="*/ 390 w 567"/>
              <a:gd name="T95" fmla="*/ 75 h 457"/>
              <a:gd name="T96" fmla="*/ 384 w 567"/>
              <a:gd name="T97" fmla="*/ 73 h 457"/>
              <a:gd name="T98" fmla="*/ 183 w 567"/>
              <a:gd name="T99" fmla="*/ 73 h 457"/>
              <a:gd name="T100" fmla="*/ 177 w 567"/>
              <a:gd name="T101" fmla="*/ 75 h 457"/>
              <a:gd name="T102" fmla="*/ 173 w 567"/>
              <a:gd name="T103" fmla="*/ 80 h 457"/>
              <a:gd name="T104" fmla="*/ 147 w 567"/>
              <a:gd name="T105" fmla="*/ 182 h 457"/>
              <a:gd name="T106" fmla="*/ 421 w 567"/>
              <a:gd name="T107" fmla="*/ 274 h 457"/>
              <a:gd name="T108" fmla="*/ 434 w 567"/>
              <a:gd name="T109" fmla="*/ 306 h 457"/>
              <a:gd name="T110" fmla="*/ 466 w 567"/>
              <a:gd name="T111" fmla="*/ 320 h 457"/>
              <a:gd name="T112" fmla="*/ 499 w 567"/>
              <a:gd name="T113" fmla="*/ 306 h 457"/>
              <a:gd name="T114" fmla="*/ 512 w 567"/>
              <a:gd name="T115" fmla="*/ 274 h 457"/>
              <a:gd name="T116" fmla="*/ 499 w 567"/>
              <a:gd name="T117" fmla="*/ 242 h 457"/>
              <a:gd name="T118" fmla="*/ 466 w 567"/>
              <a:gd name="T119" fmla="*/ 228 h 457"/>
              <a:gd name="T120" fmla="*/ 434 w 567"/>
              <a:gd name="T121" fmla="*/ 242 h 457"/>
              <a:gd name="T122" fmla="*/ 421 w 567"/>
              <a:gd name="T123" fmla="*/ 27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 h="457">
                <a:moveTo>
                  <a:pt x="0" y="356"/>
                </a:moveTo>
                <a:cubicBezTo>
                  <a:pt x="0" y="246"/>
                  <a:pt x="0" y="246"/>
                  <a:pt x="0" y="246"/>
                </a:cubicBezTo>
                <a:cubicBezTo>
                  <a:pt x="0" y="229"/>
                  <a:pt x="6" y="214"/>
                  <a:pt x="19" y="201"/>
                </a:cubicBezTo>
                <a:cubicBezTo>
                  <a:pt x="31" y="189"/>
                  <a:pt x="46" y="182"/>
                  <a:pt x="64" y="182"/>
                </a:cubicBezTo>
                <a:cubicBezTo>
                  <a:pt x="72" y="182"/>
                  <a:pt x="72" y="182"/>
                  <a:pt x="72" y="182"/>
                </a:cubicBezTo>
                <a:cubicBezTo>
                  <a:pt x="102" y="63"/>
                  <a:pt x="102" y="63"/>
                  <a:pt x="102" y="63"/>
                </a:cubicBezTo>
                <a:cubicBezTo>
                  <a:pt x="106" y="45"/>
                  <a:pt x="116" y="30"/>
                  <a:pt x="132" y="18"/>
                </a:cubicBezTo>
                <a:cubicBezTo>
                  <a:pt x="147" y="6"/>
                  <a:pt x="164" y="0"/>
                  <a:pt x="183" y="0"/>
                </a:cubicBezTo>
                <a:cubicBezTo>
                  <a:pt x="384" y="0"/>
                  <a:pt x="384" y="0"/>
                  <a:pt x="384" y="0"/>
                </a:cubicBezTo>
                <a:cubicBezTo>
                  <a:pt x="403" y="0"/>
                  <a:pt x="420" y="6"/>
                  <a:pt x="435" y="18"/>
                </a:cubicBezTo>
                <a:cubicBezTo>
                  <a:pt x="451" y="30"/>
                  <a:pt x="460" y="45"/>
                  <a:pt x="465" y="63"/>
                </a:cubicBezTo>
                <a:cubicBezTo>
                  <a:pt x="495" y="182"/>
                  <a:pt x="495" y="182"/>
                  <a:pt x="495" y="182"/>
                </a:cubicBezTo>
                <a:cubicBezTo>
                  <a:pt x="503" y="182"/>
                  <a:pt x="503" y="182"/>
                  <a:pt x="503" y="182"/>
                </a:cubicBezTo>
                <a:cubicBezTo>
                  <a:pt x="521" y="182"/>
                  <a:pt x="536" y="189"/>
                  <a:pt x="548" y="201"/>
                </a:cubicBezTo>
                <a:cubicBezTo>
                  <a:pt x="561" y="214"/>
                  <a:pt x="567" y="229"/>
                  <a:pt x="567" y="246"/>
                </a:cubicBezTo>
                <a:cubicBezTo>
                  <a:pt x="567" y="356"/>
                  <a:pt x="567" y="356"/>
                  <a:pt x="567" y="356"/>
                </a:cubicBezTo>
                <a:cubicBezTo>
                  <a:pt x="567" y="359"/>
                  <a:pt x="566" y="361"/>
                  <a:pt x="564" y="363"/>
                </a:cubicBezTo>
                <a:cubicBezTo>
                  <a:pt x="563" y="364"/>
                  <a:pt x="560" y="365"/>
                  <a:pt x="558" y="365"/>
                </a:cubicBezTo>
                <a:cubicBezTo>
                  <a:pt x="521" y="365"/>
                  <a:pt x="521" y="365"/>
                  <a:pt x="521" y="365"/>
                </a:cubicBezTo>
                <a:cubicBezTo>
                  <a:pt x="521" y="402"/>
                  <a:pt x="521" y="402"/>
                  <a:pt x="521" y="402"/>
                </a:cubicBezTo>
                <a:cubicBezTo>
                  <a:pt x="521" y="417"/>
                  <a:pt x="516" y="430"/>
                  <a:pt x="505" y="441"/>
                </a:cubicBezTo>
                <a:cubicBezTo>
                  <a:pt x="494" y="451"/>
                  <a:pt x="482" y="457"/>
                  <a:pt x="466" y="457"/>
                </a:cubicBezTo>
                <a:cubicBezTo>
                  <a:pt x="451" y="457"/>
                  <a:pt x="438" y="451"/>
                  <a:pt x="427" y="441"/>
                </a:cubicBezTo>
                <a:cubicBezTo>
                  <a:pt x="417" y="430"/>
                  <a:pt x="411" y="417"/>
                  <a:pt x="411" y="402"/>
                </a:cubicBezTo>
                <a:cubicBezTo>
                  <a:pt x="411" y="365"/>
                  <a:pt x="411" y="365"/>
                  <a:pt x="411" y="365"/>
                </a:cubicBezTo>
                <a:cubicBezTo>
                  <a:pt x="146" y="365"/>
                  <a:pt x="146" y="365"/>
                  <a:pt x="146" y="365"/>
                </a:cubicBezTo>
                <a:cubicBezTo>
                  <a:pt x="146" y="402"/>
                  <a:pt x="146" y="402"/>
                  <a:pt x="146" y="402"/>
                </a:cubicBezTo>
                <a:cubicBezTo>
                  <a:pt x="146" y="417"/>
                  <a:pt x="141" y="430"/>
                  <a:pt x="130" y="441"/>
                </a:cubicBezTo>
                <a:cubicBezTo>
                  <a:pt x="120" y="451"/>
                  <a:pt x="107" y="457"/>
                  <a:pt x="91" y="457"/>
                </a:cubicBezTo>
                <a:cubicBezTo>
                  <a:pt x="76" y="457"/>
                  <a:pt x="63" y="451"/>
                  <a:pt x="53" y="441"/>
                </a:cubicBezTo>
                <a:cubicBezTo>
                  <a:pt x="42" y="430"/>
                  <a:pt x="37" y="417"/>
                  <a:pt x="37" y="402"/>
                </a:cubicBezTo>
                <a:cubicBezTo>
                  <a:pt x="37" y="365"/>
                  <a:pt x="37" y="365"/>
                  <a:pt x="37" y="365"/>
                </a:cubicBezTo>
                <a:cubicBezTo>
                  <a:pt x="9" y="365"/>
                  <a:pt x="9" y="365"/>
                  <a:pt x="9" y="365"/>
                </a:cubicBezTo>
                <a:cubicBezTo>
                  <a:pt x="6" y="365"/>
                  <a:pt x="4" y="364"/>
                  <a:pt x="3" y="363"/>
                </a:cubicBezTo>
                <a:cubicBezTo>
                  <a:pt x="1" y="361"/>
                  <a:pt x="0" y="359"/>
                  <a:pt x="0" y="356"/>
                </a:cubicBezTo>
                <a:close/>
                <a:moveTo>
                  <a:pt x="46" y="274"/>
                </a:moveTo>
                <a:cubicBezTo>
                  <a:pt x="46" y="286"/>
                  <a:pt x="50" y="297"/>
                  <a:pt x="59" y="306"/>
                </a:cubicBezTo>
                <a:cubicBezTo>
                  <a:pt x="68" y="315"/>
                  <a:pt x="79" y="320"/>
                  <a:pt x="91" y="320"/>
                </a:cubicBezTo>
                <a:cubicBezTo>
                  <a:pt x="104" y="320"/>
                  <a:pt x="115" y="315"/>
                  <a:pt x="124" y="306"/>
                </a:cubicBezTo>
                <a:cubicBezTo>
                  <a:pt x="133" y="297"/>
                  <a:pt x="137" y="286"/>
                  <a:pt x="137" y="274"/>
                </a:cubicBezTo>
                <a:cubicBezTo>
                  <a:pt x="137" y="261"/>
                  <a:pt x="133" y="251"/>
                  <a:pt x="124" y="242"/>
                </a:cubicBezTo>
                <a:cubicBezTo>
                  <a:pt x="115" y="233"/>
                  <a:pt x="104" y="228"/>
                  <a:pt x="91" y="228"/>
                </a:cubicBezTo>
                <a:cubicBezTo>
                  <a:pt x="79" y="228"/>
                  <a:pt x="68" y="233"/>
                  <a:pt x="59" y="242"/>
                </a:cubicBezTo>
                <a:cubicBezTo>
                  <a:pt x="50" y="251"/>
                  <a:pt x="46" y="261"/>
                  <a:pt x="46" y="274"/>
                </a:cubicBezTo>
                <a:close/>
                <a:moveTo>
                  <a:pt x="147" y="182"/>
                </a:moveTo>
                <a:cubicBezTo>
                  <a:pt x="419" y="182"/>
                  <a:pt x="419" y="182"/>
                  <a:pt x="419" y="182"/>
                </a:cubicBezTo>
                <a:cubicBezTo>
                  <a:pt x="394" y="80"/>
                  <a:pt x="394" y="80"/>
                  <a:pt x="394" y="80"/>
                </a:cubicBezTo>
                <a:cubicBezTo>
                  <a:pt x="394" y="79"/>
                  <a:pt x="392" y="77"/>
                  <a:pt x="390" y="75"/>
                </a:cubicBezTo>
                <a:cubicBezTo>
                  <a:pt x="388" y="74"/>
                  <a:pt x="386" y="73"/>
                  <a:pt x="384" y="73"/>
                </a:cubicBezTo>
                <a:cubicBezTo>
                  <a:pt x="183" y="73"/>
                  <a:pt x="183" y="73"/>
                  <a:pt x="183" y="73"/>
                </a:cubicBezTo>
                <a:cubicBezTo>
                  <a:pt x="181" y="73"/>
                  <a:pt x="179" y="74"/>
                  <a:pt x="177" y="75"/>
                </a:cubicBezTo>
                <a:cubicBezTo>
                  <a:pt x="175" y="77"/>
                  <a:pt x="173" y="79"/>
                  <a:pt x="173" y="80"/>
                </a:cubicBezTo>
                <a:lnTo>
                  <a:pt x="147" y="182"/>
                </a:lnTo>
                <a:close/>
                <a:moveTo>
                  <a:pt x="421" y="274"/>
                </a:moveTo>
                <a:cubicBezTo>
                  <a:pt x="421" y="286"/>
                  <a:pt x="425" y="297"/>
                  <a:pt x="434" y="306"/>
                </a:cubicBezTo>
                <a:cubicBezTo>
                  <a:pt x="443" y="315"/>
                  <a:pt x="454" y="320"/>
                  <a:pt x="466" y="320"/>
                </a:cubicBezTo>
                <a:cubicBezTo>
                  <a:pt x="479" y="320"/>
                  <a:pt x="490" y="315"/>
                  <a:pt x="499" y="306"/>
                </a:cubicBezTo>
                <a:cubicBezTo>
                  <a:pt x="508" y="297"/>
                  <a:pt x="512" y="286"/>
                  <a:pt x="512" y="274"/>
                </a:cubicBezTo>
                <a:cubicBezTo>
                  <a:pt x="512" y="261"/>
                  <a:pt x="508" y="251"/>
                  <a:pt x="499" y="242"/>
                </a:cubicBezTo>
                <a:cubicBezTo>
                  <a:pt x="490" y="233"/>
                  <a:pt x="479" y="228"/>
                  <a:pt x="466" y="228"/>
                </a:cubicBezTo>
                <a:cubicBezTo>
                  <a:pt x="454" y="228"/>
                  <a:pt x="443" y="233"/>
                  <a:pt x="434" y="242"/>
                </a:cubicBezTo>
                <a:cubicBezTo>
                  <a:pt x="425" y="251"/>
                  <a:pt x="421" y="261"/>
                  <a:pt x="421" y="274"/>
                </a:cubicBez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accent6"/>
              </a:solidFill>
              <a:effectLst/>
              <a:uLnTx/>
              <a:uFillTx/>
              <a:latin typeface="+mn-lt"/>
              <a:ea typeface="+mn-ea"/>
              <a:cs typeface="+mn-cs"/>
            </a:endParaRPr>
          </a:p>
        </p:txBody>
      </p:sp>
      <p:sp>
        <p:nvSpPr>
          <p:cNvPr id="70" name="Freeform 9">
            <a:extLst>
              <a:ext uri="{FF2B5EF4-FFF2-40B4-BE49-F238E27FC236}">
                <a16:creationId xmlns:a16="http://schemas.microsoft.com/office/drawing/2014/main" id="{B9703966-BDED-57D6-BADF-98307EC6ACCF}"/>
              </a:ext>
            </a:extLst>
          </p:cNvPr>
          <p:cNvSpPr/>
          <p:nvPr/>
        </p:nvSpPr>
        <p:spPr>
          <a:xfrm>
            <a:off x="1576261" y="395752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4" name="TextBox 71">
            <a:extLst>
              <a:ext uri="{FF2B5EF4-FFF2-40B4-BE49-F238E27FC236}">
                <a16:creationId xmlns:a16="http://schemas.microsoft.com/office/drawing/2014/main" id="{B59CE6B8-DEDF-816F-771E-E67BB358D005}"/>
              </a:ext>
            </a:extLst>
          </p:cNvPr>
          <p:cNvSpPr txBox="1"/>
          <p:nvPr/>
        </p:nvSpPr>
        <p:spPr>
          <a:xfrm>
            <a:off x="1709722" y="2970913"/>
            <a:ext cx="1992587" cy="546524"/>
          </a:xfrm>
          <a:prstGeom prst="rect">
            <a:avLst/>
          </a:prstGeom>
          <a:noFill/>
          <a:ln w="9525">
            <a:noFill/>
          </a:ln>
        </p:spPr>
        <p:txBody>
          <a:bodyPr wrap="square">
            <a:noAutofit/>
          </a:bodyPr>
          <a:lstStyle/>
          <a:p>
            <a:pPr algn="just" eaLnBrk="1" hangingPunct="1">
              <a:buNone/>
            </a:pPr>
            <a:r>
              <a:rPr lang="en-US" altLang="zh-CN" sz="2400" b="1" dirty="0">
                <a:solidFill>
                  <a:schemeClr val="accent1"/>
                </a:solidFill>
                <a:latin typeface="Times New Roman" panose="02020603050405020304" charset="0"/>
                <a:cs typeface="Times New Roman" panose="02020603050405020304" charset="0"/>
              </a:rPr>
              <a:t>performance</a:t>
            </a:r>
          </a:p>
        </p:txBody>
      </p:sp>
      <p:sp>
        <p:nvSpPr>
          <p:cNvPr id="7" name="TextBox 71">
            <a:extLst>
              <a:ext uri="{FF2B5EF4-FFF2-40B4-BE49-F238E27FC236}">
                <a16:creationId xmlns:a16="http://schemas.microsoft.com/office/drawing/2014/main" id="{E6BB0EE5-D460-E034-30DF-74C694638AF1}"/>
              </a:ext>
            </a:extLst>
          </p:cNvPr>
          <p:cNvSpPr txBox="1"/>
          <p:nvPr/>
        </p:nvSpPr>
        <p:spPr>
          <a:xfrm>
            <a:off x="8192258" y="4374740"/>
            <a:ext cx="2307023" cy="1295374"/>
          </a:xfrm>
          <a:prstGeom prst="rect">
            <a:avLst/>
          </a:prstGeom>
          <a:noFill/>
          <a:ln w="9525">
            <a:noFill/>
          </a:ln>
        </p:spPr>
        <p:txBody>
          <a:bodyPr wrap="square">
            <a:noAutofit/>
          </a:bodyPr>
          <a:lstStyle>
            <a:defPPr>
              <a:defRPr lang="zh-CN"/>
            </a:defPPr>
            <a:lvl1pPr algn="just">
              <a:lnSpc>
                <a:spcPct val="150000"/>
              </a:lnSpc>
              <a:buNone/>
              <a:defRPr sz="2160">
                <a:solidFill>
                  <a:schemeClr val="accent1"/>
                </a:solidFill>
                <a:latin typeface="Times New Roman" panose="02020603050405020304" charset="0"/>
                <a:cs typeface="Times New Roman" panose="02020603050405020304" charset="0"/>
              </a:defRPr>
            </a:lvl1pPr>
          </a:lstStyle>
          <a:p>
            <a:endParaRPr lang="en-US" altLang="zh-CN" sz="2400" b="1" dirty="0"/>
          </a:p>
          <a:p>
            <a:r>
              <a:rPr lang="en-US" altLang="zh-CN" sz="2400" b="1" dirty="0"/>
              <a:t>Interpretability</a:t>
            </a:r>
          </a:p>
        </p:txBody>
      </p:sp>
      <p:sp>
        <p:nvSpPr>
          <p:cNvPr id="8" name="TextBox 71">
            <a:extLst>
              <a:ext uri="{FF2B5EF4-FFF2-40B4-BE49-F238E27FC236}">
                <a16:creationId xmlns:a16="http://schemas.microsoft.com/office/drawing/2014/main" id="{886244EA-2964-C66D-BB1F-826C22DA4DFC}"/>
              </a:ext>
            </a:extLst>
          </p:cNvPr>
          <p:cNvSpPr txBox="1"/>
          <p:nvPr/>
        </p:nvSpPr>
        <p:spPr>
          <a:xfrm>
            <a:off x="8192258" y="2884050"/>
            <a:ext cx="2544719" cy="690918"/>
          </a:xfrm>
          <a:prstGeom prst="rect">
            <a:avLst/>
          </a:prstGeom>
          <a:noFill/>
          <a:ln w="9525">
            <a:noFill/>
          </a:ln>
        </p:spPr>
        <p:txBody>
          <a:bodyPr wrap="square">
            <a:noAutofit/>
          </a:bodyPr>
          <a:lstStyle/>
          <a:p>
            <a:pPr algn="just" eaLnBrk="1" hangingPunct="1">
              <a:lnSpc>
                <a:spcPct val="150000"/>
              </a:lnSpc>
              <a:buNone/>
            </a:pPr>
            <a:r>
              <a:rPr lang="en-US" altLang="zh-CN" sz="2400" b="1" dirty="0">
                <a:solidFill>
                  <a:schemeClr val="accent1"/>
                </a:solidFill>
                <a:latin typeface="Times New Roman" panose="02020603050405020304" charset="0"/>
                <a:cs typeface="Times New Roman" panose="02020603050405020304" charset="0"/>
              </a:rPr>
              <a:t>Generalization</a:t>
            </a:r>
          </a:p>
        </p:txBody>
      </p:sp>
      <p:sp>
        <p:nvSpPr>
          <p:cNvPr id="9" name="TextBox 71">
            <a:extLst>
              <a:ext uri="{FF2B5EF4-FFF2-40B4-BE49-F238E27FC236}">
                <a16:creationId xmlns:a16="http://schemas.microsoft.com/office/drawing/2014/main" id="{0076716B-9427-2CA7-ACC0-625A13856164}"/>
              </a:ext>
            </a:extLst>
          </p:cNvPr>
          <p:cNvSpPr txBox="1"/>
          <p:nvPr/>
        </p:nvSpPr>
        <p:spPr>
          <a:xfrm>
            <a:off x="1789257" y="4170546"/>
            <a:ext cx="1638632" cy="948097"/>
          </a:xfrm>
          <a:prstGeom prst="rect">
            <a:avLst/>
          </a:prstGeom>
          <a:noFill/>
          <a:ln w="9525">
            <a:noFill/>
          </a:ln>
        </p:spPr>
        <p:txBody>
          <a:bodyPr wrap="square">
            <a:noAutofit/>
          </a:bodyPr>
          <a:lstStyle/>
          <a:p>
            <a:pPr algn="just" eaLnBrk="1" hangingPunct="1">
              <a:lnSpc>
                <a:spcPct val="150000"/>
              </a:lnSpc>
              <a:buNone/>
            </a:pPr>
            <a:endParaRPr lang="en-US" altLang="zh-CN" sz="2400" dirty="0">
              <a:solidFill>
                <a:schemeClr val="accent1"/>
              </a:solidFill>
              <a:latin typeface="Times New Roman" panose="02020603050405020304" charset="0"/>
              <a:cs typeface="Times New Roman" panose="02020603050405020304" charset="0"/>
            </a:endParaRPr>
          </a:p>
          <a:p>
            <a:pPr algn="just" eaLnBrk="1" hangingPunct="1">
              <a:lnSpc>
                <a:spcPct val="150000"/>
              </a:lnSpc>
              <a:buNone/>
            </a:pPr>
            <a:r>
              <a:rPr lang="en-US" altLang="zh-CN" sz="2400" b="1" dirty="0">
                <a:solidFill>
                  <a:schemeClr val="accent1"/>
                </a:solidFill>
                <a:latin typeface="Times New Roman" panose="02020603050405020304" charset="0"/>
                <a:cs typeface="Times New Roman" panose="02020603050405020304" charset="0"/>
              </a:rPr>
              <a:t>Flexibility</a:t>
            </a:r>
          </a:p>
        </p:txBody>
      </p:sp>
      <p:sp>
        <p:nvSpPr>
          <p:cNvPr id="2" name="Title 2">
            <a:extLst>
              <a:ext uri="{FF2B5EF4-FFF2-40B4-BE49-F238E27FC236}">
                <a16:creationId xmlns:a16="http://schemas.microsoft.com/office/drawing/2014/main" id="{E26394FA-46BA-52FA-7FB6-F8528C0741E1}"/>
              </a:ext>
            </a:extLst>
          </p:cNvPr>
          <p:cNvSpPr txBox="1">
            <a:spLocks/>
          </p:cNvSpPr>
          <p:nvPr/>
        </p:nvSpPr>
        <p:spPr>
          <a:xfrm>
            <a:off x="838200" y="287326"/>
            <a:ext cx="10515600" cy="512446"/>
          </a:xfrm>
          <a:prstGeom prst="rect">
            <a:avLst/>
          </a:prstGeom>
          <a:noFill/>
          <a:ln>
            <a:noFill/>
          </a:ln>
        </p:spPr>
        <p:txBody>
          <a:bodyPr vert="horz" lIns="109728" tIns="54864" rIns="109728" bIns="54864" rtlCol="0" anchor="ctr" anchorCtr="0">
            <a:noAutofit/>
          </a:bodyPr>
          <a:lstStyle>
            <a:lvl1pPr algn="ctr" defTabSz="914400" rtl="0" eaLnBrk="1" latinLnBrk="0" hangingPunct="1">
              <a:lnSpc>
                <a:spcPct val="90000"/>
              </a:lnSpc>
              <a:spcBef>
                <a:spcPct val="0"/>
              </a:spcBef>
              <a:buNone/>
              <a:defRPr sz="2880" kern="1200">
                <a:solidFill>
                  <a:schemeClr val="tx2"/>
                </a:solidFill>
                <a:latin typeface="Open Sans Light" pitchFamily="34" charset="0"/>
                <a:ea typeface="Open Sans Light" pitchFamily="34" charset="0"/>
                <a:cs typeface="Open Sans Light" pitchFamily="34" charset="0"/>
              </a:defRPr>
            </a:lvl1pPr>
          </a:lstStyle>
          <a:p>
            <a:pPr defTabSz="762000"/>
            <a:r>
              <a:rPr lang="en-US" altLang="zh-CN" sz="3360" b="1" dirty="0">
                <a:latin typeface="Times New Roman" panose="02020603050405020304" pitchFamily="18" charset="0"/>
                <a:ea typeface="+mj-ea"/>
                <a:cs typeface="Times New Roman" panose="02020603050405020304" pitchFamily="18" charset="0"/>
              </a:rPr>
              <a:t>5 Comprehensive Comparison and Analysis</a:t>
            </a:r>
          </a:p>
        </p:txBody>
      </p:sp>
      <p:sp>
        <p:nvSpPr>
          <p:cNvPr id="6" name="文本框 5">
            <a:extLst>
              <a:ext uri="{FF2B5EF4-FFF2-40B4-BE49-F238E27FC236}">
                <a16:creationId xmlns:a16="http://schemas.microsoft.com/office/drawing/2014/main" id="{9AFD6BB8-7F72-A67D-A360-F5866B01BF65}"/>
              </a:ext>
            </a:extLst>
          </p:cNvPr>
          <p:cNvSpPr txBox="1"/>
          <p:nvPr/>
        </p:nvSpPr>
        <p:spPr>
          <a:xfrm>
            <a:off x="765810" y="1083884"/>
            <a:ext cx="10515600" cy="1200329"/>
          </a:xfrm>
          <a:prstGeom prst="rect">
            <a:avLst/>
          </a:prstGeom>
          <a:noFill/>
          <a:ln w="9525">
            <a:noFill/>
          </a:ln>
        </p:spPr>
        <p:txBody>
          <a:bodyPr wrap="square">
            <a:noAutofit/>
          </a:bodyPr>
          <a:lstStyle>
            <a:defPPr>
              <a:defRPr lang="zh-CN"/>
            </a:defPPr>
            <a:lvl1pPr algn="just">
              <a:buNone/>
              <a:defRPr sz="2400" b="1">
                <a:solidFill>
                  <a:schemeClr val="accent1"/>
                </a:solidFill>
                <a:latin typeface="Times New Roman" panose="02020603050405020304" charset="0"/>
                <a:cs typeface="Times New Roman" panose="02020603050405020304" charset="0"/>
              </a:defRPr>
            </a:lvl1pPr>
          </a:lstStyle>
          <a:p>
            <a:r>
              <a:rPr lang="en-US" altLang="zh-CN" dirty="0">
                <a:latin typeface="Times New Roman" panose="02020603050405020304" pitchFamily="18" charset="0"/>
                <a:cs typeface="Times New Roman" panose="02020603050405020304" pitchFamily="18" charset="0"/>
              </a:rPr>
              <a:t>Having independently evaluated In-Context Learning (ICL) and Classical Machine Learning (CML) approaches, we now turn to a head-to-head comparison across key dimensions: </a:t>
            </a:r>
          </a:p>
        </p:txBody>
      </p:sp>
    </p:spTree>
    <p:extLst>
      <p:ext uri="{BB962C8B-B14F-4D97-AF65-F5344CB8AC3E}">
        <p14:creationId xmlns:p14="http://schemas.microsoft.com/office/powerpoint/2010/main" val="383846760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1000" fill="hold"/>
                                        <p:tgtEl>
                                          <p:spTgt spid="65"/>
                                        </p:tgtEl>
                                        <p:attrNameLst>
                                          <p:attrName>ppt_w</p:attrName>
                                        </p:attrNameLst>
                                      </p:cBhvr>
                                      <p:tavLst>
                                        <p:tav tm="0">
                                          <p:val>
                                            <p:fltVal val="0"/>
                                          </p:val>
                                        </p:tav>
                                        <p:tav tm="100000">
                                          <p:val>
                                            <p:strVal val="#ppt_w"/>
                                          </p:val>
                                        </p:tav>
                                      </p:tavLst>
                                    </p:anim>
                                    <p:anim calcmode="lin" valueType="num">
                                      <p:cBhvr>
                                        <p:cTn id="8" dur="1000" fill="hold"/>
                                        <p:tgtEl>
                                          <p:spTgt spid="65"/>
                                        </p:tgtEl>
                                        <p:attrNameLst>
                                          <p:attrName>ppt_h</p:attrName>
                                        </p:attrNameLst>
                                      </p:cBhvr>
                                      <p:tavLst>
                                        <p:tav tm="0">
                                          <p:val>
                                            <p:fltVal val="0"/>
                                          </p:val>
                                        </p:tav>
                                        <p:tav tm="100000">
                                          <p:val>
                                            <p:strVal val="#ppt_h"/>
                                          </p:val>
                                        </p:tav>
                                      </p:tavLst>
                                    </p:anim>
                                    <p:anim calcmode="lin" valueType="num">
                                      <p:cBhvr>
                                        <p:cTn id="9" dur="1000" fill="hold"/>
                                        <p:tgtEl>
                                          <p:spTgt spid="65"/>
                                        </p:tgtEl>
                                        <p:attrNameLst>
                                          <p:attrName>style.rotation</p:attrName>
                                        </p:attrNameLst>
                                      </p:cBhvr>
                                      <p:tavLst>
                                        <p:tav tm="0">
                                          <p:val>
                                            <p:fltVal val="90"/>
                                          </p:val>
                                        </p:tav>
                                        <p:tav tm="100000">
                                          <p:val>
                                            <p:fltVal val="0"/>
                                          </p:val>
                                        </p:tav>
                                      </p:tavLst>
                                    </p:anim>
                                    <p:animEffect transition="in" filter="fade">
                                      <p:cBhvr>
                                        <p:cTn id="10" dur="1000"/>
                                        <p:tgtEl>
                                          <p:spTgt spid="65"/>
                                        </p:tgtEl>
                                      </p:cBhvr>
                                    </p:animEffect>
                                  </p:childTnLst>
                                </p:cTn>
                              </p:par>
                              <p:par>
                                <p:cTn id="11" presetID="3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 calcmode="lin" valueType="num">
                                      <p:cBhvr>
                                        <p:cTn id="13" dur="1000" fill="hold"/>
                                        <p:tgtEl>
                                          <p:spTgt spid="67"/>
                                        </p:tgtEl>
                                        <p:attrNameLst>
                                          <p:attrName>ppt_w</p:attrName>
                                        </p:attrNameLst>
                                      </p:cBhvr>
                                      <p:tavLst>
                                        <p:tav tm="0">
                                          <p:val>
                                            <p:fltVal val="0"/>
                                          </p:val>
                                        </p:tav>
                                        <p:tav tm="100000">
                                          <p:val>
                                            <p:strVal val="#ppt_w"/>
                                          </p:val>
                                        </p:tav>
                                      </p:tavLst>
                                    </p:anim>
                                    <p:anim calcmode="lin" valueType="num">
                                      <p:cBhvr>
                                        <p:cTn id="14" dur="1000" fill="hold"/>
                                        <p:tgtEl>
                                          <p:spTgt spid="67"/>
                                        </p:tgtEl>
                                        <p:attrNameLst>
                                          <p:attrName>ppt_h</p:attrName>
                                        </p:attrNameLst>
                                      </p:cBhvr>
                                      <p:tavLst>
                                        <p:tav tm="0">
                                          <p:val>
                                            <p:fltVal val="0"/>
                                          </p:val>
                                        </p:tav>
                                        <p:tav tm="100000">
                                          <p:val>
                                            <p:strVal val="#ppt_h"/>
                                          </p:val>
                                        </p:tav>
                                      </p:tavLst>
                                    </p:anim>
                                    <p:anim calcmode="lin" valueType="num">
                                      <p:cBhvr>
                                        <p:cTn id="15" dur="1000" fill="hold"/>
                                        <p:tgtEl>
                                          <p:spTgt spid="67"/>
                                        </p:tgtEl>
                                        <p:attrNameLst>
                                          <p:attrName>style.rotation</p:attrName>
                                        </p:attrNameLst>
                                      </p:cBhvr>
                                      <p:tavLst>
                                        <p:tav tm="0">
                                          <p:val>
                                            <p:fltVal val="90"/>
                                          </p:val>
                                        </p:tav>
                                        <p:tav tm="100000">
                                          <p:val>
                                            <p:fltVal val="0"/>
                                          </p:val>
                                        </p:tav>
                                      </p:tavLst>
                                    </p:anim>
                                    <p:animEffect transition="in" filter="fade">
                                      <p:cBhvr>
                                        <p:cTn id="16" dur="1000"/>
                                        <p:tgtEl>
                                          <p:spTgt spid="67"/>
                                        </p:tgtEl>
                                      </p:cBhvr>
                                    </p:animEffect>
                                  </p:childTnLst>
                                </p:cTn>
                              </p:par>
                              <p:par>
                                <p:cTn id="17" presetID="3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 calcmode="lin" valueType="num">
                                      <p:cBhvr>
                                        <p:cTn id="19" dur="1000" fill="hold"/>
                                        <p:tgtEl>
                                          <p:spTgt spid="57"/>
                                        </p:tgtEl>
                                        <p:attrNameLst>
                                          <p:attrName>ppt_w</p:attrName>
                                        </p:attrNameLst>
                                      </p:cBhvr>
                                      <p:tavLst>
                                        <p:tav tm="0">
                                          <p:val>
                                            <p:fltVal val="0"/>
                                          </p:val>
                                        </p:tav>
                                        <p:tav tm="100000">
                                          <p:val>
                                            <p:strVal val="#ppt_w"/>
                                          </p:val>
                                        </p:tav>
                                      </p:tavLst>
                                    </p:anim>
                                    <p:anim calcmode="lin" valueType="num">
                                      <p:cBhvr>
                                        <p:cTn id="20" dur="1000" fill="hold"/>
                                        <p:tgtEl>
                                          <p:spTgt spid="57"/>
                                        </p:tgtEl>
                                        <p:attrNameLst>
                                          <p:attrName>ppt_h</p:attrName>
                                        </p:attrNameLst>
                                      </p:cBhvr>
                                      <p:tavLst>
                                        <p:tav tm="0">
                                          <p:val>
                                            <p:fltVal val="0"/>
                                          </p:val>
                                        </p:tav>
                                        <p:tav tm="100000">
                                          <p:val>
                                            <p:strVal val="#ppt_h"/>
                                          </p:val>
                                        </p:tav>
                                      </p:tavLst>
                                    </p:anim>
                                    <p:anim calcmode="lin" valueType="num">
                                      <p:cBhvr>
                                        <p:cTn id="21" dur="1000" fill="hold"/>
                                        <p:tgtEl>
                                          <p:spTgt spid="57"/>
                                        </p:tgtEl>
                                        <p:attrNameLst>
                                          <p:attrName>style.rotation</p:attrName>
                                        </p:attrNameLst>
                                      </p:cBhvr>
                                      <p:tavLst>
                                        <p:tav tm="0">
                                          <p:val>
                                            <p:fltVal val="90"/>
                                          </p:val>
                                        </p:tav>
                                        <p:tav tm="100000">
                                          <p:val>
                                            <p:fltVal val="0"/>
                                          </p:val>
                                        </p:tav>
                                      </p:tavLst>
                                    </p:anim>
                                    <p:animEffect transition="in" filter="fade">
                                      <p:cBhvr>
                                        <p:cTn id="22" dur="1000"/>
                                        <p:tgtEl>
                                          <p:spTgt spid="57"/>
                                        </p:tgtEl>
                                      </p:cBhvr>
                                    </p:animEffect>
                                  </p:childTnLst>
                                </p:cTn>
                              </p:par>
                              <p:par>
                                <p:cTn id="23" presetID="3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anim calcmode="lin" valueType="num">
                                      <p:cBhvr>
                                        <p:cTn id="25" dur="1000" fill="hold"/>
                                        <p:tgtEl>
                                          <p:spTgt spid="59"/>
                                        </p:tgtEl>
                                        <p:attrNameLst>
                                          <p:attrName>ppt_w</p:attrName>
                                        </p:attrNameLst>
                                      </p:cBhvr>
                                      <p:tavLst>
                                        <p:tav tm="0">
                                          <p:val>
                                            <p:fltVal val="0"/>
                                          </p:val>
                                        </p:tav>
                                        <p:tav tm="100000">
                                          <p:val>
                                            <p:strVal val="#ppt_w"/>
                                          </p:val>
                                        </p:tav>
                                      </p:tavLst>
                                    </p:anim>
                                    <p:anim calcmode="lin" valueType="num">
                                      <p:cBhvr>
                                        <p:cTn id="26" dur="1000" fill="hold"/>
                                        <p:tgtEl>
                                          <p:spTgt spid="59"/>
                                        </p:tgtEl>
                                        <p:attrNameLst>
                                          <p:attrName>ppt_h</p:attrName>
                                        </p:attrNameLst>
                                      </p:cBhvr>
                                      <p:tavLst>
                                        <p:tav tm="0">
                                          <p:val>
                                            <p:fltVal val="0"/>
                                          </p:val>
                                        </p:tav>
                                        <p:tav tm="100000">
                                          <p:val>
                                            <p:strVal val="#ppt_h"/>
                                          </p:val>
                                        </p:tav>
                                      </p:tavLst>
                                    </p:anim>
                                    <p:anim calcmode="lin" valueType="num">
                                      <p:cBhvr>
                                        <p:cTn id="27" dur="1000" fill="hold"/>
                                        <p:tgtEl>
                                          <p:spTgt spid="59"/>
                                        </p:tgtEl>
                                        <p:attrNameLst>
                                          <p:attrName>style.rotation</p:attrName>
                                        </p:attrNameLst>
                                      </p:cBhvr>
                                      <p:tavLst>
                                        <p:tav tm="0">
                                          <p:val>
                                            <p:fltVal val="90"/>
                                          </p:val>
                                        </p:tav>
                                        <p:tav tm="100000">
                                          <p:val>
                                            <p:fltVal val="0"/>
                                          </p:val>
                                        </p:tav>
                                      </p:tavLst>
                                    </p:anim>
                                    <p:animEffect transition="in" filter="fade">
                                      <p:cBhvr>
                                        <p:cTn id="28" dur="1000"/>
                                        <p:tgtEl>
                                          <p:spTgt spid="59"/>
                                        </p:tgtEl>
                                      </p:cBhvr>
                                    </p:animEffect>
                                  </p:childTnLst>
                                </p:cTn>
                              </p:par>
                              <p:par>
                                <p:cTn id="29" presetID="3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 calcmode="lin" valueType="num">
                                      <p:cBhvr>
                                        <p:cTn id="31" dur="1000" fill="hold"/>
                                        <p:tgtEl>
                                          <p:spTgt spid="60"/>
                                        </p:tgtEl>
                                        <p:attrNameLst>
                                          <p:attrName>ppt_w</p:attrName>
                                        </p:attrNameLst>
                                      </p:cBhvr>
                                      <p:tavLst>
                                        <p:tav tm="0">
                                          <p:val>
                                            <p:fltVal val="0"/>
                                          </p:val>
                                        </p:tav>
                                        <p:tav tm="100000">
                                          <p:val>
                                            <p:strVal val="#ppt_w"/>
                                          </p:val>
                                        </p:tav>
                                      </p:tavLst>
                                    </p:anim>
                                    <p:anim calcmode="lin" valueType="num">
                                      <p:cBhvr>
                                        <p:cTn id="32" dur="1000" fill="hold"/>
                                        <p:tgtEl>
                                          <p:spTgt spid="60"/>
                                        </p:tgtEl>
                                        <p:attrNameLst>
                                          <p:attrName>ppt_h</p:attrName>
                                        </p:attrNameLst>
                                      </p:cBhvr>
                                      <p:tavLst>
                                        <p:tav tm="0">
                                          <p:val>
                                            <p:fltVal val="0"/>
                                          </p:val>
                                        </p:tav>
                                        <p:tav tm="100000">
                                          <p:val>
                                            <p:strVal val="#ppt_h"/>
                                          </p:val>
                                        </p:tav>
                                      </p:tavLst>
                                    </p:anim>
                                    <p:anim calcmode="lin" valueType="num">
                                      <p:cBhvr>
                                        <p:cTn id="33" dur="1000" fill="hold"/>
                                        <p:tgtEl>
                                          <p:spTgt spid="60"/>
                                        </p:tgtEl>
                                        <p:attrNameLst>
                                          <p:attrName>style.rotation</p:attrName>
                                        </p:attrNameLst>
                                      </p:cBhvr>
                                      <p:tavLst>
                                        <p:tav tm="0">
                                          <p:val>
                                            <p:fltVal val="90"/>
                                          </p:val>
                                        </p:tav>
                                        <p:tav tm="100000">
                                          <p:val>
                                            <p:fltVal val="0"/>
                                          </p:val>
                                        </p:tav>
                                      </p:tavLst>
                                    </p:anim>
                                    <p:animEffect transition="in" filter="fade">
                                      <p:cBhvr>
                                        <p:cTn id="34" dur="1000"/>
                                        <p:tgtEl>
                                          <p:spTgt spid="60"/>
                                        </p:tgtEl>
                                      </p:cBhvr>
                                    </p:animEffect>
                                  </p:childTnLst>
                                </p:cTn>
                              </p:par>
                              <p:par>
                                <p:cTn id="35" presetID="3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p:cTn id="37" dur="1000" fill="hold"/>
                                        <p:tgtEl>
                                          <p:spTgt spid="58"/>
                                        </p:tgtEl>
                                        <p:attrNameLst>
                                          <p:attrName>ppt_w</p:attrName>
                                        </p:attrNameLst>
                                      </p:cBhvr>
                                      <p:tavLst>
                                        <p:tav tm="0">
                                          <p:val>
                                            <p:fltVal val="0"/>
                                          </p:val>
                                        </p:tav>
                                        <p:tav tm="100000">
                                          <p:val>
                                            <p:strVal val="#ppt_w"/>
                                          </p:val>
                                        </p:tav>
                                      </p:tavLst>
                                    </p:anim>
                                    <p:anim calcmode="lin" valueType="num">
                                      <p:cBhvr>
                                        <p:cTn id="38" dur="1000" fill="hold"/>
                                        <p:tgtEl>
                                          <p:spTgt spid="58"/>
                                        </p:tgtEl>
                                        <p:attrNameLst>
                                          <p:attrName>ppt_h</p:attrName>
                                        </p:attrNameLst>
                                      </p:cBhvr>
                                      <p:tavLst>
                                        <p:tav tm="0">
                                          <p:val>
                                            <p:fltVal val="0"/>
                                          </p:val>
                                        </p:tav>
                                        <p:tav tm="100000">
                                          <p:val>
                                            <p:strVal val="#ppt_h"/>
                                          </p:val>
                                        </p:tav>
                                      </p:tavLst>
                                    </p:anim>
                                    <p:anim calcmode="lin" valueType="num">
                                      <p:cBhvr>
                                        <p:cTn id="39" dur="1000" fill="hold"/>
                                        <p:tgtEl>
                                          <p:spTgt spid="58"/>
                                        </p:tgtEl>
                                        <p:attrNameLst>
                                          <p:attrName>style.rotation</p:attrName>
                                        </p:attrNameLst>
                                      </p:cBhvr>
                                      <p:tavLst>
                                        <p:tav tm="0">
                                          <p:val>
                                            <p:fltVal val="90"/>
                                          </p:val>
                                        </p:tav>
                                        <p:tav tm="100000">
                                          <p:val>
                                            <p:fltVal val="0"/>
                                          </p:val>
                                        </p:tav>
                                      </p:tavLst>
                                    </p:anim>
                                    <p:animEffect transition="in" filter="fade">
                                      <p:cBhvr>
                                        <p:cTn id="40" dur="1000"/>
                                        <p:tgtEl>
                                          <p:spTgt spid="58"/>
                                        </p:tgtEl>
                                      </p:cBhvr>
                                    </p:animEffect>
                                  </p:childTnLst>
                                </p:cTn>
                              </p:par>
                            </p:childTnLst>
                          </p:cTn>
                        </p:par>
                        <p:par>
                          <p:cTn id="41" fill="hold">
                            <p:stCondLst>
                              <p:cond delay="1000"/>
                            </p:stCondLst>
                            <p:childTnLst>
                              <p:par>
                                <p:cTn id="42" presetID="22" presetClass="entr" presetSubtype="4" fill="hold" nodeType="after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wipe(down)">
                                      <p:cBhvr>
                                        <p:cTn id="44" dur="500"/>
                                        <p:tgtEl>
                                          <p:spTgt spid="66"/>
                                        </p:tgtEl>
                                      </p:cBhvr>
                                    </p:animEffect>
                                  </p:childTnLst>
                                </p:cTn>
                              </p:par>
                            </p:childTnLst>
                          </p:cTn>
                        </p:par>
                        <p:par>
                          <p:cTn id="45" fill="hold">
                            <p:stCondLst>
                              <p:cond delay="1500"/>
                            </p:stCondLst>
                            <p:childTnLst>
                              <p:par>
                                <p:cTn id="46" presetID="22" presetClass="entr" presetSubtype="4"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down)">
                                      <p:cBhvr>
                                        <p:cTn id="48" dur="500"/>
                                        <p:tgtEl>
                                          <p:spTgt spid="68"/>
                                        </p:tgtEl>
                                      </p:cBhvr>
                                    </p:animEffect>
                                  </p:childTnLst>
                                </p:cTn>
                              </p:par>
                              <p:par>
                                <p:cTn id="49" presetID="22" presetClass="entr" presetSubtype="4"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wipe(down)">
                                      <p:cBhvr>
                                        <p:cTn id="51" dur="500"/>
                                        <p:tgtEl>
                                          <p:spTgt spid="70"/>
                                        </p:tgtEl>
                                      </p:cBhvr>
                                    </p:animEffect>
                                  </p:childTnLst>
                                </p:cTn>
                              </p:par>
                            </p:childTnLst>
                          </p:cTn>
                        </p:par>
                        <p:par>
                          <p:cTn id="52" fill="hold">
                            <p:stCondLst>
                              <p:cond delay="2000"/>
                            </p:stCondLst>
                            <p:childTnLst>
                              <p:par>
                                <p:cTn id="53" presetID="2" presetClass="entr" presetSubtype="4" fill="hold" grpId="0" nodeType="after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par>
                          <p:cTn id="57" fill="hold">
                            <p:stCondLst>
                              <p:cond delay="2500"/>
                            </p:stCondLst>
                            <p:childTnLst>
                              <p:par>
                                <p:cTn id="58" presetID="2" presetClass="entr" presetSubtype="4"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 calcmode="lin" valueType="num">
                                      <p:cBhvr additive="base">
                                        <p:cTn id="60" dur="500" fill="hold"/>
                                        <p:tgtEl>
                                          <p:spTgt spid="7"/>
                                        </p:tgtEl>
                                        <p:attrNameLst>
                                          <p:attrName>ppt_x</p:attrName>
                                        </p:attrNameLst>
                                      </p:cBhvr>
                                      <p:tavLst>
                                        <p:tav tm="0">
                                          <p:val>
                                            <p:strVal val="#ppt_x"/>
                                          </p:val>
                                        </p:tav>
                                        <p:tav tm="100000">
                                          <p:val>
                                            <p:strVal val="#ppt_x"/>
                                          </p:val>
                                        </p:tav>
                                      </p:tavLst>
                                    </p:anim>
                                    <p:anim calcmode="lin" valueType="num">
                                      <p:cBhvr additive="base">
                                        <p:cTn id="61" dur="500" fill="hold"/>
                                        <p:tgtEl>
                                          <p:spTgt spid="7"/>
                                        </p:tgtEl>
                                        <p:attrNameLst>
                                          <p:attrName>ppt_y</p:attrName>
                                        </p:attrNameLst>
                                      </p:cBhvr>
                                      <p:tavLst>
                                        <p:tav tm="0">
                                          <p:val>
                                            <p:strVal val="1+#ppt_h/2"/>
                                          </p:val>
                                        </p:tav>
                                        <p:tav tm="100000">
                                          <p:val>
                                            <p:strVal val="#ppt_y"/>
                                          </p:val>
                                        </p:tav>
                                      </p:tavLst>
                                    </p:anim>
                                  </p:childTnLst>
                                </p:cTn>
                              </p:par>
                            </p:childTnLst>
                          </p:cTn>
                        </p:par>
                        <p:par>
                          <p:cTn id="62" fill="hold">
                            <p:stCondLst>
                              <p:cond delay="3000"/>
                            </p:stCondLst>
                            <p:childTnLst>
                              <p:par>
                                <p:cTn id="63" presetID="2" presetClass="entr" presetSubtype="4" fill="hold" grpId="0" nodeType="after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fill="hold"/>
                                        <p:tgtEl>
                                          <p:spTgt spid="8"/>
                                        </p:tgtEl>
                                        <p:attrNameLst>
                                          <p:attrName>ppt_x</p:attrName>
                                        </p:attrNameLst>
                                      </p:cBhvr>
                                      <p:tavLst>
                                        <p:tav tm="0">
                                          <p:val>
                                            <p:strVal val="#ppt_x"/>
                                          </p:val>
                                        </p:tav>
                                        <p:tav tm="100000">
                                          <p:val>
                                            <p:strVal val="#ppt_x"/>
                                          </p:val>
                                        </p:tav>
                                      </p:tavLst>
                                    </p:anim>
                                    <p:anim calcmode="lin" valueType="num">
                                      <p:cBhvr additive="base">
                                        <p:cTn id="66" dur="500" fill="hold"/>
                                        <p:tgtEl>
                                          <p:spTgt spid="8"/>
                                        </p:tgtEl>
                                        <p:attrNameLst>
                                          <p:attrName>ppt_y</p:attrName>
                                        </p:attrNameLst>
                                      </p:cBhvr>
                                      <p:tavLst>
                                        <p:tav tm="0">
                                          <p:val>
                                            <p:strVal val="1+#ppt_h/2"/>
                                          </p:val>
                                        </p:tav>
                                        <p:tav tm="100000">
                                          <p:val>
                                            <p:strVal val="#ppt_y"/>
                                          </p:val>
                                        </p:tav>
                                      </p:tavLst>
                                    </p:anim>
                                  </p:childTnLst>
                                </p:cTn>
                              </p:par>
                            </p:childTnLst>
                          </p:cTn>
                        </p:par>
                        <p:par>
                          <p:cTn id="67" fill="hold">
                            <p:stCondLst>
                              <p:cond delay="3500"/>
                            </p:stCondLst>
                            <p:childTnLst>
                              <p:par>
                                <p:cTn id="68" presetID="2" presetClass="entr" presetSubtype="4"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ppt_x</p:attrName>
                                        </p:attrNameLst>
                                      </p:cBhvr>
                                      <p:tavLst>
                                        <p:tav tm="0">
                                          <p:val>
                                            <p:strVal val="#ppt_x"/>
                                          </p:val>
                                        </p:tav>
                                        <p:tav tm="100000">
                                          <p:val>
                                            <p:strVal val="#ppt_x"/>
                                          </p:val>
                                        </p:tav>
                                      </p:tavLst>
                                    </p:anim>
                                    <p:anim calcmode="lin" valueType="num">
                                      <p:cBhvr additive="base">
                                        <p:cTn id="7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5F409-7449-3976-44B1-3CAF2A1B0EC4}"/>
            </a:ext>
          </a:extLst>
        </p:cNvPr>
        <p:cNvGrpSpPr/>
        <p:nvPr/>
      </p:nvGrpSpPr>
      <p:grpSpPr>
        <a:xfrm>
          <a:off x="0" y="0"/>
          <a:ext cx="0" cy="0"/>
          <a:chOff x="0" y="0"/>
          <a:chExt cx="0" cy="0"/>
        </a:xfrm>
      </p:grpSpPr>
      <p:sp>
        <p:nvSpPr>
          <p:cNvPr id="21507" name="Slide Number Placeholder 5">
            <a:extLst>
              <a:ext uri="{FF2B5EF4-FFF2-40B4-BE49-F238E27FC236}">
                <a16:creationId xmlns:a16="http://schemas.microsoft.com/office/drawing/2014/main" id="{38FBC7D2-CAD1-401C-0141-0B882B724B2E}"/>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19</a:t>
            </a:fld>
            <a:endParaRPr lang="en-US" altLang="zh-CN" sz="1200" dirty="0">
              <a:latin typeface="Open Sans" pitchFamily="34" charset="0"/>
              <a:ea typeface="Open Sans" pitchFamily="34" charset="0"/>
              <a:cs typeface="Open Sans" pitchFamily="34" charset="0"/>
            </a:endParaRPr>
          </a:p>
        </p:txBody>
      </p:sp>
      <p:sp>
        <p:nvSpPr>
          <p:cNvPr id="70" name="Freeform 9">
            <a:extLst>
              <a:ext uri="{FF2B5EF4-FFF2-40B4-BE49-F238E27FC236}">
                <a16:creationId xmlns:a16="http://schemas.microsoft.com/office/drawing/2014/main" id="{5CD449F7-14C2-2AF2-23D8-9A808D9BB24A}"/>
              </a:ext>
            </a:extLst>
          </p:cNvPr>
          <p:cNvSpPr/>
          <p:nvPr/>
        </p:nvSpPr>
        <p:spPr>
          <a:xfrm>
            <a:off x="1576261" y="395752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2" name="Title 2">
            <a:extLst>
              <a:ext uri="{FF2B5EF4-FFF2-40B4-BE49-F238E27FC236}">
                <a16:creationId xmlns:a16="http://schemas.microsoft.com/office/drawing/2014/main" id="{2C72ED48-67E6-859E-C163-23DC4461CD7A}"/>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5.1 Performance Comparison: </a:t>
            </a:r>
          </a:p>
          <a:p>
            <a:r>
              <a:rPr lang="en-US" altLang="zh-CN" dirty="0"/>
              <a:t>CML Outperforms ICL on Structured Tasks</a:t>
            </a:r>
            <a:endParaRPr lang="zh-CN" altLang="zh-CN" dirty="0"/>
          </a:p>
        </p:txBody>
      </p:sp>
      <p:sp>
        <p:nvSpPr>
          <p:cNvPr id="5" name="文本框 4">
            <a:extLst>
              <a:ext uri="{FF2B5EF4-FFF2-40B4-BE49-F238E27FC236}">
                <a16:creationId xmlns:a16="http://schemas.microsoft.com/office/drawing/2014/main" id="{07E7F68C-9DA7-1FB9-4C04-1E9DBB63BA51}"/>
              </a:ext>
            </a:extLst>
          </p:cNvPr>
          <p:cNvSpPr txBox="1"/>
          <p:nvPr/>
        </p:nvSpPr>
        <p:spPr>
          <a:xfrm>
            <a:off x="1081088" y="2103746"/>
            <a:ext cx="9010650" cy="3023905"/>
          </a:xfrm>
          <a:prstGeom prst="rect">
            <a:avLst/>
          </a:prstGeom>
          <a:noFill/>
        </p:spPr>
        <p:txBody>
          <a:bodyPr wrap="square">
            <a:spAutoFit/>
          </a:bodyPr>
          <a:lstStyle/>
          <a:p>
            <a:pPr>
              <a:lnSpc>
                <a:spcPts val="2300"/>
              </a:lnSpc>
              <a:buNone/>
            </a:pPr>
            <a:r>
              <a:rPr lang="en-US" altLang="zh-CN" sz="18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Classification (Iris Dataset)</a:t>
            </a:r>
            <a:endPar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nSpc>
                <a:spcPts val="2300"/>
              </a:lnSpc>
              <a:buSzPts val="1000"/>
              <a:buFont typeface="Symbol" panose="05050102010706020507" pitchFamily="18" charset="2"/>
              <a:buChar char=""/>
              <a:tabLst>
                <a:tab pos="457200" algn="l"/>
              </a:tabLst>
            </a:pPr>
            <a:r>
              <a:rPr lang="en-US" altLang="zh-CN" sz="18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CML (SVM, RF, MLP)</a:t>
            </a:r>
            <a:r>
              <a:rPr lang="en-US"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achieved </a:t>
            </a:r>
            <a:r>
              <a:rPr lang="en-US" altLang="zh-CN" sz="18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≥97% accuracy</a:t>
            </a:r>
            <a:r>
              <a:rPr lang="en-US"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with AUROC and AUPR both near 1.0.</a:t>
            </a:r>
            <a:endPar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nSpc>
                <a:spcPts val="2300"/>
              </a:lnSpc>
              <a:buSzPts val="1000"/>
              <a:buFont typeface="Symbol" panose="05050102010706020507" pitchFamily="18" charset="2"/>
              <a:buChar char=""/>
              <a:tabLst>
                <a:tab pos="457200" algn="l"/>
              </a:tabLst>
            </a:pPr>
            <a:r>
              <a:rPr lang="en-US" altLang="zh-CN" sz="18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ICL</a:t>
            </a:r>
            <a:r>
              <a:rPr lang="en-US"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models peaked at </a:t>
            </a:r>
            <a:r>
              <a:rPr lang="en-US" altLang="zh-CN" sz="18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83% accuracy</a:t>
            </a:r>
            <a:r>
              <a:rPr lang="en-US"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(Qwen2.5-7B, 10-shot).</a:t>
            </a:r>
            <a:endPar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ts val="2300"/>
              </a:lnSpc>
              <a:buNone/>
            </a:pPr>
            <a:r>
              <a:rPr lang="en-US"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ICL models also showed higher variance and formatting sensitivity.</a:t>
            </a:r>
          </a:p>
          <a:p>
            <a:pPr>
              <a:lnSpc>
                <a:spcPts val="2300"/>
              </a:lnSpc>
              <a:buNone/>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ts val="2300"/>
              </a:lnSpc>
              <a:buNone/>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Regression (California Housing Dataset)</a:t>
            </a:r>
            <a:endParaRPr lang="zh-CN"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nSpc>
                <a:spcPts val="2300"/>
              </a:lnSpc>
              <a:buSzPts val="1000"/>
              <a:buFont typeface="Symbol" panose="05050102010706020507" pitchFamily="18" charset="2"/>
              <a:buChar char=""/>
              <a:tabLst>
                <a:tab pos="457200" algn="l"/>
              </a:tabLst>
            </a:pP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Best ICL model (GLM-4-9B) reached MSE ≈ 0.94, which is strong but still less consistent than traditional regression models trained on the entire dataset.</a:t>
            </a:r>
            <a:endParaRPr lang="zh-CN"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nSpc>
                <a:spcPts val="2300"/>
              </a:lnSpc>
              <a:buSzPts val="1000"/>
              <a:buFont typeface="Symbol" panose="05050102010706020507" pitchFamily="18" charset="2"/>
              <a:buChar char=""/>
              <a:tabLst>
                <a:tab pos="457200" algn="l"/>
              </a:tabLst>
            </a:pP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Qwen2-1.5B, a smaller ICL model, had MSE &gt; 2.7, indicating weak generalization.</a:t>
            </a:r>
            <a:endParaRPr lang="zh-CN"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endPar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8654988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8A6D-A008-6D26-33B7-0EB009861A51}"/>
            </a:ext>
          </a:extLst>
        </p:cNvPr>
        <p:cNvGrpSpPr/>
        <p:nvPr/>
      </p:nvGrpSpPr>
      <p:grpSpPr>
        <a:xfrm>
          <a:off x="0" y="0"/>
          <a:ext cx="0" cy="0"/>
          <a:chOff x="0" y="0"/>
          <a:chExt cx="0" cy="0"/>
        </a:xfrm>
      </p:grpSpPr>
      <p:sp>
        <p:nvSpPr>
          <p:cNvPr id="70" name="Freeform 9">
            <a:extLst>
              <a:ext uri="{FF2B5EF4-FFF2-40B4-BE49-F238E27FC236}">
                <a16:creationId xmlns:a16="http://schemas.microsoft.com/office/drawing/2014/main" id="{39F51E98-87D9-DBF4-3776-59C03BEF25AD}"/>
              </a:ext>
            </a:extLst>
          </p:cNvPr>
          <p:cNvSpPr/>
          <p:nvPr/>
        </p:nvSpPr>
        <p:spPr>
          <a:xfrm>
            <a:off x="1576261" y="395752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2" name="Title 2">
            <a:extLst>
              <a:ext uri="{FF2B5EF4-FFF2-40B4-BE49-F238E27FC236}">
                <a16:creationId xmlns:a16="http://schemas.microsoft.com/office/drawing/2014/main" id="{783FAFAD-5B8C-1FD6-A516-4CB2D2F08476}"/>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5.2 Generalization and Flexibility</a:t>
            </a:r>
            <a:endParaRPr lang="zh-CN" altLang="zh-CN" dirty="0"/>
          </a:p>
        </p:txBody>
      </p:sp>
      <p:pic>
        <p:nvPicPr>
          <p:cNvPr id="3" name="图片 2">
            <a:extLst>
              <a:ext uri="{FF2B5EF4-FFF2-40B4-BE49-F238E27FC236}">
                <a16:creationId xmlns:a16="http://schemas.microsoft.com/office/drawing/2014/main" id="{C0291B84-636E-6242-B798-6B3F50847B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4856" y="964121"/>
            <a:ext cx="8711693" cy="2993399"/>
          </a:xfrm>
          <a:prstGeom prst="rect">
            <a:avLst/>
          </a:prstGeom>
        </p:spPr>
      </p:pic>
      <p:sp>
        <p:nvSpPr>
          <p:cNvPr id="4" name="Rectangle 1">
            <a:extLst>
              <a:ext uri="{FF2B5EF4-FFF2-40B4-BE49-F238E27FC236}">
                <a16:creationId xmlns:a16="http://schemas.microsoft.com/office/drawing/2014/main" id="{32AB72AD-E6D5-0798-A091-559934B8CDCD}"/>
              </a:ext>
            </a:extLst>
          </p:cNvPr>
          <p:cNvSpPr>
            <a:spLocks noChangeArrowheads="1"/>
          </p:cNvSpPr>
          <p:nvPr/>
        </p:nvSpPr>
        <p:spPr bwMode="auto">
          <a:xfrm>
            <a:off x="1153351" y="4412814"/>
            <a:ext cx="494264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I</a:t>
            </a:r>
            <a:r>
              <a:rPr kumimoji="0" lang="en-US" altLang="zh-CN" sz="2000" b="1" i="0" u="none" strike="noStrike" cap="none" normalizeH="0" baseline="0" dirty="0" bmk="">
                <a:ln>
                  <a:noFill/>
                </a:ln>
                <a:solidFill>
                  <a:srgbClr val="FF0000"/>
                </a:solidFill>
                <a:effectLst/>
                <a:latin typeface="Times New Roman" panose="02020603050405020304" pitchFamily="18" charset="0"/>
                <a:cs typeface="Times New Roman" panose="02020603050405020304" pitchFamily="18" charset="0"/>
              </a:rPr>
              <a:t>CL is appealing in scenarios where:</a:t>
            </a:r>
            <a:endParaRPr kumimoji="0" lang="en-US" altLang="zh-C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Labeled data is unavailable.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Real-time adaptation is required.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Deployment must be lightweight and training-free.</a:t>
            </a:r>
            <a:endParaRPr kumimoji="0" lang="en-US" altLang="zh-CN"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F0FE144-7BB5-CC52-ABBE-4A23C35E2C33}"/>
              </a:ext>
            </a:extLst>
          </p:cNvPr>
          <p:cNvSpPr txBox="1"/>
          <p:nvPr/>
        </p:nvSpPr>
        <p:spPr>
          <a:xfrm>
            <a:off x="6096000" y="4262663"/>
            <a:ext cx="6096000" cy="16312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CML is better when: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Full training data is 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High accuracy and stability are required.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bmk="OLE_LINK31">
                <a:ln>
                  <a:noFill/>
                </a:ln>
                <a:solidFill>
                  <a:srgbClr val="FF0000"/>
                </a:solidFill>
                <a:effectLst/>
                <a:latin typeface="Times New Roman" panose="02020603050405020304" pitchFamily="18" charset="0"/>
                <a:cs typeface="Times New Roman" panose="02020603050405020304" pitchFamily="18" charset="0"/>
              </a:rPr>
              <a:t>Feature engineering and model interpretability matter</a:t>
            </a:r>
            <a:endParaRPr lang="zh-CN" altLang="en-US" sz="2000" dirty="0">
              <a:solidFill>
                <a:srgbClr val="FF0000"/>
              </a:solidFill>
            </a:endParaRPr>
          </a:p>
        </p:txBody>
      </p:sp>
    </p:spTree>
    <p:extLst>
      <p:ext uri="{BB962C8B-B14F-4D97-AF65-F5344CB8AC3E}">
        <p14:creationId xmlns:p14="http://schemas.microsoft.com/office/powerpoint/2010/main" val="240101516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C091F-43D9-AE7B-A0EE-17DAE6946450}"/>
            </a:ext>
          </a:extLst>
        </p:cNvPr>
        <p:cNvGrpSpPr/>
        <p:nvPr/>
      </p:nvGrpSpPr>
      <p:grpSpPr>
        <a:xfrm>
          <a:off x="0" y="0"/>
          <a:ext cx="0" cy="0"/>
          <a:chOff x="0" y="0"/>
          <a:chExt cx="0" cy="0"/>
        </a:xfrm>
      </p:grpSpPr>
      <p:sp>
        <p:nvSpPr>
          <p:cNvPr id="70" name="Freeform 9">
            <a:extLst>
              <a:ext uri="{FF2B5EF4-FFF2-40B4-BE49-F238E27FC236}">
                <a16:creationId xmlns:a16="http://schemas.microsoft.com/office/drawing/2014/main" id="{95B3518E-97B7-4D50-A0AC-152F1EA607FB}"/>
              </a:ext>
            </a:extLst>
          </p:cNvPr>
          <p:cNvSpPr/>
          <p:nvPr/>
        </p:nvSpPr>
        <p:spPr>
          <a:xfrm>
            <a:off x="1576261" y="395752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2" name="Title 2">
            <a:extLst>
              <a:ext uri="{FF2B5EF4-FFF2-40B4-BE49-F238E27FC236}">
                <a16:creationId xmlns:a16="http://schemas.microsoft.com/office/drawing/2014/main" id="{1055BEA5-293B-BCDD-B23D-D42D2BF4DC66}"/>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5.3 Interpretability and Stability</a:t>
            </a:r>
            <a:endParaRPr lang="zh-CN" altLang="zh-CN" dirty="0"/>
          </a:p>
        </p:txBody>
      </p:sp>
      <p:sp>
        <p:nvSpPr>
          <p:cNvPr id="6" name="文本框 5">
            <a:extLst>
              <a:ext uri="{FF2B5EF4-FFF2-40B4-BE49-F238E27FC236}">
                <a16:creationId xmlns:a16="http://schemas.microsoft.com/office/drawing/2014/main" id="{BC03D9C0-7B4A-7291-3ADF-E3D04D7BB898}"/>
              </a:ext>
            </a:extLst>
          </p:cNvPr>
          <p:cNvSpPr txBox="1"/>
          <p:nvPr/>
        </p:nvSpPr>
        <p:spPr>
          <a:xfrm>
            <a:off x="1207230" y="1507511"/>
            <a:ext cx="9777539" cy="3416320"/>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US" altLang="zh-CN" sz="2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CML</a:t>
            </a:r>
            <a:r>
              <a:rPr lang="en-US" altLang="zh-CN"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models offer traceable decision paths (e.g., feature importance in Random Forests, coefficients in SVM), facilitating debugging and interpretability.</a:t>
            </a:r>
          </a:p>
          <a:p>
            <a:pPr lvl="0">
              <a:buSzPts val="1000"/>
              <a:tabLst>
                <a:tab pos="457200" algn="l"/>
              </a:tabLst>
            </a:pPr>
            <a:endParaRPr lang="zh-CN" altLang="zh-CN"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2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ICL</a:t>
            </a:r>
            <a:r>
              <a:rPr lang="en-US" altLang="zh-CN"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predictions are hard to trace; even deterministic outputs can change due to small prompt changes (e.g., wording or formatting).</a:t>
            </a:r>
          </a:p>
          <a:p>
            <a:pPr lvl="0">
              <a:buSzPts val="1000"/>
              <a:tabLst>
                <a:tab pos="457200" algn="l"/>
              </a:tabLst>
            </a:pPr>
            <a:endParaRPr lang="zh-CN"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CML outputs are reproducible given the same input. ICL predictions may vary across API calls or under small perturbations.</a:t>
            </a:r>
            <a:endParaRPr lang="zh-CN"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096354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931C-8C8B-F3A3-BD79-052B35D0574F}"/>
            </a:ext>
          </a:extLst>
        </p:cNvPr>
        <p:cNvGrpSpPr/>
        <p:nvPr/>
      </p:nvGrpSpPr>
      <p:grpSpPr>
        <a:xfrm>
          <a:off x="0" y="0"/>
          <a:ext cx="0" cy="0"/>
          <a:chOff x="0" y="0"/>
          <a:chExt cx="0" cy="0"/>
        </a:xfrm>
      </p:grpSpPr>
      <p:sp>
        <p:nvSpPr>
          <p:cNvPr id="70" name="Freeform 9">
            <a:extLst>
              <a:ext uri="{FF2B5EF4-FFF2-40B4-BE49-F238E27FC236}">
                <a16:creationId xmlns:a16="http://schemas.microsoft.com/office/drawing/2014/main" id="{451E359A-E4F9-7109-B2C7-9F96AAD3E1FA}"/>
              </a:ext>
            </a:extLst>
          </p:cNvPr>
          <p:cNvSpPr/>
          <p:nvPr/>
        </p:nvSpPr>
        <p:spPr>
          <a:xfrm>
            <a:off x="1576261" y="395752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2" name="Title 2">
            <a:extLst>
              <a:ext uri="{FF2B5EF4-FFF2-40B4-BE49-F238E27FC236}">
                <a16:creationId xmlns:a16="http://schemas.microsoft.com/office/drawing/2014/main" id="{E1D19E46-A935-3EC1-75D3-9ED42C532608}"/>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5.4 Limitations of ICL in Structured Tasks</a:t>
            </a:r>
            <a:endParaRPr lang="zh-CN" altLang="zh-CN" dirty="0"/>
          </a:p>
        </p:txBody>
      </p:sp>
      <p:sp>
        <p:nvSpPr>
          <p:cNvPr id="4" name="文本框 3">
            <a:extLst>
              <a:ext uri="{FF2B5EF4-FFF2-40B4-BE49-F238E27FC236}">
                <a16:creationId xmlns:a16="http://schemas.microsoft.com/office/drawing/2014/main" id="{F03EE89F-ECE5-F4F0-D1D3-6970F3D46DAA}"/>
              </a:ext>
            </a:extLst>
          </p:cNvPr>
          <p:cNvSpPr txBox="1"/>
          <p:nvPr/>
        </p:nvSpPr>
        <p:spPr>
          <a:xfrm>
            <a:off x="1576261" y="1341894"/>
            <a:ext cx="9567989" cy="4154984"/>
          </a:xfrm>
          <a:prstGeom prst="rect">
            <a:avLst/>
          </a:prstGeom>
          <a:noFill/>
        </p:spPr>
        <p:txBody>
          <a:bodyPr wrap="square">
            <a:spAutoFit/>
          </a:bodyPr>
          <a:lstStyle/>
          <a:p>
            <a:pPr>
              <a:buNone/>
            </a:pP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Despite the elegance of ICL, it suffers from the following limitations:</a:t>
            </a:r>
            <a:endPar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Font typeface="+mj-lt"/>
              <a:buAutoNum type="arabicPeriod"/>
              <a:tabLst>
                <a:tab pos="457200" algn="l"/>
              </a:tabLst>
            </a:pPr>
            <a:r>
              <a:rPr lang="en-US" altLang="zh-CN" sz="20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Context Length Limitations</a:t>
            </a:r>
            <a:b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Most LLMs have ~2,000–4,000 token limits. For high-dimensional tabular data or longer K-shot setups, this becomes a hard bottleneck.</a:t>
            </a:r>
            <a:endPar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Font typeface="+mj-lt"/>
              <a:buAutoNum type="arabicPeriod"/>
              <a:tabLst>
                <a:tab pos="457200" algn="l"/>
              </a:tabLst>
            </a:pPr>
            <a:r>
              <a:rPr lang="en-US" altLang="zh-CN" sz="20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Lack of Task-Specific Learning</a:t>
            </a:r>
            <a:b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Without gradient updates, ICL cannot learn from mistakes or adjust to systematic errors across test instances.</a:t>
            </a:r>
            <a:endPar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Font typeface="+mj-lt"/>
              <a:buAutoNum type="arabicPeriod"/>
              <a:tabLst>
                <a:tab pos="457200" algn="l"/>
              </a:tabLst>
            </a:pPr>
            <a:r>
              <a:rPr lang="en-US" altLang="zh-CN" sz="20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Prompt Sensitivity</a:t>
            </a:r>
            <a:b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Formatting, example order, </a:t>
            </a:r>
            <a:r>
              <a:rPr lang="en-US"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label</a:t>
            </a: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phrasing, and instruction wording can all significantly affect performance—sometimes more than model architecture itself.</a:t>
            </a:r>
            <a:endPar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Font typeface="+mj-lt"/>
              <a:buAutoNum type="arabicPeriod"/>
              <a:tabLst>
                <a:tab pos="457200" algn="l"/>
              </a:tabLst>
            </a:pPr>
            <a:r>
              <a:rPr lang="en-US" altLang="zh-CN" sz="20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Numerical Instability in Regression</a:t>
            </a:r>
            <a:b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 regression tasks, LLMs sometimes generate non-numeric output or format-incompatible values, requiring post-processing logic.</a:t>
            </a:r>
            <a:endPar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852455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8C44-B88B-78BF-BDC4-7EF64538EAC4}"/>
            </a:ext>
          </a:extLst>
        </p:cNvPr>
        <p:cNvGrpSpPr/>
        <p:nvPr/>
      </p:nvGrpSpPr>
      <p:grpSpPr>
        <a:xfrm>
          <a:off x="0" y="0"/>
          <a:ext cx="0" cy="0"/>
          <a:chOff x="0" y="0"/>
          <a:chExt cx="0" cy="0"/>
        </a:xfrm>
      </p:grpSpPr>
      <p:sp>
        <p:nvSpPr>
          <p:cNvPr id="70" name="Freeform 9">
            <a:extLst>
              <a:ext uri="{FF2B5EF4-FFF2-40B4-BE49-F238E27FC236}">
                <a16:creationId xmlns:a16="http://schemas.microsoft.com/office/drawing/2014/main" id="{4951DCCE-75FD-FBFA-C021-B142B0F7AA2B}"/>
              </a:ext>
            </a:extLst>
          </p:cNvPr>
          <p:cNvSpPr/>
          <p:nvPr/>
        </p:nvSpPr>
        <p:spPr>
          <a:xfrm>
            <a:off x="1576261" y="395752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2" name="Title 2">
            <a:extLst>
              <a:ext uri="{FF2B5EF4-FFF2-40B4-BE49-F238E27FC236}">
                <a16:creationId xmlns:a16="http://schemas.microsoft.com/office/drawing/2014/main" id="{25FCD176-1B09-3F2E-7124-962289C513C2}"/>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5.5 Summary</a:t>
            </a:r>
            <a:endParaRPr lang="zh-CN" altLang="zh-CN" dirty="0"/>
          </a:p>
        </p:txBody>
      </p:sp>
      <p:sp>
        <p:nvSpPr>
          <p:cNvPr id="4" name="文本框 3">
            <a:extLst>
              <a:ext uri="{FF2B5EF4-FFF2-40B4-BE49-F238E27FC236}">
                <a16:creationId xmlns:a16="http://schemas.microsoft.com/office/drawing/2014/main" id="{576AFB48-E49B-B2D7-E83E-C2DEFAC7A77D}"/>
              </a:ext>
            </a:extLst>
          </p:cNvPr>
          <p:cNvSpPr txBox="1"/>
          <p:nvPr/>
        </p:nvSpPr>
        <p:spPr>
          <a:xfrm>
            <a:off x="1576261" y="1475244"/>
            <a:ext cx="9567989" cy="3416320"/>
          </a:xfrm>
          <a:prstGeom prst="rect">
            <a:avLst/>
          </a:prstGeom>
          <a:noFill/>
        </p:spPr>
        <p:txBody>
          <a:bodyPr wrap="square">
            <a:spAutoFit/>
          </a:bodyPr>
          <a:lstStyle/>
          <a:p>
            <a:pPr>
              <a:buNone/>
            </a:pPr>
            <a:r>
              <a:rPr lang="en-US"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While In-Context Learning represents a paradigm shift in how we deploy models, it is not yet a replacement for traditional machine learning in structured data settings. On datasets like Iris and California Housing:</a:t>
            </a:r>
            <a:endPar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24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CML models are faster, more accurate, and more stable.</a:t>
            </a:r>
            <a:endParaRPr lang="zh-CN"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24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ICL models offer generality and flexibility</a:t>
            </a:r>
            <a:r>
              <a:rPr lang="en-US"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especially useful for low-data or zero-training settings.</a:t>
            </a:r>
            <a:endParaRPr lang="zh-CN"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The ideal strategy may lie in </a:t>
            </a:r>
            <a:r>
              <a:rPr lang="en-US" altLang="zh-CN" sz="24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hybrid approaches</a:t>
            </a:r>
            <a:r>
              <a:rPr lang="en-US" altLang="zh-CN" sz="24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—where LLMs bootstrap quick initial predictions, and CML models refine them with data-specific learning.</a:t>
            </a:r>
            <a:endPar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4987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7E7A7-8A5D-0002-DB42-8D9096A963D8}"/>
            </a:ext>
          </a:extLst>
        </p:cNvPr>
        <p:cNvGrpSpPr/>
        <p:nvPr/>
      </p:nvGrpSpPr>
      <p:grpSpPr>
        <a:xfrm>
          <a:off x="0" y="0"/>
          <a:ext cx="0" cy="0"/>
          <a:chOff x="0" y="0"/>
          <a:chExt cx="0" cy="0"/>
        </a:xfrm>
      </p:grpSpPr>
      <p:sp>
        <p:nvSpPr>
          <p:cNvPr id="21507" name="Slide Number Placeholder 5">
            <a:extLst>
              <a:ext uri="{FF2B5EF4-FFF2-40B4-BE49-F238E27FC236}">
                <a16:creationId xmlns:a16="http://schemas.microsoft.com/office/drawing/2014/main" id="{2B030D21-D4EC-94C4-A10F-67C29189A3C7}"/>
              </a:ext>
            </a:extLst>
          </p:cNvPr>
          <p:cNvSpPr txBox="1">
            <a:spLocks noGrp="1"/>
          </p:cNvSpPr>
          <p:nvPr>
            <p:ph type="sldNum" sz="quarter" idx="4"/>
          </p:nvPr>
        </p:nvSpPr>
        <p:spPr>
          <a:xfrm>
            <a:off x="765810" y="6471286"/>
            <a:ext cx="630556" cy="276224"/>
          </a:xfrm>
          <a:noFill/>
          <a:ln>
            <a:noFill/>
          </a:ln>
        </p:spPr>
        <p:txBody>
          <a:bodyPr anchor="ctr" anchorCtr="0"/>
          <a:lstStyle>
            <a:lvl1pPr marL="0" lvl="0" indent="0" algn="l" defTabSz="713105" rtl="0" eaLnBrk="1" fontAlgn="base" latinLnBrk="0" hangingPunct="1">
              <a:lnSpc>
                <a:spcPct val="100000"/>
              </a:lnSpc>
              <a:spcBef>
                <a:spcPct val="0"/>
              </a:spcBef>
              <a:spcAft>
                <a:spcPct val="0"/>
              </a:spcAft>
              <a:buNone/>
              <a:defRPr sz="1400" b="0" i="0" u="none" kern="1200" baseline="0">
                <a:solidFill>
                  <a:schemeClr val="tx1"/>
                </a:solidFill>
                <a:latin typeface="Calibri" panose="020F0502020204030204" charset="0"/>
              </a:defRPr>
            </a:lvl1pPr>
            <a:lvl2pPr marL="355600" lvl="1" indent="101600"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2pPr>
            <a:lvl3pPr marL="713105" lvl="2" indent="2012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3pPr>
            <a:lvl4pPr marL="1068705" lvl="3" indent="30289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4pPr>
            <a:lvl5pPr marL="1425575" lvl="4" indent="403225" algn="l" defTabSz="713105" rtl="0" eaLnBrk="0" fontAlgn="base" latinLnBrk="0" hangingPunct="0">
              <a:lnSpc>
                <a:spcPct val="100000"/>
              </a:lnSpc>
              <a:spcBef>
                <a:spcPct val="0"/>
              </a:spcBef>
              <a:spcAft>
                <a:spcPct val="0"/>
              </a:spcAft>
              <a:buNone/>
              <a:defRPr sz="1400" b="0" i="0" u="none" kern="1200" baseline="0">
                <a:solidFill>
                  <a:schemeClr val="tx1"/>
                </a:solidFill>
                <a:latin typeface="Calibri" panose="020F0502020204030204" charset="0"/>
                <a:ea typeface="+mn-ea"/>
                <a:cs typeface="+mn-cs"/>
              </a:defRPr>
            </a:lvl5pPr>
          </a:lstStyle>
          <a:p>
            <a:pPr lvl="0" algn="ctr">
              <a:buNone/>
            </a:pPr>
            <a:fld id="{9A0DB2DC-4C9A-4742-B13C-FB6460FD3503}" type="slidenum">
              <a:rPr lang="en-US" altLang="zh-CN" sz="1200" dirty="0">
                <a:latin typeface="Open Sans" pitchFamily="34" charset="0"/>
                <a:cs typeface="Open Sans" pitchFamily="34" charset="0"/>
              </a:rPr>
              <a:t>24</a:t>
            </a:fld>
            <a:endParaRPr lang="en-US" altLang="zh-CN" sz="1200" dirty="0">
              <a:latin typeface="Open Sans" pitchFamily="34" charset="0"/>
              <a:ea typeface="Open Sans" pitchFamily="34" charset="0"/>
              <a:cs typeface="Open Sans" pitchFamily="34" charset="0"/>
            </a:endParaRPr>
          </a:p>
        </p:txBody>
      </p:sp>
      <p:sp>
        <p:nvSpPr>
          <p:cNvPr id="57" name="Freeform 5">
            <a:extLst>
              <a:ext uri="{FF2B5EF4-FFF2-40B4-BE49-F238E27FC236}">
                <a16:creationId xmlns:a16="http://schemas.microsoft.com/office/drawing/2014/main" id="{F7E5FAF1-9024-A5C8-6CFA-643D2FAA44E6}"/>
              </a:ext>
            </a:extLst>
          </p:cNvPr>
          <p:cNvSpPr/>
          <p:nvPr/>
        </p:nvSpPr>
        <p:spPr bwMode="auto">
          <a:xfrm rot="18900000">
            <a:off x="4171092" y="1556160"/>
            <a:ext cx="1562495" cy="2042753"/>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bg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8" name="Freeform 5">
            <a:extLst>
              <a:ext uri="{FF2B5EF4-FFF2-40B4-BE49-F238E27FC236}">
                <a16:creationId xmlns:a16="http://schemas.microsoft.com/office/drawing/2014/main" id="{383CBC58-0E1E-A385-3B3A-1ADA4F3C0346}"/>
              </a:ext>
            </a:extLst>
          </p:cNvPr>
          <p:cNvSpPr/>
          <p:nvPr/>
        </p:nvSpPr>
        <p:spPr bwMode="auto">
          <a:xfrm rot="2700000">
            <a:off x="5863650" y="1628638"/>
            <a:ext cx="1599107" cy="1999669"/>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1"/>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59" name="Freeform 5">
            <a:extLst>
              <a:ext uri="{FF2B5EF4-FFF2-40B4-BE49-F238E27FC236}">
                <a16:creationId xmlns:a16="http://schemas.microsoft.com/office/drawing/2014/main" id="{153C3948-996E-2E1F-DC47-E34B2D78CF83}"/>
              </a:ext>
            </a:extLst>
          </p:cNvPr>
          <p:cNvSpPr/>
          <p:nvPr/>
        </p:nvSpPr>
        <p:spPr bwMode="auto">
          <a:xfrm rot="2700000" flipH="1">
            <a:off x="4114506" y="3509060"/>
            <a:ext cx="1597453" cy="1998049"/>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2"/>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0" name="Freeform 5">
            <a:extLst>
              <a:ext uri="{FF2B5EF4-FFF2-40B4-BE49-F238E27FC236}">
                <a16:creationId xmlns:a16="http://schemas.microsoft.com/office/drawing/2014/main" id="{BB2AC5A5-6598-D60C-CB84-DEF40AD01A4D}"/>
              </a:ext>
            </a:extLst>
          </p:cNvPr>
          <p:cNvSpPr/>
          <p:nvPr/>
        </p:nvSpPr>
        <p:spPr bwMode="auto">
          <a:xfrm rot="18900000" flipH="1">
            <a:off x="5848931" y="3434970"/>
            <a:ext cx="1564113" cy="2044408"/>
          </a:xfrm>
          <a:custGeom>
            <a:avLst/>
            <a:gdLst>
              <a:gd name="T0" fmla="*/ 174 w 348"/>
              <a:gd name="T1" fmla="*/ 0 h 444"/>
              <a:gd name="T2" fmla="*/ 59 w 348"/>
              <a:gd name="T3" fmla="*/ 115 h 444"/>
              <a:gd name="T4" fmla="*/ 59 w 348"/>
              <a:gd name="T5" fmla="*/ 328 h 444"/>
              <a:gd name="T6" fmla="*/ 174 w 348"/>
              <a:gd name="T7" fmla="*/ 444 h 444"/>
              <a:gd name="T8" fmla="*/ 290 w 348"/>
              <a:gd name="T9" fmla="*/ 328 h 444"/>
              <a:gd name="T10" fmla="*/ 290 w 348"/>
              <a:gd name="T11" fmla="*/ 115 h 444"/>
              <a:gd name="T12" fmla="*/ 174 w 348"/>
              <a:gd name="T13" fmla="*/ 0 h 444"/>
            </a:gdLst>
            <a:ahLst/>
            <a:cxnLst>
              <a:cxn ang="0">
                <a:pos x="T0" y="T1"/>
              </a:cxn>
              <a:cxn ang="0">
                <a:pos x="T2" y="T3"/>
              </a:cxn>
              <a:cxn ang="0">
                <a:pos x="T4" y="T5"/>
              </a:cxn>
              <a:cxn ang="0">
                <a:pos x="T6" y="T7"/>
              </a:cxn>
              <a:cxn ang="0">
                <a:pos x="T8" y="T9"/>
              </a:cxn>
              <a:cxn ang="0">
                <a:pos x="T10" y="T11"/>
              </a:cxn>
              <a:cxn ang="0">
                <a:pos x="T12" y="T13"/>
              </a:cxn>
            </a:cxnLst>
            <a:rect l="0" t="0" r="r" b="b"/>
            <a:pathLst>
              <a:path w="348" h="444">
                <a:moveTo>
                  <a:pt x="174" y="0"/>
                </a:moveTo>
                <a:cubicBezTo>
                  <a:pt x="59" y="115"/>
                  <a:pt x="59" y="115"/>
                  <a:pt x="59" y="115"/>
                </a:cubicBezTo>
                <a:cubicBezTo>
                  <a:pt x="0" y="174"/>
                  <a:pt x="0" y="270"/>
                  <a:pt x="59" y="328"/>
                </a:cubicBezTo>
                <a:cubicBezTo>
                  <a:pt x="174" y="444"/>
                  <a:pt x="174" y="444"/>
                  <a:pt x="174" y="444"/>
                </a:cubicBezTo>
                <a:cubicBezTo>
                  <a:pt x="290" y="328"/>
                  <a:pt x="290" y="328"/>
                  <a:pt x="290" y="328"/>
                </a:cubicBezTo>
                <a:cubicBezTo>
                  <a:pt x="348" y="270"/>
                  <a:pt x="348" y="174"/>
                  <a:pt x="290" y="115"/>
                </a:cubicBezTo>
                <a:cubicBezTo>
                  <a:pt x="174" y="0"/>
                  <a:pt x="174" y="0"/>
                  <a:pt x="174" y="0"/>
                </a:cubicBezTo>
              </a:path>
            </a:pathLst>
          </a:custGeom>
          <a:solidFill>
            <a:schemeClr val="accent3"/>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chemeClr val="tx1"/>
              </a:solidFill>
              <a:effectLst/>
              <a:uLnTx/>
              <a:uFillTx/>
              <a:latin typeface="+mn-lt"/>
              <a:ea typeface="+mn-ea"/>
              <a:cs typeface="+mn-cs"/>
            </a:endParaRPr>
          </a:p>
        </p:txBody>
      </p:sp>
      <p:sp>
        <p:nvSpPr>
          <p:cNvPr id="65" name="Freeform 106">
            <a:extLst>
              <a:ext uri="{FF2B5EF4-FFF2-40B4-BE49-F238E27FC236}">
                <a16:creationId xmlns:a16="http://schemas.microsoft.com/office/drawing/2014/main" id="{1DDD101C-2B49-AB16-0CD1-2DB2265DC051}"/>
              </a:ext>
            </a:extLst>
          </p:cNvPr>
          <p:cNvSpPr>
            <a:spLocks noEditPoints="1"/>
          </p:cNvSpPr>
          <p:nvPr/>
        </p:nvSpPr>
        <p:spPr bwMode="auto">
          <a:xfrm rot="16200000">
            <a:off x="6461303" y="4089186"/>
            <a:ext cx="365842" cy="458224"/>
          </a:xfrm>
          <a:custGeom>
            <a:avLst/>
            <a:gdLst>
              <a:gd name="T0" fmla="*/ 384 w 402"/>
              <a:gd name="T1" fmla="*/ 0 h 512"/>
              <a:gd name="T2" fmla="*/ 384 w 402"/>
              <a:gd name="T3" fmla="*/ 512 h 512"/>
              <a:gd name="T4" fmla="*/ 76 w 402"/>
              <a:gd name="T5" fmla="*/ 400 h 512"/>
              <a:gd name="T6" fmla="*/ 110 w 402"/>
              <a:gd name="T7" fmla="*/ 375 h 512"/>
              <a:gd name="T8" fmla="*/ 73 w 402"/>
              <a:gd name="T9" fmla="*/ 375 h 512"/>
              <a:gd name="T10" fmla="*/ 101 w 402"/>
              <a:gd name="T11" fmla="*/ 329 h 512"/>
              <a:gd name="T12" fmla="*/ 101 w 402"/>
              <a:gd name="T13" fmla="*/ 293 h 512"/>
              <a:gd name="T14" fmla="*/ 73 w 402"/>
              <a:gd name="T15" fmla="*/ 247 h 512"/>
              <a:gd name="T16" fmla="*/ 110 w 402"/>
              <a:gd name="T17" fmla="*/ 247 h 512"/>
              <a:gd name="T18" fmla="*/ 76 w 402"/>
              <a:gd name="T19" fmla="*/ 222 h 512"/>
              <a:gd name="T20" fmla="*/ 82 w 402"/>
              <a:gd name="T21" fmla="*/ 183 h 512"/>
              <a:gd name="T22" fmla="*/ 107 w 402"/>
              <a:gd name="T23" fmla="*/ 149 h 512"/>
              <a:gd name="T24" fmla="*/ 73 w 402"/>
              <a:gd name="T25" fmla="*/ 174 h 512"/>
              <a:gd name="T26" fmla="*/ 107 w 402"/>
              <a:gd name="T27" fmla="*/ 107 h 512"/>
              <a:gd name="T28" fmla="*/ 82 w 402"/>
              <a:gd name="T29" fmla="*/ 73 h 512"/>
              <a:gd name="T30" fmla="*/ 146 w 402"/>
              <a:gd name="T31" fmla="*/ 466 h 512"/>
              <a:gd name="T32" fmla="*/ 256 w 402"/>
              <a:gd name="T33" fmla="*/ 466 h 512"/>
              <a:gd name="T34" fmla="*/ 149 w 402"/>
              <a:gd name="T35" fmla="*/ 405 h 512"/>
              <a:gd name="T36" fmla="*/ 174 w 402"/>
              <a:gd name="T37" fmla="*/ 329 h 512"/>
              <a:gd name="T38" fmla="*/ 174 w 402"/>
              <a:gd name="T39" fmla="*/ 293 h 512"/>
              <a:gd name="T40" fmla="*/ 146 w 402"/>
              <a:gd name="T41" fmla="*/ 247 h 512"/>
              <a:gd name="T42" fmla="*/ 183 w 402"/>
              <a:gd name="T43" fmla="*/ 247 h 512"/>
              <a:gd name="T44" fmla="*/ 149 w 402"/>
              <a:gd name="T45" fmla="*/ 222 h 512"/>
              <a:gd name="T46" fmla="*/ 155 w 402"/>
              <a:gd name="T47" fmla="*/ 183 h 512"/>
              <a:gd name="T48" fmla="*/ 180 w 402"/>
              <a:gd name="T49" fmla="*/ 149 h 512"/>
              <a:gd name="T50" fmla="*/ 146 w 402"/>
              <a:gd name="T51" fmla="*/ 174 h 512"/>
              <a:gd name="T52" fmla="*/ 180 w 402"/>
              <a:gd name="T53" fmla="*/ 107 h 512"/>
              <a:gd name="T54" fmla="*/ 155 w 402"/>
              <a:gd name="T55" fmla="*/ 73 h 512"/>
              <a:gd name="T56" fmla="*/ 222 w 402"/>
              <a:gd name="T57" fmla="*/ 327 h 512"/>
              <a:gd name="T58" fmla="*/ 256 w 402"/>
              <a:gd name="T59" fmla="*/ 302 h 512"/>
              <a:gd name="T60" fmla="*/ 219 w 402"/>
              <a:gd name="T61" fmla="*/ 302 h 512"/>
              <a:gd name="T62" fmla="*/ 247 w 402"/>
              <a:gd name="T63" fmla="*/ 256 h 512"/>
              <a:gd name="T64" fmla="*/ 247 w 402"/>
              <a:gd name="T65" fmla="*/ 219 h 512"/>
              <a:gd name="T66" fmla="*/ 219 w 402"/>
              <a:gd name="T67" fmla="*/ 174 h 512"/>
              <a:gd name="T68" fmla="*/ 256 w 402"/>
              <a:gd name="T69" fmla="*/ 174 h 512"/>
              <a:gd name="T70" fmla="*/ 222 w 402"/>
              <a:gd name="T71" fmla="*/ 149 h 512"/>
              <a:gd name="T72" fmla="*/ 229 w 402"/>
              <a:gd name="T73" fmla="*/ 110 h 512"/>
              <a:gd name="T74" fmla="*/ 253 w 402"/>
              <a:gd name="T75" fmla="*/ 76 h 512"/>
              <a:gd name="T76" fmla="*/ 219 w 402"/>
              <a:gd name="T77" fmla="*/ 101 h 512"/>
              <a:gd name="T78" fmla="*/ 327 w 402"/>
              <a:gd name="T79" fmla="*/ 400 h 512"/>
              <a:gd name="T80" fmla="*/ 302 w 402"/>
              <a:gd name="T81" fmla="*/ 366 h 512"/>
              <a:gd name="T82" fmla="*/ 295 w 402"/>
              <a:gd name="T83" fmla="*/ 327 h 512"/>
              <a:gd name="T84" fmla="*/ 329 w 402"/>
              <a:gd name="T85" fmla="*/ 302 h 512"/>
              <a:gd name="T86" fmla="*/ 293 w 402"/>
              <a:gd name="T87" fmla="*/ 302 h 512"/>
              <a:gd name="T88" fmla="*/ 320 w 402"/>
              <a:gd name="T89" fmla="*/ 256 h 512"/>
              <a:gd name="T90" fmla="*/ 320 w 402"/>
              <a:gd name="T91" fmla="*/ 219 h 512"/>
              <a:gd name="T92" fmla="*/ 293 w 402"/>
              <a:gd name="T93" fmla="*/ 174 h 512"/>
              <a:gd name="T94" fmla="*/ 329 w 402"/>
              <a:gd name="T95" fmla="*/ 174 h 512"/>
              <a:gd name="T96" fmla="*/ 295 w 402"/>
              <a:gd name="T97" fmla="*/ 149 h 512"/>
              <a:gd name="T98" fmla="*/ 302 w 402"/>
              <a:gd name="T99" fmla="*/ 110 h 512"/>
              <a:gd name="T100" fmla="*/ 327 w 402"/>
              <a:gd name="T101" fmla="*/ 76 h 512"/>
              <a:gd name="T102" fmla="*/ 293 w 402"/>
              <a:gd name="T103" fmla="*/ 1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2" h="512">
                <a:moveTo>
                  <a:pt x="0" y="494"/>
                </a:moveTo>
                <a:cubicBezTo>
                  <a:pt x="0" y="18"/>
                  <a:pt x="0" y="18"/>
                  <a:pt x="0" y="18"/>
                </a:cubicBezTo>
                <a:cubicBezTo>
                  <a:pt x="0" y="13"/>
                  <a:pt x="2" y="9"/>
                  <a:pt x="5" y="5"/>
                </a:cubicBezTo>
                <a:cubicBezTo>
                  <a:pt x="9" y="2"/>
                  <a:pt x="13" y="0"/>
                  <a:pt x="18" y="0"/>
                </a:cubicBezTo>
                <a:cubicBezTo>
                  <a:pt x="384" y="0"/>
                  <a:pt x="384" y="0"/>
                  <a:pt x="384" y="0"/>
                </a:cubicBezTo>
                <a:cubicBezTo>
                  <a:pt x="389" y="0"/>
                  <a:pt x="393" y="2"/>
                  <a:pt x="397" y="5"/>
                </a:cubicBezTo>
                <a:cubicBezTo>
                  <a:pt x="400" y="9"/>
                  <a:pt x="402" y="13"/>
                  <a:pt x="402" y="18"/>
                </a:cubicBezTo>
                <a:cubicBezTo>
                  <a:pt x="402" y="494"/>
                  <a:pt x="402" y="494"/>
                  <a:pt x="402" y="494"/>
                </a:cubicBezTo>
                <a:cubicBezTo>
                  <a:pt x="402" y="499"/>
                  <a:pt x="400" y="503"/>
                  <a:pt x="397" y="507"/>
                </a:cubicBezTo>
                <a:cubicBezTo>
                  <a:pt x="393" y="510"/>
                  <a:pt x="389" y="512"/>
                  <a:pt x="384" y="512"/>
                </a:cubicBezTo>
                <a:cubicBezTo>
                  <a:pt x="18" y="512"/>
                  <a:pt x="18" y="512"/>
                  <a:pt x="18" y="512"/>
                </a:cubicBezTo>
                <a:cubicBezTo>
                  <a:pt x="13" y="512"/>
                  <a:pt x="9" y="510"/>
                  <a:pt x="5" y="507"/>
                </a:cubicBezTo>
                <a:cubicBezTo>
                  <a:pt x="2" y="503"/>
                  <a:pt x="0" y="499"/>
                  <a:pt x="0" y="494"/>
                </a:cubicBezTo>
                <a:close/>
                <a:moveTo>
                  <a:pt x="73" y="393"/>
                </a:moveTo>
                <a:cubicBezTo>
                  <a:pt x="73" y="396"/>
                  <a:pt x="74" y="398"/>
                  <a:pt x="76" y="400"/>
                </a:cubicBezTo>
                <a:cubicBezTo>
                  <a:pt x="77" y="401"/>
                  <a:pt x="80" y="402"/>
                  <a:pt x="82" y="402"/>
                </a:cubicBezTo>
                <a:cubicBezTo>
                  <a:pt x="101" y="402"/>
                  <a:pt x="101" y="402"/>
                  <a:pt x="101" y="402"/>
                </a:cubicBezTo>
                <a:cubicBezTo>
                  <a:pt x="103" y="402"/>
                  <a:pt x="105" y="401"/>
                  <a:pt x="107" y="400"/>
                </a:cubicBezTo>
                <a:cubicBezTo>
                  <a:pt x="109" y="398"/>
                  <a:pt x="110" y="396"/>
                  <a:pt x="110" y="393"/>
                </a:cubicBezTo>
                <a:cubicBezTo>
                  <a:pt x="110" y="375"/>
                  <a:pt x="110" y="375"/>
                  <a:pt x="110" y="375"/>
                </a:cubicBezTo>
                <a:cubicBezTo>
                  <a:pt x="110" y="372"/>
                  <a:pt x="109" y="370"/>
                  <a:pt x="107" y="368"/>
                </a:cubicBezTo>
                <a:cubicBezTo>
                  <a:pt x="105" y="367"/>
                  <a:pt x="103" y="366"/>
                  <a:pt x="101" y="366"/>
                </a:cubicBezTo>
                <a:cubicBezTo>
                  <a:pt x="82" y="366"/>
                  <a:pt x="82" y="366"/>
                  <a:pt x="82" y="366"/>
                </a:cubicBezTo>
                <a:cubicBezTo>
                  <a:pt x="80" y="366"/>
                  <a:pt x="77" y="367"/>
                  <a:pt x="76" y="368"/>
                </a:cubicBezTo>
                <a:cubicBezTo>
                  <a:pt x="74" y="370"/>
                  <a:pt x="73" y="372"/>
                  <a:pt x="73" y="375"/>
                </a:cubicBezTo>
                <a:lnTo>
                  <a:pt x="73" y="393"/>
                </a:lnTo>
                <a:close/>
                <a:moveTo>
                  <a:pt x="73" y="320"/>
                </a:moveTo>
                <a:cubicBezTo>
                  <a:pt x="73" y="323"/>
                  <a:pt x="74" y="325"/>
                  <a:pt x="76" y="327"/>
                </a:cubicBezTo>
                <a:cubicBezTo>
                  <a:pt x="77" y="328"/>
                  <a:pt x="80" y="329"/>
                  <a:pt x="82" y="329"/>
                </a:cubicBezTo>
                <a:cubicBezTo>
                  <a:pt x="101" y="329"/>
                  <a:pt x="101" y="329"/>
                  <a:pt x="101" y="329"/>
                </a:cubicBezTo>
                <a:cubicBezTo>
                  <a:pt x="103" y="329"/>
                  <a:pt x="105" y="328"/>
                  <a:pt x="107" y="327"/>
                </a:cubicBezTo>
                <a:cubicBezTo>
                  <a:pt x="109" y="325"/>
                  <a:pt x="110" y="323"/>
                  <a:pt x="110" y="320"/>
                </a:cubicBezTo>
                <a:cubicBezTo>
                  <a:pt x="110" y="302"/>
                  <a:pt x="110" y="302"/>
                  <a:pt x="110" y="302"/>
                </a:cubicBezTo>
                <a:cubicBezTo>
                  <a:pt x="110" y="299"/>
                  <a:pt x="109" y="297"/>
                  <a:pt x="107" y="295"/>
                </a:cubicBezTo>
                <a:cubicBezTo>
                  <a:pt x="105" y="293"/>
                  <a:pt x="103" y="293"/>
                  <a:pt x="101" y="293"/>
                </a:cubicBezTo>
                <a:cubicBezTo>
                  <a:pt x="82" y="293"/>
                  <a:pt x="82" y="293"/>
                  <a:pt x="82" y="293"/>
                </a:cubicBezTo>
                <a:cubicBezTo>
                  <a:pt x="80" y="293"/>
                  <a:pt x="77" y="293"/>
                  <a:pt x="76" y="295"/>
                </a:cubicBezTo>
                <a:cubicBezTo>
                  <a:pt x="74" y="297"/>
                  <a:pt x="73" y="299"/>
                  <a:pt x="73" y="302"/>
                </a:cubicBezTo>
                <a:lnTo>
                  <a:pt x="73" y="320"/>
                </a:lnTo>
                <a:close/>
                <a:moveTo>
                  <a:pt x="73" y="247"/>
                </a:moveTo>
                <a:cubicBezTo>
                  <a:pt x="73" y="250"/>
                  <a:pt x="74" y="252"/>
                  <a:pt x="76" y="253"/>
                </a:cubicBezTo>
                <a:cubicBezTo>
                  <a:pt x="77" y="255"/>
                  <a:pt x="80" y="256"/>
                  <a:pt x="82" y="256"/>
                </a:cubicBezTo>
                <a:cubicBezTo>
                  <a:pt x="101" y="256"/>
                  <a:pt x="101" y="256"/>
                  <a:pt x="101" y="256"/>
                </a:cubicBezTo>
                <a:cubicBezTo>
                  <a:pt x="103" y="256"/>
                  <a:pt x="105" y="255"/>
                  <a:pt x="107" y="253"/>
                </a:cubicBezTo>
                <a:cubicBezTo>
                  <a:pt x="109" y="252"/>
                  <a:pt x="110" y="250"/>
                  <a:pt x="110" y="247"/>
                </a:cubicBezTo>
                <a:cubicBezTo>
                  <a:pt x="110" y="229"/>
                  <a:pt x="110" y="229"/>
                  <a:pt x="110" y="229"/>
                </a:cubicBezTo>
                <a:cubicBezTo>
                  <a:pt x="110" y="226"/>
                  <a:pt x="109" y="224"/>
                  <a:pt x="107" y="222"/>
                </a:cubicBezTo>
                <a:cubicBezTo>
                  <a:pt x="105" y="220"/>
                  <a:pt x="103" y="219"/>
                  <a:pt x="101" y="219"/>
                </a:cubicBezTo>
                <a:cubicBezTo>
                  <a:pt x="82" y="219"/>
                  <a:pt x="82" y="219"/>
                  <a:pt x="82" y="219"/>
                </a:cubicBezTo>
                <a:cubicBezTo>
                  <a:pt x="80" y="219"/>
                  <a:pt x="77" y="220"/>
                  <a:pt x="76" y="222"/>
                </a:cubicBezTo>
                <a:cubicBezTo>
                  <a:pt x="74" y="224"/>
                  <a:pt x="73" y="226"/>
                  <a:pt x="73" y="229"/>
                </a:cubicBezTo>
                <a:lnTo>
                  <a:pt x="73" y="247"/>
                </a:lnTo>
                <a:close/>
                <a:moveTo>
                  <a:pt x="73" y="174"/>
                </a:moveTo>
                <a:cubicBezTo>
                  <a:pt x="73" y="176"/>
                  <a:pt x="74" y="179"/>
                  <a:pt x="76" y="180"/>
                </a:cubicBezTo>
                <a:cubicBezTo>
                  <a:pt x="77" y="182"/>
                  <a:pt x="80" y="183"/>
                  <a:pt x="82" y="183"/>
                </a:cubicBezTo>
                <a:cubicBezTo>
                  <a:pt x="101" y="183"/>
                  <a:pt x="101" y="183"/>
                  <a:pt x="101" y="183"/>
                </a:cubicBezTo>
                <a:cubicBezTo>
                  <a:pt x="103" y="183"/>
                  <a:pt x="105" y="182"/>
                  <a:pt x="107" y="180"/>
                </a:cubicBezTo>
                <a:cubicBezTo>
                  <a:pt x="109" y="179"/>
                  <a:pt x="110" y="176"/>
                  <a:pt x="110" y="174"/>
                </a:cubicBezTo>
                <a:cubicBezTo>
                  <a:pt x="110" y="155"/>
                  <a:pt x="110" y="155"/>
                  <a:pt x="110" y="155"/>
                </a:cubicBezTo>
                <a:cubicBezTo>
                  <a:pt x="110" y="153"/>
                  <a:pt x="109" y="151"/>
                  <a:pt x="107" y="149"/>
                </a:cubicBezTo>
                <a:cubicBezTo>
                  <a:pt x="105" y="147"/>
                  <a:pt x="103" y="146"/>
                  <a:pt x="101" y="146"/>
                </a:cubicBezTo>
                <a:cubicBezTo>
                  <a:pt x="82" y="146"/>
                  <a:pt x="82" y="146"/>
                  <a:pt x="82" y="146"/>
                </a:cubicBezTo>
                <a:cubicBezTo>
                  <a:pt x="80" y="146"/>
                  <a:pt x="77" y="147"/>
                  <a:pt x="76" y="149"/>
                </a:cubicBezTo>
                <a:cubicBezTo>
                  <a:pt x="74" y="151"/>
                  <a:pt x="73" y="153"/>
                  <a:pt x="73" y="155"/>
                </a:cubicBezTo>
                <a:lnTo>
                  <a:pt x="73" y="174"/>
                </a:lnTo>
                <a:close/>
                <a:moveTo>
                  <a:pt x="73" y="101"/>
                </a:moveTo>
                <a:cubicBezTo>
                  <a:pt x="73" y="103"/>
                  <a:pt x="74" y="105"/>
                  <a:pt x="76" y="107"/>
                </a:cubicBezTo>
                <a:cubicBezTo>
                  <a:pt x="77" y="109"/>
                  <a:pt x="80" y="110"/>
                  <a:pt x="82" y="110"/>
                </a:cubicBezTo>
                <a:cubicBezTo>
                  <a:pt x="101" y="110"/>
                  <a:pt x="101" y="110"/>
                  <a:pt x="101" y="110"/>
                </a:cubicBezTo>
                <a:cubicBezTo>
                  <a:pt x="103" y="110"/>
                  <a:pt x="105" y="109"/>
                  <a:pt x="107" y="107"/>
                </a:cubicBezTo>
                <a:cubicBezTo>
                  <a:pt x="109" y="105"/>
                  <a:pt x="110" y="103"/>
                  <a:pt x="110" y="101"/>
                </a:cubicBezTo>
                <a:cubicBezTo>
                  <a:pt x="110" y="82"/>
                  <a:pt x="110" y="82"/>
                  <a:pt x="110" y="82"/>
                </a:cubicBezTo>
                <a:cubicBezTo>
                  <a:pt x="110" y="80"/>
                  <a:pt x="109" y="77"/>
                  <a:pt x="107" y="76"/>
                </a:cubicBezTo>
                <a:cubicBezTo>
                  <a:pt x="105" y="74"/>
                  <a:pt x="103" y="73"/>
                  <a:pt x="101" y="73"/>
                </a:cubicBezTo>
                <a:cubicBezTo>
                  <a:pt x="82" y="73"/>
                  <a:pt x="82" y="73"/>
                  <a:pt x="82" y="73"/>
                </a:cubicBezTo>
                <a:cubicBezTo>
                  <a:pt x="80" y="73"/>
                  <a:pt x="77" y="74"/>
                  <a:pt x="76" y="76"/>
                </a:cubicBezTo>
                <a:cubicBezTo>
                  <a:pt x="74" y="77"/>
                  <a:pt x="73" y="80"/>
                  <a:pt x="73" y="82"/>
                </a:cubicBezTo>
                <a:lnTo>
                  <a:pt x="73" y="101"/>
                </a:lnTo>
                <a:close/>
                <a:moveTo>
                  <a:pt x="146" y="411"/>
                </a:moveTo>
                <a:cubicBezTo>
                  <a:pt x="146" y="466"/>
                  <a:pt x="146" y="466"/>
                  <a:pt x="146" y="466"/>
                </a:cubicBezTo>
                <a:cubicBezTo>
                  <a:pt x="146" y="469"/>
                  <a:pt x="147" y="471"/>
                  <a:pt x="149" y="473"/>
                </a:cubicBezTo>
                <a:cubicBezTo>
                  <a:pt x="151" y="475"/>
                  <a:pt x="153" y="475"/>
                  <a:pt x="155" y="475"/>
                </a:cubicBezTo>
                <a:cubicBezTo>
                  <a:pt x="247" y="475"/>
                  <a:pt x="247" y="475"/>
                  <a:pt x="247" y="475"/>
                </a:cubicBezTo>
                <a:cubicBezTo>
                  <a:pt x="250" y="475"/>
                  <a:pt x="252" y="475"/>
                  <a:pt x="253" y="473"/>
                </a:cubicBezTo>
                <a:cubicBezTo>
                  <a:pt x="255" y="471"/>
                  <a:pt x="256" y="469"/>
                  <a:pt x="256" y="466"/>
                </a:cubicBezTo>
                <a:cubicBezTo>
                  <a:pt x="256" y="411"/>
                  <a:pt x="256" y="411"/>
                  <a:pt x="256" y="411"/>
                </a:cubicBezTo>
                <a:cubicBezTo>
                  <a:pt x="256" y="409"/>
                  <a:pt x="255" y="407"/>
                  <a:pt x="253" y="405"/>
                </a:cubicBezTo>
                <a:cubicBezTo>
                  <a:pt x="252" y="403"/>
                  <a:pt x="250" y="402"/>
                  <a:pt x="247" y="402"/>
                </a:cubicBezTo>
                <a:cubicBezTo>
                  <a:pt x="155" y="402"/>
                  <a:pt x="155" y="402"/>
                  <a:pt x="155" y="402"/>
                </a:cubicBezTo>
                <a:cubicBezTo>
                  <a:pt x="153" y="402"/>
                  <a:pt x="151" y="403"/>
                  <a:pt x="149" y="405"/>
                </a:cubicBezTo>
                <a:cubicBezTo>
                  <a:pt x="147" y="407"/>
                  <a:pt x="146" y="409"/>
                  <a:pt x="146" y="411"/>
                </a:cubicBezTo>
                <a:close/>
                <a:moveTo>
                  <a:pt x="146" y="320"/>
                </a:moveTo>
                <a:cubicBezTo>
                  <a:pt x="146" y="323"/>
                  <a:pt x="147" y="325"/>
                  <a:pt x="149" y="327"/>
                </a:cubicBezTo>
                <a:cubicBezTo>
                  <a:pt x="151" y="328"/>
                  <a:pt x="153" y="329"/>
                  <a:pt x="155" y="329"/>
                </a:cubicBezTo>
                <a:cubicBezTo>
                  <a:pt x="174" y="329"/>
                  <a:pt x="174" y="329"/>
                  <a:pt x="174" y="329"/>
                </a:cubicBezTo>
                <a:cubicBezTo>
                  <a:pt x="176" y="329"/>
                  <a:pt x="179" y="328"/>
                  <a:pt x="180" y="327"/>
                </a:cubicBezTo>
                <a:cubicBezTo>
                  <a:pt x="182" y="325"/>
                  <a:pt x="183" y="323"/>
                  <a:pt x="183" y="320"/>
                </a:cubicBezTo>
                <a:cubicBezTo>
                  <a:pt x="183" y="302"/>
                  <a:pt x="183" y="302"/>
                  <a:pt x="183" y="302"/>
                </a:cubicBezTo>
                <a:cubicBezTo>
                  <a:pt x="183" y="299"/>
                  <a:pt x="182" y="297"/>
                  <a:pt x="180" y="295"/>
                </a:cubicBezTo>
                <a:cubicBezTo>
                  <a:pt x="179" y="293"/>
                  <a:pt x="176" y="293"/>
                  <a:pt x="174" y="293"/>
                </a:cubicBezTo>
                <a:cubicBezTo>
                  <a:pt x="155" y="293"/>
                  <a:pt x="155" y="293"/>
                  <a:pt x="155" y="293"/>
                </a:cubicBezTo>
                <a:cubicBezTo>
                  <a:pt x="153" y="293"/>
                  <a:pt x="151" y="293"/>
                  <a:pt x="149" y="295"/>
                </a:cubicBezTo>
                <a:cubicBezTo>
                  <a:pt x="147" y="297"/>
                  <a:pt x="146" y="299"/>
                  <a:pt x="146" y="302"/>
                </a:cubicBezTo>
                <a:lnTo>
                  <a:pt x="146" y="320"/>
                </a:lnTo>
                <a:close/>
                <a:moveTo>
                  <a:pt x="146" y="247"/>
                </a:moveTo>
                <a:cubicBezTo>
                  <a:pt x="146" y="250"/>
                  <a:pt x="147" y="252"/>
                  <a:pt x="149" y="253"/>
                </a:cubicBezTo>
                <a:cubicBezTo>
                  <a:pt x="151" y="255"/>
                  <a:pt x="153" y="256"/>
                  <a:pt x="155" y="256"/>
                </a:cubicBezTo>
                <a:cubicBezTo>
                  <a:pt x="174" y="256"/>
                  <a:pt x="174" y="256"/>
                  <a:pt x="174" y="256"/>
                </a:cubicBezTo>
                <a:cubicBezTo>
                  <a:pt x="176" y="256"/>
                  <a:pt x="179" y="255"/>
                  <a:pt x="180" y="253"/>
                </a:cubicBezTo>
                <a:cubicBezTo>
                  <a:pt x="182" y="252"/>
                  <a:pt x="183" y="250"/>
                  <a:pt x="183" y="247"/>
                </a:cubicBezTo>
                <a:cubicBezTo>
                  <a:pt x="183" y="229"/>
                  <a:pt x="183" y="229"/>
                  <a:pt x="183" y="229"/>
                </a:cubicBezTo>
                <a:cubicBezTo>
                  <a:pt x="183" y="226"/>
                  <a:pt x="182" y="224"/>
                  <a:pt x="180" y="222"/>
                </a:cubicBezTo>
                <a:cubicBezTo>
                  <a:pt x="179" y="220"/>
                  <a:pt x="176" y="219"/>
                  <a:pt x="174" y="219"/>
                </a:cubicBezTo>
                <a:cubicBezTo>
                  <a:pt x="155" y="219"/>
                  <a:pt x="155" y="219"/>
                  <a:pt x="155" y="219"/>
                </a:cubicBezTo>
                <a:cubicBezTo>
                  <a:pt x="153" y="219"/>
                  <a:pt x="151" y="220"/>
                  <a:pt x="149" y="222"/>
                </a:cubicBezTo>
                <a:cubicBezTo>
                  <a:pt x="147" y="224"/>
                  <a:pt x="146" y="226"/>
                  <a:pt x="146" y="229"/>
                </a:cubicBezTo>
                <a:lnTo>
                  <a:pt x="146" y="247"/>
                </a:lnTo>
                <a:close/>
                <a:moveTo>
                  <a:pt x="146" y="174"/>
                </a:moveTo>
                <a:cubicBezTo>
                  <a:pt x="146" y="176"/>
                  <a:pt x="147" y="179"/>
                  <a:pt x="149" y="180"/>
                </a:cubicBezTo>
                <a:cubicBezTo>
                  <a:pt x="151" y="182"/>
                  <a:pt x="153" y="183"/>
                  <a:pt x="155" y="183"/>
                </a:cubicBezTo>
                <a:cubicBezTo>
                  <a:pt x="174" y="183"/>
                  <a:pt x="174" y="183"/>
                  <a:pt x="174" y="183"/>
                </a:cubicBezTo>
                <a:cubicBezTo>
                  <a:pt x="176" y="183"/>
                  <a:pt x="179" y="182"/>
                  <a:pt x="180" y="180"/>
                </a:cubicBezTo>
                <a:cubicBezTo>
                  <a:pt x="182" y="179"/>
                  <a:pt x="183" y="176"/>
                  <a:pt x="183" y="174"/>
                </a:cubicBezTo>
                <a:cubicBezTo>
                  <a:pt x="183" y="155"/>
                  <a:pt x="183" y="155"/>
                  <a:pt x="183" y="155"/>
                </a:cubicBezTo>
                <a:cubicBezTo>
                  <a:pt x="183" y="153"/>
                  <a:pt x="182" y="151"/>
                  <a:pt x="180" y="149"/>
                </a:cubicBezTo>
                <a:cubicBezTo>
                  <a:pt x="179" y="147"/>
                  <a:pt x="176" y="146"/>
                  <a:pt x="174" y="146"/>
                </a:cubicBezTo>
                <a:cubicBezTo>
                  <a:pt x="155" y="146"/>
                  <a:pt x="155" y="146"/>
                  <a:pt x="155" y="146"/>
                </a:cubicBezTo>
                <a:cubicBezTo>
                  <a:pt x="153" y="146"/>
                  <a:pt x="151" y="147"/>
                  <a:pt x="149" y="149"/>
                </a:cubicBezTo>
                <a:cubicBezTo>
                  <a:pt x="147" y="151"/>
                  <a:pt x="146" y="153"/>
                  <a:pt x="146" y="155"/>
                </a:cubicBezTo>
                <a:lnTo>
                  <a:pt x="146" y="174"/>
                </a:lnTo>
                <a:close/>
                <a:moveTo>
                  <a:pt x="146" y="101"/>
                </a:moveTo>
                <a:cubicBezTo>
                  <a:pt x="146" y="103"/>
                  <a:pt x="147" y="105"/>
                  <a:pt x="149" y="107"/>
                </a:cubicBezTo>
                <a:cubicBezTo>
                  <a:pt x="151" y="109"/>
                  <a:pt x="153" y="110"/>
                  <a:pt x="155" y="110"/>
                </a:cubicBezTo>
                <a:cubicBezTo>
                  <a:pt x="174" y="110"/>
                  <a:pt x="174" y="110"/>
                  <a:pt x="174" y="110"/>
                </a:cubicBezTo>
                <a:cubicBezTo>
                  <a:pt x="176" y="110"/>
                  <a:pt x="179" y="109"/>
                  <a:pt x="180" y="107"/>
                </a:cubicBezTo>
                <a:cubicBezTo>
                  <a:pt x="182" y="105"/>
                  <a:pt x="183" y="103"/>
                  <a:pt x="183" y="101"/>
                </a:cubicBezTo>
                <a:cubicBezTo>
                  <a:pt x="183" y="82"/>
                  <a:pt x="183" y="82"/>
                  <a:pt x="183" y="82"/>
                </a:cubicBezTo>
                <a:cubicBezTo>
                  <a:pt x="183" y="80"/>
                  <a:pt x="182" y="77"/>
                  <a:pt x="180" y="76"/>
                </a:cubicBezTo>
                <a:cubicBezTo>
                  <a:pt x="179" y="74"/>
                  <a:pt x="176" y="73"/>
                  <a:pt x="174" y="73"/>
                </a:cubicBezTo>
                <a:cubicBezTo>
                  <a:pt x="155" y="73"/>
                  <a:pt x="155" y="73"/>
                  <a:pt x="155" y="73"/>
                </a:cubicBezTo>
                <a:cubicBezTo>
                  <a:pt x="153" y="73"/>
                  <a:pt x="151" y="74"/>
                  <a:pt x="149" y="76"/>
                </a:cubicBezTo>
                <a:cubicBezTo>
                  <a:pt x="147" y="77"/>
                  <a:pt x="146" y="80"/>
                  <a:pt x="146" y="82"/>
                </a:cubicBezTo>
                <a:lnTo>
                  <a:pt x="146" y="101"/>
                </a:lnTo>
                <a:close/>
                <a:moveTo>
                  <a:pt x="219" y="320"/>
                </a:moveTo>
                <a:cubicBezTo>
                  <a:pt x="219" y="323"/>
                  <a:pt x="220" y="325"/>
                  <a:pt x="222" y="327"/>
                </a:cubicBezTo>
                <a:cubicBezTo>
                  <a:pt x="224" y="328"/>
                  <a:pt x="226" y="329"/>
                  <a:pt x="229" y="329"/>
                </a:cubicBezTo>
                <a:cubicBezTo>
                  <a:pt x="247" y="329"/>
                  <a:pt x="247" y="329"/>
                  <a:pt x="247" y="329"/>
                </a:cubicBezTo>
                <a:cubicBezTo>
                  <a:pt x="250" y="329"/>
                  <a:pt x="252" y="328"/>
                  <a:pt x="253" y="327"/>
                </a:cubicBezTo>
                <a:cubicBezTo>
                  <a:pt x="255" y="325"/>
                  <a:pt x="256" y="323"/>
                  <a:pt x="256" y="320"/>
                </a:cubicBezTo>
                <a:cubicBezTo>
                  <a:pt x="256" y="302"/>
                  <a:pt x="256" y="302"/>
                  <a:pt x="256" y="302"/>
                </a:cubicBezTo>
                <a:cubicBezTo>
                  <a:pt x="256" y="299"/>
                  <a:pt x="255" y="297"/>
                  <a:pt x="253" y="295"/>
                </a:cubicBezTo>
                <a:cubicBezTo>
                  <a:pt x="252" y="293"/>
                  <a:pt x="250" y="293"/>
                  <a:pt x="247" y="293"/>
                </a:cubicBezTo>
                <a:cubicBezTo>
                  <a:pt x="229" y="293"/>
                  <a:pt x="229" y="293"/>
                  <a:pt x="229" y="293"/>
                </a:cubicBezTo>
                <a:cubicBezTo>
                  <a:pt x="226" y="293"/>
                  <a:pt x="224" y="293"/>
                  <a:pt x="222" y="295"/>
                </a:cubicBezTo>
                <a:cubicBezTo>
                  <a:pt x="220" y="297"/>
                  <a:pt x="219" y="299"/>
                  <a:pt x="219" y="302"/>
                </a:cubicBezTo>
                <a:lnTo>
                  <a:pt x="219" y="320"/>
                </a:lnTo>
                <a:close/>
                <a:moveTo>
                  <a:pt x="219" y="247"/>
                </a:moveTo>
                <a:cubicBezTo>
                  <a:pt x="219" y="250"/>
                  <a:pt x="220" y="252"/>
                  <a:pt x="222" y="253"/>
                </a:cubicBezTo>
                <a:cubicBezTo>
                  <a:pt x="224" y="255"/>
                  <a:pt x="226" y="256"/>
                  <a:pt x="229" y="256"/>
                </a:cubicBezTo>
                <a:cubicBezTo>
                  <a:pt x="247" y="256"/>
                  <a:pt x="247" y="256"/>
                  <a:pt x="247" y="256"/>
                </a:cubicBezTo>
                <a:cubicBezTo>
                  <a:pt x="250" y="256"/>
                  <a:pt x="252" y="255"/>
                  <a:pt x="253" y="253"/>
                </a:cubicBezTo>
                <a:cubicBezTo>
                  <a:pt x="255" y="252"/>
                  <a:pt x="256" y="250"/>
                  <a:pt x="256" y="247"/>
                </a:cubicBezTo>
                <a:cubicBezTo>
                  <a:pt x="256" y="229"/>
                  <a:pt x="256" y="229"/>
                  <a:pt x="256" y="229"/>
                </a:cubicBezTo>
                <a:cubicBezTo>
                  <a:pt x="256" y="226"/>
                  <a:pt x="255" y="224"/>
                  <a:pt x="253" y="222"/>
                </a:cubicBezTo>
                <a:cubicBezTo>
                  <a:pt x="252" y="220"/>
                  <a:pt x="250" y="219"/>
                  <a:pt x="247" y="219"/>
                </a:cubicBezTo>
                <a:cubicBezTo>
                  <a:pt x="229" y="219"/>
                  <a:pt x="229" y="219"/>
                  <a:pt x="229" y="219"/>
                </a:cubicBezTo>
                <a:cubicBezTo>
                  <a:pt x="226" y="219"/>
                  <a:pt x="224" y="220"/>
                  <a:pt x="222" y="222"/>
                </a:cubicBezTo>
                <a:cubicBezTo>
                  <a:pt x="220" y="224"/>
                  <a:pt x="219" y="226"/>
                  <a:pt x="219" y="229"/>
                </a:cubicBezTo>
                <a:lnTo>
                  <a:pt x="219" y="247"/>
                </a:lnTo>
                <a:close/>
                <a:moveTo>
                  <a:pt x="219" y="174"/>
                </a:moveTo>
                <a:cubicBezTo>
                  <a:pt x="219" y="176"/>
                  <a:pt x="220" y="179"/>
                  <a:pt x="222" y="180"/>
                </a:cubicBezTo>
                <a:cubicBezTo>
                  <a:pt x="224" y="182"/>
                  <a:pt x="226" y="183"/>
                  <a:pt x="229" y="183"/>
                </a:cubicBezTo>
                <a:cubicBezTo>
                  <a:pt x="247" y="183"/>
                  <a:pt x="247" y="183"/>
                  <a:pt x="247" y="183"/>
                </a:cubicBezTo>
                <a:cubicBezTo>
                  <a:pt x="250" y="183"/>
                  <a:pt x="252" y="182"/>
                  <a:pt x="253" y="180"/>
                </a:cubicBezTo>
                <a:cubicBezTo>
                  <a:pt x="255" y="179"/>
                  <a:pt x="256" y="176"/>
                  <a:pt x="256" y="174"/>
                </a:cubicBezTo>
                <a:cubicBezTo>
                  <a:pt x="256" y="155"/>
                  <a:pt x="256" y="155"/>
                  <a:pt x="256" y="155"/>
                </a:cubicBezTo>
                <a:cubicBezTo>
                  <a:pt x="256" y="153"/>
                  <a:pt x="255" y="151"/>
                  <a:pt x="253" y="149"/>
                </a:cubicBezTo>
                <a:cubicBezTo>
                  <a:pt x="252" y="147"/>
                  <a:pt x="250" y="146"/>
                  <a:pt x="247" y="146"/>
                </a:cubicBezTo>
                <a:cubicBezTo>
                  <a:pt x="229" y="146"/>
                  <a:pt x="229" y="146"/>
                  <a:pt x="229" y="146"/>
                </a:cubicBezTo>
                <a:cubicBezTo>
                  <a:pt x="226" y="146"/>
                  <a:pt x="224" y="147"/>
                  <a:pt x="222" y="149"/>
                </a:cubicBezTo>
                <a:cubicBezTo>
                  <a:pt x="220" y="151"/>
                  <a:pt x="219" y="153"/>
                  <a:pt x="219" y="155"/>
                </a:cubicBezTo>
                <a:lnTo>
                  <a:pt x="219" y="174"/>
                </a:lnTo>
                <a:close/>
                <a:moveTo>
                  <a:pt x="219" y="101"/>
                </a:moveTo>
                <a:cubicBezTo>
                  <a:pt x="219" y="103"/>
                  <a:pt x="220" y="105"/>
                  <a:pt x="222" y="107"/>
                </a:cubicBezTo>
                <a:cubicBezTo>
                  <a:pt x="224" y="109"/>
                  <a:pt x="226" y="110"/>
                  <a:pt x="229" y="110"/>
                </a:cubicBezTo>
                <a:cubicBezTo>
                  <a:pt x="247" y="110"/>
                  <a:pt x="247" y="110"/>
                  <a:pt x="247" y="110"/>
                </a:cubicBezTo>
                <a:cubicBezTo>
                  <a:pt x="250" y="110"/>
                  <a:pt x="252" y="109"/>
                  <a:pt x="253" y="107"/>
                </a:cubicBezTo>
                <a:cubicBezTo>
                  <a:pt x="255" y="105"/>
                  <a:pt x="256" y="103"/>
                  <a:pt x="256" y="101"/>
                </a:cubicBezTo>
                <a:cubicBezTo>
                  <a:pt x="256" y="82"/>
                  <a:pt x="256" y="82"/>
                  <a:pt x="256" y="82"/>
                </a:cubicBezTo>
                <a:cubicBezTo>
                  <a:pt x="256" y="80"/>
                  <a:pt x="255" y="77"/>
                  <a:pt x="253" y="76"/>
                </a:cubicBezTo>
                <a:cubicBezTo>
                  <a:pt x="252" y="74"/>
                  <a:pt x="250" y="73"/>
                  <a:pt x="247" y="73"/>
                </a:cubicBezTo>
                <a:cubicBezTo>
                  <a:pt x="229" y="73"/>
                  <a:pt x="229" y="73"/>
                  <a:pt x="229" y="73"/>
                </a:cubicBezTo>
                <a:cubicBezTo>
                  <a:pt x="226" y="73"/>
                  <a:pt x="224" y="74"/>
                  <a:pt x="222" y="76"/>
                </a:cubicBezTo>
                <a:cubicBezTo>
                  <a:pt x="220" y="77"/>
                  <a:pt x="219" y="80"/>
                  <a:pt x="219" y="82"/>
                </a:cubicBezTo>
                <a:lnTo>
                  <a:pt x="219" y="101"/>
                </a:lnTo>
                <a:close/>
                <a:moveTo>
                  <a:pt x="293" y="393"/>
                </a:moveTo>
                <a:cubicBezTo>
                  <a:pt x="293" y="396"/>
                  <a:pt x="293" y="398"/>
                  <a:pt x="295" y="400"/>
                </a:cubicBezTo>
                <a:cubicBezTo>
                  <a:pt x="297" y="401"/>
                  <a:pt x="299" y="402"/>
                  <a:pt x="302" y="402"/>
                </a:cubicBezTo>
                <a:cubicBezTo>
                  <a:pt x="320" y="402"/>
                  <a:pt x="320" y="402"/>
                  <a:pt x="320" y="402"/>
                </a:cubicBezTo>
                <a:cubicBezTo>
                  <a:pt x="323" y="402"/>
                  <a:pt x="325" y="401"/>
                  <a:pt x="327" y="400"/>
                </a:cubicBezTo>
                <a:cubicBezTo>
                  <a:pt x="328" y="398"/>
                  <a:pt x="329" y="396"/>
                  <a:pt x="329" y="393"/>
                </a:cubicBezTo>
                <a:cubicBezTo>
                  <a:pt x="329" y="375"/>
                  <a:pt x="329" y="375"/>
                  <a:pt x="329" y="375"/>
                </a:cubicBezTo>
                <a:cubicBezTo>
                  <a:pt x="329" y="372"/>
                  <a:pt x="328" y="370"/>
                  <a:pt x="327" y="368"/>
                </a:cubicBezTo>
                <a:cubicBezTo>
                  <a:pt x="325" y="367"/>
                  <a:pt x="323" y="366"/>
                  <a:pt x="320" y="366"/>
                </a:cubicBezTo>
                <a:cubicBezTo>
                  <a:pt x="302" y="366"/>
                  <a:pt x="302" y="366"/>
                  <a:pt x="302" y="366"/>
                </a:cubicBezTo>
                <a:cubicBezTo>
                  <a:pt x="299" y="366"/>
                  <a:pt x="297" y="367"/>
                  <a:pt x="295" y="368"/>
                </a:cubicBezTo>
                <a:cubicBezTo>
                  <a:pt x="293" y="370"/>
                  <a:pt x="293" y="372"/>
                  <a:pt x="293" y="375"/>
                </a:cubicBezTo>
                <a:lnTo>
                  <a:pt x="293" y="393"/>
                </a:lnTo>
                <a:close/>
                <a:moveTo>
                  <a:pt x="293" y="320"/>
                </a:moveTo>
                <a:cubicBezTo>
                  <a:pt x="293" y="323"/>
                  <a:pt x="293" y="325"/>
                  <a:pt x="295" y="327"/>
                </a:cubicBezTo>
                <a:cubicBezTo>
                  <a:pt x="297" y="328"/>
                  <a:pt x="299" y="329"/>
                  <a:pt x="302" y="329"/>
                </a:cubicBezTo>
                <a:cubicBezTo>
                  <a:pt x="320" y="329"/>
                  <a:pt x="320" y="329"/>
                  <a:pt x="320" y="329"/>
                </a:cubicBezTo>
                <a:cubicBezTo>
                  <a:pt x="323" y="329"/>
                  <a:pt x="325" y="328"/>
                  <a:pt x="327" y="327"/>
                </a:cubicBezTo>
                <a:cubicBezTo>
                  <a:pt x="328" y="325"/>
                  <a:pt x="329" y="323"/>
                  <a:pt x="329" y="320"/>
                </a:cubicBezTo>
                <a:cubicBezTo>
                  <a:pt x="329" y="302"/>
                  <a:pt x="329" y="302"/>
                  <a:pt x="329" y="302"/>
                </a:cubicBezTo>
                <a:cubicBezTo>
                  <a:pt x="329" y="299"/>
                  <a:pt x="328" y="297"/>
                  <a:pt x="327" y="295"/>
                </a:cubicBezTo>
                <a:cubicBezTo>
                  <a:pt x="325" y="293"/>
                  <a:pt x="323" y="293"/>
                  <a:pt x="320" y="293"/>
                </a:cubicBezTo>
                <a:cubicBezTo>
                  <a:pt x="302" y="293"/>
                  <a:pt x="302" y="293"/>
                  <a:pt x="302" y="293"/>
                </a:cubicBezTo>
                <a:cubicBezTo>
                  <a:pt x="299" y="293"/>
                  <a:pt x="297" y="293"/>
                  <a:pt x="295" y="295"/>
                </a:cubicBezTo>
                <a:cubicBezTo>
                  <a:pt x="293" y="297"/>
                  <a:pt x="293" y="299"/>
                  <a:pt x="293" y="302"/>
                </a:cubicBezTo>
                <a:lnTo>
                  <a:pt x="293" y="320"/>
                </a:lnTo>
                <a:close/>
                <a:moveTo>
                  <a:pt x="293" y="247"/>
                </a:moveTo>
                <a:cubicBezTo>
                  <a:pt x="293" y="250"/>
                  <a:pt x="293" y="252"/>
                  <a:pt x="295" y="253"/>
                </a:cubicBezTo>
                <a:cubicBezTo>
                  <a:pt x="297" y="255"/>
                  <a:pt x="299" y="256"/>
                  <a:pt x="302" y="256"/>
                </a:cubicBezTo>
                <a:cubicBezTo>
                  <a:pt x="320" y="256"/>
                  <a:pt x="320" y="256"/>
                  <a:pt x="320" y="256"/>
                </a:cubicBezTo>
                <a:cubicBezTo>
                  <a:pt x="323" y="256"/>
                  <a:pt x="325" y="255"/>
                  <a:pt x="327" y="253"/>
                </a:cubicBezTo>
                <a:cubicBezTo>
                  <a:pt x="328" y="252"/>
                  <a:pt x="329" y="250"/>
                  <a:pt x="329" y="247"/>
                </a:cubicBezTo>
                <a:cubicBezTo>
                  <a:pt x="329" y="229"/>
                  <a:pt x="329" y="229"/>
                  <a:pt x="329" y="229"/>
                </a:cubicBezTo>
                <a:cubicBezTo>
                  <a:pt x="329" y="226"/>
                  <a:pt x="328" y="224"/>
                  <a:pt x="327" y="222"/>
                </a:cubicBezTo>
                <a:cubicBezTo>
                  <a:pt x="325" y="220"/>
                  <a:pt x="323" y="219"/>
                  <a:pt x="320" y="219"/>
                </a:cubicBezTo>
                <a:cubicBezTo>
                  <a:pt x="302" y="219"/>
                  <a:pt x="302" y="219"/>
                  <a:pt x="302" y="219"/>
                </a:cubicBezTo>
                <a:cubicBezTo>
                  <a:pt x="299" y="219"/>
                  <a:pt x="297" y="220"/>
                  <a:pt x="295" y="222"/>
                </a:cubicBezTo>
                <a:cubicBezTo>
                  <a:pt x="293" y="224"/>
                  <a:pt x="293" y="226"/>
                  <a:pt x="293" y="229"/>
                </a:cubicBezTo>
                <a:lnTo>
                  <a:pt x="293" y="247"/>
                </a:lnTo>
                <a:close/>
                <a:moveTo>
                  <a:pt x="293" y="174"/>
                </a:moveTo>
                <a:cubicBezTo>
                  <a:pt x="293" y="176"/>
                  <a:pt x="293" y="179"/>
                  <a:pt x="295" y="180"/>
                </a:cubicBezTo>
                <a:cubicBezTo>
                  <a:pt x="297" y="182"/>
                  <a:pt x="299" y="183"/>
                  <a:pt x="302" y="183"/>
                </a:cubicBezTo>
                <a:cubicBezTo>
                  <a:pt x="320" y="183"/>
                  <a:pt x="320" y="183"/>
                  <a:pt x="320" y="183"/>
                </a:cubicBezTo>
                <a:cubicBezTo>
                  <a:pt x="323" y="183"/>
                  <a:pt x="325" y="182"/>
                  <a:pt x="327" y="180"/>
                </a:cubicBezTo>
                <a:cubicBezTo>
                  <a:pt x="328" y="179"/>
                  <a:pt x="329" y="176"/>
                  <a:pt x="329" y="174"/>
                </a:cubicBezTo>
                <a:cubicBezTo>
                  <a:pt x="329" y="155"/>
                  <a:pt x="329" y="155"/>
                  <a:pt x="329" y="155"/>
                </a:cubicBezTo>
                <a:cubicBezTo>
                  <a:pt x="329" y="153"/>
                  <a:pt x="328" y="151"/>
                  <a:pt x="327" y="149"/>
                </a:cubicBezTo>
                <a:cubicBezTo>
                  <a:pt x="325" y="147"/>
                  <a:pt x="323" y="146"/>
                  <a:pt x="320" y="146"/>
                </a:cubicBezTo>
                <a:cubicBezTo>
                  <a:pt x="302" y="146"/>
                  <a:pt x="302" y="146"/>
                  <a:pt x="302" y="146"/>
                </a:cubicBezTo>
                <a:cubicBezTo>
                  <a:pt x="299" y="146"/>
                  <a:pt x="297" y="147"/>
                  <a:pt x="295" y="149"/>
                </a:cubicBezTo>
                <a:cubicBezTo>
                  <a:pt x="293" y="151"/>
                  <a:pt x="293" y="153"/>
                  <a:pt x="293" y="155"/>
                </a:cubicBezTo>
                <a:lnTo>
                  <a:pt x="293" y="174"/>
                </a:lnTo>
                <a:close/>
                <a:moveTo>
                  <a:pt x="293" y="101"/>
                </a:moveTo>
                <a:cubicBezTo>
                  <a:pt x="293" y="103"/>
                  <a:pt x="293" y="105"/>
                  <a:pt x="295" y="107"/>
                </a:cubicBezTo>
                <a:cubicBezTo>
                  <a:pt x="297" y="109"/>
                  <a:pt x="299" y="110"/>
                  <a:pt x="302" y="110"/>
                </a:cubicBezTo>
                <a:cubicBezTo>
                  <a:pt x="320" y="110"/>
                  <a:pt x="320" y="110"/>
                  <a:pt x="320" y="110"/>
                </a:cubicBezTo>
                <a:cubicBezTo>
                  <a:pt x="323" y="110"/>
                  <a:pt x="325" y="109"/>
                  <a:pt x="327" y="107"/>
                </a:cubicBezTo>
                <a:cubicBezTo>
                  <a:pt x="328" y="105"/>
                  <a:pt x="329" y="103"/>
                  <a:pt x="329" y="101"/>
                </a:cubicBezTo>
                <a:cubicBezTo>
                  <a:pt x="329" y="82"/>
                  <a:pt x="329" y="82"/>
                  <a:pt x="329" y="82"/>
                </a:cubicBezTo>
                <a:cubicBezTo>
                  <a:pt x="329" y="80"/>
                  <a:pt x="328" y="77"/>
                  <a:pt x="327" y="76"/>
                </a:cubicBezTo>
                <a:cubicBezTo>
                  <a:pt x="325" y="74"/>
                  <a:pt x="323" y="73"/>
                  <a:pt x="320" y="73"/>
                </a:cubicBezTo>
                <a:cubicBezTo>
                  <a:pt x="302" y="73"/>
                  <a:pt x="302" y="73"/>
                  <a:pt x="302" y="73"/>
                </a:cubicBezTo>
                <a:cubicBezTo>
                  <a:pt x="299" y="73"/>
                  <a:pt x="297" y="74"/>
                  <a:pt x="295" y="76"/>
                </a:cubicBezTo>
                <a:cubicBezTo>
                  <a:pt x="293" y="77"/>
                  <a:pt x="293" y="80"/>
                  <a:pt x="293" y="82"/>
                </a:cubicBezTo>
                <a:lnTo>
                  <a:pt x="293" y="101"/>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6" name="Freeform 90">
            <a:extLst>
              <a:ext uri="{FF2B5EF4-FFF2-40B4-BE49-F238E27FC236}">
                <a16:creationId xmlns:a16="http://schemas.microsoft.com/office/drawing/2014/main" id="{6BD7EC23-53B3-C31C-2194-AD32C9584A4C}"/>
              </a:ext>
            </a:extLst>
          </p:cNvPr>
          <p:cNvSpPr>
            <a:spLocks noEditPoints="1"/>
          </p:cNvSpPr>
          <p:nvPr/>
        </p:nvSpPr>
        <p:spPr bwMode="auto">
          <a:xfrm>
            <a:off x="4829345" y="4135377"/>
            <a:ext cx="404791" cy="387361"/>
          </a:xfrm>
          <a:custGeom>
            <a:avLst/>
            <a:gdLst>
              <a:gd name="T0" fmla="*/ 0 w 549"/>
              <a:gd name="T1" fmla="*/ 475 h 512"/>
              <a:gd name="T2" fmla="*/ 6 w 549"/>
              <a:gd name="T3" fmla="*/ 463 h 512"/>
              <a:gd name="T4" fmla="*/ 20 w 549"/>
              <a:gd name="T5" fmla="*/ 457 h 512"/>
              <a:gd name="T6" fmla="*/ 529 w 549"/>
              <a:gd name="T7" fmla="*/ 457 h 512"/>
              <a:gd name="T8" fmla="*/ 543 w 549"/>
              <a:gd name="T9" fmla="*/ 463 h 512"/>
              <a:gd name="T10" fmla="*/ 549 w 549"/>
              <a:gd name="T11" fmla="*/ 475 h 512"/>
              <a:gd name="T12" fmla="*/ 549 w 549"/>
              <a:gd name="T13" fmla="*/ 512 h 512"/>
              <a:gd name="T14" fmla="*/ 0 w 549"/>
              <a:gd name="T15" fmla="*/ 512 h 512"/>
              <a:gd name="T16" fmla="*/ 0 w 549"/>
              <a:gd name="T17" fmla="*/ 475 h 512"/>
              <a:gd name="T18" fmla="*/ 0 w 549"/>
              <a:gd name="T19" fmla="*/ 146 h 512"/>
              <a:gd name="T20" fmla="*/ 0 w 549"/>
              <a:gd name="T21" fmla="*/ 110 h 512"/>
              <a:gd name="T22" fmla="*/ 274 w 549"/>
              <a:gd name="T23" fmla="*/ 0 h 512"/>
              <a:gd name="T24" fmla="*/ 549 w 549"/>
              <a:gd name="T25" fmla="*/ 110 h 512"/>
              <a:gd name="T26" fmla="*/ 549 w 549"/>
              <a:gd name="T27" fmla="*/ 146 h 512"/>
              <a:gd name="T28" fmla="*/ 512 w 549"/>
              <a:gd name="T29" fmla="*/ 146 h 512"/>
              <a:gd name="T30" fmla="*/ 506 w 549"/>
              <a:gd name="T31" fmla="*/ 159 h 512"/>
              <a:gd name="T32" fmla="*/ 492 w 549"/>
              <a:gd name="T33" fmla="*/ 165 h 512"/>
              <a:gd name="T34" fmla="*/ 56 w 549"/>
              <a:gd name="T35" fmla="*/ 165 h 512"/>
              <a:gd name="T36" fmla="*/ 42 w 549"/>
              <a:gd name="T37" fmla="*/ 159 h 512"/>
              <a:gd name="T38" fmla="*/ 37 w 549"/>
              <a:gd name="T39" fmla="*/ 146 h 512"/>
              <a:gd name="T40" fmla="*/ 0 w 549"/>
              <a:gd name="T41" fmla="*/ 146 h 512"/>
              <a:gd name="T42" fmla="*/ 37 w 549"/>
              <a:gd name="T43" fmla="*/ 439 h 512"/>
              <a:gd name="T44" fmla="*/ 37 w 549"/>
              <a:gd name="T45" fmla="*/ 421 h 512"/>
              <a:gd name="T46" fmla="*/ 42 w 549"/>
              <a:gd name="T47" fmla="*/ 408 h 512"/>
              <a:gd name="T48" fmla="*/ 56 w 549"/>
              <a:gd name="T49" fmla="*/ 402 h 512"/>
              <a:gd name="T50" fmla="*/ 73 w 549"/>
              <a:gd name="T51" fmla="*/ 402 h 512"/>
              <a:gd name="T52" fmla="*/ 73 w 549"/>
              <a:gd name="T53" fmla="*/ 183 h 512"/>
              <a:gd name="T54" fmla="*/ 146 w 549"/>
              <a:gd name="T55" fmla="*/ 183 h 512"/>
              <a:gd name="T56" fmla="*/ 146 w 549"/>
              <a:gd name="T57" fmla="*/ 402 h 512"/>
              <a:gd name="T58" fmla="*/ 183 w 549"/>
              <a:gd name="T59" fmla="*/ 402 h 512"/>
              <a:gd name="T60" fmla="*/ 183 w 549"/>
              <a:gd name="T61" fmla="*/ 183 h 512"/>
              <a:gd name="T62" fmla="*/ 256 w 549"/>
              <a:gd name="T63" fmla="*/ 183 h 512"/>
              <a:gd name="T64" fmla="*/ 256 w 549"/>
              <a:gd name="T65" fmla="*/ 402 h 512"/>
              <a:gd name="T66" fmla="*/ 293 w 549"/>
              <a:gd name="T67" fmla="*/ 402 h 512"/>
              <a:gd name="T68" fmla="*/ 293 w 549"/>
              <a:gd name="T69" fmla="*/ 183 h 512"/>
              <a:gd name="T70" fmla="*/ 366 w 549"/>
              <a:gd name="T71" fmla="*/ 183 h 512"/>
              <a:gd name="T72" fmla="*/ 366 w 549"/>
              <a:gd name="T73" fmla="*/ 402 h 512"/>
              <a:gd name="T74" fmla="*/ 402 w 549"/>
              <a:gd name="T75" fmla="*/ 402 h 512"/>
              <a:gd name="T76" fmla="*/ 402 w 549"/>
              <a:gd name="T77" fmla="*/ 183 h 512"/>
              <a:gd name="T78" fmla="*/ 475 w 549"/>
              <a:gd name="T79" fmla="*/ 183 h 512"/>
              <a:gd name="T80" fmla="*/ 475 w 549"/>
              <a:gd name="T81" fmla="*/ 402 h 512"/>
              <a:gd name="T82" fmla="*/ 492 w 549"/>
              <a:gd name="T83" fmla="*/ 402 h 512"/>
              <a:gd name="T84" fmla="*/ 506 w 549"/>
              <a:gd name="T85" fmla="*/ 408 h 512"/>
              <a:gd name="T86" fmla="*/ 512 w 549"/>
              <a:gd name="T87" fmla="*/ 421 h 512"/>
              <a:gd name="T88" fmla="*/ 512 w 549"/>
              <a:gd name="T89" fmla="*/ 439 h 512"/>
              <a:gd name="T90" fmla="*/ 37 w 549"/>
              <a:gd name="T91" fmla="*/ 43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49" h="512">
                <a:moveTo>
                  <a:pt x="0" y="475"/>
                </a:moveTo>
                <a:cubicBezTo>
                  <a:pt x="0" y="470"/>
                  <a:pt x="2" y="466"/>
                  <a:pt x="6" y="463"/>
                </a:cubicBezTo>
                <a:cubicBezTo>
                  <a:pt x="10" y="459"/>
                  <a:pt x="14" y="457"/>
                  <a:pt x="20" y="457"/>
                </a:cubicBezTo>
                <a:cubicBezTo>
                  <a:pt x="529" y="457"/>
                  <a:pt x="529" y="457"/>
                  <a:pt x="529" y="457"/>
                </a:cubicBezTo>
                <a:cubicBezTo>
                  <a:pt x="534" y="457"/>
                  <a:pt x="539" y="459"/>
                  <a:pt x="543" y="463"/>
                </a:cubicBezTo>
                <a:cubicBezTo>
                  <a:pt x="547" y="466"/>
                  <a:pt x="549" y="470"/>
                  <a:pt x="549" y="475"/>
                </a:cubicBezTo>
                <a:cubicBezTo>
                  <a:pt x="549" y="512"/>
                  <a:pt x="549" y="512"/>
                  <a:pt x="549" y="512"/>
                </a:cubicBezTo>
                <a:cubicBezTo>
                  <a:pt x="0" y="512"/>
                  <a:pt x="0" y="512"/>
                  <a:pt x="0" y="512"/>
                </a:cubicBezTo>
                <a:cubicBezTo>
                  <a:pt x="0" y="475"/>
                  <a:pt x="0" y="475"/>
                  <a:pt x="0" y="475"/>
                </a:cubicBezTo>
                <a:close/>
                <a:moveTo>
                  <a:pt x="0" y="146"/>
                </a:moveTo>
                <a:cubicBezTo>
                  <a:pt x="0" y="110"/>
                  <a:pt x="0" y="110"/>
                  <a:pt x="0" y="110"/>
                </a:cubicBezTo>
                <a:cubicBezTo>
                  <a:pt x="274" y="0"/>
                  <a:pt x="274" y="0"/>
                  <a:pt x="274" y="0"/>
                </a:cubicBezTo>
                <a:cubicBezTo>
                  <a:pt x="549" y="110"/>
                  <a:pt x="549" y="110"/>
                  <a:pt x="549" y="110"/>
                </a:cubicBezTo>
                <a:cubicBezTo>
                  <a:pt x="549" y="146"/>
                  <a:pt x="549" y="146"/>
                  <a:pt x="549" y="146"/>
                </a:cubicBezTo>
                <a:cubicBezTo>
                  <a:pt x="512" y="146"/>
                  <a:pt x="512" y="146"/>
                  <a:pt x="512" y="146"/>
                </a:cubicBezTo>
                <a:cubicBezTo>
                  <a:pt x="512" y="151"/>
                  <a:pt x="510" y="156"/>
                  <a:pt x="506" y="159"/>
                </a:cubicBezTo>
                <a:cubicBezTo>
                  <a:pt x="502" y="163"/>
                  <a:pt x="498" y="165"/>
                  <a:pt x="492" y="165"/>
                </a:cubicBezTo>
                <a:cubicBezTo>
                  <a:pt x="56" y="165"/>
                  <a:pt x="56" y="165"/>
                  <a:pt x="56" y="165"/>
                </a:cubicBezTo>
                <a:cubicBezTo>
                  <a:pt x="51" y="165"/>
                  <a:pt x="46" y="163"/>
                  <a:pt x="42" y="159"/>
                </a:cubicBezTo>
                <a:cubicBezTo>
                  <a:pt x="39" y="156"/>
                  <a:pt x="37" y="151"/>
                  <a:pt x="37" y="146"/>
                </a:cubicBezTo>
                <a:lnTo>
                  <a:pt x="0" y="146"/>
                </a:lnTo>
                <a:close/>
                <a:moveTo>
                  <a:pt x="37" y="439"/>
                </a:moveTo>
                <a:cubicBezTo>
                  <a:pt x="37" y="421"/>
                  <a:pt x="37" y="421"/>
                  <a:pt x="37" y="421"/>
                </a:cubicBezTo>
                <a:cubicBezTo>
                  <a:pt x="37" y="416"/>
                  <a:pt x="39" y="411"/>
                  <a:pt x="42" y="408"/>
                </a:cubicBezTo>
                <a:cubicBezTo>
                  <a:pt x="46" y="404"/>
                  <a:pt x="51" y="402"/>
                  <a:pt x="56" y="402"/>
                </a:cubicBezTo>
                <a:cubicBezTo>
                  <a:pt x="73" y="402"/>
                  <a:pt x="73" y="402"/>
                  <a:pt x="73" y="402"/>
                </a:cubicBezTo>
                <a:cubicBezTo>
                  <a:pt x="73" y="183"/>
                  <a:pt x="73" y="183"/>
                  <a:pt x="73" y="183"/>
                </a:cubicBezTo>
                <a:cubicBezTo>
                  <a:pt x="146" y="183"/>
                  <a:pt x="146" y="183"/>
                  <a:pt x="146" y="183"/>
                </a:cubicBezTo>
                <a:cubicBezTo>
                  <a:pt x="146" y="402"/>
                  <a:pt x="146" y="402"/>
                  <a:pt x="146" y="402"/>
                </a:cubicBezTo>
                <a:cubicBezTo>
                  <a:pt x="183" y="402"/>
                  <a:pt x="183" y="402"/>
                  <a:pt x="183" y="402"/>
                </a:cubicBezTo>
                <a:cubicBezTo>
                  <a:pt x="183" y="183"/>
                  <a:pt x="183" y="183"/>
                  <a:pt x="183" y="183"/>
                </a:cubicBezTo>
                <a:cubicBezTo>
                  <a:pt x="256" y="183"/>
                  <a:pt x="256" y="183"/>
                  <a:pt x="256" y="183"/>
                </a:cubicBezTo>
                <a:cubicBezTo>
                  <a:pt x="256" y="402"/>
                  <a:pt x="256" y="402"/>
                  <a:pt x="256" y="402"/>
                </a:cubicBezTo>
                <a:cubicBezTo>
                  <a:pt x="293" y="402"/>
                  <a:pt x="293" y="402"/>
                  <a:pt x="293" y="402"/>
                </a:cubicBezTo>
                <a:cubicBezTo>
                  <a:pt x="293" y="183"/>
                  <a:pt x="293" y="183"/>
                  <a:pt x="293" y="183"/>
                </a:cubicBezTo>
                <a:cubicBezTo>
                  <a:pt x="366" y="183"/>
                  <a:pt x="366" y="183"/>
                  <a:pt x="366" y="183"/>
                </a:cubicBezTo>
                <a:cubicBezTo>
                  <a:pt x="366" y="402"/>
                  <a:pt x="366" y="402"/>
                  <a:pt x="366" y="402"/>
                </a:cubicBezTo>
                <a:cubicBezTo>
                  <a:pt x="402" y="402"/>
                  <a:pt x="402" y="402"/>
                  <a:pt x="402" y="402"/>
                </a:cubicBezTo>
                <a:cubicBezTo>
                  <a:pt x="402" y="183"/>
                  <a:pt x="402" y="183"/>
                  <a:pt x="402" y="183"/>
                </a:cubicBezTo>
                <a:cubicBezTo>
                  <a:pt x="475" y="183"/>
                  <a:pt x="475" y="183"/>
                  <a:pt x="475" y="183"/>
                </a:cubicBezTo>
                <a:cubicBezTo>
                  <a:pt x="475" y="402"/>
                  <a:pt x="475" y="402"/>
                  <a:pt x="475" y="402"/>
                </a:cubicBezTo>
                <a:cubicBezTo>
                  <a:pt x="492" y="402"/>
                  <a:pt x="492" y="402"/>
                  <a:pt x="492" y="402"/>
                </a:cubicBezTo>
                <a:cubicBezTo>
                  <a:pt x="498" y="402"/>
                  <a:pt x="502" y="404"/>
                  <a:pt x="506" y="408"/>
                </a:cubicBezTo>
                <a:cubicBezTo>
                  <a:pt x="510" y="411"/>
                  <a:pt x="512" y="416"/>
                  <a:pt x="512" y="421"/>
                </a:cubicBezTo>
                <a:cubicBezTo>
                  <a:pt x="512" y="439"/>
                  <a:pt x="512" y="439"/>
                  <a:pt x="512" y="439"/>
                </a:cubicBezTo>
                <a:lnTo>
                  <a:pt x="37" y="439"/>
                </a:ln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7" name="Freeform 280">
            <a:extLst>
              <a:ext uri="{FF2B5EF4-FFF2-40B4-BE49-F238E27FC236}">
                <a16:creationId xmlns:a16="http://schemas.microsoft.com/office/drawing/2014/main" id="{AB8F0322-3EDD-11FD-3C2E-FBE17BDF26E9}"/>
              </a:ext>
            </a:extLst>
          </p:cNvPr>
          <p:cNvSpPr>
            <a:spLocks noEditPoints="1"/>
          </p:cNvSpPr>
          <p:nvPr/>
        </p:nvSpPr>
        <p:spPr bwMode="auto">
          <a:xfrm>
            <a:off x="6483684" y="2399569"/>
            <a:ext cx="432318" cy="359221"/>
          </a:xfrm>
          <a:custGeom>
            <a:avLst/>
            <a:gdLst>
              <a:gd name="T0" fmla="*/ 0 w 283"/>
              <a:gd name="T1" fmla="*/ 282 h 282"/>
              <a:gd name="T2" fmla="*/ 142 w 283"/>
              <a:gd name="T3" fmla="*/ 282 h 282"/>
              <a:gd name="T4" fmla="*/ 142 w 283"/>
              <a:gd name="T5" fmla="*/ 0 h 282"/>
              <a:gd name="T6" fmla="*/ 0 w 283"/>
              <a:gd name="T7" fmla="*/ 0 h 282"/>
              <a:gd name="T8" fmla="*/ 0 w 283"/>
              <a:gd name="T9" fmla="*/ 282 h 282"/>
              <a:gd name="T10" fmla="*/ 89 w 283"/>
              <a:gd name="T11" fmla="*/ 35 h 282"/>
              <a:gd name="T12" fmla="*/ 124 w 283"/>
              <a:gd name="T13" fmla="*/ 35 h 282"/>
              <a:gd name="T14" fmla="*/ 124 w 283"/>
              <a:gd name="T15" fmla="*/ 70 h 282"/>
              <a:gd name="T16" fmla="*/ 89 w 283"/>
              <a:gd name="T17" fmla="*/ 70 h 282"/>
              <a:gd name="T18" fmla="*/ 89 w 283"/>
              <a:gd name="T19" fmla="*/ 35 h 282"/>
              <a:gd name="T20" fmla="*/ 89 w 283"/>
              <a:gd name="T21" fmla="*/ 106 h 282"/>
              <a:gd name="T22" fmla="*/ 124 w 283"/>
              <a:gd name="T23" fmla="*/ 106 h 282"/>
              <a:gd name="T24" fmla="*/ 124 w 283"/>
              <a:gd name="T25" fmla="*/ 141 h 282"/>
              <a:gd name="T26" fmla="*/ 89 w 283"/>
              <a:gd name="T27" fmla="*/ 141 h 282"/>
              <a:gd name="T28" fmla="*/ 89 w 283"/>
              <a:gd name="T29" fmla="*/ 106 h 282"/>
              <a:gd name="T30" fmla="*/ 89 w 283"/>
              <a:gd name="T31" fmla="*/ 176 h 282"/>
              <a:gd name="T32" fmla="*/ 124 w 283"/>
              <a:gd name="T33" fmla="*/ 176 h 282"/>
              <a:gd name="T34" fmla="*/ 124 w 283"/>
              <a:gd name="T35" fmla="*/ 212 h 282"/>
              <a:gd name="T36" fmla="*/ 89 w 283"/>
              <a:gd name="T37" fmla="*/ 212 h 282"/>
              <a:gd name="T38" fmla="*/ 89 w 283"/>
              <a:gd name="T39" fmla="*/ 176 h 282"/>
              <a:gd name="T40" fmla="*/ 18 w 283"/>
              <a:gd name="T41" fmla="*/ 35 h 282"/>
              <a:gd name="T42" fmla="*/ 53 w 283"/>
              <a:gd name="T43" fmla="*/ 35 h 282"/>
              <a:gd name="T44" fmla="*/ 53 w 283"/>
              <a:gd name="T45" fmla="*/ 70 h 282"/>
              <a:gd name="T46" fmla="*/ 18 w 283"/>
              <a:gd name="T47" fmla="*/ 70 h 282"/>
              <a:gd name="T48" fmla="*/ 18 w 283"/>
              <a:gd name="T49" fmla="*/ 35 h 282"/>
              <a:gd name="T50" fmla="*/ 18 w 283"/>
              <a:gd name="T51" fmla="*/ 106 h 282"/>
              <a:gd name="T52" fmla="*/ 53 w 283"/>
              <a:gd name="T53" fmla="*/ 106 h 282"/>
              <a:gd name="T54" fmla="*/ 53 w 283"/>
              <a:gd name="T55" fmla="*/ 141 h 282"/>
              <a:gd name="T56" fmla="*/ 18 w 283"/>
              <a:gd name="T57" fmla="*/ 141 h 282"/>
              <a:gd name="T58" fmla="*/ 18 w 283"/>
              <a:gd name="T59" fmla="*/ 106 h 282"/>
              <a:gd name="T60" fmla="*/ 18 w 283"/>
              <a:gd name="T61" fmla="*/ 176 h 282"/>
              <a:gd name="T62" fmla="*/ 53 w 283"/>
              <a:gd name="T63" fmla="*/ 176 h 282"/>
              <a:gd name="T64" fmla="*/ 53 w 283"/>
              <a:gd name="T65" fmla="*/ 212 h 282"/>
              <a:gd name="T66" fmla="*/ 18 w 283"/>
              <a:gd name="T67" fmla="*/ 212 h 282"/>
              <a:gd name="T68" fmla="*/ 18 w 283"/>
              <a:gd name="T69" fmla="*/ 176 h 282"/>
              <a:gd name="T70" fmla="*/ 159 w 283"/>
              <a:gd name="T71" fmla="*/ 88 h 282"/>
              <a:gd name="T72" fmla="*/ 283 w 283"/>
              <a:gd name="T73" fmla="*/ 88 h 282"/>
              <a:gd name="T74" fmla="*/ 283 w 283"/>
              <a:gd name="T75" fmla="*/ 106 h 282"/>
              <a:gd name="T76" fmla="*/ 159 w 283"/>
              <a:gd name="T77" fmla="*/ 106 h 282"/>
              <a:gd name="T78" fmla="*/ 159 w 283"/>
              <a:gd name="T79" fmla="*/ 88 h 282"/>
              <a:gd name="T80" fmla="*/ 159 w 283"/>
              <a:gd name="T81" fmla="*/ 282 h 282"/>
              <a:gd name="T82" fmla="*/ 195 w 283"/>
              <a:gd name="T83" fmla="*/ 282 h 282"/>
              <a:gd name="T84" fmla="*/ 195 w 283"/>
              <a:gd name="T85" fmla="*/ 212 h 282"/>
              <a:gd name="T86" fmla="*/ 248 w 283"/>
              <a:gd name="T87" fmla="*/ 212 h 282"/>
              <a:gd name="T88" fmla="*/ 248 w 283"/>
              <a:gd name="T89" fmla="*/ 282 h 282"/>
              <a:gd name="T90" fmla="*/ 283 w 283"/>
              <a:gd name="T91" fmla="*/ 282 h 282"/>
              <a:gd name="T92" fmla="*/ 283 w 283"/>
              <a:gd name="T93" fmla="*/ 123 h 282"/>
              <a:gd name="T94" fmla="*/ 159 w 283"/>
              <a:gd name="T95" fmla="*/ 123 h 282"/>
              <a:gd name="T96" fmla="*/ 159 w 283"/>
              <a:gd name="T97"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3" h="282">
                <a:moveTo>
                  <a:pt x="0" y="282"/>
                </a:moveTo>
                <a:lnTo>
                  <a:pt x="142" y="282"/>
                </a:lnTo>
                <a:lnTo>
                  <a:pt x="142" y="0"/>
                </a:lnTo>
                <a:lnTo>
                  <a:pt x="0" y="0"/>
                </a:lnTo>
                <a:lnTo>
                  <a:pt x="0" y="282"/>
                </a:lnTo>
                <a:close/>
                <a:moveTo>
                  <a:pt x="89" y="35"/>
                </a:moveTo>
                <a:lnTo>
                  <a:pt x="124" y="35"/>
                </a:lnTo>
                <a:lnTo>
                  <a:pt x="124" y="70"/>
                </a:lnTo>
                <a:lnTo>
                  <a:pt x="89" y="70"/>
                </a:lnTo>
                <a:lnTo>
                  <a:pt x="89" y="35"/>
                </a:lnTo>
                <a:close/>
                <a:moveTo>
                  <a:pt x="89" y="106"/>
                </a:moveTo>
                <a:lnTo>
                  <a:pt x="124" y="106"/>
                </a:lnTo>
                <a:lnTo>
                  <a:pt x="124" y="141"/>
                </a:lnTo>
                <a:lnTo>
                  <a:pt x="89" y="141"/>
                </a:lnTo>
                <a:lnTo>
                  <a:pt x="89" y="106"/>
                </a:lnTo>
                <a:close/>
                <a:moveTo>
                  <a:pt x="89" y="176"/>
                </a:moveTo>
                <a:lnTo>
                  <a:pt x="124" y="176"/>
                </a:lnTo>
                <a:lnTo>
                  <a:pt x="124" y="212"/>
                </a:lnTo>
                <a:lnTo>
                  <a:pt x="89" y="212"/>
                </a:lnTo>
                <a:lnTo>
                  <a:pt x="89" y="176"/>
                </a:lnTo>
                <a:close/>
                <a:moveTo>
                  <a:pt x="18" y="35"/>
                </a:moveTo>
                <a:lnTo>
                  <a:pt x="53" y="35"/>
                </a:lnTo>
                <a:lnTo>
                  <a:pt x="53" y="70"/>
                </a:lnTo>
                <a:lnTo>
                  <a:pt x="18" y="70"/>
                </a:lnTo>
                <a:lnTo>
                  <a:pt x="18" y="35"/>
                </a:lnTo>
                <a:close/>
                <a:moveTo>
                  <a:pt x="18" y="106"/>
                </a:moveTo>
                <a:lnTo>
                  <a:pt x="53" y="106"/>
                </a:lnTo>
                <a:lnTo>
                  <a:pt x="53" y="141"/>
                </a:lnTo>
                <a:lnTo>
                  <a:pt x="18" y="141"/>
                </a:lnTo>
                <a:lnTo>
                  <a:pt x="18" y="106"/>
                </a:lnTo>
                <a:close/>
                <a:moveTo>
                  <a:pt x="18" y="176"/>
                </a:moveTo>
                <a:lnTo>
                  <a:pt x="53" y="176"/>
                </a:lnTo>
                <a:lnTo>
                  <a:pt x="53" y="212"/>
                </a:lnTo>
                <a:lnTo>
                  <a:pt x="18" y="212"/>
                </a:lnTo>
                <a:lnTo>
                  <a:pt x="18" y="176"/>
                </a:lnTo>
                <a:close/>
                <a:moveTo>
                  <a:pt x="159" y="88"/>
                </a:moveTo>
                <a:lnTo>
                  <a:pt x="283" y="88"/>
                </a:lnTo>
                <a:lnTo>
                  <a:pt x="283" y="106"/>
                </a:lnTo>
                <a:lnTo>
                  <a:pt x="159" y="106"/>
                </a:lnTo>
                <a:lnTo>
                  <a:pt x="159" y="88"/>
                </a:lnTo>
                <a:close/>
                <a:moveTo>
                  <a:pt x="159" y="282"/>
                </a:moveTo>
                <a:lnTo>
                  <a:pt x="195" y="282"/>
                </a:lnTo>
                <a:lnTo>
                  <a:pt x="195" y="212"/>
                </a:lnTo>
                <a:lnTo>
                  <a:pt x="248" y="212"/>
                </a:lnTo>
                <a:lnTo>
                  <a:pt x="248" y="282"/>
                </a:lnTo>
                <a:lnTo>
                  <a:pt x="283" y="282"/>
                </a:lnTo>
                <a:lnTo>
                  <a:pt x="283" y="123"/>
                </a:lnTo>
                <a:lnTo>
                  <a:pt x="159" y="123"/>
                </a:lnTo>
                <a:lnTo>
                  <a:pt x="159" y="282"/>
                </a:lnTo>
                <a:close/>
              </a:path>
            </a:pathLst>
          </a:custGeom>
          <a:solidFill>
            <a:schemeClr val="accent6"/>
          </a:solidFill>
          <a:ln>
            <a:no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tx1"/>
              </a:solidFill>
              <a:effectLst/>
              <a:uLnTx/>
              <a:uFillTx/>
              <a:latin typeface="+mn-lt"/>
              <a:ea typeface="+mn-ea"/>
              <a:cs typeface="+mn-cs"/>
            </a:endParaRPr>
          </a:p>
        </p:txBody>
      </p:sp>
      <p:sp>
        <p:nvSpPr>
          <p:cNvPr id="68" name="Freeform 117">
            <a:extLst>
              <a:ext uri="{FF2B5EF4-FFF2-40B4-BE49-F238E27FC236}">
                <a16:creationId xmlns:a16="http://schemas.microsoft.com/office/drawing/2014/main" id="{E5B3923A-566E-97C8-7399-A8CEECFE6499}"/>
              </a:ext>
            </a:extLst>
          </p:cNvPr>
          <p:cNvSpPr>
            <a:spLocks noEditPoints="1"/>
          </p:cNvSpPr>
          <p:nvPr/>
        </p:nvSpPr>
        <p:spPr bwMode="auto">
          <a:xfrm>
            <a:off x="4778595" y="2408193"/>
            <a:ext cx="404791" cy="334389"/>
          </a:xfrm>
          <a:custGeom>
            <a:avLst/>
            <a:gdLst>
              <a:gd name="T0" fmla="*/ 0 w 567"/>
              <a:gd name="T1" fmla="*/ 356 h 457"/>
              <a:gd name="T2" fmla="*/ 0 w 567"/>
              <a:gd name="T3" fmla="*/ 246 h 457"/>
              <a:gd name="T4" fmla="*/ 19 w 567"/>
              <a:gd name="T5" fmla="*/ 201 h 457"/>
              <a:gd name="T6" fmla="*/ 64 w 567"/>
              <a:gd name="T7" fmla="*/ 182 h 457"/>
              <a:gd name="T8" fmla="*/ 72 w 567"/>
              <a:gd name="T9" fmla="*/ 182 h 457"/>
              <a:gd name="T10" fmla="*/ 102 w 567"/>
              <a:gd name="T11" fmla="*/ 63 h 457"/>
              <a:gd name="T12" fmla="*/ 132 w 567"/>
              <a:gd name="T13" fmla="*/ 18 h 457"/>
              <a:gd name="T14" fmla="*/ 183 w 567"/>
              <a:gd name="T15" fmla="*/ 0 h 457"/>
              <a:gd name="T16" fmla="*/ 384 w 567"/>
              <a:gd name="T17" fmla="*/ 0 h 457"/>
              <a:gd name="T18" fmla="*/ 435 w 567"/>
              <a:gd name="T19" fmla="*/ 18 h 457"/>
              <a:gd name="T20" fmla="*/ 465 w 567"/>
              <a:gd name="T21" fmla="*/ 63 h 457"/>
              <a:gd name="T22" fmla="*/ 495 w 567"/>
              <a:gd name="T23" fmla="*/ 182 h 457"/>
              <a:gd name="T24" fmla="*/ 503 w 567"/>
              <a:gd name="T25" fmla="*/ 182 h 457"/>
              <a:gd name="T26" fmla="*/ 548 w 567"/>
              <a:gd name="T27" fmla="*/ 201 h 457"/>
              <a:gd name="T28" fmla="*/ 567 w 567"/>
              <a:gd name="T29" fmla="*/ 246 h 457"/>
              <a:gd name="T30" fmla="*/ 567 w 567"/>
              <a:gd name="T31" fmla="*/ 356 h 457"/>
              <a:gd name="T32" fmla="*/ 564 w 567"/>
              <a:gd name="T33" fmla="*/ 363 h 457"/>
              <a:gd name="T34" fmla="*/ 558 w 567"/>
              <a:gd name="T35" fmla="*/ 365 h 457"/>
              <a:gd name="T36" fmla="*/ 521 w 567"/>
              <a:gd name="T37" fmla="*/ 365 h 457"/>
              <a:gd name="T38" fmla="*/ 521 w 567"/>
              <a:gd name="T39" fmla="*/ 402 h 457"/>
              <a:gd name="T40" fmla="*/ 505 w 567"/>
              <a:gd name="T41" fmla="*/ 441 h 457"/>
              <a:gd name="T42" fmla="*/ 466 w 567"/>
              <a:gd name="T43" fmla="*/ 457 h 457"/>
              <a:gd name="T44" fmla="*/ 427 w 567"/>
              <a:gd name="T45" fmla="*/ 441 h 457"/>
              <a:gd name="T46" fmla="*/ 411 w 567"/>
              <a:gd name="T47" fmla="*/ 402 h 457"/>
              <a:gd name="T48" fmla="*/ 411 w 567"/>
              <a:gd name="T49" fmla="*/ 365 h 457"/>
              <a:gd name="T50" fmla="*/ 146 w 567"/>
              <a:gd name="T51" fmla="*/ 365 h 457"/>
              <a:gd name="T52" fmla="*/ 146 w 567"/>
              <a:gd name="T53" fmla="*/ 402 h 457"/>
              <a:gd name="T54" fmla="*/ 130 w 567"/>
              <a:gd name="T55" fmla="*/ 441 h 457"/>
              <a:gd name="T56" fmla="*/ 91 w 567"/>
              <a:gd name="T57" fmla="*/ 457 h 457"/>
              <a:gd name="T58" fmla="*/ 53 w 567"/>
              <a:gd name="T59" fmla="*/ 441 h 457"/>
              <a:gd name="T60" fmla="*/ 37 w 567"/>
              <a:gd name="T61" fmla="*/ 402 h 457"/>
              <a:gd name="T62" fmla="*/ 37 w 567"/>
              <a:gd name="T63" fmla="*/ 365 h 457"/>
              <a:gd name="T64" fmla="*/ 9 w 567"/>
              <a:gd name="T65" fmla="*/ 365 h 457"/>
              <a:gd name="T66" fmla="*/ 3 w 567"/>
              <a:gd name="T67" fmla="*/ 363 h 457"/>
              <a:gd name="T68" fmla="*/ 0 w 567"/>
              <a:gd name="T69" fmla="*/ 356 h 457"/>
              <a:gd name="T70" fmla="*/ 46 w 567"/>
              <a:gd name="T71" fmla="*/ 274 h 457"/>
              <a:gd name="T72" fmla="*/ 59 w 567"/>
              <a:gd name="T73" fmla="*/ 306 h 457"/>
              <a:gd name="T74" fmla="*/ 91 w 567"/>
              <a:gd name="T75" fmla="*/ 320 h 457"/>
              <a:gd name="T76" fmla="*/ 124 w 567"/>
              <a:gd name="T77" fmla="*/ 306 h 457"/>
              <a:gd name="T78" fmla="*/ 137 w 567"/>
              <a:gd name="T79" fmla="*/ 274 h 457"/>
              <a:gd name="T80" fmla="*/ 124 w 567"/>
              <a:gd name="T81" fmla="*/ 242 h 457"/>
              <a:gd name="T82" fmla="*/ 91 w 567"/>
              <a:gd name="T83" fmla="*/ 228 h 457"/>
              <a:gd name="T84" fmla="*/ 59 w 567"/>
              <a:gd name="T85" fmla="*/ 242 h 457"/>
              <a:gd name="T86" fmla="*/ 46 w 567"/>
              <a:gd name="T87" fmla="*/ 274 h 457"/>
              <a:gd name="T88" fmla="*/ 147 w 567"/>
              <a:gd name="T89" fmla="*/ 182 h 457"/>
              <a:gd name="T90" fmla="*/ 419 w 567"/>
              <a:gd name="T91" fmla="*/ 182 h 457"/>
              <a:gd name="T92" fmla="*/ 394 w 567"/>
              <a:gd name="T93" fmla="*/ 80 h 457"/>
              <a:gd name="T94" fmla="*/ 390 w 567"/>
              <a:gd name="T95" fmla="*/ 75 h 457"/>
              <a:gd name="T96" fmla="*/ 384 w 567"/>
              <a:gd name="T97" fmla="*/ 73 h 457"/>
              <a:gd name="T98" fmla="*/ 183 w 567"/>
              <a:gd name="T99" fmla="*/ 73 h 457"/>
              <a:gd name="T100" fmla="*/ 177 w 567"/>
              <a:gd name="T101" fmla="*/ 75 h 457"/>
              <a:gd name="T102" fmla="*/ 173 w 567"/>
              <a:gd name="T103" fmla="*/ 80 h 457"/>
              <a:gd name="T104" fmla="*/ 147 w 567"/>
              <a:gd name="T105" fmla="*/ 182 h 457"/>
              <a:gd name="T106" fmla="*/ 421 w 567"/>
              <a:gd name="T107" fmla="*/ 274 h 457"/>
              <a:gd name="T108" fmla="*/ 434 w 567"/>
              <a:gd name="T109" fmla="*/ 306 h 457"/>
              <a:gd name="T110" fmla="*/ 466 w 567"/>
              <a:gd name="T111" fmla="*/ 320 h 457"/>
              <a:gd name="T112" fmla="*/ 499 w 567"/>
              <a:gd name="T113" fmla="*/ 306 h 457"/>
              <a:gd name="T114" fmla="*/ 512 w 567"/>
              <a:gd name="T115" fmla="*/ 274 h 457"/>
              <a:gd name="T116" fmla="*/ 499 w 567"/>
              <a:gd name="T117" fmla="*/ 242 h 457"/>
              <a:gd name="T118" fmla="*/ 466 w 567"/>
              <a:gd name="T119" fmla="*/ 228 h 457"/>
              <a:gd name="T120" fmla="*/ 434 w 567"/>
              <a:gd name="T121" fmla="*/ 242 h 457"/>
              <a:gd name="T122" fmla="*/ 421 w 567"/>
              <a:gd name="T123" fmla="*/ 27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 h="457">
                <a:moveTo>
                  <a:pt x="0" y="356"/>
                </a:moveTo>
                <a:cubicBezTo>
                  <a:pt x="0" y="246"/>
                  <a:pt x="0" y="246"/>
                  <a:pt x="0" y="246"/>
                </a:cubicBezTo>
                <a:cubicBezTo>
                  <a:pt x="0" y="229"/>
                  <a:pt x="6" y="214"/>
                  <a:pt x="19" y="201"/>
                </a:cubicBezTo>
                <a:cubicBezTo>
                  <a:pt x="31" y="189"/>
                  <a:pt x="46" y="182"/>
                  <a:pt x="64" y="182"/>
                </a:cubicBezTo>
                <a:cubicBezTo>
                  <a:pt x="72" y="182"/>
                  <a:pt x="72" y="182"/>
                  <a:pt x="72" y="182"/>
                </a:cubicBezTo>
                <a:cubicBezTo>
                  <a:pt x="102" y="63"/>
                  <a:pt x="102" y="63"/>
                  <a:pt x="102" y="63"/>
                </a:cubicBezTo>
                <a:cubicBezTo>
                  <a:pt x="106" y="45"/>
                  <a:pt x="116" y="30"/>
                  <a:pt x="132" y="18"/>
                </a:cubicBezTo>
                <a:cubicBezTo>
                  <a:pt x="147" y="6"/>
                  <a:pt x="164" y="0"/>
                  <a:pt x="183" y="0"/>
                </a:cubicBezTo>
                <a:cubicBezTo>
                  <a:pt x="384" y="0"/>
                  <a:pt x="384" y="0"/>
                  <a:pt x="384" y="0"/>
                </a:cubicBezTo>
                <a:cubicBezTo>
                  <a:pt x="403" y="0"/>
                  <a:pt x="420" y="6"/>
                  <a:pt x="435" y="18"/>
                </a:cubicBezTo>
                <a:cubicBezTo>
                  <a:pt x="451" y="30"/>
                  <a:pt x="460" y="45"/>
                  <a:pt x="465" y="63"/>
                </a:cubicBezTo>
                <a:cubicBezTo>
                  <a:pt x="495" y="182"/>
                  <a:pt x="495" y="182"/>
                  <a:pt x="495" y="182"/>
                </a:cubicBezTo>
                <a:cubicBezTo>
                  <a:pt x="503" y="182"/>
                  <a:pt x="503" y="182"/>
                  <a:pt x="503" y="182"/>
                </a:cubicBezTo>
                <a:cubicBezTo>
                  <a:pt x="521" y="182"/>
                  <a:pt x="536" y="189"/>
                  <a:pt x="548" y="201"/>
                </a:cubicBezTo>
                <a:cubicBezTo>
                  <a:pt x="561" y="214"/>
                  <a:pt x="567" y="229"/>
                  <a:pt x="567" y="246"/>
                </a:cubicBezTo>
                <a:cubicBezTo>
                  <a:pt x="567" y="356"/>
                  <a:pt x="567" y="356"/>
                  <a:pt x="567" y="356"/>
                </a:cubicBezTo>
                <a:cubicBezTo>
                  <a:pt x="567" y="359"/>
                  <a:pt x="566" y="361"/>
                  <a:pt x="564" y="363"/>
                </a:cubicBezTo>
                <a:cubicBezTo>
                  <a:pt x="563" y="364"/>
                  <a:pt x="560" y="365"/>
                  <a:pt x="558" y="365"/>
                </a:cubicBezTo>
                <a:cubicBezTo>
                  <a:pt x="521" y="365"/>
                  <a:pt x="521" y="365"/>
                  <a:pt x="521" y="365"/>
                </a:cubicBezTo>
                <a:cubicBezTo>
                  <a:pt x="521" y="402"/>
                  <a:pt x="521" y="402"/>
                  <a:pt x="521" y="402"/>
                </a:cubicBezTo>
                <a:cubicBezTo>
                  <a:pt x="521" y="417"/>
                  <a:pt x="516" y="430"/>
                  <a:pt x="505" y="441"/>
                </a:cubicBezTo>
                <a:cubicBezTo>
                  <a:pt x="494" y="451"/>
                  <a:pt x="482" y="457"/>
                  <a:pt x="466" y="457"/>
                </a:cubicBezTo>
                <a:cubicBezTo>
                  <a:pt x="451" y="457"/>
                  <a:pt x="438" y="451"/>
                  <a:pt x="427" y="441"/>
                </a:cubicBezTo>
                <a:cubicBezTo>
                  <a:pt x="417" y="430"/>
                  <a:pt x="411" y="417"/>
                  <a:pt x="411" y="402"/>
                </a:cubicBezTo>
                <a:cubicBezTo>
                  <a:pt x="411" y="365"/>
                  <a:pt x="411" y="365"/>
                  <a:pt x="411" y="365"/>
                </a:cubicBezTo>
                <a:cubicBezTo>
                  <a:pt x="146" y="365"/>
                  <a:pt x="146" y="365"/>
                  <a:pt x="146" y="365"/>
                </a:cubicBezTo>
                <a:cubicBezTo>
                  <a:pt x="146" y="402"/>
                  <a:pt x="146" y="402"/>
                  <a:pt x="146" y="402"/>
                </a:cubicBezTo>
                <a:cubicBezTo>
                  <a:pt x="146" y="417"/>
                  <a:pt x="141" y="430"/>
                  <a:pt x="130" y="441"/>
                </a:cubicBezTo>
                <a:cubicBezTo>
                  <a:pt x="120" y="451"/>
                  <a:pt x="107" y="457"/>
                  <a:pt x="91" y="457"/>
                </a:cubicBezTo>
                <a:cubicBezTo>
                  <a:pt x="76" y="457"/>
                  <a:pt x="63" y="451"/>
                  <a:pt x="53" y="441"/>
                </a:cubicBezTo>
                <a:cubicBezTo>
                  <a:pt x="42" y="430"/>
                  <a:pt x="37" y="417"/>
                  <a:pt x="37" y="402"/>
                </a:cubicBezTo>
                <a:cubicBezTo>
                  <a:pt x="37" y="365"/>
                  <a:pt x="37" y="365"/>
                  <a:pt x="37" y="365"/>
                </a:cubicBezTo>
                <a:cubicBezTo>
                  <a:pt x="9" y="365"/>
                  <a:pt x="9" y="365"/>
                  <a:pt x="9" y="365"/>
                </a:cubicBezTo>
                <a:cubicBezTo>
                  <a:pt x="6" y="365"/>
                  <a:pt x="4" y="364"/>
                  <a:pt x="3" y="363"/>
                </a:cubicBezTo>
                <a:cubicBezTo>
                  <a:pt x="1" y="361"/>
                  <a:pt x="0" y="359"/>
                  <a:pt x="0" y="356"/>
                </a:cubicBezTo>
                <a:close/>
                <a:moveTo>
                  <a:pt x="46" y="274"/>
                </a:moveTo>
                <a:cubicBezTo>
                  <a:pt x="46" y="286"/>
                  <a:pt x="50" y="297"/>
                  <a:pt x="59" y="306"/>
                </a:cubicBezTo>
                <a:cubicBezTo>
                  <a:pt x="68" y="315"/>
                  <a:pt x="79" y="320"/>
                  <a:pt x="91" y="320"/>
                </a:cubicBezTo>
                <a:cubicBezTo>
                  <a:pt x="104" y="320"/>
                  <a:pt x="115" y="315"/>
                  <a:pt x="124" y="306"/>
                </a:cubicBezTo>
                <a:cubicBezTo>
                  <a:pt x="133" y="297"/>
                  <a:pt x="137" y="286"/>
                  <a:pt x="137" y="274"/>
                </a:cubicBezTo>
                <a:cubicBezTo>
                  <a:pt x="137" y="261"/>
                  <a:pt x="133" y="251"/>
                  <a:pt x="124" y="242"/>
                </a:cubicBezTo>
                <a:cubicBezTo>
                  <a:pt x="115" y="233"/>
                  <a:pt x="104" y="228"/>
                  <a:pt x="91" y="228"/>
                </a:cubicBezTo>
                <a:cubicBezTo>
                  <a:pt x="79" y="228"/>
                  <a:pt x="68" y="233"/>
                  <a:pt x="59" y="242"/>
                </a:cubicBezTo>
                <a:cubicBezTo>
                  <a:pt x="50" y="251"/>
                  <a:pt x="46" y="261"/>
                  <a:pt x="46" y="274"/>
                </a:cubicBezTo>
                <a:close/>
                <a:moveTo>
                  <a:pt x="147" y="182"/>
                </a:moveTo>
                <a:cubicBezTo>
                  <a:pt x="419" y="182"/>
                  <a:pt x="419" y="182"/>
                  <a:pt x="419" y="182"/>
                </a:cubicBezTo>
                <a:cubicBezTo>
                  <a:pt x="394" y="80"/>
                  <a:pt x="394" y="80"/>
                  <a:pt x="394" y="80"/>
                </a:cubicBezTo>
                <a:cubicBezTo>
                  <a:pt x="394" y="79"/>
                  <a:pt x="392" y="77"/>
                  <a:pt x="390" y="75"/>
                </a:cubicBezTo>
                <a:cubicBezTo>
                  <a:pt x="388" y="74"/>
                  <a:pt x="386" y="73"/>
                  <a:pt x="384" y="73"/>
                </a:cubicBezTo>
                <a:cubicBezTo>
                  <a:pt x="183" y="73"/>
                  <a:pt x="183" y="73"/>
                  <a:pt x="183" y="73"/>
                </a:cubicBezTo>
                <a:cubicBezTo>
                  <a:pt x="181" y="73"/>
                  <a:pt x="179" y="74"/>
                  <a:pt x="177" y="75"/>
                </a:cubicBezTo>
                <a:cubicBezTo>
                  <a:pt x="175" y="77"/>
                  <a:pt x="173" y="79"/>
                  <a:pt x="173" y="80"/>
                </a:cubicBezTo>
                <a:lnTo>
                  <a:pt x="147" y="182"/>
                </a:lnTo>
                <a:close/>
                <a:moveTo>
                  <a:pt x="421" y="274"/>
                </a:moveTo>
                <a:cubicBezTo>
                  <a:pt x="421" y="286"/>
                  <a:pt x="425" y="297"/>
                  <a:pt x="434" y="306"/>
                </a:cubicBezTo>
                <a:cubicBezTo>
                  <a:pt x="443" y="315"/>
                  <a:pt x="454" y="320"/>
                  <a:pt x="466" y="320"/>
                </a:cubicBezTo>
                <a:cubicBezTo>
                  <a:pt x="479" y="320"/>
                  <a:pt x="490" y="315"/>
                  <a:pt x="499" y="306"/>
                </a:cubicBezTo>
                <a:cubicBezTo>
                  <a:pt x="508" y="297"/>
                  <a:pt x="512" y="286"/>
                  <a:pt x="512" y="274"/>
                </a:cubicBezTo>
                <a:cubicBezTo>
                  <a:pt x="512" y="261"/>
                  <a:pt x="508" y="251"/>
                  <a:pt x="499" y="242"/>
                </a:cubicBezTo>
                <a:cubicBezTo>
                  <a:pt x="490" y="233"/>
                  <a:pt x="479" y="228"/>
                  <a:pt x="466" y="228"/>
                </a:cubicBezTo>
                <a:cubicBezTo>
                  <a:pt x="454" y="228"/>
                  <a:pt x="443" y="233"/>
                  <a:pt x="434" y="242"/>
                </a:cubicBezTo>
                <a:cubicBezTo>
                  <a:pt x="425" y="251"/>
                  <a:pt x="421" y="261"/>
                  <a:pt x="421" y="274"/>
                </a:cubicBezTo>
                <a:close/>
              </a:path>
            </a:pathLst>
          </a:custGeom>
          <a:solidFill>
            <a:schemeClr val="tx1"/>
          </a:solidFill>
          <a:ln>
            <a:solidFill>
              <a:schemeClr val="tx1"/>
            </a:solidFill>
          </a:ln>
        </p:spPr>
        <p:txBody>
          <a:bodyPr vert="horz" wrap="square" lIns="109728" tIns="54864" rIns="109728" bIns="54864" numCol="1" anchor="t" anchorCtr="0" compatLnSpc="1"/>
          <a:lstStyle/>
          <a:p>
            <a:pPr marL="0" marR="0" lvl="0" indent="0" algn="l" defTabSz="713105" rtl="0" eaLnBrk="1" fontAlgn="auto" latinLnBrk="0" hangingPunct="1">
              <a:lnSpc>
                <a:spcPct val="100000"/>
              </a:lnSpc>
              <a:spcBef>
                <a:spcPts val="0"/>
              </a:spcBef>
              <a:spcAft>
                <a:spcPts val="0"/>
              </a:spcAft>
              <a:buClrTx/>
              <a:buSzTx/>
              <a:buFontTx/>
              <a:buNone/>
              <a:defRPr/>
            </a:pPr>
            <a:endParaRPr kumimoji="0" lang="en-US" sz="1685" b="0" i="0" u="none" strike="noStrike" kern="1200" cap="none" spc="0" normalizeH="0" baseline="0" noProof="0">
              <a:ln>
                <a:noFill/>
              </a:ln>
              <a:solidFill>
                <a:schemeClr val="accent6"/>
              </a:solidFill>
              <a:effectLst/>
              <a:uLnTx/>
              <a:uFillTx/>
              <a:latin typeface="+mn-lt"/>
              <a:ea typeface="+mn-ea"/>
              <a:cs typeface="+mn-cs"/>
            </a:endParaRPr>
          </a:p>
        </p:txBody>
      </p:sp>
      <p:sp>
        <p:nvSpPr>
          <p:cNvPr id="70" name="Freeform 9">
            <a:extLst>
              <a:ext uri="{FF2B5EF4-FFF2-40B4-BE49-F238E27FC236}">
                <a16:creationId xmlns:a16="http://schemas.microsoft.com/office/drawing/2014/main" id="{509213F6-46B7-BA59-4CDD-6FD49598D1E7}"/>
              </a:ext>
            </a:extLst>
          </p:cNvPr>
          <p:cNvSpPr/>
          <p:nvPr/>
        </p:nvSpPr>
        <p:spPr>
          <a:xfrm>
            <a:off x="1576261" y="3252670"/>
            <a:ext cx="377190" cy="455294"/>
          </a:xfrm>
          <a:custGeom>
            <a:avLst/>
            <a:gdLst/>
            <a:ahLst/>
            <a:cxnLst>
              <a:cxn ang="0">
                <a:pos x="94454" y="30818"/>
              </a:cxn>
              <a:cxn ang="0">
                <a:pos x="94454" y="204685"/>
              </a:cxn>
              <a:cxn ang="0">
                <a:pos x="33502" y="171107"/>
              </a:cxn>
              <a:cxn ang="0">
                <a:pos x="24208" y="228833"/>
              </a:cxn>
              <a:cxn ang="0">
                <a:pos x="115203" y="379012"/>
              </a:cxn>
              <a:cxn ang="0">
                <a:pos x="274715" y="379012"/>
              </a:cxn>
              <a:cxn ang="0">
                <a:pos x="310594" y="205375"/>
              </a:cxn>
              <a:cxn ang="0">
                <a:pos x="275147" y="131320"/>
              </a:cxn>
              <a:cxn ang="0">
                <a:pos x="279254" y="143509"/>
              </a:cxn>
              <a:cxn ang="0">
                <a:pos x="272554" y="156618"/>
              </a:cxn>
              <a:cxn ang="0">
                <a:pos x="260450" y="149719"/>
              </a:cxn>
              <a:cxn ang="0">
                <a:pos x="256343" y="138220"/>
              </a:cxn>
              <a:cxn ang="0">
                <a:pos x="221112" y="119131"/>
              </a:cxn>
              <a:cxn ang="0">
                <a:pos x="226083" y="134540"/>
              </a:cxn>
              <a:cxn ang="0">
                <a:pos x="219383" y="147649"/>
              </a:cxn>
              <a:cxn ang="0">
                <a:pos x="207279" y="140520"/>
              </a:cxn>
              <a:cxn ang="0">
                <a:pos x="203605" y="128790"/>
              </a:cxn>
              <a:cxn ang="0">
                <a:pos x="167293" y="109012"/>
              </a:cxn>
              <a:cxn ang="0">
                <a:pos x="172048" y="125341"/>
              </a:cxn>
              <a:cxn ang="0">
                <a:pos x="149137" y="105562"/>
              </a:cxn>
              <a:cxn ang="0">
                <a:pos x="149137" y="30818"/>
              </a:cxn>
              <a:cxn ang="0">
                <a:pos x="121687" y="0"/>
              </a:cxn>
              <a:cxn ang="0">
                <a:pos x="94454" y="30818"/>
              </a:cxn>
            </a:cxnLst>
            <a:rect l="0" t="0" r="0" b="0"/>
            <a:pathLst>
              <a:path w="1456" h="1648">
                <a:moveTo>
                  <a:pt x="437" y="134"/>
                </a:moveTo>
                <a:cubicBezTo>
                  <a:pt x="437" y="890"/>
                  <a:pt x="437" y="890"/>
                  <a:pt x="437" y="890"/>
                </a:cubicBezTo>
                <a:cubicBezTo>
                  <a:pt x="373" y="820"/>
                  <a:pt x="263" y="737"/>
                  <a:pt x="155" y="744"/>
                </a:cubicBezTo>
                <a:cubicBezTo>
                  <a:pt x="25" y="751"/>
                  <a:pt x="0" y="890"/>
                  <a:pt x="112" y="995"/>
                </a:cubicBezTo>
                <a:cubicBezTo>
                  <a:pt x="301" y="1172"/>
                  <a:pt x="491" y="1432"/>
                  <a:pt x="533" y="1648"/>
                </a:cubicBezTo>
                <a:cubicBezTo>
                  <a:pt x="533" y="1648"/>
                  <a:pt x="1096" y="1648"/>
                  <a:pt x="1271" y="1648"/>
                </a:cubicBezTo>
                <a:cubicBezTo>
                  <a:pt x="1271" y="1213"/>
                  <a:pt x="1411" y="1120"/>
                  <a:pt x="1437" y="893"/>
                </a:cubicBezTo>
                <a:cubicBezTo>
                  <a:pt x="1456" y="723"/>
                  <a:pt x="1410" y="590"/>
                  <a:pt x="1273" y="571"/>
                </a:cubicBezTo>
                <a:cubicBezTo>
                  <a:pt x="1292" y="624"/>
                  <a:pt x="1292" y="624"/>
                  <a:pt x="1292" y="624"/>
                </a:cubicBezTo>
                <a:cubicBezTo>
                  <a:pt x="1299" y="648"/>
                  <a:pt x="1285" y="674"/>
                  <a:pt x="1261" y="681"/>
                </a:cubicBezTo>
                <a:cubicBezTo>
                  <a:pt x="1237" y="688"/>
                  <a:pt x="1212" y="675"/>
                  <a:pt x="1205" y="651"/>
                </a:cubicBezTo>
                <a:cubicBezTo>
                  <a:pt x="1186" y="601"/>
                  <a:pt x="1186" y="601"/>
                  <a:pt x="1186" y="601"/>
                </a:cubicBezTo>
                <a:cubicBezTo>
                  <a:pt x="1168" y="538"/>
                  <a:pt x="1109" y="530"/>
                  <a:pt x="1023" y="518"/>
                </a:cubicBezTo>
                <a:cubicBezTo>
                  <a:pt x="1046" y="585"/>
                  <a:pt x="1046" y="585"/>
                  <a:pt x="1046" y="585"/>
                </a:cubicBezTo>
                <a:cubicBezTo>
                  <a:pt x="1053" y="609"/>
                  <a:pt x="1039" y="634"/>
                  <a:pt x="1015" y="642"/>
                </a:cubicBezTo>
                <a:cubicBezTo>
                  <a:pt x="991" y="649"/>
                  <a:pt x="966" y="635"/>
                  <a:pt x="959" y="611"/>
                </a:cubicBezTo>
                <a:cubicBezTo>
                  <a:pt x="942" y="560"/>
                  <a:pt x="942" y="560"/>
                  <a:pt x="942" y="560"/>
                </a:cubicBezTo>
                <a:cubicBezTo>
                  <a:pt x="923" y="495"/>
                  <a:pt x="870" y="488"/>
                  <a:pt x="774" y="474"/>
                </a:cubicBezTo>
                <a:cubicBezTo>
                  <a:pt x="796" y="545"/>
                  <a:pt x="796" y="545"/>
                  <a:pt x="796" y="545"/>
                </a:cubicBezTo>
                <a:cubicBezTo>
                  <a:pt x="816" y="611"/>
                  <a:pt x="690" y="643"/>
                  <a:pt x="690" y="459"/>
                </a:cubicBezTo>
                <a:cubicBezTo>
                  <a:pt x="690" y="134"/>
                  <a:pt x="690" y="134"/>
                  <a:pt x="690" y="134"/>
                </a:cubicBezTo>
                <a:cubicBezTo>
                  <a:pt x="690" y="60"/>
                  <a:pt x="637" y="0"/>
                  <a:pt x="563" y="0"/>
                </a:cubicBezTo>
                <a:cubicBezTo>
                  <a:pt x="489" y="0"/>
                  <a:pt x="437" y="60"/>
                  <a:pt x="437" y="134"/>
                </a:cubicBezTo>
                <a:close/>
              </a:path>
            </a:pathLst>
          </a:custGeom>
          <a:solidFill>
            <a:schemeClr val="tx1">
              <a:alpha val="100000"/>
            </a:schemeClr>
          </a:solidFill>
          <a:ln w="9525">
            <a:noFill/>
          </a:ln>
        </p:spPr>
        <p:txBody>
          <a:bodyPr/>
          <a:lstStyle/>
          <a:p>
            <a:endParaRPr lang="zh-CN" altLang="en-US" sz="1680"/>
          </a:p>
        </p:txBody>
      </p:sp>
      <p:sp>
        <p:nvSpPr>
          <p:cNvPr id="4" name="TextBox 71">
            <a:extLst>
              <a:ext uri="{FF2B5EF4-FFF2-40B4-BE49-F238E27FC236}">
                <a16:creationId xmlns:a16="http://schemas.microsoft.com/office/drawing/2014/main" id="{7B7F41CF-D58D-B850-57BB-9B4EE06DF87D}"/>
              </a:ext>
            </a:extLst>
          </p:cNvPr>
          <p:cNvSpPr txBox="1"/>
          <p:nvPr/>
        </p:nvSpPr>
        <p:spPr>
          <a:xfrm>
            <a:off x="1013732" y="2266063"/>
            <a:ext cx="3119623" cy="687627"/>
          </a:xfrm>
          <a:prstGeom prst="rect">
            <a:avLst/>
          </a:prstGeom>
          <a:noFill/>
          <a:ln w="9525">
            <a:noFill/>
          </a:ln>
        </p:spPr>
        <p:txBody>
          <a:bodyPr wrap="square">
            <a:noAutofit/>
          </a:bodyPr>
          <a:lstStyle/>
          <a:p>
            <a:pPr algn="just"/>
            <a:r>
              <a:rPr lang="en-US" altLang="zh-CN" sz="2400" b="1" dirty="0">
                <a:solidFill>
                  <a:schemeClr val="accent1"/>
                </a:solidFill>
                <a:latin typeface="Times New Roman" panose="02020603050405020304" charset="0"/>
                <a:cs typeface="Times New Roman" panose="02020603050405020304" charset="0"/>
              </a:rPr>
              <a:t>Summary of Findings</a:t>
            </a:r>
          </a:p>
          <a:p>
            <a:pPr algn="just"/>
            <a:endParaRPr lang="en-US" altLang="zh-CN" sz="2400" b="1" dirty="0">
              <a:solidFill>
                <a:schemeClr val="accent1"/>
              </a:solidFill>
              <a:latin typeface="Times New Roman" panose="02020603050405020304" charset="0"/>
              <a:cs typeface="Times New Roman" panose="02020603050405020304" charset="0"/>
            </a:endParaRPr>
          </a:p>
        </p:txBody>
      </p:sp>
      <p:sp>
        <p:nvSpPr>
          <p:cNvPr id="7" name="TextBox 71">
            <a:extLst>
              <a:ext uri="{FF2B5EF4-FFF2-40B4-BE49-F238E27FC236}">
                <a16:creationId xmlns:a16="http://schemas.microsoft.com/office/drawing/2014/main" id="{C997513A-87DE-E55A-7F91-5697E6E7AD86}"/>
              </a:ext>
            </a:extLst>
          </p:cNvPr>
          <p:cNvSpPr txBox="1"/>
          <p:nvPr/>
        </p:nvSpPr>
        <p:spPr>
          <a:xfrm>
            <a:off x="8192258" y="3669890"/>
            <a:ext cx="2307023" cy="1295374"/>
          </a:xfrm>
          <a:prstGeom prst="rect">
            <a:avLst/>
          </a:prstGeom>
          <a:noFill/>
          <a:ln w="9525">
            <a:noFill/>
          </a:ln>
        </p:spPr>
        <p:txBody>
          <a:bodyPr wrap="square">
            <a:noAutofit/>
          </a:bodyPr>
          <a:lstStyle>
            <a:defPPr>
              <a:defRPr lang="zh-CN"/>
            </a:defPPr>
            <a:lvl1pPr algn="just">
              <a:lnSpc>
                <a:spcPct val="150000"/>
              </a:lnSpc>
              <a:buNone/>
              <a:defRPr sz="2160">
                <a:solidFill>
                  <a:schemeClr val="accent1"/>
                </a:solidFill>
                <a:latin typeface="Times New Roman" panose="02020603050405020304" charset="0"/>
                <a:cs typeface="Times New Roman" panose="02020603050405020304" charset="0"/>
              </a:defRPr>
            </a:lvl1pPr>
          </a:lstStyle>
          <a:p>
            <a:endParaRPr lang="en-US" altLang="zh-CN" sz="2400" b="1" dirty="0"/>
          </a:p>
          <a:p>
            <a:r>
              <a:rPr lang="en-US" altLang="zh-CN" sz="2400" b="1" dirty="0"/>
              <a:t>Interpretability</a:t>
            </a:r>
          </a:p>
        </p:txBody>
      </p:sp>
      <p:sp>
        <p:nvSpPr>
          <p:cNvPr id="8" name="TextBox 71">
            <a:extLst>
              <a:ext uri="{FF2B5EF4-FFF2-40B4-BE49-F238E27FC236}">
                <a16:creationId xmlns:a16="http://schemas.microsoft.com/office/drawing/2014/main" id="{497B3D07-CFE9-8004-870B-3DDBE1DA38C3}"/>
              </a:ext>
            </a:extLst>
          </p:cNvPr>
          <p:cNvSpPr txBox="1"/>
          <p:nvPr/>
        </p:nvSpPr>
        <p:spPr>
          <a:xfrm>
            <a:off x="8143021" y="1783293"/>
            <a:ext cx="3694942" cy="1249800"/>
          </a:xfrm>
          <a:prstGeom prst="rect">
            <a:avLst/>
          </a:prstGeom>
          <a:noFill/>
          <a:ln w="9525">
            <a:noFill/>
          </a:ln>
        </p:spPr>
        <p:txBody>
          <a:bodyPr wrap="square">
            <a:noAutofit/>
          </a:bodyPr>
          <a:lstStyle/>
          <a:p>
            <a:pPr algn="just" eaLnBrk="1" hangingPunct="1">
              <a:lnSpc>
                <a:spcPct val="150000"/>
              </a:lnSpc>
              <a:buNone/>
            </a:pPr>
            <a:r>
              <a:rPr lang="en-US" altLang="zh-CN" sz="2400" b="1" dirty="0">
                <a:solidFill>
                  <a:schemeClr val="accent1"/>
                </a:solidFill>
                <a:latin typeface="Times New Roman" panose="02020603050405020304" charset="0"/>
                <a:cs typeface="Times New Roman" panose="02020603050405020304" charset="0"/>
              </a:rPr>
              <a:t>Strengths and Limitations of ICL</a:t>
            </a:r>
          </a:p>
        </p:txBody>
      </p:sp>
      <p:sp>
        <p:nvSpPr>
          <p:cNvPr id="9" name="TextBox 71">
            <a:extLst>
              <a:ext uri="{FF2B5EF4-FFF2-40B4-BE49-F238E27FC236}">
                <a16:creationId xmlns:a16="http://schemas.microsoft.com/office/drawing/2014/main" id="{EF7C4861-4824-929C-2F92-7639530EB5D3}"/>
              </a:ext>
            </a:extLst>
          </p:cNvPr>
          <p:cNvSpPr txBox="1"/>
          <p:nvPr/>
        </p:nvSpPr>
        <p:spPr>
          <a:xfrm>
            <a:off x="1241079" y="3707964"/>
            <a:ext cx="2754623" cy="1057042"/>
          </a:xfrm>
          <a:prstGeom prst="rect">
            <a:avLst/>
          </a:prstGeom>
          <a:noFill/>
          <a:ln w="9525">
            <a:noFill/>
          </a:ln>
        </p:spPr>
        <p:txBody>
          <a:bodyPr wrap="square">
            <a:noAutofit/>
          </a:bodyPr>
          <a:lstStyle/>
          <a:p>
            <a:pPr algn="just" eaLnBrk="1" hangingPunct="1">
              <a:lnSpc>
                <a:spcPct val="150000"/>
              </a:lnSpc>
              <a:buNone/>
            </a:pPr>
            <a:endParaRPr lang="en-US" altLang="zh-CN" sz="2400" dirty="0">
              <a:solidFill>
                <a:schemeClr val="accent1"/>
              </a:solidFill>
              <a:latin typeface="Times New Roman" panose="02020603050405020304" charset="0"/>
              <a:cs typeface="Times New Roman" panose="02020603050405020304" charset="0"/>
            </a:endParaRPr>
          </a:p>
          <a:p>
            <a:pPr algn="just" eaLnBrk="1" hangingPunct="1">
              <a:lnSpc>
                <a:spcPct val="150000"/>
              </a:lnSpc>
              <a:buNone/>
            </a:pPr>
            <a:r>
              <a:rPr lang="en-US" altLang="zh-CN" sz="2400" b="1" dirty="0">
                <a:solidFill>
                  <a:schemeClr val="accent1"/>
                </a:solidFill>
                <a:latin typeface="Times New Roman" panose="02020603050405020304" charset="0"/>
                <a:cs typeface="Times New Roman" panose="02020603050405020304" charset="0"/>
              </a:rPr>
              <a:t>Future Directions</a:t>
            </a:r>
          </a:p>
        </p:txBody>
      </p:sp>
      <p:sp>
        <p:nvSpPr>
          <p:cNvPr id="2" name="Title 2">
            <a:extLst>
              <a:ext uri="{FF2B5EF4-FFF2-40B4-BE49-F238E27FC236}">
                <a16:creationId xmlns:a16="http://schemas.microsoft.com/office/drawing/2014/main" id="{430D304C-F0BA-1C08-025F-0966F67112B7}"/>
              </a:ext>
            </a:extLst>
          </p:cNvPr>
          <p:cNvSpPr txBox="1">
            <a:spLocks/>
          </p:cNvSpPr>
          <p:nvPr/>
        </p:nvSpPr>
        <p:spPr>
          <a:xfrm>
            <a:off x="838200" y="287326"/>
            <a:ext cx="10515600" cy="512446"/>
          </a:xfrm>
          <a:prstGeom prst="rect">
            <a:avLst/>
          </a:prstGeom>
          <a:noFill/>
          <a:ln>
            <a:noFill/>
          </a:ln>
        </p:spPr>
        <p:txBody>
          <a:bodyPr vert="horz" lIns="109728" tIns="54864" rIns="109728" bIns="54864" rtlCol="0" anchor="ctr" anchorCtr="0">
            <a:noAutofit/>
          </a:bodyPr>
          <a:lstStyle>
            <a:lvl1pPr algn="ctr" defTabSz="914400" rtl="0" eaLnBrk="1" latinLnBrk="0" hangingPunct="1">
              <a:lnSpc>
                <a:spcPct val="90000"/>
              </a:lnSpc>
              <a:spcBef>
                <a:spcPct val="0"/>
              </a:spcBef>
              <a:buNone/>
              <a:defRPr sz="2880" kern="1200">
                <a:solidFill>
                  <a:schemeClr val="tx2"/>
                </a:solidFill>
                <a:latin typeface="Open Sans Light" pitchFamily="34" charset="0"/>
                <a:ea typeface="Open Sans Light" pitchFamily="34" charset="0"/>
                <a:cs typeface="Open Sans Light" pitchFamily="34" charset="0"/>
              </a:defRPr>
            </a:lvl1pPr>
          </a:lstStyle>
          <a:p>
            <a:pPr defTabSz="762000"/>
            <a:r>
              <a:rPr lang="en-US" altLang="zh-CN" sz="3360" b="1" dirty="0">
                <a:latin typeface="Times New Roman" panose="02020603050405020304" pitchFamily="18" charset="0"/>
                <a:ea typeface="+mj-ea"/>
                <a:cs typeface="Times New Roman" panose="02020603050405020304" pitchFamily="18" charset="0"/>
              </a:rPr>
              <a:t>6 Conclusion and Future Work</a:t>
            </a:r>
          </a:p>
        </p:txBody>
      </p:sp>
    </p:spTree>
    <p:extLst>
      <p:ext uri="{BB962C8B-B14F-4D97-AF65-F5344CB8AC3E}">
        <p14:creationId xmlns:p14="http://schemas.microsoft.com/office/powerpoint/2010/main" val="305966083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1000" fill="hold"/>
                                        <p:tgtEl>
                                          <p:spTgt spid="65"/>
                                        </p:tgtEl>
                                        <p:attrNameLst>
                                          <p:attrName>ppt_w</p:attrName>
                                        </p:attrNameLst>
                                      </p:cBhvr>
                                      <p:tavLst>
                                        <p:tav tm="0">
                                          <p:val>
                                            <p:fltVal val="0"/>
                                          </p:val>
                                        </p:tav>
                                        <p:tav tm="100000">
                                          <p:val>
                                            <p:strVal val="#ppt_w"/>
                                          </p:val>
                                        </p:tav>
                                      </p:tavLst>
                                    </p:anim>
                                    <p:anim calcmode="lin" valueType="num">
                                      <p:cBhvr>
                                        <p:cTn id="8" dur="1000" fill="hold"/>
                                        <p:tgtEl>
                                          <p:spTgt spid="65"/>
                                        </p:tgtEl>
                                        <p:attrNameLst>
                                          <p:attrName>ppt_h</p:attrName>
                                        </p:attrNameLst>
                                      </p:cBhvr>
                                      <p:tavLst>
                                        <p:tav tm="0">
                                          <p:val>
                                            <p:fltVal val="0"/>
                                          </p:val>
                                        </p:tav>
                                        <p:tav tm="100000">
                                          <p:val>
                                            <p:strVal val="#ppt_h"/>
                                          </p:val>
                                        </p:tav>
                                      </p:tavLst>
                                    </p:anim>
                                    <p:anim calcmode="lin" valueType="num">
                                      <p:cBhvr>
                                        <p:cTn id="9" dur="1000" fill="hold"/>
                                        <p:tgtEl>
                                          <p:spTgt spid="65"/>
                                        </p:tgtEl>
                                        <p:attrNameLst>
                                          <p:attrName>style.rotation</p:attrName>
                                        </p:attrNameLst>
                                      </p:cBhvr>
                                      <p:tavLst>
                                        <p:tav tm="0">
                                          <p:val>
                                            <p:fltVal val="90"/>
                                          </p:val>
                                        </p:tav>
                                        <p:tav tm="100000">
                                          <p:val>
                                            <p:fltVal val="0"/>
                                          </p:val>
                                        </p:tav>
                                      </p:tavLst>
                                    </p:anim>
                                    <p:animEffect transition="in" filter="fade">
                                      <p:cBhvr>
                                        <p:cTn id="10" dur="1000"/>
                                        <p:tgtEl>
                                          <p:spTgt spid="65"/>
                                        </p:tgtEl>
                                      </p:cBhvr>
                                    </p:animEffect>
                                  </p:childTnLst>
                                </p:cTn>
                              </p:par>
                              <p:par>
                                <p:cTn id="11" presetID="3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 calcmode="lin" valueType="num">
                                      <p:cBhvr>
                                        <p:cTn id="13" dur="1000" fill="hold"/>
                                        <p:tgtEl>
                                          <p:spTgt spid="67"/>
                                        </p:tgtEl>
                                        <p:attrNameLst>
                                          <p:attrName>ppt_w</p:attrName>
                                        </p:attrNameLst>
                                      </p:cBhvr>
                                      <p:tavLst>
                                        <p:tav tm="0">
                                          <p:val>
                                            <p:fltVal val="0"/>
                                          </p:val>
                                        </p:tav>
                                        <p:tav tm="100000">
                                          <p:val>
                                            <p:strVal val="#ppt_w"/>
                                          </p:val>
                                        </p:tav>
                                      </p:tavLst>
                                    </p:anim>
                                    <p:anim calcmode="lin" valueType="num">
                                      <p:cBhvr>
                                        <p:cTn id="14" dur="1000" fill="hold"/>
                                        <p:tgtEl>
                                          <p:spTgt spid="67"/>
                                        </p:tgtEl>
                                        <p:attrNameLst>
                                          <p:attrName>ppt_h</p:attrName>
                                        </p:attrNameLst>
                                      </p:cBhvr>
                                      <p:tavLst>
                                        <p:tav tm="0">
                                          <p:val>
                                            <p:fltVal val="0"/>
                                          </p:val>
                                        </p:tav>
                                        <p:tav tm="100000">
                                          <p:val>
                                            <p:strVal val="#ppt_h"/>
                                          </p:val>
                                        </p:tav>
                                      </p:tavLst>
                                    </p:anim>
                                    <p:anim calcmode="lin" valueType="num">
                                      <p:cBhvr>
                                        <p:cTn id="15" dur="1000" fill="hold"/>
                                        <p:tgtEl>
                                          <p:spTgt spid="67"/>
                                        </p:tgtEl>
                                        <p:attrNameLst>
                                          <p:attrName>style.rotation</p:attrName>
                                        </p:attrNameLst>
                                      </p:cBhvr>
                                      <p:tavLst>
                                        <p:tav tm="0">
                                          <p:val>
                                            <p:fltVal val="90"/>
                                          </p:val>
                                        </p:tav>
                                        <p:tav tm="100000">
                                          <p:val>
                                            <p:fltVal val="0"/>
                                          </p:val>
                                        </p:tav>
                                      </p:tavLst>
                                    </p:anim>
                                    <p:animEffect transition="in" filter="fade">
                                      <p:cBhvr>
                                        <p:cTn id="16" dur="1000"/>
                                        <p:tgtEl>
                                          <p:spTgt spid="67"/>
                                        </p:tgtEl>
                                      </p:cBhvr>
                                    </p:animEffect>
                                  </p:childTnLst>
                                </p:cTn>
                              </p:par>
                              <p:par>
                                <p:cTn id="17" presetID="3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 calcmode="lin" valueType="num">
                                      <p:cBhvr>
                                        <p:cTn id="19" dur="1000" fill="hold"/>
                                        <p:tgtEl>
                                          <p:spTgt spid="57"/>
                                        </p:tgtEl>
                                        <p:attrNameLst>
                                          <p:attrName>ppt_w</p:attrName>
                                        </p:attrNameLst>
                                      </p:cBhvr>
                                      <p:tavLst>
                                        <p:tav tm="0">
                                          <p:val>
                                            <p:fltVal val="0"/>
                                          </p:val>
                                        </p:tav>
                                        <p:tav tm="100000">
                                          <p:val>
                                            <p:strVal val="#ppt_w"/>
                                          </p:val>
                                        </p:tav>
                                      </p:tavLst>
                                    </p:anim>
                                    <p:anim calcmode="lin" valueType="num">
                                      <p:cBhvr>
                                        <p:cTn id="20" dur="1000" fill="hold"/>
                                        <p:tgtEl>
                                          <p:spTgt spid="57"/>
                                        </p:tgtEl>
                                        <p:attrNameLst>
                                          <p:attrName>ppt_h</p:attrName>
                                        </p:attrNameLst>
                                      </p:cBhvr>
                                      <p:tavLst>
                                        <p:tav tm="0">
                                          <p:val>
                                            <p:fltVal val="0"/>
                                          </p:val>
                                        </p:tav>
                                        <p:tav tm="100000">
                                          <p:val>
                                            <p:strVal val="#ppt_h"/>
                                          </p:val>
                                        </p:tav>
                                      </p:tavLst>
                                    </p:anim>
                                    <p:anim calcmode="lin" valueType="num">
                                      <p:cBhvr>
                                        <p:cTn id="21" dur="1000" fill="hold"/>
                                        <p:tgtEl>
                                          <p:spTgt spid="57"/>
                                        </p:tgtEl>
                                        <p:attrNameLst>
                                          <p:attrName>style.rotation</p:attrName>
                                        </p:attrNameLst>
                                      </p:cBhvr>
                                      <p:tavLst>
                                        <p:tav tm="0">
                                          <p:val>
                                            <p:fltVal val="90"/>
                                          </p:val>
                                        </p:tav>
                                        <p:tav tm="100000">
                                          <p:val>
                                            <p:fltVal val="0"/>
                                          </p:val>
                                        </p:tav>
                                      </p:tavLst>
                                    </p:anim>
                                    <p:animEffect transition="in" filter="fade">
                                      <p:cBhvr>
                                        <p:cTn id="22" dur="1000"/>
                                        <p:tgtEl>
                                          <p:spTgt spid="57"/>
                                        </p:tgtEl>
                                      </p:cBhvr>
                                    </p:animEffect>
                                  </p:childTnLst>
                                </p:cTn>
                              </p:par>
                              <p:par>
                                <p:cTn id="23" presetID="3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anim calcmode="lin" valueType="num">
                                      <p:cBhvr>
                                        <p:cTn id="25" dur="1000" fill="hold"/>
                                        <p:tgtEl>
                                          <p:spTgt spid="59"/>
                                        </p:tgtEl>
                                        <p:attrNameLst>
                                          <p:attrName>ppt_w</p:attrName>
                                        </p:attrNameLst>
                                      </p:cBhvr>
                                      <p:tavLst>
                                        <p:tav tm="0">
                                          <p:val>
                                            <p:fltVal val="0"/>
                                          </p:val>
                                        </p:tav>
                                        <p:tav tm="100000">
                                          <p:val>
                                            <p:strVal val="#ppt_w"/>
                                          </p:val>
                                        </p:tav>
                                      </p:tavLst>
                                    </p:anim>
                                    <p:anim calcmode="lin" valueType="num">
                                      <p:cBhvr>
                                        <p:cTn id="26" dur="1000" fill="hold"/>
                                        <p:tgtEl>
                                          <p:spTgt spid="59"/>
                                        </p:tgtEl>
                                        <p:attrNameLst>
                                          <p:attrName>ppt_h</p:attrName>
                                        </p:attrNameLst>
                                      </p:cBhvr>
                                      <p:tavLst>
                                        <p:tav tm="0">
                                          <p:val>
                                            <p:fltVal val="0"/>
                                          </p:val>
                                        </p:tav>
                                        <p:tav tm="100000">
                                          <p:val>
                                            <p:strVal val="#ppt_h"/>
                                          </p:val>
                                        </p:tav>
                                      </p:tavLst>
                                    </p:anim>
                                    <p:anim calcmode="lin" valueType="num">
                                      <p:cBhvr>
                                        <p:cTn id="27" dur="1000" fill="hold"/>
                                        <p:tgtEl>
                                          <p:spTgt spid="59"/>
                                        </p:tgtEl>
                                        <p:attrNameLst>
                                          <p:attrName>style.rotation</p:attrName>
                                        </p:attrNameLst>
                                      </p:cBhvr>
                                      <p:tavLst>
                                        <p:tav tm="0">
                                          <p:val>
                                            <p:fltVal val="90"/>
                                          </p:val>
                                        </p:tav>
                                        <p:tav tm="100000">
                                          <p:val>
                                            <p:fltVal val="0"/>
                                          </p:val>
                                        </p:tav>
                                      </p:tavLst>
                                    </p:anim>
                                    <p:animEffect transition="in" filter="fade">
                                      <p:cBhvr>
                                        <p:cTn id="28" dur="1000"/>
                                        <p:tgtEl>
                                          <p:spTgt spid="59"/>
                                        </p:tgtEl>
                                      </p:cBhvr>
                                    </p:animEffect>
                                  </p:childTnLst>
                                </p:cTn>
                              </p:par>
                              <p:par>
                                <p:cTn id="29" presetID="3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 calcmode="lin" valueType="num">
                                      <p:cBhvr>
                                        <p:cTn id="31" dur="1000" fill="hold"/>
                                        <p:tgtEl>
                                          <p:spTgt spid="60"/>
                                        </p:tgtEl>
                                        <p:attrNameLst>
                                          <p:attrName>ppt_w</p:attrName>
                                        </p:attrNameLst>
                                      </p:cBhvr>
                                      <p:tavLst>
                                        <p:tav tm="0">
                                          <p:val>
                                            <p:fltVal val="0"/>
                                          </p:val>
                                        </p:tav>
                                        <p:tav tm="100000">
                                          <p:val>
                                            <p:strVal val="#ppt_w"/>
                                          </p:val>
                                        </p:tav>
                                      </p:tavLst>
                                    </p:anim>
                                    <p:anim calcmode="lin" valueType="num">
                                      <p:cBhvr>
                                        <p:cTn id="32" dur="1000" fill="hold"/>
                                        <p:tgtEl>
                                          <p:spTgt spid="60"/>
                                        </p:tgtEl>
                                        <p:attrNameLst>
                                          <p:attrName>ppt_h</p:attrName>
                                        </p:attrNameLst>
                                      </p:cBhvr>
                                      <p:tavLst>
                                        <p:tav tm="0">
                                          <p:val>
                                            <p:fltVal val="0"/>
                                          </p:val>
                                        </p:tav>
                                        <p:tav tm="100000">
                                          <p:val>
                                            <p:strVal val="#ppt_h"/>
                                          </p:val>
                                        </p:tav>
                                      </p:tavLst>
                                    </p:anim>
                                    <p:anim calcmode="lin" valueType="num">
                                      <p:cBhvr>
                                        <p:cTn id="33" dur="1000" fill="hold"/>
                                        <p:tgtEl>
                                          <p:spTgt spid="60"/>
                                        </p:tgtEl>
                                        <p:attrNameLst>
                                          <p:attrName>style.rotation</p:attrName>
                                        </p:attrNameLst>
                                      </p:cBhvr>
                                      <p:tavLst>
                                        <p:tav tm="0">
                                          <p:val>
                                            <p:fltVal val="90"/>
                                          </p:val>
                                        </p:tav>
                                        <p:tav tm="100000">
                                          <p:val>
                                            <p:fltVal val="0"/>
                                          </p:val>
                                        </p:tav>
                                      </p:tavLst>
                                    </p:anim>
                                    <p:animEffect transition="in" filter="fade">
                                      <p:cBhvr>
                                        <p:cTn id="34" dur="1000"/>
                                        <p:tgtEl>
                                          <p:spTgt spid="60"/>
                                        </p:tgtEl>
                                      </p:cBhvr>
                                    </p:animEffect>
                                  </p:childTnLst>
                                </p:cTn>
                              </p:par>
                              <p:par>
                                <p:cTn id="35" presetID="3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p:cTn id="37" dur="1000" fill="hold"/>
                                        <p:tgtEl>
                                          <p:spTgt spid="58"/>
                                        </p:tgtEl>
                                        <p:attrNameLst>
                                          <p:attrName>ppt_w</p:attrName>
                                        </p:attrNameLst>
                                      </p:cBhvr>
                                      <p:tavLst>
                                        <p:tav tm="0">
                                          <p:val>
                                            <p:fltVal val="0"/>
                                          </p:val>
                                        </p:tav>
                                        <p:tav tm="100000">
                                          <p:val>
                                            <p:strVal val="#ppt_w"/>
                                          </p:val>
                                        </p:tav>
                                      </p:tavLst>
                                    </p:anim>
                                    <p:anim calcmode="lin" valueType="num">
                                      <p:cBhvr>
                                        <p:cTn id="38" dur="1000" fill="hold"/>
                                        <p:tgtEl>
                                          <p:spTgt spid="58"/>
                                        </p:tgtEl>
                                        <p:attrNameLst>
                                          <p:attrName>ppt_h</p:attrName>
                                        </p:attrNameLst>
                                      </p:cBhvr>
                                      <p:tavLst>
                                        <p:tav tm="0">
                                          <p:val>
                                            <p:fltVal val="0"/>
                                          </p:val>
                                        </p:tav>
                                        <p:tav tm="100000">
                                          <p:val>
                                            <p:strVal val="#ppt_h"/>
                                          </p:val>
                                        </p:tav>
                                      </p:tavLst>
                                    </p:anim>
                                    <p:anim calcmode="lin" valueType="num">
                                      <p:cBhvr>
                                        <p:cTn id="39" dur="1000" fill="hold"/>
                                        <p:tgtEl>
                                          <p:spTgt spid="58"/>
                                        </p:tgtEl>
                                        <p:attrNameLst>
                                          <p:attrName>style.rotation</p:attrName>
                                        </p:attrNameLst>
                                      </p:cBhvr>
                                      <p:tavLst>
                                        <p:tav tm="0">
                                          <p:val>
                                            <p:fltVal val="90"/>
                                          </p:val>
                                        </p:tav>
                                        <p:tav tm="100000">
                                          <p:val>
                                            <p:fltVal val="0"/>
                                          </p:val>
                                        </p:tav>
                                      </p:tavLst>
                                    </p:anim>
                                    <p:animEffect transition="in" filter="fade">
                                      <p:cBhvr>
                                        <p:cTn id="40" dur="1000"/>
                                        <p:tgtEl>
                                          <p:spTgt spid="58"/>
                                        </p:tgtEl>
                                      </p:cBhvr>
                                    </p:animEffect>
                                  </p:childTnLst>
                                </p:cTn>
                              </p:par>
                            </p:childTnLst>
                          </p:cTn>
                        </p:par>
                        <p:par>
                          <p:cTn id="41" fill="hold">
                            <p:stCondLst>
                              <p:cond delay="1000"/>
                            </p:stCondLst>
                            <p:childTnLst>
                              <p:par>
                                <p:cTn id="42" presetID="22" presetClass="entr" presetSubtype="4" fill="hold" nodeType="after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wipe(down)">
                                      <p:cBhvr>
                                        <p:cTn id="44" dur="500"/>
                                        <p:tgtEl>
                                          <p:spTgt spid="66"/>
                                        </p:tgtEl>
                                      </p:cBhvr>
                                    </p:animEffect>
                                  </p:childTnLst>
                                </p:cTn>
                              </p:par>
                            </p:childTnLst>
                          </p:cTn>
                        </p:par>
                        <p:par>
                          <p:cTn id="45" fill="hold">
                            <p:stCondLst>
                              <p:cond delay="1500"/>
                            </p:stCondLst>
                            <p:childTnLst>
                              <p:par>
                                <p:cTn id="46" presetID="22" presetClass="entr" presetSubtype="4"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down)">
                                      <p:cBhvr>
                                        <p:cTn id="48" dur="500"/>
                                        <p:tgtEl>
                                          <p:spTgt spid="68"/>
                                        </p:tgtEl>
                                      </p:cBhvr>
                                    </p:animEffect>
                                  </p:childTnLst>
                                </p:cTn>
                              </p:par>
                              <p:par>
                                <p:cTn id="49" presetID="22" presetClass="entr" presetSubtype="4"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wipe(down)">
                                      <p:cBhvr>
                                        <p:cTn id="51" dur="500"/>
                                        <p:tgtEl>
                                          <p:spTgt spid="70"/>
                                        </p:tgtEl>
                                      </p:cBhvr>
                                    </p:animEffect>
                                  </p:childTnLst>
                                </p:cTn>
                              </p:par>
                            </p:childTnLst>
                          </p:cTn>
                        </p:par>
                        <p:par>
                          <p:cTn id="52" fill="hold">
                            <p:stCondLst>
                              <p:cond delay="2000"/>
                            </p:stCondLst>
                            <p:childTnLst>
                              <p:par>
                                <p:cTn id="53" presetID="2" presetClass="entr" presetSubtype="4" fill="hold" grpId="0" nodeType="after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par>
                          <p:cTn id="57" fill="hold">
                            <p:stCondLst>
                              <p:cond delay="2500"/>
                            </p:stCondLst>
                            <p:childTnLst>
                              <p:par>
                                <p:cTn id="58" presetID="2" presetClass="entr" presetSubtype="4"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 calcmode="lin" valueType="num">
                                      <p:cBhvr additive="base">
                                        <p:cTn id="60" dur="500" fill="hold"/>
                                        <p:tgtEl>
                                          <p:spTgt spid="7"/>
                                        </p:tgtEl>
                                        <p:attrNameLst>
                                          <p:attrName>ppt_x</p:attrName>
                                        </p:attrNameLst>
                                      </p:cBhvr>
                                      <p:tavLst>
                                        <p:tav tm="0">
                                          <p:val>
                                            <p:strVal val="#ppt_x"/>
                                          </p:val>
                                        </p:tav>
                                        <p:tav tm="100000">
                                          <p:val>
                                            <p:strVal val="#ppt_x"/>
                                          </p:val>
                                        </p:tav>
                                      </p:tavLst>
                                    </p:anim>
                                    <p:anim calcmode="lin" valueType="num">
                                      <p:cBhvr additive="base">
                                        <p:cTn id="61" dur="500" fill="hold"/>
                                        <p:tgtEl>
                                          <p:spTgt spid="7"/>
                                        </p:tgtEl>
                                        <p:attrNameLst>
                                          <p:attrName>ppt_y</p:attrName>
                                        </p:attrNameLst>
                                      </p:cBhvr>
                                      <p:tavLst>
                                        <p:tav tm="0">
                                          <p:val>
                                            <p:strVal val="1+#ppt_h/2"/>
                                          </p:val>
                                        </p:tav>
                                        <p:tav tm="100000">
                                          <p:val>
                                            <p:strVal val="#ppt_y"/>
                                          </p:val>
                                        </p:tav>
                                      </p:tavLst>
                                    </p:anim>
                                  </p:childTnLst>
                                </p:cTn>
                              </p:par>
                            </p:childTnLst>
                          </p:cTn>
                        </p:par>
                        <p:par>
                          <p:cTn id="62" fill="hold">
                            <p:stCondLst>
                              <p:cond delay="3000"/>
                            </p:stCondLst>
                            <p:childTnLst>
                              <p:par>
                                <p:cTn id="63" presetID="2" presetClass="entr" presetSubtype="4" fill="hold" grpId="0" nodeType="after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fill="hold"/>
                                        <p:tgtEl>
                                          <p:spTgt spid="8"/>
                                        </p:tgtEl>
                                        <p:attrNameLst>
                                          <p:attrName>ppt_x</p:attrName>
                                        </p:attrNameLst>
                                      </p:cBhvr>
                                      <p:tavLst>
                                        <p:tav tm="0">
                                          <p:val>
                                            <p:strVal val="#ppt_x"/>
                                          </p:val>
                                        </p:tav>
                                        <p:tav tm="100000">
                                          <p:val>
                                            <p:strVal val="#ppt_x"/>
                                          </p:val>
                                        </p:tav>
                                      </p:tavLst>
                                    </p:anim>
                                    <p:anim calcmode="lin" valueType="num">
                                      <p:cBhvr additive="base">
                                        <p:cTn id="66" dur="500" fill="hold"/>
                                        <p:tgtEl>
                                          <p:spTgt spid="8"/>
                                        </p:tgtEl>
                                        <p:attrNameLst>
                                          <p:attrName>ppt_y</p:attrName>
                                        </p:attrNameLst>
                                      </p:cBhvr>
                                      <p:tavLst>
                                        <p:tav tm="0">
                                          <p:val>
                                            <p:strVal val="1+#ppt_h/2"/>
                                          </p:val>
                                        </p:tav>
                                        <p:tav tm="100000">
                                          <p:val>
                                            <p:strVal val="#ppt_y"/>
                                          </p:val>
                                        </p:tav>
                                      </p:tavLst>
                                    </p:anim>
                                  </p:childTnLst>
                                </p:cTn>
                              </p:par>
                            </p:childTnLst>
                          </p:cTn>
                        </p:par>
                        <p:par>
                          <p:cTn id="67" fill="hold">
                            <p:stCondLst>
                              <p:cond delay="3500"/>
                            </p:stCondLst>
                            <p:childTnLst>
                              <p:par>
                                <p:cTn id="68" presetID="2" presetClass="entr" presetSubtype="4"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ppt_x</p:attrName>
                                        </p:attrNameLst>
                                      </p:cBhvr>
                                      <p:tavLst>
                                        <p:tav tm="0">
                                          <p:val>
                                            <p:strVal val="#ppt_x"/>
                                          </p:val>
                                        </p:tav>
                                        <p:tav tm="100000">
                                          <p:val>
                                            <p:strVal val="#ppt_x"/>
                                          </p:val>
                                        </p:tav>
                                      </p:tavLst>
                                    </p:anim>
                                    <p:anim calcmode="lin" valueType="num">
                                      <p:cBhvr additive="base">
                                        <p:cTn id="7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Slide Number Placeholder 5">
            <a:extLst>
              <a:ext uri="{FF2B5EF4-FFF2-40B4-BE49-F238E27FC236}">
                <a16:creationId xmlns:a16="http://schemas.microsoft.com/office/drawing/2014/main" id="{BDB7D8AF-D785-C12B-D302-DAD646563437}"/>
              </a:ext>
            </a:extLst>
          </p:cNvPr>
          <p:cNvSpPr>
            <a:spLocks noGrp="1"/>
          </p:cNvSpPr>
          <p:nvPr>
            <p:ph type="sldNum" sz="quarter" idx="10"/>
          </p:nvPr>
        </p:nvSpPr>
        <p:spPr bwMode="auto">
          <a:xfrm>
            <a:off x="638175" y="5392738"/>
            <a:ext cx="525463" cy="2301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bg-BG"/>
            </a:defPPr>
            <a:lvl1pPr algn="ctr" defTabSz="712788" rtl="0" eaLnBrk="1" fontAlgn="base" hangingPunct="1">
              <a:spcBef>
                <a:spcPct val="0"/>
              </a:spcBef>
              <a:spcAft>
                <a:spcPct val="0"/>
              </a:spcAft>
              <a:defRPr sz="1100" kern="1200">
                <a:solidFill>
                  <a:schemeClr val="tx1"/>
                </a:solidFill>
                <a:latin typeface="Open Sans" panose="020B0606030504020204" pitchFamily="34" charset="0"/>
                <a:ea typeface="+mn-ea"/>
                <a:cs typeface="Open Sans" panose="020B0606030504020204" pitchFamily="34" charset="0"/>
              </a:defRPr>
            </a:lvl1pPr>
            <a:lvl2pPr marL="355600" indent="101600"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2pPr>
            <a:lvl3pPr marL="712788" indent="2016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3pPr>
            <a:lvl4pPr marL="1068388" indent="3032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4pPr>
            <a:lvl5pPr marL="1425575" indent="403225"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5pPr>
            <a:lvl6pPr marL="2286000" algn="l" defTabSz="914400" rtl="0" eaLnBrk="1" latinLnBrk="0" hangingPunct="1">
              <a:defRPr sz="1400" kern="1200">
                <a:solidFill>
                  <a:schemeClr val="tx1"/>
                </a:solidFill>
                <a:latin typeface="Calibri" panose="020F0502020204030204" pitchFamily="34" charset="0"/>
                <a:ea typeface="+mn-ea"/>
                <a:cs typeface="+mn-cs"/>
              </a:defRPr>
            </a:lvl6pPr>
            <a:lvl7pPr marL="2743200" algn="l" defTabSz="914400" rtl="0" eaLnBrk="1" latinLnBrk="0" hangingPunct="1">
              <a:defRPr sz="1400" kern="1200">
                <a:solidFill>
                  <a:schemeClr val="tx1"/>
                </a:solidFill>
                <a:latin typeface="Calibri" panose="020F0502020204030204" pitchFamily="34" charset="0"/>
                <a:ea typeface="+mn-ea"/>
                <a:cs typeface="+mn-cs"/>
              </a:defRPr>
            </a:lvl7pPr>
            <a:lvl8pPr marL="3200400" algn="l" defTabSz="914400" rtl="0" eaLnBrk="1" latinLnBrk="0" hangingPunct="1">
              <a:defRPr sz="1400" kern="1200">
                <a:solidFill>
                  <a:schemeClr val="tx1"/>
                </a:solidFill>
                <a:latin typeface="Calibri" panose="020F0502020204030204" pitchFamily="34" charset="0"/>
                <a:ea typeface="+mn-ea"/>
                <a:cs typeface="+mn-cs"/>
              </a:defRPr>
            </a:lvl8pPr>
            <a:lvl9pPr marL="3657600" algn="l" defTabSz="914400" rtl="0" eaLnBrk="1" latinLnBrk="0" hangingPunct="1">
              <a:defRPr sz="1400" kern="1200">
                <a:solidFill>
                  <a:schemeClr val="tx1"/>
                </a:solidFill>
                <a:latin typeface="Calibri" panose="020F0502020204030204" pitchFamily="34" charset="0"/>
                <a:ea typeface="+mn-ea"/>
                <a:cs typeface="+mn-cs"/>
              </a:defRPr>
            </a:lvl9pPr>
          </a:lstStyle>
          <a:p>
            <a:fld id="{E8B6EC68-080B-4F1D-8FC0-EC533622CB47}" type="slidenum">
              <a:rPr lang="en-US" altLang="zh-CN" smtClean="0"/>
              <a:pPr/>
              <a:t>25</a:t>
            </a:fld>
            <a:endParaRPr lang="en-US" altLang="zh-CN" sz="1200">
              <a:latin typeface="Open Sans" panose="020B0606030504020204" pitchFamily="34" charset="0"/>
            </a:endParaRPr>
          </a:p>
        </p:txBody>
      </p:sp>
      <p:grpSp>
        <p:nvGrpSpPr>
          <p:cNvPr id="41" name="Group 40">
            <a:extLst>
              <a:ext uri="{FF2B5EF4-FFF2-40B4-BE49-F238E27FC236}">
                <a16:creationId xmlns:a16="http://schemas.microsoft.com/office/drawing/2014/main" id="{4C7B6B7C-D30D-5FD9-926E-C6317307E6BC}"/>
              </a:ext>
            </a:extLst>
          </p:cNvPr>
          <p:cNvGrpSpPr>
            <a:grpSpLocks/>
          </p:cNvGrpSpPr>
          <p:nvPr/>
        </p:nvGrpSpPr>
        <p:grpSpPr bwMode="auto">
          <a:xfrm>
            <a:off x="830580" y="4791301"/>
            <a:ext cx="906780" cy="906780"/>
            <a:chOff x="2850424" y="4023941"/>
            <a:chExt cx="755923" cy="755923"/>
          </a:xfrm>
        </p:grpSpPr>
        <p:sp>
          <p:nvSpPr>
            <p:cNvPr id="12" name="Oval 11">
              <a:extLst>
                <a:ext uri="{FF2B5EF4-FFF2-40B4-BE49-F238E27FC236}">
                  <a16:creationId xmlns:a16="http://schemas.microsoft.com/office/drawing/2014/main" id="{0AE18845-0D7D-1FE1-40C1-7775B814E3DB}"/>
                </a:ext>
              </a:extLst>
            </p:cNvPr>
            <p:cNvSpPr/>
            <p:nvPr/>
          </p:nvSpPr>
          <p:spPr>
            <a:xfrm>
              <a:off x="2850424" y="4023941"/>
              <a:ext cx="755923" cy="755923"/>
            </a:xfrm>
            <a:prstGeom prst="ellipse">
              <a:avLst/>
            </a:prstGeom>
            <a:solidFill>
              <a:schemeClr val="accent4"/>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13" name="Oval 12">
              <a:extLst>
                <a:ext uri="{FF2B5EF4-FFF2-40B4-BE49-F238E27FC236}">
                  <a16:creationId xmlns:a16="http://schemas.microsoft.com/office/drawing/2014/main" id="{F835FD7E-320C-4B9C-7DBD-0AE9A633E838}"/>
                </a:ext>
              </a:extLst>
            </p:cNvPr>
            <p:cNvSpPr/>
            <p:nvPr/>
          </p:nvSpPr>
          <p:spPr>
            <a:xfrm>
              <a:off x="2923475" y="4096992"/>
              <a:ext cx="609820" cy="6098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grpSp>
      <p:grpSp>
        <p:nvGrpSpPr>
          <p:cNvPr id="40" name="Group 39">
            <a:extLst>
              <a:ext uri="{FF2B5EF4-FFF2-40B4-BE49-F238E27FC236}">
                <a16:creationId xmlns:a16="http://schemas.microsoft.com/office/drawing/2014/main" id="{139818C6-BC09-6C07-BDDE-AFA899F9D14B}"/>
              </a:ext>
            </a:extLst>
          </p:cNvPr>
          <p:cNvGrpSpPr>
            <a:grpSpLocks/>
          </p:cNvGrpSpPr>
          <p:nvPr/>
        </p:nvGrpSpPr>
        <p:grpSpPr bwMode="auto">
          <a:xfrm>
            <a:off x="830580" y="3682538"/>
            <a:ext cx="906780" cy="906780"/>
            <a:chOff x="2850424" y="3195153"/>
            <a:chExt cx="755923" cy="755923"/>
          </a:xfrm>
        </p:grpSpPr>
        <p:sp>
          <p:nvSpPr>
            <p:cNvPr id="21" name="Oval 20">
              <a:extLst>
                <a:ext uri="{FF2B5EF4-FFF2-40B4-BE49-F238E27FC236}">
                  <a16:creationId xmlns:a16="http://schemas.microsoft.com/office/drawing/2014/main" id="{07FDC1EA-85AD-08A2-F48A-3CD5BCF354E2}"/>
                </a:ext>
              </a:extLst>
            </p:cNvPr>
            <p:cNvSpPr/>
            <p:nvPr/>
          </p:nvSpPr>
          <p:spPr>
            <a:xfrm>
              <a:off x="2850424" y="3195153"/>
              <a:ext cx="755923" cy="755923"/>
            </a:xfrm>
            <a:prstGeom prst="ellipse">
              <a:avLst/>
            </a:prstGeom>
            <a:solidFill>
              <a:schemeClr val="accent3"/>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22" name="Oval 21">
              <a:extLst>
                <a:ext uri="{FF2B5EF4-FFF2-40B4-BE49-F238E27FC236}">
                  <a16:creationId xmlns:a16="http://schemas.microsoft.com/office/drawing/2014/main" id="{8FB1249B-3C74-100B-78B9-C57A9EF7C29F}"/>
                </a:ext>
              </a:extLst>
            </p:cNvPr>
            <p:cNvSpPr/>
            <p:nvPr/>
          </p:nvSpPr>
          <p:spPr>
            <a:xfrm>
              <a:off x="2923475" y="3268204"/>
              <a:ext cx="609820" cy="6098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grpSp>
      <p:grpSp>
        <p:nvGrpSpPr>
          <p:cNvPr id="39" name="Group 38">
            <a:extLst>
              <a:ext uri="{FF2B5EF4-FFF2-40B4-BE49-F238E27FC236}">
                <a16:creationId xmlns:a16="http://schemas.microsoft.com/office/drawing/2014/main" id="{4013A1DB-94F9-5663-9B9E-8FEA0CF26F9D}"/>
              </a:ext>
            </a:extLst>
          </p:cNvPr>
          <p:cNvGrpSpPr>
            <a:grpSpLocks/>
          </p:cNvGrpSpPr>
          <p:nvPr/>
        </p:nvGrpSpPr>
        <p:grpSpPr bwMode="auto">
          <a:xfrm>
            <a:off x="838200" y="2553874"/>
            <a:ext cx="906780" cy="906780"/>
            <a:chOff x="2850424" y="2366365"/>
            <a:chExt cx="755923" cy="755923"/>
          </a:xfrm>
        </p:grpSpPr>
        <p:sp>
          <p:nvSpPr>
            <p:cNvPr id="23" name="Oval 22">
              <a:extLst>
                <a:ext uri="{FF2B5EF4-FFF2-40B4-BE49-F238E27FC236}">
                  <a16:creationId xmlns:a16="http://schemas.microsoft.com/office/drawing/2014/main" id="{AC31231E-93E9-195D-DDB9-85DE16C4DC75}"/>
                </a:ext>
              </a:extLst>
            </p:cNvPr>
            <p:cNvSpPr/>
            <p:nvPr/>
          </p:nvSpPr>
          <p:spPr>
            <a:xfrm>
              <a:off x="2850424" y="2366365"/>
              <a:ext cx="755923" cy="755923"/>
            </a:xfrm>
            <a:prstGeom prst="ellipse">
              <a:avLst/>
            </a:prstGeom>
            <a:solidFill>
              <a:schemeClr val="accent1"/>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24" name="Oval 23">
              <a:extLst>
                <a:ext uri="{FF2B5EF4-FFF2-40B4-BE49-F238E27FC236}">
                  <a16:creationId xmlns:a16="http://schemas.microsoft.com/office/drawing/2014/main" id="{7D5638C5-2267-89F6-2F64-5EED8D0EB284}"/>
                </a:ext>
              </a:extLst>
            </p:cNvPr>
            <p:cNvSpPr/>
            <p:nvPr/>
          </p:nvSpPr>
          <p:spPr>
            <a:xfrm>
              <a:off x="2923475" y="2439416"/>
              <a:ext cx="609820" cy="6098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grpSp>
      <p:grpSp>
        <p:nvGrpSpPr>
          <p:cNvPr id="38" name="Group 37">
            <a:extLst>
              <a:ext uri="{FF2B5EF4-FFF2-40B4-BE49-F238E27FC236}">
                <a16:creationId xmlns:a16="http://schemas.microsoft.com/office/drawing/2014/main" id="{6D0E2230-6911-B89F-9DB3-294D3532477F}"/>
              </a:ext>
            </a:extLst>
          </p:cNvPr>
          <p:cNvGrpSpPr>
            <a:grpSpLocks/>
          </p:cNvGrpSpPr>
          <p:nvPr/>
        </p:nvGrpSpPr>
        <p:grpSpPr bwMode="auto">
          <a:xfrm>
            <a:off x="820639" y="1462233"/>
            <a:ext cx="906780" cy="906780"/>
            <a:chOff x="2850424" y="1533376"/>
            <a:chExt cx="755923" cy="755923"/>
          </a:xfrm>
        </p:grpSpPr>
        <p:sp>
          <p:nvSpPr>
            <p:cNvPr id="25" name="Oval 24">
              <a:extLst>
                <a:ext uri="{FF2B5EF4-FFF2-40B4-BE49-F238E27FC236}">
                  <a16:creationId xmlns:a16="http://schemas.microsoft.com/office/drawing/2014/main" id="{05412E94-E392-46DB-EEFB-D8704B47426B}"/>
                </a:ext>
              </a:extLst>
            </p:cNvPr>
            <p:cNvSpPr/>
            <p:nvPr/>
          </p:nvSpPr>
          <p:spPr>
            <a:xfrm>
              <a:off x="2850424" y="1533376"/>
              <a:ext cx="755923" cy="755923"/>
            </a:xfrm>
            <a:prstGeom prst="ellipse">
              <a:avLst/>
            </a:prstGeom>
            <a:solidFill>
              <a:schemeClr val="accent2"/>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26" name="Oval 25">
              <a:extLst>
                <a:ext uri="{FF2B5EF4-FFF2-40B4-BE49-F238E27FC236}">
                  <a16:creationId xmlns:a16="http://schemas.microsoft.com/office/drawing/2014/main" id="{79D07B39-58D1-C302-E12F-1407832DC2AF}"/>
                </a:ext>
              </a:extLst>
            </p:cNvPr>
            <p:cNvSpPr/>
            <p:nvPr/>
          </p:nvSpPr>
          <p:spPr>
            <a:xfrm>
              <a:off x="2923475" y="1606427"/>
              <a:ext cx="609820" cy="6098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grpSp>
      <p:sp>
        <p:nvSpPr>
          <p:cNvPr id="14" name="Freeform 784">
            <a:extLst>
              <a:ext uri="{FF2B5EF4-FFF2-40B4-BE49-F238E27FC236}">
                <a16:creationId xmlns:a16="http://schemas.microsoft.com/office/drawing/2014/main" id="{282104DA-1A03-1026-7F40-0F1C925190CA}"/>
              </a:ext>
            </a:extLst>
          </p:cNvPr>
          <p:cNvSpPr>
            <a:spLocks noEditPoints="1"/>
          </p:cNvSpPr>
          <p:nvPr/>
        </p:nvSpPr>
        <p:spPr bwMode="auto">
          <a:xfrm>
            <a:off x="1046381" y="1799805"/>
            <a:ext cx="455296" cy="342900"/>
          </a:xfrm>
          <a:custGeom>
            <a:avLst/>
            <a:gdLst>
              <a:gd name="T0" fmla="*/ 89 w 520"/>
              <a:gd name="T1" fmla="*/ 254 h 392"/>
              <a:gd name="T2" fmla="*/ 166 w 520"/>
              <a:gd name="T3" fmla="*/ 345 h 392"/>
              <a:gd name="T4" fmla="*/ 260 w 520"/>
              <a:gd name="T5" fmla="*/ 392 h 392"/>
              <a:gd name="T6" fmla="*/ 353 w 520"/>
              <a:gd name="T7" fmla="*/ 348 h 392"/>
              <a:gd name="T8" fmla="*/ 401 w 520"/>
              <a:gd name="T9" fmla="*/ 272 h 392"/>
              <a:gd name="T10" fmla="*/ 260 w 520"/>
              <a:gd name="T11" fmla="*/ 340 h 392"/>
              <a:gd name="T12" fmla="*/ 89 w 520"/>
              <a:gd name="T13" fmla="*/ 254 h 392"/>
              <a:gd name="T14" fmla="*/ 503 w 520"/>
              <a:gd name="T15" fmla="*/ 129 h 392"/>
              <a:gd name="T16" fmla="*/ 290 w 520"/>
              <a:gd name="T17" fmla="*/ 9 h 392"/>
              <a:gd name="T18" fmla="*/ 230 w 520"/>
              <a:gd name="T19" fmla="*/ 9 h 392"/>
              <a:gd name="T20" fmla="*/ 17 w 520"/>
              <a:gd name="T21" fmla="*/ 129 h 392"/>
              <a:gd name="T22" fmla="*/ 17 w 520"/>
              <a:gd name="T23" fmla="*/ 163 h 392"/>
              <a:gd name="T24" fmla="*/ 230 w 520"/>
              <a:gd name="T25" fmla="*/ 282 h 392"/>
              <a:gd name="T26" fmla="*/ 290 w 520"/>
              <a:gd name="T27" fmla="*/ 282 h 392"/>
              <a:gd name="T28" fmla="*/ 428 w 520"/>
              <a:gd name="T29" fmla="*/ 205 h 392"/>
              <a:gd name="T30" fmla="*/ 279 w 520"/>
              <a:gd name="T31" fmla="*/ 170 h 392"/>
              <a:gd name="T32" fmla="*/ 260 w 520"/>
              <a:gd name="T33" fmla="*/ 172 h 392"/>
              <a:gd name="T34" fmla="*/ 211 w 520"/>
              <a:gd name="T35" fmla="*/ 143 h 392"/>
              <a:gd name="T36" fmla="*/ 260 w 520"/>
              <a:gd name="T37" fmla="*/ 114 h 392"/>
              <a:gd name="T38" fmla="*/ 306 w 520"/>
              <a:gd name="T39" fmla="*/ 133 h 392"/>
              <a:gd name="T40" fmla="*/ 464 w 520"/>
              <a:gd name="T41" fmla="*/ 185 h 392"/>
              <a:gd name="T42" fmla="*/ 503 w 520"/>
              <a:gd name="T43" fmla="*/ 163 h 392"/>
              <a:gd name="T44" fmla="*/ 503 w 520"/>
              <a:gd name="T45" fmla="*/ 129 h 392"/>
              <a:gd name="T46" fmla="*/ 438 w 520"/>
              <a:gd name="T47" fmla="*/ 355 h 392"/>
              <a:gd name="T48" fmla="*/ 474 w 520"/>
              <a:gd name="T49" fmla="*/ 352 h 392"/>
              <a:gd name="T50" fmla="*/ 464 w 520"/>
              <a:gd name="T51" fmla="*/ 185 h 392"/>
              <a:gd name="T52" fmla="*/ 428 w 520"/>
              <a:gd name="T53" fmla="*/ 205 h 392"/>
              <a:gd name="T54" fmla="*/ 438 w 520"/>
              <a:gd name="T55" fmla="*/ 355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0" h="392">
                <a:moveTo>
                  <a:pt x="89" y="254"/>
                </a:moveTo>
                <a:cubicBezTo>
                  <a:pt x="100" y="302"/>
                  <a:pt x="116" y="323"/>
                  <a:pt x="166" y="345"/>
                </a:cubicBezTo>
                <a:cubicBezTo>
                  <a:pt x="216" y="368"/>
                  <a:pt x="240" y="392"/>
                  <a:pt x="260" y="392"/>
                </a:cubicBezTo>
                <a:cubicBezTo>
                  <a:pt x="280" y="392"/>
                  <a:pt x="302" y="371"/>
                  <a:pt x="353" y="348"/>
                </a:cubicBezTo>
                <a:cubicBezTo>
                  <a:pt x="403" y="326"/>
                  <a:pt x="390" y="320"/>
                  <a:pt x="401" y="272"/>
                </a:cubicBezTo>
                <a:cubicBezTo>
                  <a:pt x="260" y="340"/>
                  <a:pt x="260" y="340"/>
                  <a:pt x="260" y="340"/>
                </a:cubicBezTo>
                <a:cubicBezTo>
                  <a:pt x="89" y="254"/>
                  <a:pt x="89" y="254"/>
                  <a:pt x="89" y="254"/>
                </a:cubicBezTo>
                <a:close/>
                <a:moveTo>
                  <a:pt x="503" y="129"/>
                </a:moveTo>
                <a:cubicBezTo>
                  <a:pt x="290" y="9"/>
                  <a:pt x="290" y="9"/>
                  <a:pt x="290" y="9"/>
                </a:cubicBezTo>
                <a:cubicBezTo>
                  <a:pt x="274" y="0"/>
                  <a:pt x="246" y="0"/>
                  <a:pt x="230" y="9"/>
                </a:cubicBezTo>
                <a:cubicBezTo>
                  <a:pt x="17" y="129"/>
                  <a:pt x="17" y="129"/>
                  <a:pt x="17" y="129"/>
                </a:cubicBezTo>
                <a:cubicBezTo>
                  <a:pt x="0" y="138"/>
                  <a:pt x="0" y="153"/>
                  <a:pt x="17" y="163"/>
                </a:cubicBezTo>
                <a:cubicBezTo>
                  <a:pt x="230" y="282"/>
                  <a:pt x="230" y="282"/>
                  <a:pt x="230" y="282"/>
                </a:cubicBezTo>
                <a:cubicBezTo>
                  <a:pt x="246" y="291"/>
                  <a:pt x="274" y="291"/>
                  <a:pt x="290" y="282"/>
                </a:cubicBezTo>
                <a:cubicBezTo>
                  <a:pt x="428" y="205"/>
                  <a:pt x="428" y="205"/>
                  <a:pt x="428" y="205"/>
                </a:cubicBezTo>
                <a:cubicBezTo>
                  <a:pt x="279" y="170"/>
                  <a:pt x="279" y="170"/>
                  <a:pt x="279" y="170"/>
                </a:cubicBezTo>
                <a:cubicBezTo>
                  <a:pt x="273" y="171"/>
                  <a:pt x="267" y="172"/>
                  <a:pt x="260" y="172"/>
                </a:cubicBezTo>
                <a:cubicBezTo>
                  <a:pt x="233" y="172"/>
                  <a:pt x="211" y="159"/>
                  <a:pt x="211" y="143"/>
                </a:cubicBezTo>
                <a:cubicBezTo>
                  <a:pt x="211" y="127"/>
                  <a:pt x="233" y="114"/>
                  <a:pt x="260" y="114"/>
                </a:cubicBezTo>
                <a:cubicBezTo>
                  <a:pt x="281" y="114"/>
                  <a:pt x="299" y="122"/>
                  <a:pt x="306" y="133"/>
                </a:cubicBezTo>
                <a:cubicBezTo>
                  <a:pt x="464" y="185"/>
                  <a:pt x="464" y="185"/>
                  <a:pt x="464" y="185"/>
                </a:cubicBezTo>
                <a:cubicBezTo>
                  <a:pt x="503" y="163"/>
                  <a:pt x="503" y="163"/>
                  <a:pt x="503" y="163"/>
                </a:cubicBezTo>
                <a:cubicBezTo>
                  <a:pt x="520" y="153"/>
                  <a:pt x="520" y="138"/>
                  <a:pt x="503" y="129"/>
                </a:cubicBezTo>
                <a:close/>
                <a:moveTo>
                  <a:pt x="438" y="355"/>
                </a:moveTo>
                <a:cubicBezTo>
                  <a:pt x="437" y="365"/>
                  <a:pt x="471" y="381"/>
                  <a:pt x="474" y="352"/>
                </a:cubicBezTo>
                <a:cubicBezTo>
                  <a:pt x="489" y="222"/>
                  <a:pt x="464" y="185"/>
                  <a:pt x="464" y="185"/>
                </a:cubicBezTo>
                <a:cubicBezTo>
                  <a:pt x="428" y="205"/>
                  <a:pt x="428" y="205"/>
                  <a:pt x="428" y="205"/>
                </a:cubicBezTo>
                <a:cubicBezTo>
                  <a:pt x="428" y="205"/>
                  <a:pt x="458" y="234"/>
                  <a:pt x="438" y="355"/>
                </a:cubicBezTo>
                <a:close/>
              </a:path>
            </a:pathLst>
          </a:custGeom>
          <a:solidFill>
            <a:schemeClr val="tx2"/>
          </a:solidFill>
          <a:ln>
            <a:noFill/>
          </a:ln>
        </p:spPr>
        <p:txBody>
          <a:bodyPr/>
          <a:lstStyle/>
          <a:p>
            <a:pPr defTabSz="855878">
              <a:defRPr/>
            </a:pPr>
            <a:endParaRPr lang="en-US" sz="1685"/>
          </a:p>
        </p:txBody>
      </p:sp>
      <p:sp>
        <p:nvSpPr>
          <p:cNvPr id="15" name="Freeform 836">
            <a:extLst>
              <a:ext uri="{FF2B5EF4-FFF2-40B4-BE49-F238E27FC236}">
                <a16:creationId xmlns:a16="http://schemas.microsoft.com/office/drawing/2014/main" id="{6E9C29A8-5A2E-A775-9244-DC00273BEA63}"/>
              </a:ext>
            </a:extLst>
          </p:cNvPr>
          <p:cNvSpPr>
            <a:spLocks noEditPoints="1"/>
          </p:cNvSpPr>
          <p:nvPr/>
        </p:nvSpPr>
        <p:spPr bwMode="auto">
          <a:xfrm rot="1317587">
            <a:off x="1070610" y="2797714"/>
            <a:ext cx="440056" cy="440054"/>
          </a:xfrm>
          <a:custGeom>
            <a:avLst/>
            <a:gdLst>
              <a:gd name="T0" fmla="*/ 113 w 486"/>
              <a:gd name="T1" fmla="*/ 282 h 486"/>
              <a:gd name="T2" fmla="*/ 204 w 486"/>
              <a:gd name="T3" fmla="*/ 373 h 486"/>
              <a:gd name="T4" fmla="*/ 370 w 486"/>
              <a:gd name="T5" fmla="*/ 207 h 486"/>
              <a:gd name="T6" fmla="*/ 279 w 486"/>
              <a:gd name="T7" fmla="*/ 116 h 486"/>
              <a:gd name="T8" fmla="*/ 113 w 486"/>
              <a:gd name="T9" fmla="*/ 282 h 486"/>
              <a:gd name="T10" fmla="*/ 476 w 486"/>
              <a:gd name="T11" fmla="*/ 158 h 486"/>
              <a:gd name="T12" fmla="*/ 437 w 486"/>
              <a:gd name="T13" fmla="*/ 119 h 486"/>
              <a:gd name="T14" fmla="*/ 413 w 486"/>
              <a:gd name="T15" fmla="*/ 125 h 486"/>
              <a:gd name="T16" fmla="*/ 361 w 486"/>
              <a:gd name="T17" fmla="*/ 73 h 486"/>
              <a:gd name="T18" fmla="*/ 367 w 486"/>
              <a:gd name="T19" fmla="*/ 49 h 486"/>
              <a:gd name="T20" fmla="*/ 328 w 486"/>
              <a:gd name="T21" fmla="*/ 10 h 486"/>
              <a:gd name="T22" fmla="*/ 292 w 486"/>
              <a:gd name="T23" fmla="*/ 10 h 486"/>
              <a:gd name="T24" fmla="*/ 10 w 486"/>
              <a:gd name="T25" fmla="*/ 292 h 486"/>
              <a:gd name="T26" fmla="*/ 10 w 486"/>
              <a:gd name="T27" fmla="*/ 328 h 486"/>
              <a:gd name="T28" fmla="*/ 49 w 486"/>
              <a:gd name="T29" fmla="*/ 367 h 486"/>
              <a:gd name="T30" fmla="*/ 73 w 486"/>
              <a:gd name="T31" fmla="*/ 361 h 486"/>
              <a:gd name="T32" fmla="*/ 125 w 486"/>
              <a:gd name="T33" fmla="*/ 413 h 486"/>
              <a:gd name="T34" fmla="*/ 119 w 486"/>
              <a:gd name="T35" fmla="*/ 437 h 486"/>
              <a:gd name="T36" fmla="*/ 158 w 486"/>
              <a:gd name="T37" fmla="*/ 476 h 486"/>
              <a:gd name="T38" fmla="*/ 194 w 486"/>
              <a:gd name="T39" fmla="*/ 476 h 486"/>
              <a:gd name="T40" fmla="*/ 476 w 486"/>
              <a:gd name="T41" fmla="*/ 194 h 486"/>
              <a:gd name="T42" fmla="*/ 476 w 486"/>
              <a:gd name="T43" fmla="*/ 158 h 486"/>
              <a:gd name="T44" fmla="*/ 204 w 486"/>
              <a:gd name="T45" fmla="*/ 415 h 486"/>
              <a:gd name="T46" fmla="*/ 71 w 486"/>
              <a:gd name="T47" fmla="*/ 282 h 486"/>
              <a:gd name="T48" fmla="*/ 279 w 486"/>
              <a:gd name="T49" fmla="*/ 74 h 486"/>
              <a:gd name="T50" fmla="*/ 412 w 486"/>
              <a:gd name="T51" fmla="*/ 207 h 486"/>
              <a:gd name="T52" fmla="*/ 204 w 486"/>
              <a:gd name="T53" fmla="*/ 415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6" h="486">
                <a:moveTo>
                  <a:pt x="113" y="282"/>
                </a:moveTo>
                <a:cubicBezTo>
                  <a:pt x="204" y="373"/>
                  <a:pt x="204" y="373"/>
                  <a:pt x="204" y="373"/>
                </a:cubicBezTo>
                <a:cubicBezTo>
                  <a:pt x="370" y="207"/>
                  <a:pt x="370" y="207"/>
                  <a:pt x="370" y="207"/>
                </a:cubicBezTo>
                <a:cubicBezTo>
                  <a:pt x="279" y="116"/>
                  <a:pt x="279" y="116"/>
                  <a:pt x="279" y="116"/>
                </a:cubicBezTo>
                <a:cubicBezTo>
                  <a:pt x="113" y="282"/>
                  <a:pt x="113" y="282"/>
                  <a:pt x="113" y="282"/>
                </a:cubicBezTo>
                <a:close/>
                <a:moveTo>
                  <a:pt x="476" y="158"/>
                </a:moveTo>
                <a:cubicBezTo>
                  <a:pt x="437" y="119"/>
                  <a:pt x="437" y="119"/>
                  <a:pt x="437" y="119"/>
                </a:cubicBezTo>
                <a:cubicBezTo>
                  <a:pt x="430" y="123"/>
                  <a:pt x="422" y="125"/>
                  <a:pt x="413" y="125"/>
                </a:cubicBezTo>
                <a:cubicBezTo>
                  <a:pt x="384" y="125"/>
                  <a:pt x="361" y="102"/>
                  <a:pt x="361" y="73"/>
                </a:cubicBezTo>
                <a:cubicBezTo>
                  <a:pt x="361" y="64"/>
                  <a:pt x="363" y="56"/>
                  <a:pt x="367" y="49"/>
                </a:cubicBezTo>
                <a:cubicBezTo>
                  <a:pt x="328" y="10"/>
                  <a:pt x="328" y="10"/>
                  <a:pt x="328" y="10"/>
                </a:cubicBezTo>
                <a:cubicBezTo>
                  <a:pt x="318" y="0"/>
                  <a:pt x="302" y="0"/>
                  <a:pt x="292" y="10"/>
                </a:cubicBezTo>
                <a:cubicBezTo>
                  <a:pt x="10" y="292"/>
                  <a:pt x="10" y="292"/>
                  <a:pt x="10" y="292"/>
                </a:cubicBezTo>
                <a:cubicBezTo>
                  <a:pt x="0" y="302"/>
                  <a:pt x="0" y="318"/>
                  <a:pt x="10" y="328"/>
                </a:cubicBezTo>
                <a:cubicBezTo>
                  <a:pt x="49" y="367"/>
                  <a:pt x="49" y="367"/>
                  <a:pt x="49" y="367"/>
                </a:cubicBezTo>
                <a:cubicBezTo>
                  <a:pt x="56" y="363"/>
                  <a:pt x="64" y="361"/>
                  <a:pt x="73" y="361"/>
                </a:cubicBezTo>
                <a:cubicBezTo>
                  <a:pt x="102" y="361"/>
                  <a:pt x="125" y="384"/>
                  <a:pt x="125" y="413"/>
                </a:cubicBezTo>
                <a:cubicBezTo>
                  <a:pt x="125" y="422"/>
                  <a:pt x="123" y="430"/>
                  <a:pt x="119" y="437"/>
                </a:cubicBezTo>
                <a:cubicBezTo>
                  <a:pt x="158" y="476"/>
                  <a:pt x="158" y="476"/>
                  <a:pt x="158" y="476"/>
                </a:cubicBezTo>
                <a:cubicBezTo>
                  <a:pt x="168" y="486"/>
                  <a:pt x="184" y="486"/>
                  <a:pt x="194" y="476"/>
                </a:cubicBezTo>
                <a:cubicBezTo>
                  <a:pt x="476" y="194"/>
                  <a:pt x="476" y="194"/>
                  <a:pt x="476" y="194"/>
                </a:cubicBezTo>
                <a:cubicBezTo>
                  <a:pt x="486" y="184"/>
                  <a:pt x="486" y="168"/>
                  <a:pt x="476" y="158"/>
                </a:cubicBezTo>
                <a:close/>
                <a:moveTo>
                  <a:pt x="204" y="415"/>
                </a:moveTo>
                <a:cubicBezTo>
                  <a:pt x="71" y="282"/>
                  <a:pt x="71" y="282"/>
                  <a:pt x="71" y="282"/>
                </a:cubicBezTo>
                <a:cubicBezTo>
                  <a:pt x="279" y="74"/>
                  <a:pt x="279" y="74"/>
                  <a:pt x="279" y="74"/>
                </a:cubicBezTo>
                <a:cubicBezTo>
                  <a:pt x="412" y="207"/>
                  <a:pt x="412" y="207"/>
                  <a:pt x="412" y="207"/>
                </a:cubicBezTo>
                <a:lnTo>
                  <a:pt x="204" y="415"/>
                </a:lnTo>
                <a:close/>
              </a:path>
            </a:pathLst>
          </a:custGeom>
          <a:solidFill>
            <a:schemeClr val="tx2"/>
          </a:solidFill>
          <a:ln>
            <a:noFill/>
          </a:ln>
        </p:spPr>
        <p:txBody>
          <a:bodyPr/>
          <a:lstStyle/>
          <a:p>
            <a:pPr defTabSz="855878">
              <a:defRPr/>
            </a:pPr>
            <a:endParaRPr lang="en-US" sz="1685"/>
          </a:p>
        </p:txBody>
      </p:sp>
      <p:sp>
        <p:nvSpPr>
          <p:cNvPr id="16" name="Freeform 833">
            <a:extLst>
              <a:ext uri="{FF2B5EF4-FFF2-40B4-BE49-F238E27FC236}">
                <a16:creationId xmlns:a16="http://schemas.microsoft.com/office/drawing/2014/main" id="{964647AD-1BE5-FADC-FE80-C128DBBBA95B}"/>
              </a:ext>
            </a:extLst>
          </p:cNvPr>
          <p:cNvSpPr>
            <a:spLocks noEditPoints="1"/>
          </p:cNvSpPr>
          <p:nvPr/>
        </p:nvSpPr>
        <p:spPr bwMode="auto">
          <a:xfrm>
            <a:off x="1162050" y="5067525"/>
            <a:ext cx="241936" cy="342900"/>
          </a:xfrm>
          <a:custGeom>
            <a:avLst/>
            <a:gdLst>
              <a:gd name="T0" fmla="*/ 322 w 358"/>
              <a:gd name="T1" fmla="*/ 51 h 512"/>
              <a:gd name="T2" fmla="*/ 292 w 358"/>
              <a:gd name="T3" fmla="*/ 128 h 512"/>
              <a:gd name="T4" fmla="*/ 66 w 358"/>
              <a:gd name="T5" fmla="*/ 128 h 512"/>
              <a:gd name="T6" fmla="*/ 36 w 358"/>
              <a:gd name="T7" fmla="*/ 51 h 512"/>
              <a:gd name="T8" fmla="*/ 0 w 358"/>
              <a:gd name="T9" fmla="*/ 87 h 512"/>
              <a:gd name="T10" fmla="*/ 0 w 358"/>
              <a:gd name="T11" fmla="*/ 476 h 512"/>
              <a:gd name="T12" fmla="*/ 36 w 358"/>
              <a:gd name="T13" fmla="*/ 512 h 512"/>
              <a:gd name="T14" fmla="*/ 322 w 358"/>
              <a:gd name="T15" fmla="*/ 512 h 512"/>
              <a:gd name="T16" fmla="*/ 358 w 358"/>
              <a:gd name="T17" fmla="*/ 476 h 512"/>
              <a:gd name="T18" fmla="*/ 358 w 358"/>
              <a:gd name="T19" fmla="*/ 87 h 512"/>
              <a:gd name="T20" fmla="*/ 322 w 358"/>
              <a:gd name="T21" fmla="*/ 51 h 512"/>
              <a:gd name="T22" fmla="*/ 271 w 358"/>
              <a:gd name="T23" fmla="*/ 102 h 512"/>
              <a:gd name="T24" fmla="*/ 294 w 358"/>
              <a:gd name="T25" fmla="*/ 51 h 512"/>
              <a:gd name="T26" fmla="*/ 238 w 358"/>
              <a:gd name="T27" fmla="*/ 51 h 512"/>
              <a:gd name="T28" fmla="*/ 220 w 358"/>
              <a:gd name="T29" fmla="*/ 0 h 512"/>
              <a:gd name="T30" fmla="*/ 138 w 358"/>
              <a:gd name="T31" fmla="*/ 0 h 512"/>
              <a:gd name="T32" fmla="*/ 120 w 358"/>
              <a:gd name="T33" fmla="*/ 51 h 512"/>
              <a:gd name="T34" fmla="*/ 64 w 358"/>
              <a:gd name="T35" fmla="*/ 51 h 512"/>
              <a:gd name="T36" fmla="*/ 87 w 358"/>
              <a:gd name="T37" fmla="*/ 102 h 512"/>
              <a:gd name="T38" fmla="*/ 271 w 358"/>
              <a:gd name="T39" fmla="*/ 1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8" h="512">
                <a:moveTo>
                  <a:pt x="322" y="51"/>
                </a:moveTo>
                <a:cubicBezTo>
                  <a:pt x="292" y="128"/>
                  <a:pt x="292" y="128"/>
                  <a:pt x="292" y="128"/>
                </a:cubicBezTo>
                <a:cubicBezTo>
                  <a:pt x="66" y="128"/>
                  <a:pt x="66" y="128"/>
                  <a:pt x="66" y="128"/>
                </a:cubicBezTo>
                <a:cubicBezTo>
                  <a:pt x="36" y="51"/>
                  <a:pt x="36" y="51"/>
                  <a:pt x="36" y="51"/>
                </a:cubicBezTo>
                <a:cubicBezTo>
                  <a:pt x="16" y="51"/>
                  <a:pt x="0" y="67"/>
                  <a:pt x="0" y="87"/>
                </a:cubicBezTo>
                <a:cubicBezTo>
                  <a:pt x="0" y="476"/>
                  <a:pt x="0" y="476"/>
                  <a:pt x="0" y="476"/>
                </a:cubicBezTo>
                <a:cubicBezTo>
                  <a:pt x="0" y="496"/>
                  <a:pt x="16" y="512"/>
                  <a:pt x="36" y="512"/>
                </a:cubicBezTo>
                <a:cubicBezTo>
                  <a:pt x="322" y="512"/>
                  <a:pt x="322" y="512"/>
                  <a:pt x="322" y="512"/>
                </a:cubicBezTo>
                <a:cubicBezTo>
                  <a:pt x="342" y="512"/>
                  <a:pt x="358" y="496"/>
                  <a:pt x="358" y="476"/>
                </a:cubicBezTo>
                <a:cubicBezTo>
                  <a:pt x="358" y="87"/>
                  <a:pt x="358" y="87"/>
                  <a:pt x="358" y="87"/>
                </a:cubicBezTo>
                <a:cubicBezTo>
                  <a:pt x="358" y="67"/>
                  <a:pt x="342" y="51"/>
                  <a:pt x="322" y="51"/>
                </a:cubicBezTo>
                <a:close/>
                <a:moveTo>
                  <a:pt x="271" y="102"/>
                </a:moveTo>
                <a:cubicBezTo>
                  <a:pt x="294" y="51"/>
                  <a:pt x="294" y="51"/>
                  <a:pt x="294" y="51"/>
                </a:cubicBezTo>
                <a:cubicBezTo>
                  <a:pt x="238" y="51"/>
                  <a:pt x="238" y="51"/>
                  <a:pt x="238" y="51"/>
                </a:cubicBezTo>
                <a:cubicBezTo>
                  <a:pt x="220" y="0"/>
                  <a:pt x="220" y="0"/>
                  <a:pt x="220" y="0"/>
                </a:cubicBezTo>
                <a:cubicBezTo>
                  <a:pt x="138" y="0"/>
                  <a:pt x="138" y="0"/>
                  <a:pt x="138" y="0"/>
                </a:cubicBezTo>
                <a:cubicBezTo>
                  <a:pt x="120" y="51"/>
                  <a:pt x="120" y="51"/>
                  <a:pt x="120" y="51"/>
                </a:cubicBezTo>
                <a:cubicBezTo>
                  <a:pt x="64" y="51"/>
                  <a:pt x="64" y="51"/>
                  <a:pt x="64" y="51"/>
                </a:cubicBezTo>
                <a:cubicBezTo>
                  <a:pt x="87" y="102"/>
                  <a:pt x="87" y="102"/>
                  <a:pt x="87" y="102"/>
                </a:cubicBezTo>
                <a:lnTo>
                  <a:pt x="271" y="102"/>
                </a:lnTo>
                <a:close/>
              </a:path>
            </a:pathLst>
          </a:custGeom>
          <a:solidFill>
            <a:schemeClr val="tx2"/>
          </a:solidFill>
          <a:ln>
            <a:noFill/>
          </a:ln>
        </p:spPr>
        <p:txBody>
          <a:bodyPr/>
          <a:lstStyle/>
          <a:p>
            <a:pPr defTabSz="855878">
              <a:defRPr/>
            </a:pPr>
            <a:endParaRPr lang="en-US" sz="1685"/>
          </a:p>
        </p:txBody>
      </p:sp>
      <p:sp>
        <p:nvSpPr>
          <p:cNvPr id="19" name="Freeform 891">
            <a:extLst>
              <a:ext uri="{FF2B5EF4-FFF2-40B4-BE49-F238E27FC236}">
                <a16:creationId xmlns:a16="http://schemas.microsoft.com/office/drawing/2014/main" id="{A4715269-F910-E340-4480-3F6228D1A5BA}"/>
              </a:ext>
            </a:extLst>
          </p:cNvPr>
          <p:cNvSpPr>
            <a:spLocks noEditPoints="1"/>
          </p:cNvSpPr>
          <p:nvPr/>
        </p:nvSpPr>
        <p:spPr bwMode="auto">
          <a:xfrm>
            <a:off x="1108710" y="3994958"/>
            <a:ext cx="348616" cy="280034"/>
          </a:xfrm>
          <a:custGeom>
            <a:avLst/>
            <a:gdLst>
              <a:gd name="T0" fmla="*/ 433 w 510"/>
              <a:gd name="T1" fmla="*/ 77 h 410"/>
              <a:gd name="T2" fmla="*/ 408 w 510"/>
              <a:gd name="T3" fmla="*/ 51 h 410"/>
              <a:gd name="T4" fmla="*/ 102 w 510"/>
              <a:gd name="T5" fmla="*/ 51 h 410"/>
              <a:gd name="T6" fmla="*/ 77 w 510"/>
              <a:gd name="T7" fmla="*/ 77 h 410"/>
              <a:gd name="T8" fmla="*/ 77 w 510"/>
              <a:gd name="T9" fmla="*/ 103 h 410"/>
              <a:gd name="T10" fmla="*/ 433 w 510"/>
              <a:gd name="T11" fmla="*/ 103 h 410"/>
              <a:gd name="T12" fmla="*/ 433 w 510"/>
              <a:gd name="T13" fmla="*/ 77 h 410"/>
              <a:gd name="T14" fmla="*/ 357 w 510"/>
              <a:gd name="T15" fmla="*/ 0 h 410"/>
              <a:gd name="T16" fmla="*/ 153 w 510"/>
              <a:gd name="T17" fmla="*/ 0 h 410"/>
              <a:gd name="T18" fmla="*/ 128 w 510"/>
              <a:gd name="T19" fmla="*/ 26 h 410"/>
              <a:gd name="T20" fmla="*/ 382 w 510"/>
              <a:gd name="T21" fmla="*/ 26 h 410"/>
              <a:gd name="T22" fmla="*/ 357 w 510"/>
              <a:gd name="T23" fmla="*/ 0 h 410"/>
              <a:gd name="T24" fmla="*/ 484 w 510"/>
              <a:gd name="T25" fmla="*/ 103 h 410"/>
              <a:gd name="T26" fmla="*/ 469 w 510"/>
              <a:gd name="T27" fmla="*/ 87 h 410"/>
              <a:gd name="T28" fmla="*/ 469 w 510"/>
              <a:gd name="T29" fmla="*/ 128 h 410"/>
              <a:gd name="T30" fmla="*/ 41 w 510"/>
              <a:gd name="T31" fmla="*/ 128 h 410"/>
              <a:gd name="T32" fmla="*/ 41 w 510"/>
              <a:gd name="T33" fmla="*/ 87 h 410"/>
              <a:gd name="T34" fmla="*/ 26 w 510"/>
              <a:gd name="T35" fmla="*/ 103 h 410"/>
              <a:gd name="T36" fmla="*/ 6 w 510"/>
              <a:gd name="T37" fmla="*/ 154 h 410"/>
              <a:gd name="T38" fmla="*/ 45 w 510"/>
              <a:gd name="T39" fmla="*/ 384 h 410"/>
              <a:gd name="T40" fmla="*/ 77 w 510"/>
              <a:gd name="T41" fmla="*/ 410 h 410"/>
              <a:gd name="T42" fmla="*/ 433 w 510"/>
              <a:gd name="T43" fmla="*/ 410 h 410"/>
              <a:gd name="T44" fmla="*/ 465 w 510"/>
              <a:gd name="T45" fmla="*/ 384 h 410"/>
              <a:gd name="T46" fmla="*/ 504 w 510"/>
              <a:gd name="T47" fmla="*/ 154 h 410"/>
              <a:gd name="T48" fmla="*/ 484 w 510"/>
              <a:gd name="T49" fmla="*/ 103 h 410"/>
              <a:gd name="T50" fmla="*/ 357 w 510"/>
              <a:gd name="T51" fmla="*/ 241 h 410"/>
              <a:gd name="T52" fmla="*/ 331 w 510"/>
              <a:gd name="T53" fmla="*/ 266 h 410"/>
              <a:gd name="T54" fmla="*/ 179 w 510"/>
              <a:gd name="T55" fmla="*/ 266 h 410"/>
              <a:gd name="T56" fmla="*/ 153 w 510"/>
              <a:gd name="T57" fmla="*/ 241 h 410"/>
              <a:gd name="T58" fmla="*/ 153 w 510"/>
              <a:gd name="T59" fmla="*/ 190 h 410"/>
              <a:gd name="T60" fmla="*/ 189 w 510"/>
              <a:gd name="T61" fmla="*/ 190 h 410"/>
              <a:gd name="T62" fmla="*/ 189 w 510"/>
              <a:gd name="T63" fmla="*/ 231 h 410"/>
              <a:gd name="T64" fmla="*/ 321 w 510"/>
              <a:gd name="T65" fmla="*/ 231 h 410"/>
              <a:gd name="T66" fmla="*/ 321 w 510"/>
              <a:gd name="T67" fmla="*/ 190 h 410"/>
              <a:gd name="T68" fmla="*/ 357 w 510"/>
              <a:gd name="T69" fmla="*/ 190 h 410"/>
              <a:gd name="T70" fmla="*/ 357 w 510"/>
              <a:gd name="T71" fmla="*/ 241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0" h="410">
                <a:moveTo>
                  <a:pt x="433" y="77"/>
                </a:moveTo>
                <a:cubicBezTo>
                  <a:pt x="433" y="51"/>
                  <a:pt x="408" y="51"/>
                  <a:pt x="408" y="51"/>
                </a:cubicBezTo>
                <a:cubicBezTo>
                  <a:pt x="102" y="51"/>
                  <a:pt x="102" y="51"/>
                  <a:pt x="102" y="51"/>
                </a:cubicBezTo>
                <a:cubicBezTo>
                  <a:pt x="102" y="51"/>
                  <a:pt x="77" y="51"/>
                  <a:pt x="77" y="77"/>
                </a:cubicBezTo>
                <a:cubicBezTo>
                  <a:pt x="77" y="103"/>
                  <a:pt x="77" y="103"/>
                  <a:pt x="77" y="103"/>
                </a:cubicBezTo>
                <a:cubicBezTo>
                  <a:pt x="433" y="103"/>
                  <a:pt x="433" y="103"/>
                  <a:pt x="433" y="103"/>
                </a:cubicBezTo>
                <a:lnTo>
                  <a:pt x="433" y="77"/>
                </a:lnTo>
                <a:close/>
                <a:moveTo>
                  <a:pt x="357" y="0"/>
                </a:moveTo>
                <a:cubicBezTo>
                  <a:pt x="153" y="0"/>
                  <a:pt x="153" y="0"/>
                  <a:pt x="153" y="0"/>
                </a:cubicBezTo>
                <a:cubicBezTo>
                  <a:pt x="153" y="0"/>
                  <a:pt x="128" y="0"/>
                  <a:pt x="128" y="26"/>
                </a:cubicBezTo>
                <a:cubicBezTo>
                  <a:pt x="382" y="26"/>
                  <a:pt x="382" y="26"/>
                  <a:pt x="382" y="26"/>
                </a:cubicBezTo>
                <a:cubicBezTo>
                  <a:pt x="382" y="0"/>
                  <a:pt x="357" y="0"/>
                  <a:pt x="357" y="0"/>
                </a:cubicBezTo>
                <a:close/>
                <a:moveTo>
                  <a:pt x="484" y="103"/>
                </a:moveTo>
                <a:cubicBezTo>
                  <a:pt x="469" y="87"/>
                  <a:pt x="469" y="87"/>
                  <a:pt x="469" y="87"/>
                </a:cubicBezTo>
                <a:cubicBezTo>
                  <a:pt x="469" y="128"/>
                  <a:pt x="469" y="128"/>
                  <a:pt x="469" y="128"/>
                </a:cubicBezTo>
                <a:cubicBezTo>
                  <a:pt x="41" y="128"/>
                  <a:pt x="41" y="128"/>
                  <a:pt x="41" y="128"/>
                </a:cubicBezTo>
                <a:cubicBezTo>
                  <a:pt x="41" y="87"/>
                  <a:pt x="41" y="87"/>
                  <a:pt x="41" y="87"/>
                </a:cubicBezTo>
                <a:cubicBezTo>
                  <a:pt x="41" y="87"/>
                  <a:pt x="41" y="87"/>
                  <a:pt x="26" y="103"/>
                </a:cubicBezTo>
                <a:cubicBezTo>
                  <a:pt x="11" y="118"/>
                  <a:pt x="0" y="122"/>
                  <a:pt x="6" y="154"/>
                </a:cubicBezTo>
                <a:cubicBezTo>
                  <a:pt x="12" y="186"/>
                  <a:pt x="41" y="361"/>
                  <a:pt x="45" y="384"/>
                </a:cubicBezTo>
                <a:cubicBezTo>
                  <a:pt x="50" y="410"/>
                  <a:pt x="77" y="410"/>
                  <a:pt x="77" y="410"/>
                </a:cubicBezTo>
                <a:cubicBezTo>
                  <a:pt x="433" y="410"/>
                  <a:pt x="433" y="410"/>
                  <a:pt x="433" y="410"/>
                </a:cubicBezTo>
                <a:cubicBezTo>
                  <a:pt x="433" y="410"/>
                  <a:pt x="460" y="410"/>
                  <a:pt x="465" y="384"/>
                </a:cubicBezTo>
                <a:cubicBezTo>
                  <a:pt x="469" y="361"/>
                  <a:pt x="498" y="186"/>
                  <a:pt x="504" y="154"/>
                </a:cubicBezTo>
                <a:cubicBezTo>
                  <a:pt x="510" y="122"/>
                  <a:pt x="499" y="118"/>
                  <a:pt x="484" y="103"/>
                </a:cubicBezTo>
                <a:close/>
                <a:moveTo>
                  <a:pt x="357" y="241"/>
                </a:moveTo>
                <a:cubicBezTo>
                  <a:pt x="357" y="241"/>
                  <a:pt x="357" y="266"/>
                  <a:pt x="331" y="266"/>
                </a:cubicBezTo>
                <a:cubicBezTo>
                  <a:pt x="179" y="266"/>
                  <a:pt x="179" y="266"/>
                  <a:pt x="179" y="266"/>
                </a:cubicBezTo>
                <a:cubicBezTo>
                  <a:pt x="153" y="266"/>
                  <a:pt x="153" y="241"/>
                  <a:pt x="153" y="241"/>
                </a:cubicBezTo>
                <a:cubicBezTo>
                  <a:pt x="153" y="190"/>
                  <a:pt x="153" y="190"/>
                  <a:pt x="153" y="190"/>
                </a:cubicBezTo>
                <a:cubicBezTo>
                  <a:pt x="189" y="190"/>
                  <a:pt x="189" y="190"/>
                  <a:pt x="189" y="190"/>
                </a:cubicBezTo>
                <a:cubicBezTo>
                  <a:pt x="189" y="231"/>
                  <a:pt x="189" y="231"/>
                  <a:pt x="189" y="231"/>
                </a:cubicBezTo>
                <a:cubicBezTo>
                  <a:pt x="321" y="231"/>
                  <a:pt x="321" y="231"/>
                  <a:pt x="321" y="231"/>
                </a:cubicBezTo>
                <a:cubicBezTo>
                  <a:pt x="321" y="190"/>
                  <a:pt x="321" y="190"/>
                  <a:pt x="321" y="190"/>
                </a:cubicBezTo>
                <a:cubicBezTo>
                  <a:pt x="357" y="190"/>
                  <a:pt x="357" y="190"/>
                  <a:pt x="357" y="190"/>
                </a:cubicBezTo>
                <a:cubicBezTo>
                  <a:pt x="357" y="241"/>
                  <a:pt x="357" y="241"/>
                  <a:pt x="357" y="241"/>
                </a:cubicBezTo>
                <a:close/>
              </a:path>
            </a:pathLst>
          </a:custGeom>
          <a:solidFill>
            <a:schemeClr val="tx2"/>
          </a:solidFill>
          <a:ln>
            <a:noFill/>
          </a:ln>
        </p:spPr>
        <p:txBody>
          <a:bodyPr/>
          <a:lstStyle/>
          <a:p>
            <a:pPr defTabSz="855878">
              <a:defRPr/>
            </a:pPr>
            <a:endParaRPr lang="en-US" sz="1685"/>
          </a:p>
        </p:txBody>
      </p:sp>
      <p:sp>
        <p:nvSpPr>
          <p:cNvPr id="34" name="TextBox 33">
            <a:extLst>
              <a:ext uri="{FF2B5EF4-FFF2-40B4-BE49-F238E27FC236}">
                <a16:creationId xmlns:a16="http://schemas.microsoft.com/office/drawing/2014/main" id="{BA30E5E4-BD06-E8F2-835E-6B23988E11F0}"/>
              </a:ext>
            </a:extLst>
          </p:cNvPr>
          <p:cNvSpPr txBox="1">
            <a:spLocks noChangeArrowheads="1"/>
          </p:cNvSpPr>
          <p:nvPr/>
        </p:nvSpPr>
        <p:spPr bwMode="auto">
          <a:xfrm>
            <a:off x="4956810" y="2680527"/>
            <a:ext cx="682849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marR="0" lvl="0" indent="0" eaLnBrk="0" fontAlgn="base" hangingPunct="0">
              <a:lnSpc>
                <a:spcPct val="100000"/>
              </a:lnSpc>
              <a:spcBef>
                <a:spcPct val="0"/>
              </a:spcBef>
              <a:spcAft>
                <a:spcPct val="0"/>
              </a:spcAft>
              <a:buClrTx/>
              <a:buSzTx/>
              <a:buFontTx/>
              <a:buNone/>
              <a:tabLst/>
              <a:defRPr kumimoji="0" sz="1200" b="0" i="0" u="none" strike="noStrike" cap="none" normalizeH="0" baseline="0">
                <a:ln>
                  <a:noFill/>
                </a:ln>
                <a:solidFill>
                  <a:srgbClr val="000000"/>
                </a:solidFill>
                <a:effectLst/>
                <a:latin typeface="Arial" panose="020B0604020202020204" pitchFamily="34" charset="0"/>
                <a:cs typeface="宋体" panose="02010600030101010101" pitchFamily="2" charset="-122"/>
              </a:defRPr>
            </a:lvl1pPr>
          </a:lstStyle>
          <a:p>
            <a:r>
              <a:rPr lang="en-US" altLang="zh-CN" sz="1400" dirty="0">
                <a:latin typeface="Times New Roman" panose="02020603050405020304" pitchFamily="18" charset="0"/>
                <a:cs typeface="Times New Roman" panose="02020603050405020304" pitchFamily="18" charset="0"/>
              </a:rPr>
              <a:t>Moving from 5-shot to 10-shot prompts led to significant accuracy gains (up to +13%), especially in smaller models like Qwen2-1.5B. More examples help the model better understand task intent and input-output structure.</a:t>
            </a:r>
            <a:endParaRPr lang="zh-CN" altLang="zh-CN" sz="14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0119B41-0487-2732-9E68-173E55DBE77B}"/>
              </a:ext>
            </a:extLst>
          </p:cNvPr>
          <p:cNvSpPr txBox="1">
            <a:spLocks noChangeArrowheads="1"/>
          </p:cNvSpPr>
          <p:nvPr/>
        </p:nvSpPr>
        <p:spPr bwMode="auto">
          <a:xfrm>
            <a:off x="4903472" y="3632233"/>
            <a:ext cx="682849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marR="0" lvl="0" indent="0" eaLnBrk="0" fontAlgn="base" hangingPunct="0">
              <a:lnSpc>
                <a:spcPct val="100000"/>
              </a:lnSpc>
              <a:spcBef>
                <a:spcPct val="0"/>
              </a:spcBef>
              <a:spcAft>
                <a:spcPct val="0"/>
              </a:spcAft>
              <a:buClrTx/>
              <a:buSzTx/>
              <a:buFontTx/>
              <a:buNone/>
              <a:tabLst/>
              <a:defRPr kumimoji="0" sz="1200" b="0" i="0" u="none" strike="noStrike" cap="none" normalizeH="0" baseline="0">
                <a:ln>
                  <a:noFill/>
                </a:ln>
                <a:solidFill>
                  <a:srgbClr val="000000"/>
                </a:solidFill>
                <a:effectLst/>
                <a:latin typeface="Arial" panose="020B0604020202020204" pitchFamily="34" charset="0"/>
                <a:cs typeface="宋体" panose="02010600030101010101" pitchFamily="2" charset="-122"/>
              </a:defRPr>
            </a:lvl1pPr>
          </a:lstStyle>
          <a:p>
            <a:r>
              <a:rPr lang="en-US" altLang="zh-CN" sz="1400" dirty="0">
                <a:latin typeface="Times New Roman" panose="02020603050405020304" pitchFamily="18" charset="0"/>
                <a:cs typeface="Times New Roman" panose="02020603050405020304" pitchFamily="18" charset="0"/>
              </a:rPr>
              <a:t>Qwen models were stronger in classification tasks, likely due to their pretraining on structured text and reasoning.</a:t>
            </a:r>
            <a:endParaRPr lang="zh-CN"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THUDM models performed better in regression, especially GLM-4-9B, suggesting robustness in numerical prediction.</a:t>
            </a:r>
            <a:endParaRPr lang="zh-CN" altLang="zh-CN" sz="14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E507816D-D8B9-CC23-90A5-3B3510B5481E}"/>
              </a:ext>
            </a:extLst>
          </p:cNvPr>
          <p:cNvSpPr txBox="1">
            <a:spLocks noChangeArrowheads="1"/>
          </p:cNvSpPr>
          <p:nvPr/>
        </p:nvSpPr>
        <p:spPr bwMode="auto">
          <a:xfrm>
            <a:off x="4956810" y="4723361"/>
            <a:ext cx="682849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400">
                <a:solidFill>
                  <a:schemeClr val="tx1"/>
                </a:solidFill>
                <a:latin typeface="Calibri" panose="020F0502020204030204" pitchFamily="34" charset="0"/>
              </a:defRPr>
            </a:lvl1pPr>
            <a:lvl2pPr marL="742950" indent="-285750">
              <a:defRPr sz="1400">
                <a:solidFill>
                  <a:schemeClr val="tx1"/>
                </a:solidFill>
                <a:latin typeface="Calibri" panose="020F0502020204030204" pitchFamily="34" charset="0"/>
              </a:defRPr>
            </a:lvl2pPr>
            <a:lvl3pPr marL="1143000" indent="-228600">
              <a:defRPr sz="1400">
                <a:solidFill>
                  <a:schemeClr val="tx1"/>
                </a:solidFill>
                <a:latin typeface="Calibri" panose="020F0502020204030204" pitchFamily="34" charset="0"/>
              </a:defRPr>
            </a:lvl3pPr>
            <a:lvl4pPr marL="1600200" indent="-228600">
              <a:defRPr sz="1400">
                <a:solidFill>
                  <a:schemeClr val="tx1"/>
                </a:solidFill>
                <a:latin typeface="Calibri" panose="020F0502020204030204" pitchFamily="34" charset="0"/>
              </a:defRPr>
            </a:lvl4pPr>
            <a:lvl5pPr marL="2057400" indent="-228600">
              <a:defRPr sz="1400">
                <a:solidFill>
                  <a:schemeClr val="tx1"/>
                </a:solidFill>
                <a:latin typeface="Calibri" panose="020F0502020204030204" pitchFamily="34" charset="0"/>
              </a:defRPr>
            </a:lvl5pPr>
            <a:lvl6pPr marL="2514600" indent="-228600" defTabSz="712788" fontAlgn="base">
              <a:spcBef>
                <a:spcPct val="0"/>
              </a:spcBef>
              <a:spcAft>
                <a:spcPct val="0"/>
              </a:spcAft>
              <a:defRPr sz="1400">
                <a:solidFill>
                  <a:schemeClr val="tx1"/>
                </a:solidFill>
                <a:latin typeface="Calibri" panose="020F0502020204030204" pitchFamily="34" charset="0"/>
              </a:defRPr>
            </a:lvl6pPr>
            <a:lvl7pPr marL="2971800" indent="-228600" defTabSz="712788" fontAlgn="base">
              <a:spcBef>
                <a:spcPct val="0"/>
              </a:spcBef>
              <a:spcAft>
                <a:spcPct val="0"/>
              </a:spcAft>
              <a:defRPr sz="1400">
                <a:solidFill>
                  <a:schemeClr val="tx1"/>
                </a:solidFill>
                <a:latin typeface="Calibri" panose="020F0502020204030204" pitchFamily="34" charset="0"/>
              </a:defRPr>
            </a:lvl7pPr>
            <a:lvl8pPr marL="3429000" indent="-228600" defTabSz="712788" fontAlgn="base">
              <a:spcBef>
                <a:spcPct val="0"/>
              </a:spcBef>
              <a:spcAft>
                <a:spcPct val="0"/>
              </a:spcAft>
              <a:defRPr sz="1400">
                <a:solidFill>
                  <a:schemeClr val="tx1"/>
                </a:solidFill>
                <a:latin typeface="Calibri" panose="020F0502020204030204" pitchFamily="34" charset="0"/>
              </a:defRPr>
            </a:lvl8pPr>
            <a:lvl9pPr marL="3886200" indent="-228600" defTabSz="712788" fontAlgn="base">
              <a:spcBef>
                <a:spcPct val="0"/>
              </a:spcBef>
              <a:spcAft>
                <a:spcPct val="0"/>
              </a:spcAft>
              <a:defRPr sz="1400">
                <a:solidFill>
                  <a:schemeClr val="tx1"/>
                </a:solidFill>
                <a:latin typeface="Calibri" panose="020F0502020204030204" pitchFamily="34" charset="0"/>
              </a:defRPr>
            </a:lvl9pPr>
          </a:lstStyle>
          <a:p>
            <a:r>
              <a:rPr lang="en-US" altLang="zh-CN" dirty="0">
                <a:solidFill>
                  <a:schemeClr val="accent6">
                    <a:lumMod val="10000"/>
                  </a:schemeClr>
                </a:solidFill>
                <a:latin typeface="Times New Roman" panose="02020603050405020304" pitchFamily="18" charset="0"/>
                <a:cs typeface="Times New Roman" panose="02020603050405020304" pitchFamily="18" charset="0"/>
              </a:rPr>
              <a:t>Classical models (SVM, RF, MLP) achieved nearly perfect classification on Iris, with AUROC and AUPR ≈ 1. ICL models peaked at 83% accuracy. This gap is primarily due to:</a:t>
            </a:r>
            <a:endParaRPr lang="zh-CN" altLang="zh-CN" dirty="0">
              <a:solidFill>
                <a:schemeClr val="accent6">
                  <a:lumMod val="10000"/>
                </a:schemeClr>
              </a:solidFill>
              <a:latin typeface="Times New Roman" panose="02020603050405020304" pitchFamily="18" charset="0"/>
              <a:cs typeface="Times New Roman" panose="02020603050405020304" pitchFamily="18" charset="0"/>
            </a:endParaRPr>
          </a:p>
          <a:p>
            <a:pPr lvl="0"/>
            <a:r>
              <a:rPr lang="en-US" altLang="zh-CN" dirty="0">
                <a:solidFill>
                  <a:schemeClr val="accent6">
                    <a:lumMod val="10000"/>
                  </a:schemeClr>
                </a:solidFill>
                <a:latin typeface="Times New Roman" panose="02020603050405020304" pitchFamily="18" charset="0"/>
                <a:cs typeface="Times New Roman" panose="02020603050405020304" pitchFamily="18" charset="0"/>
              </a:rPr>
              <a:t>CML’s use of the full dataset during training</a:t>
            </a:r>
            <a:endParaRPr lang="zh-CN" altLang="zh-CN" dirty="0">
              <a:solidFill>
                <a:schemeClr val="accent6">
                  <a:lumMod val="10000"/>
                </a:schemeClr>
              </a:solidFill>
              <a:latin typeface="Times New Roman" panose="02020603050405020304" pitchFamily="18" charset="0"/>
              <a:cs typeface="Times New Roman" panose="02020603050405020304" pitchFamily="18" charset="0"/>
            </a:endParaRPr>
          </a:p>
          <a:p>
            <a:pPr lvl="0"/>
            <a:r>
              <a:rPr lang="en-US" altLang="zh-CN" dirty="0">
                <a:solidFill>
                  <a:schemeClr val="accent6">
                    <a:lumMod val="10000"/>
                  </a:schemeClr>
                </a:solidFill>
                <a:latin typeface="Times New Roman" panose="02020603050405020304" pitchFamily="18" charset="0"/>
                <a:cs typeface="Times New Roman" panose="02020603050405020304" pitchFamily="18" charset="0"/>
              </a:rPr>
              <a:t>ICL’s reliance on limited prompt examples and no parameter updates</a:t>
            </a:r>
            <a:endParaRPr lang="zh-CN" altLang="zh-CN" dirty="0">
              <a:solidFill>
                <a:schemeClr val="accent6">
                  <a:lumMod val="10000"/>
                </a:schemeClr>
              </a:solidFill>
              <a:latin typeface="Times New Roman" panose="02020603050405020304" pitchFamily="18" charset="0"/>
              <a:cs typeface="Times New Roman" panose="02020603050405020304" pitchFamily="18" charset="0"/>
            </a:endParaRPr>
          </a:p>
        </p:txBody>
      </p:sp>
      <p:sp>
        <p:nvSpPr>
          <p:cNvPr id="6" name="Title 2">
            <a:extLst>
              <a:ext uri="{FF2B5EF4-FFF2-40B4-BE49-F238E27FC236}">
                <a16:creationId xmlns:a16="http://schemas.microsoft.com/office/drawing/2014/main" id="{5048F64C-7FE7-52FE-C9A0-FC7273D82F1B}"/>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6.1 Summary of Findings</a:t>
            </a:r>
            <a:endParaRPr lang="zh-CN" altLang="zh-CN" dirty="0"/>
          </a:p>
        </p:txBody>
      </p:sp>
      <p:sp>
        <p:nvSpPr>
          <p:cNvPr id="8" name="文本框 7">
            <a:extLst>
              <a:ext uri="{FF2B5EF4-FFF2-40B4-BE49-F238E27FC236}">
                <a16:creationId xmlns:a16="http://schemas.microsoft.com/office/drawing/2014/main" id="{8DEF5275-777F-EE6E-A9B8-8AD0EB39E717}"/>
              </a:ext>
            </a:extLst>
          </p:cNvPr>
          <p:cNvSpPr txBox="1"/>
          <p:nvPr/>
        </p:nvSpPr>
        <p:spPr>
          <a:xfrm>
            <a:off x="1795642" y="1763688"/>
            <a:ext cx="2571750" cy="369332"/>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Model Size Matters</a:t>
            </a:r>
            <a:endParaRPr lang="zh-CN" altLang="en-US"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38DE5CA8-1E8A-8F64-AABC-B78AF7057664}"/>
              </a:ext>
            </a:extLst>
          </p:cNvPr>
          <p:cNvSpPr>
            <a:spLocks noChangeArrowheads="1"/>
          </p:cNvSpPr>
          <p:nvPr/>
        </p:nvSpPr>
        <p:spPr bwMode="auto">
          <a:xfrm>
            <a:off x="4903471" y="1596029"/>
            <a:ext cx="624214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Larger LLMs like Qwen2.5-7B and GLM-4-9B </a:t>
            </a:r>
            <a:r>
              <a:rPr kumimoji="0" lang="en-US"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consistently outperformed</a:t>
            </a:r>
            <a:r>
              <a:rPr kumimoji="0" lang="en-US"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smaller models across both tasks. This confirms that greater model capacity improves pattern generalization, especially in low-data ICL settings.</a:t>
            </a:r>
            <a:endParaRPr kumimoji="0" lang="en-US" altLang="zh-C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669ADAD5-4399-2A99-A6CA-2373C43A8163}"/>
              </a:ext>
            </a:extLst>
          </p:cNvPr>
          <p:cNvSpPr txBox="1"/>
          <p:nvPr/>
        </p:nvSpPr>
        <p:spPr>
          <a:xfrm>
            <a:off x="1813203" y="2684098"/>
            <a:ext cx="2571750" cy="646331"/>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Prompt Quantity Improves Accuracy</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676E67C4-E8AF-8610-CD3A-45C6777AA055}"/>
              </a:ext>
            </a:extLst>
          </p:cNvPr>
          <p:cNvSpPr txBox="1"/>
          <p:nvPr/>
        </p:nvSpPr>
        <p:spPr>
          <a:xfrm>
            <a:off x="1737360" y="3770168"/>
            <a:ext cx="2571750" cy="646331"/>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Task Type Affects Model Suitability</a:t>
            </a:r>
            <a:endParaRPr lang="zh-CN" altLang="en-US"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5B29F692-F360-194D-9DA0-D457A515792D}"/>
              </a:ext>
            </a:extLst>
          </p:cNvPr>
          <p:cNvSpPr txBox="1"/>
          <p:nvPr/>
        </p:nvSpPr>
        <p:spPr>
          <a:xfrm>
            <a:off x="1737360" y="4915809"/>
            <a:ext cx="2571750" cy="646331"/>
          </a:xfrm>
          <a:prstGeom prst="rect">
            <a:avLst/>
          </a:prstGeom>
          <a:noFill/>
        </p:spPr>
        <p:txBody>
          <a:bodyPr wrap="square">
            <a:spAutoFit/>
          </a:bodyPr>
          <a:lstStyle/>
          <a:p>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CML Outperforms ICL on Structured Data</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39"/>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5"/>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34"/>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4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9"/>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35"/>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41"/>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6"/>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5" grpId="0" animBg="1" autoUpdateAnimBg="0"/>
      <p:bldP spid="16" grpId="0" animBg="1" autoUpdateAnimBg="0"/>
      <p:bldP spid="19" grpId="0" animBg="1" autoUpdateAnimBg="0"/>
      <p:bldP spid="34" grpId="0" autoUpdateAnimBg="0"/>
      <p:bldP spid="35" grpId="0" autoUpdateAnimBg="0"/>
      <p:bldP spid="3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89912-35BF-E941-F8C4-0EFC81EAD40A}"/>
            </a:ext>
          </a:extLst>
        </p:cNvPr>
        <p:cNvGrpSpPr/>
        <p:nvPr/>
      </p:nvGrpSpPr>
      <p:grpSpPr>
        <a:xfrm>
          <a:off x="0" y="0"/>
          <a:ext cx="0" cy="0"/>
          <a:chOff x="0" y="0"/>
          <a:chExt cx="0" cy="0"/>
        </a:xfrm>
      </p:grpSpPr>
      <p:sp>
        <p:nvSpPr>
          <p:cNvPr id="33795" name="Slide Number Placeholder 5">
            <a:extLst>
              <a:ext uri="{FF2B5EF4-FFF2-40B4-BE49-F238E27FC236}">
                <a16:creationId xmlns:a16="http://schemas.microsoft.com/office/drawing/2014/main" id="{04F23BE3-E6F9-3DEE-8341-A6759FD5B1EB}"/>
              </a:ext>
            </a:extLst>
          </p:cNvPr>
          <p:cNvSpPr>
            <a:spLocks noGrp="1"/>
          </p:cNvSpPr>
          <p:nvPr>
            <p:ph type="sldNum" sz="quarter" idx="10"/>
          </p:nvPr>
        </p:nvSpPr>
        <p:spPr bwMode="auto">
          <a:xfrm>
            <a:off x="638175" y="5392738"/>
            <a:ext cx="525463" cy="2301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bg-BG"/>
            </a:defPPr>
            <a:lvl1pPr algn="ctr" defTabSz="712788" rtl="0" eaLnBrk="1" fontAlgn="base" hangingPunct="1">
              <a:spcBef>
                <a:spcPct val="0"/>
              </a:spcBef>
              <a:spcAft>
                <a:spcPct val="0"/>
              </a:spcAft>
              <a:defRPr sz="1100" kern="1200">
                <a:solidFill>
                  <a:schemeClr val="tx1"/>
                </a:solidFill>
                <a:latin typeface="Open Sans" panose="020B0606030504020204" pitchFamily="34" charset="0"/>
                <a:ea typeface="+mn-ea"/>
                <a:cs typeface="Open Sans" panose="020B0606030504020204" pitchFamily="34" charset="0"/>
              </a:defRPr>
            </a:lvl1pPr>
            <a:lvl2pPr marL="355600" indent="101600"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2pPr>
            <a:lvl3pPr marL="712788" indent="2016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3pPr>
            <a:lvl4pPr marL="1068388" indent="3032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4pPr>
            <a:lvl5pPr marL="1425575" indent="403225"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5pPr>
            <a:lvl6pPr marL="2286000" algn="l" defTabSz="914400" rtl="0" eaLnBrk="1" latinLnBrk="0" hangingPunct="1">
              <a:defRPr sz="1400" kern="1200">
                <a:solidFill>
                  <a:schemeClr val="tx1"/>
                </a:solidFill>
                <a:latin typeface="Calibri" panose="020F0502020204030204" pitchFamily="34" charset="0"/>
                <a:ea typeface="+mn-ea"/>
                <a:cs typeface="+mn-cs"/>
              </a:defRPr>
            </a:lvl6pPr>
            <a:lvl7pPr marL="2743200" algn="l" defTabSz="914400" rtl="0" eaLnBrk="1" latinLnBrk="0" hangingPunct="1">
              <a:defRPr sz="1400" kern="1200">
                <a:solidFill>
                  <a:schemeClr val="tx1"/>
                </a:solidFill>
                <a:latin typeface="Calibri" panose="020F0502020204030204" pitchFamily="34" charset="0"/>
                <a:ea typeface="+mn-ea"/>
                <a:cs typeface="+mn-cs"/>
              </a:defRPr>
            </a:lvl7pPr>
            <a:lvl8pPr marL="3200400" algn="l" defTabSz="914400" rtl="0" eaLnBrk="1" latinLnBrk="0" hangingPunct="1">
              <a:defRPr sz="1400" kern="1200">
                <a:solidFill>
                  <a:schemeClr val="tx1"/>
                </a:solidFill>
                <a:latin typeface="Calibri" panose="020F0502020204030204" pitchFamily="34" charset="0"/>
                <a:ea typeface="+mn-ea"/>
                <a:cs typeface="+mn-cs"/>
              </a:defRPr>
            </a:lvl8pPr>
            <a:lvl9pPr marL="3657600" algn="l" defTabSz="914400" rtl="0" eaLnBrk="1" latinLnBrk="0" hangingPunct="1">
              <a:defRPr sz="1400" kern="1200">
                <a:solidFill>
                  <a:schemeClr val="tx1"/>
                </a:solidFill>
                <a:latin typeface="Calibri" panose="020F0502020204030204" pitchFamily="34" charset="0"/>
                <a:ea typeface="+mn-ea"/>
                <a:cs typeface="+mn-cs"/>
              </a:defRPr>
            </a:lvl9pPr>
          </a:lstStyle>
          <a:p>
            <a:fld id="{E8B6EC68-080B-4F1D-8FC0-EC533622CB47}" type="slidenum">
              <a:rPr lang="en-US" altLang="zh-CN" smtClean="0"/>
              <a:pPr/>
              <a:t>26</a:t>
            </a:fld>
            <a:endParaRPr lang="en-US" altLang="zh-CN" sz="1200">
              <a:latin typeface="Open Sans" panose="020B0606030504020204" pitchFamily="34" charset="0"/>
            </a:endParaRPr>
          </a:p>
        </p:txBody>
      </p:sp>
      <p:grpSp>
        <p:nvGrpSpPr>
          <p:cNvPr id="40" name="Group 39">
            <a:extLst>
              <a:ext uri="{FF2B5EF4-FFF2-40B4-BE49-F238E27FC236}">
                <a16:creationId xmlns:a16="http://schemas.microsoft.com/office/drawing/2014/main" id="{45A9BC27-F0DA-D240-4228-167E97E8BB6C}"/>
              </a:ext>
            </a:extLst>
          </p:cNvPr>
          <p:cNvGrpSpPr>
            <a:grpSpLocks/>
          </p:cNvGrpSpPr>
          <p:nvPr/>
        </p:nvGrpSpPr>
        <p:grpSpPr bwMode="auto">
          <a:xfrm>
            <a:off x="830580" y="3682538"/>
            <a:ext cx="906780" cy="906780"/>
            <a:chOff x="2850424" y="3195153"/>
            <a:chExt cx="755923" cy="755923"/>
          </a:xfrm>
        </p:grpSpPr>
        <p:sp>
          <p:nvSpPr>
            <p:cNvPr id="21" name="Oval 20">
              <a:extLst>
                <a:ext uri="{FF2B5EF4-FFF2-40B4-BE49-F238E27FC236}">
                  <a16:creationId xmlns:a16="http://schemas.microsoft.com/office/drawing/2014/main" id="{9DDE85C6-E88B-D78C-5380-67784E74CF78}"/>
                </a:ext>
              </a:extLst>
            </p:cNvPr>
            <p:cNvSpPr/>
            <p:nvPr/>
          </p:nvSpPr>
          <p:spPr>
            <a:xfrm>
              <a:off x="2850424" y="3195153"/>
              <a:ext cx="755923" cy="755923"/>
            </a:xfrm>
            <a:prstGeom prst="ellipse">
              <a:avLst/>
            </a:prstGeom>
            <a:solidFill>
              <a:schemeClr val="accent3"/>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22" name="Oval 21">
              <a:extLst>
                <a:ext uri="{FF2B5EF4-FFF2-40B4-BE49-F238E27FC236}">
                  <a16:creationId xmlns:a16="http://schemas.microsoft.com/office/drawing/2014/main" id="{A7E2507B-0E18-EA93-3803-F302684BE3D3}"/>
                </a:ext>
              </a:extLst>
            </p:cNvPr>
            <p:cNvSpPr/>
            <p:nvPr/>
          </p:nvSpPr>
          <p:spPr>
            <a:xfrm>
              <a:off x="2923475" y="3268204"/>
              <a:ext cx="609820" cy="6098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grpSp>
      <p:grpSp>
        <p:nvGrpSpPr>
          <p:cNvPr id="38" name="Group 37">
            <a:extLst>
              <a:ext uri="{FF2B5EF4-FFF2-40B4-BE49-F238E27FC236}">
                <a16:creationId xmlns:a16="http://schemas.microsoft.com/office/drawing/2014/main" id="{DEF26025-E1CB-A089-E073-5399807B4B28}"/>
              </a:ext>
            </a:extLst>
          </p:cNvPr>
          <p:cNvGrpSpPr>
            <a:grpSpLocks/>
          </p:cNvGrpSpPr>
          <p:nvPr/>
        </p:nvGrpSpPr>
        <p:grpSpPr bwMode="auto">
          <a:xfrm>
            <a:off x="820639" y="1462233"/>
            <a:ext cx="906780" cy="906780"/>
            <a:chOff x="2850424" y="1533376"/>
            <a:chExt cx="755923" cy="755923"/>
          </a:xfrm>
        </p:grpSpPr>
        <p:sp>
          <p:nvSpPr>
            <p:cNvPr id="25" name="Oval 24">
              <a:extLst>
                <a:ext uri="{FF2B5EF4-FFF2-40B4-BE49-F238E27FC236}">
                  <a16:creationId xmlns:a16="http://schemas.microsoft.com/office/drawing/2014/main" id="{6D44C793-E353-7F7F-C8D7-B05FAC8CEBA2}"/>
                </a:ext>
              </a:extLst>
            </p:cNvPr>
            <p:cNvSpPr/>
            <p:nvPr/>
          </p:nvSpPr>
          <p:spPr>
            <a:xfrm>
              <a:off x="2850424" y="1533376"/>
              <a:ext cx="755923" cy="755923"/>
            </a:xfrm>
            <a:prstGeom prst="ellipse">
              <a:avLst/>
            </a:prstGeom>
            <a:solidFill>
              <a:schemeClr val="accent2"/>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sp>
          <p:nvSpPr>
            <p:cNvPr id="26" name="Oval 25">
              <a:extLst>
                <a:ext uri="{FF2B5EF4-FFF2-40B4-BE49-F238E27FC236}">
                  <a16:creationId xmlns:a16="http://schemas.microsoft.com/office/drawing/2014/main" id="{530D80AC-7A4D-E24A-B207-E1265DD01C1F}"/>
                </a:ext>
              </a:extLst>
            </p:cNvPr>
            <p:cNvSpPr/>
            <p:nvPr/>
          </p:nvSpPr>
          <p:spPr>
            <a:xfrm>
              <a:off x="2923475" y="1606427"/>
              <a:ext cx="609820" cy="6098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p>
          </p:txBody>
        </p:sp>
      </p:grpSp>
      <p:sp>
        <p:nvSpPr>
          <p:cNvPr id="14" name="Freeform 784">
            <a:extLst>
              <a:ext uri="{FF2B5EF4-FFF2-40B4-BE49-F238E27FC236}">
                <a16:creationId xmlns:a16="http://schemas.microsoft.com/office/drawing/2014/main" id="{13DCB57C-2E01-9B16-9CC5-DC872D70E0F1}"/>
              </a:ext>
            </a:extLst>
          </p:cNvPr>
          <p:cNvSpPr>
            <a:spLocks noEditPoints="1"/>
          </p:cNvSpPr>
          <p:nvPr/>
        </p:nvSpPr>
        <p:spPr bwMode="auto">
          <a:xfrm>
            <a:off x="1046381" y="1799805"/>
            <a:ext cx="455296" cy="342900"/>
          </a:xfrm>
          <a:custGeom>
            <a:avLst/>
            <a:gdLst>
              <a:gd name="T0" fmla="*/ 89 w 520"/>
              <a:gd name="T1" fmla="*/ 254 h 392"/>
              <a:gd name="T2" fmla="*/ 166 w 520"/>
              <a:gd name="T3" fmla="*/ 345 h 392"/>
              <a:gd name="T4" fmla="*/ 260 w 520"/>
              <a:gd name="T5" fmla="*/ 392 h 392"/>
              <a:gd name="T6" fmla="*/ 353 w 520"/>
              <a:gd name="T7" fmla="*/ 348 h 392"/>
              <a:gd name="T8" fmla="*/ 401 w 520"/>
              <a:gd name="T9" fmla="*/ 272 h 392"/>
              <a:gd name="T10" fmla="*/ 260 w 520"/>
              <a:gd name="T11" fmla="*/ 340 h 392"/>
              <a:gd name="T12" fmla="*/ 89 w 520"/>
              <a:gd name="T13" fmla="*/ 254 h 392"/>
              <a:gd name="T14" fmla="*/ 503 w 520"/>
              <a:gd name="T15" fmla="*/ 129 h 392"/>
              <a:gd name="T16" fmla="*/ 290 w 520"/>
              <a:gd name="T17" fmla="*/ 9 h 392"/>
              <a:gd name="T18" fmla="*/ 230 w 520"/>
              <a:gd name="T19" fmla="*/ 9 h 392"/>
              <a:gd name="T20" fmla="*/ 17 w 520"/>
              <a:gd name="T21" fmla="*/ 129 h 392"/>
              <a:gd name="T22" fmla="*/ 17 w 520"/>
              <a:gd name="T23" fmla="*/ 163 h 392"/>
              <a:gd name="T24" fmla="*/ 230 w 520"/>
              <a:gd name="T25" fmla="*/ 282 h 392"/>
              <a:gd name="T26" fmla="*/ 290 w 520"/>
              <a:gd name="T27" fmla="*/ 282 h 392"/>
              <a:gd name="T28" fmla="*/ 428 w 520"/>
              <a:gd name="T29" fmla="*/ 205 h 392"/>
              <a:gd name="T30" fmla="*/ 279 w 520"/>
              <a:gd name="T31" fmla="*/ 170 h 392"/>
              <a:gd name="T32" fmla="*/ 260 w 520"/>
              <a:gd name="T33" fmla="*/ 172 h 392"/>
              <a:gd name="T34" fmla="*/ 211 w 520"/>
              <a:gd name="T35" fmla="*/ 143 h 392"/>
              <a:gd name="T36" fmla="*/ 260 w 520"/>
              <a:gd name="T37" fmla="*/ 114 h 392"/>
              <a:gd name="T38" fmla="*/ 306 w 520"/>
              <a:gd name="T39" fmla="*/ 133 h 392"/>
              <a:gd name="T40" fmla="*/ 464 w 520"/>
              <a:gd name="T41" fmla="*/ 185 h 392"/>
              <a:gd name="T42" fmla="*/ 503 w 520"/>
              <a:gd name="T43" fmla="*/ 163 h 392"/>
              <a:gd name="T44" fmla="*/ 503 w 520"/>
              <a:gd name="T45" fmla="*/ 129 h 392"/>
              <a:gd name="T46" fmla="*/ 438 w 520"/>
              <a:gd name="T47" fmla="*/ 355 h 392"/>
              <a:gd name="T48" fmla="*/ 474 w 520"/>
              <a:gd name="T49" fmla="*/ 352 h 392"/>
              <a:gd name="T50" fmla="*/ 464 w 520"/>
              <a:gd name="T51" fmla="*/ 185 h 392"/>
              <a:gd name="T52" fmla="*/ 428 w 520"/>
              <a:gd name="T53" fmla="*/ 205 h 392"/>
              <a:gd name="T54" fmla="*/ 438 w 520"/>
              <a:gd name="T55" fmla="*/ 355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0" h="392">
                <a:moveTo>
                  <a:pt x="89" y="254"/>
                </a:moveTo>
                <a:cubicBezTo>
                  <a:pt x="100" y="302"/>
                  <a:pt x="116" y="323"/>
                  <a:pt x="166" y="345"/>
                </a:cubicBezTo>
                <a:cubicBezTo>
                  <a:pt x="216" y="368"/>
                  <a:pt x="240" y="392"/>
                  <a:pt x="260" y="392"/>
                </a:cubicBezTo>
                <a:cubicBezTo>
                  <a:pt x="280" y="392"/>
                  <a:pt x="302" y="371"/>
                  <a:pt x="353" y="348"/>
                </a:cubicBezTo>
                <a:cubicBezTo>
                  <a:pt x="403" y="326"/>
                  <a:pt x="390" y="320"/>
                  <a:pt x="401" y="272"/>
                </a:cubicBezTo>
                <a:cubicBezTo>
                  <a:pt x="260" y="340"/>
                  <a:pt x="260" y="340"/>
                  <a:pt x="260" y="340"/>
                </a:cubicBezTo>
                <a:cubicBezTo>
                  <a:pt x="89" y="254"/>
                  <a:pt x="89" y="254"/>
                  <a:pt x="89" y="254"/>
                </a:cubicBezTo>
                <a:close/>
                <a:moveTo>
                  <a:pt x="503" y="129"/>
                </a:moveTo>
                <a:cubicBezTo>
                  <a:pt x="290" y="9"/>
                  <a:pt x="290" y="9"/>
                  <a:pt x="290" y="9"/>
                </a:cubicBezTo>
                <a:cubicBezTo>
                  <a:pt x="274" y="0"/>
                  <a:pt x="246" y="0"/>
                  <a:pt x="230" y="9"/>
                </a:cubicBezTo>
                <a:cubicBezTo>
                  <a:pt x="17" y="129"/>
                  <a:pt x="17" y="129"/>
                  <a:pt x="17" y="129"/>
                </a:cubicBezTo>
                <a:cubicBezTo>
                  <a:pt x="0" y="138"/>
                  <a:pt x="0" y="153"/>
                  <a:pt x="17" y="163"/>
                </a:cubicBezTo>
                <a:cubicBezTo>
                  <a:pt x="230" y="282"/>
                  <a:pt x="230" y="282"/>
                  <a:pt x="230" y="282"/>
                </a:cubicBezTo>
                <a:cubicBezTo>
                  <a:pt x="246" y="291"/>
                  <a:pt x="274" y="291"/>
                  <a:pt x="290" y="282"/>
                </a:cubicBezTo>
                <a:cubicBezTo>
                  <a:pt x="428" y="205"/>
                  <a:pt x="428" y="205"/>
                  <a:pt x="428" y="205"/>
                </a:cubicBezTo>
                <a:cubicBezTo>
                  <a:pt x="279" y="170"/>
                  <a:pt x="279" y="170"/>
                  <a:pt x="279" y="170"/>
                </a:cubicBezTo>
                <a:cubicBezTo>
                  <a:pt x="273" y="171"/>
                  <a:pt x="267" y="172"/>
                  <a:pt x="260" y="172"/>
                </a:cubicBezTo>
                <a:cubicBezTo>
                  <a:pt x="233" y="172"/>
                  <a:pt x="211" y="159"/>
                  <a:pt x="211" y="143"/>
                </a:cubicBezTo>
                <a:cubicBezTo>
                  <a:pt x="211" y="127"/>
                  <a:pt x="233" y="114"/>
                  <a:pt x="260" y="114"/>
                </a:cubicBezTo>
                <a:cubicBezTo>
                  <a:pt x="281" y="114"/>
                  <a:pt x="299" y="122"/>
                  <a:pt x="306" y="133"/>
                </a:cubicBezTo>
                <a:cubicBezTo>
                  <a:pt x="464" y="185"/>
                  <a:pt x="464" y="185"/>
                  <a:pt x="464" y="185"/>
                </a:cubicBezTo>
                <a:cubicBezTo>
                  <a:pt x="503" y="163"/>
                  <a:pt x="503" y="163"/>
                  <a:pt x="503" y="163"/>
                </a:cubicBezTo>
                <a:cubicBezTo>
                  <a:pt x="520" y="153"/>
                  <a:pt x="520" y="138"/>
                  <a:pt x="503" y="129"/>
                </a:cubicBezTo>
                <a:close/>
                <a:moveTo>
                  <a:pt x="438" y="355"/>
                </a:moveTo>
                <a:cubicBezTo>
                  <a:pt x="437" y="365"/>
                  <a:pt x="471" y="381"/>
                  <a:pt x="474" y="352"/>
                </a:cubicBezTo>
                <a:cubicBezTo>
                  <a:pt x="489" y="222"/>
                  <a:pt x="464" y="185"/>
                  <a:pt x="464" y="185"/>
                </a:cubicBezTo>
                <a:cubicBezTo>
                  <a:pt x="428" y="205"/>
                  <a:pt x="428" y="205"/>
                  <a:pt x="428" y="205"/>
                </a:cubicBezTo>
                <a:cubicBezTo>
                  <a:pt x="428" y="205"/>
                  <a:pt x="458" y="234"/>
                  <a:pt x="438" y="355"/>
                </a:cubicBezTo>
                <a:close/>
              </a:path>
            </a:pathLst>
          </a:custGeom>
          <a:solidFill>
            <a:schemeClr val="tx2"/>
          </a:solidFill>
          <a:ln>
            <a:noFill/>
          </a:ln>
        </p:spPr>
        <p:txBody>
          <a:bodyPr/>
          <a:lstStyle/>
          <a:p>
            <a:pPr defTabSz="855878">
              <a:defRPr/>
            </a:pPr>
            <a:endParaRPr lang="en-US" sz="1685"/>
          </a:p>
        </p:txBody>
      </p:sp>
      <p:sp>
        <p:nvSpPr>
          <p:cNvPr id="19" name="Freeform 891">
            <a:extLst>
              <a:ext uri="{FF2B5EF4-FFF2-40B4-BE49-F238E27FC236}">
                <a16:creationId xmlns:a16="http://schemas.microsoft.com/office/drawing/2014/main" id="{2BC0D72E-CA14-EE6F-90EC-5970C19A75F3}"/>
              </a:ext>
            </a:extLst>
          </p:cNvPr>
          <p:cNvSpPr>
            <a:spLocks noEditPoints="1"/>
          </p:cNvSpPr>
          <p:nvPr/>
        </p:nvSpPr>
        <p:spPr bwMode="auto">
          <a:xfrm>
            <a:off x="1108710" y="3994958"/>
            <a:ext cx="348616" cy="280034"/>
          </a:xfrm>
          <a:custGeom>
            <a:avLst/>
            <a:gdLst>
              <a:gd name="T0" fmla="*/ 433 w 510"/>
              <a:gd name="T1" fmla="*/ 77 h 410"/>
              <a:gd name="T2" fmla="*/ 408 w 510"/>
              <a:gd name="T3" fmla="*/ 51 h 410"/>
              <a:gd name="T4" fmla="*/ 102 w 510"/>
              <a:gd name="T5" fmla="*/ 51 h 410"/>
              <a:gd name="T6" fmla="*/ 77 w 510"/>
              <a:gd name="T7" fmla="*/ 77 h 410"/>
              <a:gd name="T8" fmla="*/ 77 w 510"/>
              <a:gd name="T9" fmla="*/ 103 h 410"/>
              <a:gd name="T10" fmla="*/ 433 w 510"/>
              <a:gd name="T11" fmla="*/ 103 h 410"/>
              <a:gd name="T12" fmla="*/ 433 w 510"/>
              <a:gd name="T13" fmla="*/ 77 h 410"/>
              <a:gd name="T14" fmla="*/ 357 w 510"/>
              <a:gd name="T15" fmla="*/ 0 h 410"/>
              <a:gd name="T16" fmla="*/ 153 w 510"/>
              <a:gd name="T17" fmla="*/ 0 h 410"/>
              <a:gd name="T18" fmla="*/ 128 w 510"/>
              <a:gd name="T19" fmla="*/ 26 h 410"/>
              <a:gd name="T20" fmla="*/ 382 w 510"/>
              <a:gd name="T21" fmla="*/ 26 h 410"/>
              <a:gd name="T22" fmla="*/ 357 w 510"/>
              <a:gd name="T23" fmla="*/ 0 h 410"/>
              <a:gd name="T24" fmla="*/ 484 w 510"/>
              <a:gd name="T25" fmla="*/ 103 h 410"/>
              <a:gd name="T26" fmla="*/ 469 w 510"/>
              <a:gd name="T27" fmla="*/ 87 h 410"/>
              <a:gd name="T28" fmla="*/ 469 w 510"/>
              <a:gd name="T29" fmla="*/ 128 h 410"/>
              <a:gd name="T30" fmla="*/ 41 w 510"/>
              <a:gd name="T31" fmla="*/ 128 h 410"/>
              <a:gd name="T32" fmla="*/ 41 w 510"/>
              <a:gd name="T33" fmla="*/ 87 h 410"/>
              <a:gd name="T34" fmla="*/ 26 w 510"/>
              <a:gd name="T35" fmla="*/ 103 h 410"/>
              <a:gd name="T36" fmla="*/ 6 w 510"/>
              <a:gd name="T37" fmla="*/ 154 h 410"/>
              <a:gd name="T38" fmla="*/ 45 w 510"/>
              <a:gd name="T39" fmla="*/ 384 h 410"/>
              <a:gd name="T40" fmla="*/ 77 w 510"/>
              <a:gd name="T41" fmla="*/ 410 h 410"/>
              <a:gd name="T42" fmla="*/ 433 w 510"/>
              <a:gd name="T43" fmla="*/ 410 h 410"/>
              <a:gd name="T44" fmla="*/ 465 w 510"/>
              <a:gd name="T45" fmla="*/ 384 h 410"/>
              <a:gd name="T46" fmla="*/ 504 w 510"/>
              <a:gd name="T47" fmla="*/ 154 h 410"/>
              <a:gd name="T48" fmla="*/ 484 w 510"/>
              <a:gd name="T49" fmla="*/ 103 h 410"/>
              <a:gd name="T50" fmla="*/ 357 w 510"/>
              <a:gd name="T51" fmla="*/ 241 h 410"/>
              <a:gd name="T52" fmla="*/ 331 w 510"/>
              <a:gd name="T53" fmla="*/ 266 h 410"/>
              <a:gd name="T54" fmla="*/ 179 w 510"/>
              <a:gd name="T55" fmla="*/ 266 h 410"/>
              <a:gd name="T56" fmla="*/ 153 w 510"/>
              <a:gd name="T57" fmla="*/ 241 h 410"/>
              <a:gd name="T58" fmla="*/ 153 w 510"/>
              <a:gd name="T59" fmla="*/ 190 h 410"/>
              <a:gd name="T60" fmla="*/ 189 w 510"/>
              <a:gd name="T61" fmla="*/ 190 h 410"/>
              <a:gd name="T62" fmla="*/ 189 w 510"/>
              <a:gd name="T63" fmla="*/ 231 h 410"/>
              <a:gd name="T64" fmla="*/ 321 w 510"/>
              <a:gd name="T65" fmla="*/ 231 h 410"/>
              <a:gd name="T66" fmla="*/ 321 w 510"/>
              <a:gd name="T67" fmla="*/ 190 h 410"/>
              <a:gd name="T68" fmla="*/ 357 w 510"/>
              <a:gd name="T69" fmla="*/ 190 h 410"/>
              <a:gd name="T70" fmla="*/ 357 w 510"/>
              <a:gd name="T71" fmla="*/ 241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0" h="410">
                <a:moveTo>
                  <a:pt x="433" y="77"/>
                </a:moveTo>
                <a:cubicBezTo>
                  <a:pt x="433" y="51"/>
                  <a:pt x="408" y="51"/>
                  <a:pt x="408" y="51"/>
                </a:cubicBezTo>
                <a:cubicBezTo>
                  <a:pt x="102" y="51"/>
                  <a:pt x="102" y="51"/>
                  <a:pt x="102" y="51"/>
                </a:cubicBezTo>
                <a:cubicBezTo>
                  <a:pt x="102" y="51"/>
                  <a:pt x="77" y="51"/>
                  <a:pt x="77" y="77"/>
                </a:cubicBezTo>
                <a:cubicBezTo>
                  <a:pt x="77" y="103"/>
                  <a:pt x="77" y="103"/>
                  <a:pt x="77" y="103"/>
                </a:cubicBezTo>
                <a:cubicBezTo>
                  <a:pt x="433" y="103"/>
                  <a:pt x="433" y="103"/>
                  <a:pt x="433" y="103"/>
                </a:cubicBezTo>
                <a:lnTo>
                  <a:pt x="433" y="77"/>
                </a:lnTo>
                <a:close/>
                <a:moveTo>
                  <a:pt x="357" y="0"/>
                </a:moveTo>
                <a:cubicBezTo>
                  <a:pt x="153" y="0"/>
                  <a:pt x="153" y="0"/>
                  <a:pt x="153" y="0"/>
                </a:cubicBezTo>
                <a:cubicBezTo>
                  <a:pt x="153" y="0"/>
                  <a:pt x="128" y="0"/>
                  <a:pt x="128" y="26"/>
                </a:cubicBezTo>
                <a:cubicBezTo>
                  <a:pt x="382" y="26"/>
                  <a:pt x="382" y="26"/>
                  <a:pt x="382" y="26"/>
                </a:cubicBezTo>
                <a:cubicBezTo>
                  <a:pt x="382" y="0"/>
                  <a:pt x="357" y="0"/>
                  <a:pt x="357" y="0"/>
                </a:cubicBezTo>
                <a:close/>
                <a:moveTo>
                  <a:pt x="484" y="103"/>
                </a:moveTo>
                <a:cubicBezTo>
                  <a:pt x="469" y="87"/>
                  <a:pt x="469" y="87"/>
                  <a:pt x="469" y="87"/>
                </a:cubicBezTo>
                <a:cubicBezTo>
                  <a:pt x="469" y="128"/>
                  <a:pt x="469" y="128"/>
                  <a:pt x="469" y="128"/>
                </a:cubicBezTo>
                <a:cubicBezTo>
                  <a:pt x="41" y="128"/>
                  <a:pt x="41" y="128"/>
                  <a:pt x="41" y="128"/>
                </a:cubicBezTo>
                <a:cubicBezTo>
                  <a:pt x="41" y="87"/>
                  <a:pt x="41" y="87"/>
                  <a:pt x="41" y="87"/>
                </a:cubicBezTo>
                <a:cubicBezTo>
                  <a:pt x="41" y="87"/>
                  <a:pt x="41" y="87"/>
                  <a:pt x="26" y="103"/>
                </a:cubicBezTo>
                <a:cubicBezTo>
                  <a:pt x="11" y="118"/>
                  <a:pt x="0" y="122"/>
                  <a:pt x="6" y="154"/>
                </a:cubicBezTo>
                <a:cubicBezTo>
                  <a:pt x="12" y="186"/>
                  <a:pt x="41" y="361"/>
                  <a:pt x="45" y="384"/>
                </a:cubicBezTo>
                <a:cubicBezTo>
                  <a:pt x="50" y="410"/>
                  <a:pt x="77" y="410"/>
                  <a:pt x="77" y="410"/>
                </a:cubicBezTo>
                <a:cubicBezTo>
                  <a:pt x="433" y="410"/>
                  <a:pt x="433" y="410"/>
                  <a:pt x="433" y="410"/>
                </a:cubicBezTo>
                <a:cubicBezTo>
                  <a:pt x="433" y="410"/>
                  <a:pt x="460" y="410"/>
                  <a:pt x="465" y="384"/>
                </a:cubicBezTo>
                <a:cubicBezTo>
                  <a:pt x="469" y="361"/>
                  <a:pt x="498" y="186"/>
                  <a:pt x="504" y="154"/>
                </a:cubicBezTo>
                <a:cubicBezTo>
                  <a:pt x="510" y="122"/>
                  <a:pt x="499" y="118"/>
                  <a:pt x="484" y="103"/>
                </a:cubicBezTo>
                <a:close/>
                <a:moveTo>
                  <a:pt x="357" y="241"/>
                </a:moveTo>
                <a:cubicBezTo>
                  <a:pt x="357" y="241"/>
                  <a:pt x="357" y="266"/>
                  <a:pt x="331" y="266"/>
                </a:cubicBezTo>
                <a:cubicBezTo>
                  <a:pt x="179" y="266"/>
                  <a:pt x="179" y="266"/>
                  <a:pt x="179" y="266"/>
                </a:cubicBezTo>
                <a:cubicBezTo>
                  <a:pt x="153" y="266"/>
                  <a:pt x="153" y="241"/>
                  <a:pt x="153" y="241"/>
                </a:cubicBezTo>
                <a:cubicBezTo>
                  <a:pt x="153" y="190"/>
                  <a:pt x="153" y="190"/>
                  <a:pt x="153" y="190"/>
                </a:cubicBezTo>
                <a:cubicBezTo>
                  <a:pt x="189" y="190"/>
                  <a:pt x="189" y="190"/>
                  <a:pt x="189" y="190"/>
                </a:cubicBezTo>
                <a:cubicBezTo>
                  <a:pt x="189" y="231"/>
                  <a:pt x="189" y="231"/>
                  <a:pt x="189" y="231"/>
                </a:cubicBezTo>
                <a:cubicBezTo>
                  <a:pt x="321" y="231"/>
                  <a:pt x="321" y="231"/>
                  <a:pt x="321" y="231"/>
                </a:cubicBezTo>
                <a:cubicBezTo>
                  <a:pt x="321" y="190"/>
                  <a:pt x="321" y="190"/>
                  <a:pt x="321" y="190"/>
                </a:cubicBezTo>
                <a:cubicBezTo>
                  <a:pt x="357" y="190"/>
                  <a:pt x="357" y="190"/>
                  <a:pt x="357" y="190"/>
                </a:cubicBezTo>
                <a:cubicBezTo>
                  <a:pt x="357" y="241"/>
                  <a:pt x="357" y="241"/>
                  <a:pt x="357" y="241"/>
                </a:cubicBezTo>
                <a:close/>
              </a:path>
            </a:pathLst>
          </a:custGeom>
          <a:solidFill>
            <a:schemeClr val="tx2"/>
          </a:solidFill>
          <a:ln>
            <a:noFill/>
          </a:ln>
        </p:spPr>
        <p:txBody>
          <a:bodyPr/>
          <a:lstStyle/>
          <a:p>
            <a:pPr defTabSz="855878">
              <a:defRPr/>
            </a:pPr>
            <a:endParaRPr lang="en-US" sz="1685"/>
          </a:p>
        </p:txBody>
      </p:sp>
      <p:sp>
        <p:nvSpPr>
          <p:cNvPr id="6" name="Title 2">
            <a:extLst>
              <a:ext uri="{FF2B5EF4-FFF2-40B4-BE49-F238E27FC236}">
                <a16:creationId xmlns:a16="http://schemas.microsoft.com/office/drawing/2014/main" id="{AC886EBC-E2B5-814B-F87E-9E301572E70A}"/>
              </a:ext>
            </a:extLst>
          </p:cNvPr>
          <p:cNvSpPr txBox="1">
            <a:spLocks/>
          </p:cNvSpPr>
          <p:nvPr/>
        </p:nvSpPr>
        <p:spPr>
          <a:xfrm>
            <a:off x="838200" y="247665"/>
            <a:ext cx="10515600" cy="512446"/>
          </a:xfrm>
          <a:prstGeom prst="rect">
            <a:avLst/>
          </a:prstGeom>
          <a:noFill/>
          <a:ln>
            <a:noFill/>
          </a:ln>
        </p:spPr>
        <p:txBody>
          <a:bodyPr vert="horz" lIns="109728" tIns="54864" rIns="109728" bIns="54864" rtlCol="0" anchor="ctr" anchorCtr="0">
            <a:noAutofit/>
          </a:bodyPr>
          <a:lstStyle>
            <a:defPPr>
              <a:defRPr lang="zh-CN"/>
            </a:defPPr>
            <a:lvl1pPr algn="ctr" defTabSz="762000">
              <a:lnSpc>
                <a:spcPct val="90000"/>
              </a:lnSpc>
              <a:spcBef>
                <a:spcPct val="0"/>
              </a:spcBef>
              <a:buNone/>
              <a:defRPr sz="3360" b="1">
                <a:solidFill>
                  <a:schemeClr val="tx2"/>
                </a:solidFill>
                <a:latin typeface="Times New Roman" panose="02020603050405020304" pitchFamily="18" charset="0"/>
                <a:ea typeface="+mj-ea"/>
                <a:cs typeface="Times New Roman" panose="02020603050405020304" pitchFamily="18" charset="0"/>
              </a:defRPr>
            </a:lvl1pPr>
          </a:lstStyle>
          <a:p>
            <a:r>
              <a:rPr lang="en-US" altLang="zh-CN" dirty="0"/>
              <a:t>6.2 </a:t>
            </a:r>
            <a:r>
              <a:rPr lang="en-US" altLang="zh-CN" dirty="0" err="1"/>
              <a:t>Strengrhs</a:t>
            </a:r>
            <a:r>
              <a:rPr lang="en-US" altLang="zh-CN" dirty="0"/>
              <a:t> and Limitations of ICL</a:t>
            </a:r>
          </a:p>
        </p:txBody>
      </p:sp>
      <p:sp>
        <p:nvSpPr>
          <p:cNvPr id="8" name="文本框 7">
            <a:extLst>
              <a:ext uri="{FF2B5EF4-FFF2-40B4-BE49-F238E27FC236}">
                <a16:creationId xmlns:a16="http://schemas.microsoft.com/office/drawing/2014/main" id="{D3376DD8-4CE8-70B8-E458-D5A7E14546F7}"/>
              </a:ext>
            </a:extLst>
          </p:cNvPr>
          <p:cNvSpPr txBox="1"/>
          <p:nvPr/>
        </p:nvSpPr>
        <p:spPr>
          <a:xfrm>
            <a:off x="1795642" y="1763688"/>
            <a:ext cx="2571750" cy="369332"/>
          </a:xfrm>
          <a:prstGeom prst="rect">
            <a:avLst/>
          </a:prstGeom>
          <a:noFill/>
        </p:spPr>
        <p:txBody>
          <a:bodyPr wrap="square">
            <a:spAutoFit/>
          </a:bodyPr>
          <a:lstStyle/>
          <a:p>
            <a:r>
              <a:rPr lang="en-US" altLang="zh-CN" b="1" kern="0" dirty="0">
                <a:solidFill>
                  <a:srgbClr val="000000"/>
                </a:solidFill>
                <a:latin typeface="Times New Roman" panose="02020603050405020304" pitchFamily="18" charset="0"/>
                <a:cs typeface="Times New Roman" panose="02020603050405020304" pitchFamily="18" charset="0"/>
              </a:rPr>
              <a:t>Strengths</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9A371CB6-A6F8-A119-992E-C3792AE16281}"/>
              </a:ext>
            </a:extLst>
          </p:cNvPr>
          <p:cNvSpPr txBox="1"/>
          <p:nvPr/>
        </p:nvSpPr>
        <p:spPr>
          <a:xfrm>
            <a:off x="1824990" y="3905660"/>
            <a:ext cx="2571750" cy="369332"/>
          </a:xfrm>
          <a:prstGeom prst="rect">
            <a:avLst/>
          </a:prstGeom>
          <a:noFill/>
        </p:spPr>
        <p:txBody>
          <a:bodyPr wrap="square">
            <a:spAutoFit/>
          </a:bodyPr>
          <a:lstStyle/>
          <a:p>
            <a:r>
              <a:rPr lang="en-US" altLang="zh-CN" b="1" dirty="0">
                <a:solidFill>
                  <a:schemeClr val="accent6">
                    <a:lumMod val="10000"/>
                  </a:schemeClr>
                </a:solidFill>
                <a:latin typeface="Times New Roman" panose="02020603050405020304" pitchFamily="18" charset="0"/>
                <a:cs typeface="Times New Roman" panose="02020603050405020304" pitchFamily="18" charset="0"/>
              </a:rPr>
              <a:t>Limitations</a:t>
            </a:r>
            <a:endParaRPr lang="zh-CN" altLang="en-US" b="1" dirty="0">
              <a:solidFill>
                <a:schemeClr val="accent6">
                  <a:lumMod val="10000"/>
                </a:schemeClr>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A3ACDCB7-DC47-B580-A95D-31ABCD0A5D54}"/>
              </a:ext>
            </a:extLst>
          </p:cNvPr>
          <p:cNvSpPr txBox="1"/>
          <p:nvPr/>
        </p:nvSpPr>
        <p:spPr>
          <a:xfrm>
            <a:off x="5049619" y="1426076"/>
            <a:ext cx="6096000" cy="1754326"/>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Training-Free Deployment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LLMs require no retraining for new tasks</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Few-Shot Adaptability</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Rapid prototyping with a handful of labeled examples</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Multi-task Versatility</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ICL models generalize across tasks and formats</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1393883-21FD-202D-085A-C8574C9CD003}"/>
              </a:ext>
            </a:extLst>
          </p:cNvPr>
          <p:cNvSpPr txBox="1"/>
          <p:nvPr/>
        </p:nvSpPr>
        <p:spPr>
          <a:xfrm>
            <a:off x="4987290" y="3435156"/>
            <a:ext cx="6096000" cy="2308324"/>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Context Window Constraint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Token limits restrict the number of in-context examples</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 Learning Signal</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ICL can't adapt or improve from errors</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Prompt Sensitivity</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Minor format changes can cause erratic outputs</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Lower Accuracy on Tabular Data</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Especially for numeric regression</a:t>
            </a:r>
            <a:endPar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5438519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40"/>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9"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2">
            <a:extLst>
              <a:ext uri="{FF2B5EF4-FFF2-40B4-BE49-F238E27FC236}">
                <a16:creationId xmlns:a16="http://schemas.microsoft.com/office/drawing/2014/main" id="{BE47EA56-4FD7-CD75-7963-16B03D3D2F2B}"/>
              </a:ext>
            </a:extLst>
          </p:cNvPr>
          <p:cNvSpPr>
            <a:spLocks noGrp="1"/>
          </p:cNvSpPr>
          <p:nvPr>
            <p:ph type="title"/>
          </p:nvPr>
        </p:nvSpPr>
        <p:spPr bwMode="auto">
          <a:xfrm>
            <a:off x="838200" y="365760"/>
            <a:ext cx="10515600" cy="5124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r>
              <a:rPr lang="en-US" altLang="zh-CN" dirty="0">
                <a:latin typeface="Times New Roman" panose="02020603050405020304" pitchFamily="18" charset="0"/>
                <a:cs typeface="Times New Roman" panose="02020603050405020304" pitchFamily="18" charset="0"/>
              </a:rPr>
              <a:t>6.3 Future Directions</a:t>
            </a:r>
            <a:endParaRPr lang="bg-BG" altLang="zh-CN" dirty="0">
              <a:latin typeface="Times New Roman" panose="02020603050405020304" pitchFamily="18" charset="0"/>
              <a:cs typeface="Times New Roman" panose="02020603050405020304" pitchFamily="18" charset="0"/>
            </a:endParaRPr>
          </a:p>
        </p:txBody>
      </p:sp>
      <p:sp>
        <p:nvSpPr>
          <p:cNvPr id="48131" name="Slide Number Placeholder 5">
            <a:extLst>
              <a:ext uri="{FF2B5EF4-FFF2-40B4-BE49-F238E27FC236}">
                <a16:creationId xmlns:a16="http://schemas.microsoft.com/office/drawing/2014/main" id="{9AD4B715-94D8-02A6-4847-4DD733E3C6A2}"/>
              </a:ext>
            </a:extLst>
          </p:cNvPr>
          <p:cNvSpPr>
            <a:spLocks noGrp="1"/>
          </p:cNvSpPr>
          <p:nvPr>
            <p:ph type="sldNum" sz="quarter" idx="10"/>
          </p:nvPr>
        </p:nvSpPr>
        <p:spPr bwMode="auto">
          <a:xfrm>
            <a:off x="638175" y="5392738"/>
            <a:ext cx="525463" cy="2301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bg-BG"/>
            </a:defPPr>
            <a:lvl1pPr algn="ctr" defTabSz="712788" rtl="0" eaLnBrk="1" fontAlgn="base" hangingPunct="1">
              <a:spcBef>
                <a:spcPct val="0"/>
              </a:spcBef>
              <a:spcAft>
                <a:spcPct val="0"/>
              </a:spcAft>
              <a:defRPr sz="1100" kern="1200">
                <a:solidFill>
                  <a:schemeClr val="tx1"/>
                </a:solidFill>
                <a:latin typeface="Open Sans" panose="020B0606030504020204" pitchFamily="34" charset="0"/>
                <a:ea typeface="+mn-ea"/>
                <a:cs typeface="Open Sans" panose="020B0606030504020204" pitchFamily="34" charset="0"/>
              </a:defRPr>
            </a:lvl1pPr>
            <a:lvl2pPr marL="355600" indent="101600"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2pPr>
            <a:lvl3pPr marL="712788" indent="2016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3pPr>
            <a:lvl4pPr marL="1068388" indent="3032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4pPr>
            <a:lvl5pPr marL="1425575" indent="403225"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5pPr>
            <a:lvl6pPr marL="2286000" algn="l" defTabSz="914400" rtl="0" eaLnBrk="1" latinLnBrk="0" hangingPunct="1">
              <a:defRPr sz="1400" kern="1200">
                <a:solidFill>
                  <a:schemeClr val="tx1"/>
                </a:solidFill>
                <a:latin typeface="Calibri" panose="020F0502020204030204" pitchFamily="34" charset="0"/>
                <a:ea typeface="+mn-ea"/>
                <a:cs typeface="+mn-cs"/>
              </a:defRPr>
            </a:lvl6pPr>
            <a:lvl7pPr marL="2743200" algn="l" defTabSz="914400" rtl="0" eaLnBrk="1" latinLnBrk="0" hangingPunct="1">
              <a:defRPr sz="1400" kern="1200">
                <a:solidFill>
                  <a:schemeClr val="tx1"/>
                </a:solidFill>
                <a:latin typeface="Calibri" panose="020F0502020204030204" pitchFamily="34" charset="0"/>
                <a:ea typeface="+mn-ea"/>
                <a:cs typeface="+mn-cs"/>
              </a:defRPr>
            </a:lvl7pPr>
            <a:lvl8pPr marL="3200400" algn="l" defTabSz="914400" rtl="0" eaLnBrk="1" latinLnBrk="0" hangingPunct="1">
              <a:defRPr sz="1400" kern="1200">
                <a:solidFill>
                  <a:schemeClr val="tx1"/>
                </a:solidFill>
                <a:latin typeface="Calibri" panose="020F0502020204030204" pitchFamily="34" charset="0"/>
                <a:ea typeface="+mn-ea"/>
                <a:cs typeface="+mn-cs"/>
              </a:defRPr>
            </a:lvl8pPr>
            <a:lvl9pPr marL="3657600" algn="l" defTabSz="914400" rtl="0" eaLnBrk="1" latinLnBrk="0" hangingPunct="1">
              <a:defRPr sz="1400" kern="1200">
                <a:solidFill>
                  <a:schemeClr val="tx1"/>
                </a:solidFill>
                <a:latin typeface="Calibri" panose="020F0502020204030204" pitchFamily="34" charset="0"/>
                <a:ea typeface="+mn-ea"/>
                <a:cs typeface="+mn-cs"/>
              </a:defRPr>
            </a:lvl9pPr>
          </a:lstStyle>
          <a:p>
            <a:fld id="{E8B6EC68-080B-4F1D-8FC0-EC533622CB47}" type="slidenum">
              <a:rPr lang="en-US" altLang="zh-CN" smtClean="0">
                <a:latin typeface="Times New Roman" panose="02020603050405020304" pitchFamily="18" charset="0"/>
                <a:cs typeface="Times New Roman" panose="02020603050405020304" pitchFamily="18" charset="0"/>
              </a:rPr>
              <a:pPr/>
              <a:t>27</a:t>
            </a:fld>
            <a:endParaRPr lang="en-US" altLang="zh-CN" sz="1200">
              <a:latin typeface="Times New Roman" panose="02020603050405020304" pitchFamily="18" charset="0"/>
              <a:cs typeface="Times New Roman" panose="02020603050405020304" pitchFamily="18" charset="0"/>
            </a:endParaRPr>
          </a:p>
        </p:txBody>
      </p:sp>
      <p:grpSp>
        <p:nvGrpSpPr>
          <p:cNvPr id="50" name="Group 49">
            <a:extLst>
              <a:ext uri="{FF2B5EF4-FFF2-40B4-BE49-F238E27FC236}">
                <a16:creationId xmlns:a16="http://schemas.microsoft.com/office/drawing/2014/main" id="{EA9806B6-B4F9-CB15-3CE9-35CDF4B67092}"/>
              </a:ext>
            </a:extLst>
          </p:cNvPr>
          <p:cNvGrpSpPr>
            <a:grpSpLocks/>
          </p:cNvGrpSpPr>
          <p:nvPr/>
        </p:nvGrpSpPr>
        <p:grpSpPr bwMode="auto">
          <a:xfrm>
            <a:off x="647466" y="4185286"/>
            <a:ext cx="1312544" cy="1312544"/>
            <a:chOff x="3865314" y="1566605"/>
            <a:chExt cx="1426531" cy="1426531"/>
          </a:xfrm>
        </p:grpSpPr>
        <p:sp>
          <p:nvSpPr>
            <p:cNvPr id="51" name="Oval 50">
              <a:extLst>
                <a:ext uri="{FF2B5EF4-FFF2-40B4-BE49-F238E27FC236}">
                  <a16:creationId xmlns:a16="http://schemas.microsoft.com/office/drawing/2014/main" id="{89B4334E-7BBC-EAB6-5459-C3148F89D2EA}"/>
                </a:ext>
              </a:extLst>
            </p:cNvPr>
            <p:cNvSpPr/>
            <p:nvPr/>
          </p:nvSpPr>
          <p:spPr>
            <a:xfrm>
              <a:off x="3865314" y="1566605"/>
              <a:ext cx="1426531" cy="1426531"/>
            </a:xfrm>
            <a:prstGeom prst="ellipse">
              <a:avLst/>
            </a:prstGeom>
            <a:solidFill>
              <a:schemeClr val="accent3"/>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sp>
          <p:nvSpPr>
            <p:cNvPr id="52" name="Oval 51">
              <a:extLst>
                <a:ext uri="{FF2B5EF4-FFF2-40B4-BE49-F238E27FC236}">
                  <a16:creationId xmlns:a16="http://schemas.microsoft.com/office/drawing/2014/main" id="{F960340B-FE32-69BE-6A64-E73B339E05A3}"/>
                </a:ext>
              </a:extLst>
            </p:cNvPr>
            <p:cNvSpPr/>
            <p:nvPr/>
          </p:nvSpPr>
          <p:spPr>
            <a:xfrm>
              <a:off x="4008174" y="1709465"/>
              <a:ext cx="1140812" cy="11408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grpSp>
      <p:grpSp>
        <p:nvGrpSpPr>
          <p:cNvPr id="53" name="Group 52">
            <a:extLst>
              <a:ext uri="{FF2B5EF4-FFF2-40B4-BE49-F238E27FC236}">
                <a16:creationId xmlns:a16="http://schemas.microsoft.com/office/drawing/2014/main" id="{93815A59-FD41-F488-9BEC-9F3E88848CDD}"/>
              </a:ext>
            </a:extLst>
          </p:cNvPr>
          <p:cNvGrpSpPr>
            <a:grpSpLocks/>
          </p:cNvGrpSpPr>
          <p:nvPr/>
        </p:nvGrpSpPr>
        <p:grpSpPr bwMode="auto">
          <a:xfrm>
            <a:off x="4652015" y="2181505"/>
            <a:ext cx="1312544" cy="1312544"/>
            <a:chOff x="3865314" y="1566605"/>
            <a:chExt cx="1426531" cy="1426531"/>
          </a:xfrm>
        </p:grpSpPr>
        <p:sp>
          <p:nvSpPr>
            <p:cNvPr id="54" name="Oval 53">
              <a:extLst>
                <a:ext uri="{FF2B5EF4-FFF2-40B4-BE49-F238E27FC236}">
                  <a16:creationId xmlns:a16="http://schemas.microsoft.com/office/drawing/2014/main" id="{ED30BCB1-0FFD-AE3B-77CF-88FCF698D706}"/>
                </a:ext>
              </a:extLst>
            </p:cNvPr>
            <p:cNvSpPr/>
            <p:nvPr/>
          </p:nvSpPr>
          <p:spPr>
            <a:xfrm>
              <a:off x="3865314" y="1566605"/>
              <a:ext cx="1426531" cy="1426531"/>
            </a:xfrm>
            <a:prstGeom prst="ellipse">
              <a:avLst/>
            </a:prstGeom>
            <a:solidFill>
              <a:schemeClr val="bg1"/>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sp>
          <p:nvSpPr>
            <p:cNvPr id="56" name="Oval 55">
              <a:extLst>
                <a:ext uri="{FF2B5EF4-FFF2-40B4-BE49-F238E27FC236}">
                  <a16:creationId xmlns:a16="http://schemas.microsoft.com/office/drawing/2014/main" id="{4E5F9C7C-F77F-9675-4EEB-88D5B4E1A3A8}"/>
                </a:ext>
              </a:extLst>
            </p:cNvPr>
            <p:cNvSpPr/>
            <p:nvPr/>
          </p:nvSpPr>
          <p:spPr>
            <a:xfrm>
              <a:off x="4008174" y="1709465"/>
              <a:ext cx="1140812" cy="11408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A63E5FBC-E868-329B-0213-F18DE6E50E51}"/>
              </a:ext>
            </a:extLst>
          </p:cNvPr>
          <p:cNvGrpSpPr>
            <a:grpSpLocks/>
          </p:cNvGrpSpPr>
          <p:nvPr/>
        </p:nvGrpSpPr>
        <p:grpSpPr bwMode="auto">
          <a:xfrm>
            <a:off x="4652015" y="4185286"/>
            <a:ext cx="1312544" cy="1312544"/>
            <a:chOff x="3865314" y="1566605"/>
            <a:chExt cx="1426531" cy="1426531"/>
          </a:xfrm>
        </p:grpSpPr>
        <p:sp>
          <p:nvSpPr>
            <p:cNvPr id="58" name="Oval 57">
              <a:extLst>
                <a:ext uri="{FF2B5EF4-FFF2-40B4-BE49-F238E27FC236}">
                  <a16:creationId xmlns:a16="http://schemas.microsoft.com/office/drawing/2014/main" id="{1316E4A2-207B-1C0F-B787-A4B5EE560400}"/>
                </a:ext>
              </a:extLst>
            </p:cNvPr>
            <p:cNvSpPr/>
            <p:nvPr/>
          </p:nvSpPr>
          <p:spPr>
            <a:xfrm>
              <a:off x="3865314" y="1566605"/>
              <a:ext cx="1426531" cy="1426531"/>
            </a:xfrm>
            <a:prstGeom prst="ellipse">
              <a:avLst/>
            </a:prstGeom>
            <a:solidFill>
              <a:schemeClr val="accent2"/>
            </a:solidFill>
            <a:ln w="1174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sp>
          <p:nvSpPr>
            <p:cNvPr id="59" name="Oval 58">
              <a:extLst>
                <a:ext uri="{FF2B5EF4-FFF2-40B4-BE49-F238E27FC236}">
                  <a16:creationId xmlns:a16="http://schemas.microsoft.com/office/drawing/2014/main" id="{3946C62F-784F-1FCA-2C63-E57A7C340ACA}"/>
                </a:ext>
              </a:extLst>
            </p:cNvPr>
            <p:cNvSpPr/>
            <p:nvPr/>
          </p:nvSpPr>
          <p:spPr>
            <a:xfrm>
              <a:off x="4008174" y="1709465"/>
              <a:ext cx="1140812" cy="11408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grpSp>
      <p:sp>
        <p:nvSpPr>
          <p:cNvPr id="8" name="Teardrop 7">
            <a:extLst>
              <a:ext uri="{FF2B5EF4-FFF2-40B4-BE49-F238E27FC236}">
                <a16:creationId xmlns:a16="http://schemas.microsoft.com/office/drawing/2014/main" id="{26B5E9B6-7628-F7DA-6F75-BC31B25DF84B}"/>
              </a:ext>
            </a:extLst>
          </p:cNvPr>
          <p:cNvSpPr/>
          <p:nvPr/>
        </p:nvSpPr>
        <p:spPr>
          <a:xfrm>
            <a:off x="8838488" y="3047525"/>
            <a:ext cx="1316356" cy="1316354"/>
          </a:xfrm>
          <a:prstGeom prst="teardrop">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sp>
        <p:nvSpPr>
          <p:cNvPr id="60" name="Teardrop 59">
            <a:extLst>
              <a:ext uri="{FF2B5EF4-FFF2-40B4-BE49-F238E27FC236}">
                <a16:creationId xmlns:a16="http://schemas.microsoft.com/office/drawing/2014/main" id="{BBE0C042-624D-BA51-6829-3D61E5BD11E6}"/>
              </a:ext>
            </a:extLst>
          </p:cNvPr>
          <p:cNvSpPr/>
          <p:nvPr/>
        </p:nvSpPr>
        <p:spPr>
          <a:xfrm rot="10800000">
            <a:off x="643656" y="2139376"/>
            <a:ext cx="1316354" cy="1316354"/>
          </a:xfrm>
          <a:prstGeom prst="teardrop">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78">
              <a:defRPr/>
            </a:pPr>
            <a:endParaRPr lang="bg-BG" sz="1685">
              <a:latin typeface="Times New Roman" panose="02020603050405020304" pitchFamily="18" charset="0"/>
              <a:cs typeface="Times New Roman" panose="02020603050405020304" pitchFamily="18" charset="0"/>
            </a:endParaRPr>
          </a:p>
        </p:txBody>
      </p:sp>
      <p:sp>
        <p:nvSpPr>
          <p:cNvPr id="47" name="Freeform 32">
            <a:extLst>
              <a:ext uri="{FF2B5EF4-FFF2-40B4-BE49-F238E27FC236}">
                <a16:creationId xmlns:a16="http://schemas.microsoft.com/office/drawing/2014/main" id="{242805FE-8D51-1C2A-2DD3-3C59FD1C70EF}"/>
              </a:ext>
            </a:extLst>
          </p:cNvPr>
          <p:cNvSpPr>
            <a:spLocks noEditPoints="1"/>
          </p:cNvSpPr>
          <p:nvPr/>
        </p:nvSpPr>
        <p:spPr bwMode="auto">
          <a:xfrm>
            <a:off x="9228061" y="3351254"/>
            <a:ext cx="537210" cy="539114"/>
          </a:xfrm>
          <a:custGeom>
            <a:avLst/>
            <a:gdLst>
              <a:gd name="T0" fmla="*/ 824 w 1648"/>
              <a:gd name="T1" fmla="*/ 1099 h 1648"/>
              <a:gd name="T2" fmla="*/ 1190 w 1648"/>
              <a:gd name="T3" fmla="*/ 736 h 1648"/>
              <a:gd name="T4" fmla="*/ 824 w 1648"/>
              <a:gd name="T5" fmla="*/ 0 h 1648"/>
              <a:gd name="T6" fmla="*/ 458 w 1648"/>
              <a:gd name="T7" fmla="*/ 736 h 1648"/>
              <a:gd name="T8" fmla="*/ 824 w 1648"/>
              <a:gd name="T9" fmla="*/ 1099 h 1648"/>
              <a:gd name="T10" fmla="*/ 823 w 1648"/>
              <a:gd name="T11" fmla="*/ 234 h 1648"/>
              <a:gd name="T12" fmla="*/ 870 w 1648"/>
              <a:gd name="T13" fmla="*/ 386 h 1648"/>
              <a:gd name="T14" fmla="*/ 686 w 1648"/>
              <a:gd name="T15" fmla="*/ 486 h 1648"/>
              <a:gd name="T16" fmla="*/ 823 w 1648"/>
              <a:gd name="T17" fmla="*/ 234 h 1648"/>
              <a:gd name="T18" fmla="*/ 824 w 1648"/>
              <a:gd name="T19" fmla="*/ 1373 h 1648"/>
              <a:gd name="T20" fmla="*/ 324 w 1648"/>
              <a:gd name="T21" fmla="*/ 1212 h 1648"/>
              <a:gd name="T22" fmla="*/ 462 w 1648"/>
              <a:gd name="T23" fmla="*/ 1150 h 1648"/>
              <a:gd name="T24" fmla="*/ 824 w 1648"/>
              <a:gd name="T25" fmla="*/ 1236 h 1648"/>
              <a:gd name="T26" fmla="*/ 1185 w 1648"/>
              <a:gd name="T27" fmla="*/ 1150 h 1648"/>
              <a:gd name="T28" fmla="*/ 1324 w 1648"/>
              <a:gd name="T29" fmla="*/ 1212 h 1648"/>
              <a:gd name="T30" fmla="*/ 824 w 1648"/>
              <a:gd name="T31" fmla="*/ 1373 h 1648"/>
              <a:gd name="T32" fmla="*/ 1648 w 1648"/>
              <a:gd name="T33" fmla="*/ 1236 h 1648"/>
              <a:gd name="T34" fmla="*/ 824 w 1648"/>
              <a:gd name="T35" fmla="*/ 1648 h 1648"/>
              <a:gd name="T36" fmla="*/ 0 w 1648"/>
              <a:gd name="T37" fmla="*/ 1236 h 1648"/>
              <a:gd name="T38" fmla="*/ 0 w 1648"/>
              <a:gd name="T39" fmla="*/ 1227 h 1648"/>
              <a:gd name="T40" fmla="*/ 104 w 1648"/>
              <a:gd name="T41" fmla="*/ 1063 h 1648"/>
              <a:gd name="T42" fmla="*/ 298 w 1648"/>
              <a:gd name="T43" fmla="*/ 1068 h 1648"/>
              <a:gd name="T44" fmla="*/ 299 w 1648"/>
              <a:gd name="T45" fmla="*/ 1069 h 1648"/>
              <a:gd name="T46" fmla="*/ 137 w 1648"/>
              <a:gd name="T47" fmla="*/ 1236 h 1648"/>
              <a:gd name="T48" fmla="*/ 824 w 1648"/>
              <a:gd name="T49" fmla="*/ 1511 h 1648"/>
              <a:gd name="T50" fmla="*/ 1510 w 1648"/>
              <a:gd name="T51" fmla="*/ 1236 h 1648"/>
              <a:gd name="T52" fmla="*/ 1348 w 1648"/>
              <a:gd name="T53" fmla="*/ 1069 h 1648"/>
              <a:gd name="T54" fmla="*/ 1350 w 1648"/>
              <a:gd name="T55" fmla="*/ 1068 h 1648"/>
              <a:gd name="T56" fmla="*/ 1546 w 1648"/>
              <a:gd name="T57" fmla="*/ 1064 h 1648"/>
              <a:gd name="T58" fmla="*/ 1648 w 1648"/>
              <a:gd name="T59" fmla="*/ 1233 h 1648"/>
              <a:gd name="T60" fmla="*/ 1648 w 1648"/>
              <a:gd name="T61" fmla="*/ 1236 h 1648"/>
              <a:gd name="T62" fmla="*/ 1304 w 1648"/>
              <a:gd name="T63" fmla="*/ 959 h 1648"/>
              <a:gd name="T64" fmla="*/ 1607 w 1648"/>
              <a:gd name="T65" fmla="*/ 858 h 1648"/>
              <a:gd name="T66" fmla="*/ 1648 w 1648"/>
              <a:gd name="T67" fmla="*/ 763 h 1648"/>
              <a:gd name="T68" fmla="*/ 1441 w 1648"/>
              <a:gd name="T69" fmla="*/ 664 h 1648"/>
              <a:gd name="T70" fmla="*/ 1304 w 1648"/>
              <a:gd name="T71" fmla="*/ 959 h 1648"/>
              <a:gd name="T72" fmla="*/ 1317 w 1648"/>
              <a:gd name="T73" fmla="*/ 611 h 1648"/>
              <a:gd name="T74" fmla="*/ 1476 w 1648"/>
              <a:gd name="T75" fmla="*/ 507 h 1648"/>
              <a:gd name="T76" fmla="*/ 1351 w 1648"/>
              <a:gd name="T77" fmla="*/ 419 h 1648"/>
              <a:gd name="T78" fmla="*/ 1317 w 1648"/>
              <a:gd name="T79" fmla="*/ 611 h 1648"/>
              <a:gd name="T80" fmla="*/ 207 w 1648"/>
              <a:gd name="T81" fmla="*/ 664 h 1648"/>
              <a:gd name="T82" fmla="*/ 0 w 1648"/>
              <a:gd name="T83" fmla="*/ 763 h 1648"/>
              <a:gd name="T84" fmla="*/ 41 w 1648"/>
              <a:gd name="T85" fmla="*/ 858 h 1648"/>
              <a:gd name="T86" fmla="*/ 344 w 1648"/>
              <a:gd name="T87" fmla="*/ 959 h 1648"/>
              <a:gd name="T88" fmla="*/ 207 w 1648"/>
              <a:gd name="T89" fmla="*/ 664 h 1648"/>
              <a:gd name="T90" fmla="*/ 297 w 1648"/>
              <a:gd name="T91" fmla="*/ 419 h 1648"/>
              <a:gd name="T92" fmla="*/ 171 w 1648"/>
              <a:gd name="T93" fmla="*/ 507 h 1648"/>
              <a:gd name="T94" fmla="*/ 331 w 1648"/>
              <a:gd name="T95" fmla="*/ 611 h 1648"/>
              <a:gd name="T96" fmla="*/ 297 w 1648"/>
              <a:gd name="T97" fmla="*/ 419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48" h="1648">
                <a:moveTo>
                  <a:pt x="824" y="1099"/>
                </a:moveTo>
                <a:cubicBezTo>
                  <a:pt x="1026" y="1099"/>
                  <a:pt x="1190" y="936"/>
                  <a:pt x="1190" y="736"/>
                </a:cubicBezTo>
                <a:cubicBezTo>
                  <a:pt x="1190" y="536"/>
                  <a:pt x="1047" y="329"/>
                  <a:pt x="824" y="0"/>
                </a:cubicBezTo>
                <a:cubicBezTo>
                  <a:pt x="601" y="329"/>
                  <a:pt x="458" y="536"/>
                  <a:pt x="458" y="736"/>
                </a:cubicBezTo>
                <a:cubicBezTo>
                  <a:pt x="458" y="936"/>
                  <a:pt x="621" y="1099"/>
                  <a:pt x="824" y="1099"/>
                </a:cubicBezTo>
                <a:close/>
                <a:moveTo>
                  <a:pt x="823" y="234"/>
                </a:moveTo>
                <a:cubicBezTo>
                  <a:pt x="844" y="268"/>
                  <a:pt x="870" y="325"/>
                  <a:pt x="870" y="386"/>
                </a:cubicBezTo>
                <a:cubicBezTo>
                  <a:pt x="870" y="565"/>
                  <a:pt x="686" y="595"/>
                  <a:pt x="686" y="486"/>
                </a:cubicBezTo>
                <a:cubicBezTo>
                  <a:pt x="686" y="411"/>
                  <a:pt x="778" y="301"/>
                  <a:pt x="823" y="234"/>
                </a:cubicBezTo>
                <a:close/>
                <a:moveTo>
                  <a:pt x="824" y="1373"/>
                </a:moveTo>
                <a:cubicBezTo>
                  <a:pt x="661" y="1373"/>
                  <a:pt x="432" y="1331"/>
                  <a:pt x="324" y="1212"/>
                </a:cubicBezTo>
                <a:cubicBezTo>
                  <a:pt x="356" y="1191"/>
                  <a:pt x="403" y="1170"/>
                  <a:pt x="462" y="1150"/>
                </a:cubicBezTo>
                <a:cubicBezTo>
                  <a:pt x="526" y="1191"/>
                  <a:pt x="648" y="1236"/>
                  <a:pt x="824" y="1236"/>
                </a:cubicBezTo>
                <a:cubicBezTo>
                  <a:pt x="1000" y="1236"/>
                  <a:pt x="1122" y="1191"/>
                  <a:pt x="1185" y="1150"/>
                </a:cubicBezTo>
                <a:cubicBezTo>
                  <a:pt x="1245" y="1170"/>
                  <a:pt x="1292" y="1191"/>
                  <a:pt x="1324" y="1212"/>
                </a:cubicBezTo>
                <a:cubicBezTo>
                  <a:pt x="1216" y="1331"/>
                  <a:pt x="986" y="1373"/>
                  <a:pt x="824" y="1373"/>
                </a:cubicBezTo>
                <a:close/>
                <a:moveTo>
                  <a:pt x="1648" y="1236"/>
                </a:moveTo>
                <a:cubicBezTo>
                  <a:pt x="1648" y="1463"/>
                  <a:pt x="1279" y="1648"/>
                  <a:pt x="824" y="1648"/>
                </a:cubicBezTo>
                <a:cubicBezTo>
                  <a:pt x="369" y="1648"/>
                  <a:pt x="0" y="1463"/>
                  <a:pt x="0" y="1236"/>
                </a:cubicBezTo>
                <a:cubicBezTo>
                  <a:pt x="0" y="1233"/>
                  <a:pt x="0" y="1230"/>
                  <a:pt x="0" y="1227"/>
                </a:cubicBezTo>
                <a:cubicBezTo>
                  <a:pt x="3" y="1158"/>
                  <a:pt x="42" y="1095"/>
                  <a:pt x="104" y="1063"/>
                </a:cubicBezTo>
                <a:cubicBezTo>
                  <a:pt x="165" y="1030"/>
                  <a:pt x="238" y="1032"/>
                  <a:pt x="298" y="1068"/>
                </a:cubicBezTo>
                <a:cubicBezTo>
                  <a:pt x="298" y="1068"/>
                  <a:pt x="299" y="1068"/>
                  <a:pt x="299" y="1069"/>
                </a:cubicBezTo>
                <a:cubicBezTo>
                  <a:pt x="195" y="1121"/>
                  <a:pt x="137" y="1184"/>
                  <a:pt x="137" y="1236"/>
                </a:cubicBezTo>
                <a:cubicBezTo>
                  <a:pt x="137" y="1348"/>
                  <a:pt x="405" y="1511"/>
                  <a:pt x="824" y="1511"/>
                </a:cubicBezTo>
                <a:cubicBezTo>
                  <a:pt x="1243" y="1511"/>
                  <a:pt x="1510" y="1348"/>
                  <a:pt x="1510" y="1236"/>
                </a:cubicBezTo>
                <a:cubicBezTo>
                  <a:pt x="1510" y="1184"/>
                  <a:pt x="1452" y="1121"/>
                  <a:pt x="1348" y="1069"/>
                </a:cubicBezTo>
                <a:cubicBezTo>
                  <a:pt x="1349" y="1068"/>
                  <a:pt x="1349" y="1068"/>
                  <a:pt x="1350" y="1068"/>
                </a:cubicBezTo>
                <a:cubicBezTo>
                  <a:pt x="1410" y="1032"/>
                  <a:pt x="1485" y="1030"/>
                  <a:pt x="1546" y="1064"/>
                </a:cubicBezTo>
                <a:cubicBezTo>
                  <a:pt x="1608" y="1098"/>
                  <a:pt x="1647" y="1163"/>
                  <a:pt x="1648" y="1233"/>
                </a:cubicBezTo>
                <a:cubicBezTo>
                  <a:pt x="1648" y="1234"/>
                  <a:pt x="1648" y="1235"/>
                  <a:pt x="1648" y="1236"/>
                </a:cubicBezTo>
                <a:close/>
                <a:moveTo>
                  <a:pt x="1304" y="959"/>
                </a:moveTo>
                <a:cubicBezTo>
                  <a:pt x="1404" y="863"/>
                  <a:pt x="1515" y="947"/>
                  <a:pt x="1607" y="858"/>
                </a:cubicBezTo>
                <a:cubicBezTo>
                  <a:pt x="1635" y="830"/>
                  <a:pt x="1648" y="796"/>
                  <a:pt x="1648" y="763"/>
                </a:cubicBezTo>
                <a:cubicBezTo>
                  <a:pt x="1648" y="675"/>
                  <a:pt x="1546" y="607"/>
                  <a:pt x="1441" y="664"/>
                </a:cubicBezTo>
                <a:cubicBezTo>
                  <a:pt x="1356" y="710"/>
                  <a:pt x="1309" y="825"/>
                  <a:pt x="1304" y="959"/>
                </a:cubicBezTo>
                <a:close/>
                <a:moveTo>
                  <a:pt x="1317" y="611"/>
                </a:moveTo>
                <a:cubicBezTo>
                  <a:pt x="1360" y="540"/>
                  <a:pt x="1437" y="572"/>
                  <a:pt x="1476" y="507"/>
                </a:cubicBezTo>
                <a:cubicBezTo>
                  <a:pt x="1524" y="429"/>
                  <a:pt x="1426" y="349"/>
                  <a:pt x="1351" y="419"/>
                </a:cubicBezTo>
                <a:cubicBezTo>
                  <a:pt x="1309" y="459"/>
                  <a:pt x="1299" y="533"/>
                  <a:pt x="1317" y="611"/>
                </a:cubicBezTo>
                <a:close/>
                <a:moveTo>
                  <a:pt x="207" y="664"/>
                </a:moveTo>
                <a:cubicBezTo>
                  <a:pt x="102" y="607"/>
                  <a:pt x="0" y="675"/>
                  <a:pt x="0" y="763"/>
                </a:cubicBezTo>
                <a:cubicBezTo>
                  <a:pt x="0" y="796"/>
                  <a:pt x="13" y="830"/>
                  <a:pt x="41" y="858"/>
                </a:cubicBezTo>
                <a:cubicBezTo>
                  <a:pt x="133" y="947"/>
                  <a:pt x="244" y="863"/>
                  <a:pt x="344" y="959"/>
                </a:cubicBezTo>
                <a:cubicBezTo>
                  <a:pt x="339" y="825"/>
                  <a:pt x="292" y="710"/>
                  <a:pt x="207" y="664"/>
                </a:cubicBezTo>
                <a:close/>
                <a:moveTo>
                  <a:pt x="297" y="419"/>
                </a:moveTo>
                <a:cubicBezTo>
                  <a:pt x="222" y="349"/>
                  <a:pt x="124" y="429"/>
                  <a:pt x="171" y="507"/>
                </a:cubicBezTo>
                <a:cubicBezTo>
                  <a:pt x="211" y="572"/>
                  <a:pt x="288" y="540"/>
                  <a:pt x="331" y="611"/>
                </a:cubicBezTo>
                <a:cubicBezTo>
                  <a:pt x="349" y="533"/>
                  <a:pt x="339" y="459"/>
                  <a:pt x="297" y="419"/>
                </a:cubicBezTo>
                <a:close/>
              </a:path>
            </a:pathLst>
          </a:custGeom>
          <a:solidFill>
            <a:schemeClr val="accent6"/>
          </a:solidFill>
          <a:ln>
            <a:noFill/>
          </a:ln>
        </p:spPr>
        <p:txBody>
          <a:bodyPr lIns="121920" tIns="60960" rIns="121920" bIns="60960"/>
          <a:lstStyle/>
          <a:p>
            <a:pPr defTabSz="855878">
              <a:defRPr/>
            </a:pPr>
            <a:endParaRPr lang="en-US" sz="2400">
              <a:latin typeface="Times New Roman" panose="02020603050405020304" pitchFamily="18" charset="0"/>
              <a:cs typeface="Times New Roman" panose="02020603050405020304" pitchFamily="18" charset="0"/>
            </a:endParaRPr>
          </a:p>
        </p:txBody>
      </p:sp>
      <p:sp>
        <p:nvSpPr>
          <p:cNvPr id="63" name="Freeform 299">
            <a:extLst>
              <a:ext uri="{FF2B5EF4-FFF2-40B4-BE49-F238E27FC236}">
                <a16:creationId xmlns:a16="http://schemas.microsoft.com/office/drawing/2014/main" id="{25DACAC0-735B-53E8-E74F-2BF43EDC5D03}"/>
              </a:ext>
            </a:extLst>
          </p:cNvPr>
          <p:cNvSpPr>
            <a:spLocks noEditPoints="1"/>
          </p:cNvSpPr>
          <p:nvPr/>
        </p:nvSpPr>
        <p:spPr bwMode="auto">
          <a:xfrm>
            <a:off x="1081806" y="2509898"/>
            <a:ext cx="440054" cy="499110"/>
          </a:xfrm>
          <a:custGeom>
            <a:avLst/>
            <a:gdLst>
              <a:gd name="T0" fmla="*/ 450 w 450"/>
              <a:gd name="T1" fmla="*/ 89 h 512"/>
              <a:gd name="T2" fmla="*/ 256 w 450"/>
              <a:gd name="T3" fmla="*/ 0 h 512"/>
              <a:gd name="T4" fmla="*/ 0 w 450"/>
              <a:gd name="T5" fmla="*/ 256 h 512"/>
              <a:gd name="T6" fmla="*/ 256 w 450"/>
              <a:gd name="T7" fmla="*/ 512 h 512"/>
              <a:gd name="T8" fmla="*/ 450 w 450"/>
              <a:gd name="T9" fmla="*/ 423 h 512"/>
              <a:gd name="T10" fmla="*/ 288 w 450"/>
              <a:gd name="T11" fmla="*/ 256 h 512"/>
              <a:gd name="T12" fmla="*/ 450 w 450"/>
              <a:gd name="T13" fmla="*/ 89 h 512"/>
              <a:gd name="T14" fmla="*/ 320 w 450"/>
              <a:gd name="T15" fmla="*/ 60 h 512"/>
              <a:gd name="T16" fmla="*/ 356 w 450"/>
              <a:gd name="T17" fmla="*/ 96 h 512"/>
              <a:gd name="T18" fmla="*/ 320 w 450"/>
              <a:gd name="T19" fmla="*/ 132 h 512"/>
              <a:gd name="T20" fmla="*/ 284 w 450"/>
              <a:gd name="T21" fmla="*/ 96 h 512"/>
              <a:gd name="T22" fmla="*/ 320 w 450"/>
              <a:gd name="T23" fmla="*/ 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0" h="512">
                <a:moveTo>
                  <a:pt x="450" y="89"/>
                </a:moveTo>
                <a:cubicBezTo>
                  <a:pt x="403" y="35"/>
                  <a:pt x="334" y="0"/>
                  <a:pt x="256" y="0"/>
                </a:cubicBezTo>
                <a:cubicBezTo>
                  <a:pt x="115" y="0"/>
                  <a:pt x="0" y="115"/>
                  <a:pt x="0" y="256"/>
                </a:cubicBezTo>
                <a:cubicBezTo>
                  <a:pt x="0" y="397"/>
                  <a:pt x="115" y="512"/>
                  <a:pt x="256" y="512"/>
                </a:cubicBezTo>
                <a:cubicBezTo>
                  <a:pt x="334" y="512"/>
                  <a:pt x="403" y="477"/>
                  <a:pt x="450" y="423"/>
                </a:cubicBezTo>
                <a:cubicBezTo>
                  <a:pt x="288" y="256"/>
                  <a:pt x="288" y="256"/>
                  <a:pt x="288" y="256"/>
                </a:cubicBezTo>
                <a:cubicBezTo>
                  <a:pt x="450" y="89"/>
                  <a:pt x="450" y="89"/>
                  <a:pt x="450" y="89"/>
                </a:cubicBezTo>
                <a:close/>
                <a:moveTo>
                  <a:pt x="320" y="60"/>
                </a:moveTo>
                <a:cubicBezTo>
                  <a:pt x="340" y="60"/>
                  <a:pt x="356" y="76"/>
                  <a:pt x="356" y="96"/>
                </a:cubicBezTo>
                <a:cubicBezTo>
                  <a:pt x="356" y="116"/>
                  <a:pt x="340" y="132"/>
                  <a:pt x="320" y="132"/>
                </a:cubicBezTo>
                <a:cubicBezTo>
                  <a:pt x="300" y="132"/>
                  <a:pt x="284" y="116"/>
                  <a:pt x="284" y="96"/>
                </a:cubicBezTo>
                <a:cubicBezTo>
                  <a:pt x="284" y="76"/>
                  <a:pt x="300" y="60"/>
                  <a:pt x="320" y="60"/>
                </a:cubicBezTo>
                <a:close/>
              </a:path>
            </a:pathLst>
          </a:custGeom>
          <a:solidFill>
            <a:schemeClr val="accent6"/>
          </a:solidFill>
          <a:ln>
            <a:noFill/>
          </a:ln>
        </p:spPr>
        <p:txBody>
          <a:bodyPr/>
          <a:lstStyle/>
          <a:p>
            <a:pPr defTabSz="855878">
              <a:defRPr/>
            </a:pPr>
            <a:endParaRPr lang="en-US" sz="1685">
              <a:latin typeface="Times New Roman" panose="02020603050405020304" pitchFamily="18" charset="0"/>
              <a:cs typeface="Times New Roman" panose="02020603050405020304" pitchFamily="18" charset="0"/>
            </a:endParaRPr>
          </a:p>
        </p:txBody>
      </p:sp>
      <p:sp>
        <p:nvSpPr>
          <p:cNvPr id="64" name="Freeform 346">
            <a:extLst>
              <a:ext uri="{FF2B5EF4-FFF2-40B4-BE49-F238E27FC236}">
                <a16:creationId xmlns:a16="http://schemas.microsoft.com/office/drawing/2014/main" id="{57C3D5B7-B0CF-1EA5-DF3E-6B639D44F892}"/>
              </a:ext>
            </a:extLst>
          </p:cNvPr>
          <p:cNvSpPr>
            <a:spLocks noEditPoints="1"/>
          </p:cNvSpPr>
          <p:nvPr/>
        </p:nvSpPr>
        <p:spPr bwMode="auto">
          <a:xfrm>
            <a:off x="1049898" y="4688324"/>
            <a:ext cx="428624" cy="377190"/>
          </a:xfrm>
          <a:custGeom>
            <a:avLst/>
            <a:gdLst>
              <a:gd name="T0" fmla="*/ 0 w 282"/>
              <a:gd name="T1" fmla="*/ 36 h 248"/>
              <a:gd name="T2" fmla="*/ 88 w 282"/>
              <a:gd name="T3" fmla="*/ 0 h 248"/>
              <a:gd name="T4" fmla="*/ 88 w 282"/>
              <a:gd name="T5" fmla="*/ 212 h 248"/>
              <a:gd name="T6" fmla="*/ 0 w 282"/>
              <a:gd name="T7" fmla="*/ 248 h 248"/>
              <a:gd name="T8" fmla="*/ 0 w 282"/>
              <a:gd name="T9" fmla="*/ 36 h 248"/>
              <a:gd name="T10" fmla="*/ 194 w 282"/>
              <a:gd name="T11" fmla="*/ 36 h 248"/>
              <a:gd name="T12" fmla="*/ 194 w 282"/>
              <a:gd name="T13" fmla="*/ 248 h 248"/>
              <a:gd name="T14" fmla="*/ 106 w 282"/>
              <a:gd name="T15" fmla="*/ 218 h 248"/>
              <a:gd name="T16" fmla="*/ 106 w 282"/>
              <a:gd name="T17" fmla="*/ 6 h 248"/>
              <a:gd name="T18" fmla="*/ 194 w 282"/>
              <a:gd name="T19" fmla="*/ 36 h 248"/>
              <a:gd name="T20" fmla="*/ 282 w 282"/>
              <a:gd name="T21" fmla="*/ 0 h 248"/>
              <a:gd name="T22" fmla="*/ 282 w 282"/>
              <a:gd name="T23" fmla="*/ 212 h 248"/>
              <a:gd name="T24" fmla="*/ 212 w 282"/>
              <a:gd name="T25" fmla="*/ 240 h 248"/>
              <a:gd name="T26" fmla="*/ 212 w 282"/>
              <a:gd name="T27" fmla="*/ 28 h 248"/>
              <a:gd name="T28" fmla="*/ 282 w 282"/>
              <a:gd name="T29"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2" h="248">
                <a:moveTo>
                  <a:pt x="0" y="36"/>
                </a:moveTo>
                <a:lnTo>
                  <a:pt x="88" y="0"/>
                </a:lnTo>
                <a:lnTo>
                  <a:pt x="88" y="212"/>
                </a:lnTo>
                <a:lnTo>
                  <a:pt x="0" y="248"/>
                </a:lnTo>
                <a:lnTo>
                  <a:pt x="0" y="36"/>
                </a:lnTo>
                <a:close/>
                <a:moveTo>
                  <a:pt x="194" y="36"/>
                </a:moveTo>
                <a:lnTo>
                  <a:pt x="194" y="248"/>
                </a:lnTo>
                <a:lnTo>
                  <a:pt x="106" y="218"/>
                </a:lnTo>
                <a:lnTo>
                  <a:pt x="106" y="6"/>
                </a:lnTo>
                <a:lnTo>
                  <a:pt x="194" y="36"/>
                </a:lnTo>
                <a:close/>
                <a:moveTo>
                  <a:pt x="282" y="0"/>
                </a:moveTo>
                <a:lnTo>
                  <a:pt x="282" y="212"/>
                </a:lnTo>
                <a:lnTo>
                  <a:pt x="212" y="240"/>
                </a:lnTo>
                <a:lnTo>
                  <a:pt x="212" y="28"/>
                </a:lnTo>
                <a:lnTo>
                  <a:pt x="282" y="0"/>
                </a:lnTo>
                <a:close/>
              </a:path>
            </a:pathLst>
          </a:custGeom>
          <a:solidFill>
            <a:schemeClr val="tx2"/>
          </a:solidFill>
          <a:ln>
            <a:noFill/>
          </a:ln>
        </p:spPr>
        <p:txBody>
          <a:bodyPr/>
          <a:lstStyle/>
          <a:p>
            <a:pPr defTabSz="855878">
              <a:defRPr/>
            </a:pPr>
            <a:endParaRPr lang="en-US" sz="1685">
              <a:latin typeface="Times New Roman" panose="02020603050405020304" pitchFamily="18" charset="0"/>
              <a:cs typeface="Times New Roman" panose="02020603050405020304" pitchFamily="18" charset="0"/>
            </a:endParaRPr>
          </a:p>
        </p:txBody>
      </p:sp>
      <p:sp>
        <p:nvSpPr>
          <p:cNvPr id="65" name="Freeform 90">
            <a:extLst>
              <a:ext uri="{FF2B5EF4-FFF2-40B4-BE49-F238E27FC236}">
                <a16:creationId xmlns:a16="http://schemas.microsoft.com/office/drawing/2014/main" id="{3BDF6BEC-81FB-E0BA-BEF1-DC687BBACD34}"/>
              </a:ext>
            </a:extLst>
          </p:cNvPr>
          <p:cNvSpPr>
            <a:spLocks noEditPoints="1"/>
          </p:cNvSpPr>
          <p:nvPr/>
        </p:nvSpPr>
        <p:spPr bwMode="auto">
          <a:xfrm>
            <a:off x="5076829" y="2602509"/>
            <a:ext cx="464820" cy="434340"/>
          </a:xfrm>
          <a:custGeom>
            <a:avLst/>
            <a:gdLst>
              <a:gd name="T0" fmla="*/ 0 w 549"/>
              <a:gd name="T1" fmla="*/ 475 h 512"/>
              <a:gd name="T2" fmla="*/ 6 w 549"/>
              <a:gd name="T3" fmla="*/ 463 h 512"/>
              <a:gd name="T4" fmla="*/ 20 w 549"/>
              <a:gd name="T5" fmla="*/ 457 h 512"/>
              <a:gd name="T6" fmla="*/ 529 w 549"/>
              <a:gd name="T7" fmla="*/ 457 h 512"/>
              <a:gd name="T8" fmla="*/ 543 w 549"/>
              <a:gd name="T9" fmla="*/ 463 h 512"/>
              <a:gd name="T10" fmla="*/ 549 w 549"/>
              <a:gd name="T11" fmla="*/ 475 h 512"/>
              <a:gd name="T12" fmla="*/ 549 w 549"/>
              <a:gd name="T13" fmla="*/ 512 h 512"/>
              <a:gd name="T14" fmla="*/ 0 w 549"/>
              <a:gd name="T15" fmla="*/ 512 h 512"/>
              <a:gd name="T16" fmla="*/ 0 w 549"/>
              <a:gd name="T17" fmla="*/ 475 h 512"/>
              <a:gd name="T18" fmla="*/ 0 w 549"/>
              <a:gd name="T19" fmla="*/ 146 h 512"/>
              <a:gd name="T20" fmla="*/ 0 w 549"/>
              <a:gd name="T21" fmla="*/ 110 h 512"/>
              <a:gd name="T22" fmla="*/ 274 w 549"/>
              <a:gd name="T23" fmla="*/ 0 h 512"/>
              <a:gd name="T24" fmla="*/ 549 w 549"/>
              <a:gd name="T25" fmla="*/ 110 h 512"/>
              <a:gd name="T26" fmla="*/ 549 w 549"/>
              <a:gd name="T27" fmla="*/ 146 h 512"/>
              <a:gd name="T28" fmla="*/ 512 w 549"/>
              <a:gd name="T29" fmla="*/ 146 h 512"/>
              <a:gd name="T30" fmla="*/ 506 w 549"/>
              <a:gd name="T31" fmla="*/ 159 h 512"/>
              <a:gd name="T32" fmla="*/ 492 w 549"/>
              <a:gd name="T33" fmla="*/ 165 h 512"/>
              <a:gd name="T34" fmla="*/ 56 w 549"/>
              <a:gd name="T35" fmla="*/ 165 h 512"/>
              <a:gd name="T36" fmla="*/ 42 w 549"/>
              <a:gd name="T37" fmla="*/ 159 h 512"/>
              <a:gd name="T38" fmla="*/ 37 w 549"/>
              <a:gd name="T39" fmla="*/ 146 h 512"/>
              <a:gd name="T40" fmla="*/ 0 w 549"/>
              <a:gd name="T41" fmla="*/ 146 h 512"/>
              <a:gd name="T42" fmla="*/ 37 w 549"/>
              <a:gd name="T43" fmla="*/ 439 h 512"/>
              <a:gd name="T44" fmla="*/ 37 w 549"/>
              <a:gd name="T45" fmla="*/ 421 h 512"/>
              <a:gd name="T46" fmla="*/ 42 w 549"/>
              <a:gd name="T47" fmla="*/ 408 h 512"/>
              <a:gd name="T48" fmla="*/ 56 w 549"/>
              <a:gd name="T49" fmla="*/ 402 h 512"/>
              <a:gd name="T50" fmla="*/ 73 w 549"/>
              <a:gd name="T51" fmla="*/ 402 h 512"/>
              <a:gd name="T52" fmla="*/ 73 w 549"/>
              <a:gd name="T53" fmla="*/ 183 h 512"/>
              <a:gd name="T54" fmla="*/ 146 w 549"/>
              <a:gd name="T55" fmla="*/ 183 h 512"/>
              <a:gd name="T56" fmla="*/ 146 w 549"/>
              <a:gd name="T57" fmla="*/ 402 h 512"/>
              <a:gd name="T58" fmla="*/ 183 w 549"/>
              <a:gd name="T59" fmla="*/ 402 h 512"/>
              <a:gd name="T60" fmla="*/ 183 w 549"/>
              <a:gd name="T61" fmla="*/ 183 h 512"/>
              <a:gd name="T62" fmla="*/ 256 w 549"/>
              <a:gd name="T63" fmla="*/ 183 h 512"/>
              <a:gd name="T64" fmla="*/ 256 w 549"/>
              <a:gd name="T65" fmla="*/ 402 h 512"/>
              <a:gd name="T66" fmla="*/ 293 w 549"/>
              <a:gd name="T67" fmla="*/ 402 h 512"/>
              <a:gd name="T68" fmla="*/ 293 w 549"/>
              <a:gd name="T69" fmla="*/ 183 h 512"/>
              <a:gd name="T70" fmla="*/ 366 w 549"/>
              <a:gd name="T71" fmla="*/ 183 h 512"/>
              <a:gd name="T72" fmla="*/ 366 w 549"/>
              <a:gd name="T73" fmla="*/ 402 h 512"/>
              <a:gd name="T74" fmla="*/ 402 w 549"/>
              <a:gd name="T75" fmla="*/ 402 h 512"/>
              <a:gd name="T76" fmla="*/ 402 w 549"/>
              <a:gd name="T77" fmla="*/ 183 h 512"/>
              <a:gd name="T78" fmla="*/ 475 w 549"/>
              <a:gd name="T79" fmla="*/ 183 h 512"/>
              <a:gd name="T80" fmla="*/ 475 w 549"/>
              <a:gd name="T81" fmla="*/ 402 h 512"/>
              <a:gd name="T82" fmla="*/ 492 w 549"/>
              <a:gd name="T83" fmla="*/ 402 h 512"/>
              <a:gd name="T84" fmla="*/ 506 w 549"/>
              <a:gd name="T85" fmla="*/ 408 h 512"/>
              <a:gd name="T86" fmla="*/ 512 w 549"/>
              <a:gd name="T87" fmla="*/ 421 h 512"/>
              <a:gd name="T88" fmla="*/ 512 w 549"/>
              <a:gd name="T89" fmla="*/ 439 h 512"/>
              <a:gd name="T90" fmla="*/ 37 w 549"/>
              <a:gd name="T91" fmla="*/ 43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49" h="512">
                <a:moveTo>
                  <a:pt x="0" y="475"/>
                </a:moveTo>
                <a:cubicBezTo>
                  <a:pt x="0" y="470"/>
                  <a:pt x="2" y="466"/>
                  <a:pt x="6" y="463"/>
                </a:cubicBezTo>
                <a:cubicBezTo>
                  <a:pt x="10" y="459"/>
                  <a:pt x="14" y="457"/>
                  <a:pt x="20" y="457"/>
                </a:cubicBezTo>
                <a:cubicBezTo>
                  <a:pt x="529" y="457"/>
                  <a:pt x="529" y="457"/>
                  <a:pt x="529" y="457"/>
                </a:cubicBezTo>
                <a:cubicBezTo>
                  <a:pt x="534" y="457"/>
                  <a:pt x="539" y="459"/>
                  <a:pt x="543" y="463"/>
                </a:cubicBezTo>
                <a:cubicBezTo>
                  <a:pt x="547" y="466"/>
                  <a:pt x="549" y="470"/>
                  <a:pt x="549" y="475"/>
                </a:cubicBezTo>
                <a:cubicBezTo>
                  <a:pt x="549" y="512"/>
                  <a:pt x="549" y="512"/>
                  <a:pt x="549" y="512"/>
                </a:cubicBezTo>
                <a:cubicBezTo>
                  <a:pt x="0" y="512"/>
                  <a:pt x="0" y="512"/>
                  <a:pt x="0" y="512"/>
                </a:cubicBezTo>
                <a:cubicBezTo>
                  <a:pt x="0" y="475"/>
                  <a:pt x="0" y="475"/>
                  <a:pt x="0" y="475"/>
                </a:cubicBezTo>
                <a:close/>
                <a:moveTo>
                  <a:pt x="0" y="146"/>
                </a:moveTo>
                <a:cubicBezTo>
                  <a:pt x="0" y="110"/>
                  <a:pt x="0" y="110"/>
                  <a:pt x="0" y="110"/>
                </a:cubicBezTo>
                <a:cubicBezTo>
                  <a:pt x="274" y="0"/>
                  <a:pt x="274" y="0"/>
                  <a:pt x="274" y="0"/>
                </a:cubicBezTo>
                <a:cubicBezTo>
                  <a:pt x="549" y="110"/>
                  <a:pt x="549" y="110"/>
                  <a:pt x="549" y="110"/>
                </a:cubicBezTo>
                <a:cubicBezTo>
                  <a:pt x="549" y="146"/>
                  <a:pt x="549" y="146"/>
                  <a:pt x="549" y="146"/>
                </a:cubicBezTo>
                <a:cubicBezTo>
                  <a:pt x="512" y="146"/>
                  <a:pt x="512" y="146"/>
                  <a:pt x="512" y="146"/>
                </a:cubicBezTo>
                <a:cubicBezTo>
                  <a:pt x="512" y="151"/>
                  <a:pt x="510" y="156"/>
                  <a:pt x="506" y="159"/>
                </a:cubicBezTo>
                <a:cubicBezTo>
                  <a:pt x="502" y="163"/>
                  <a:pt x="498" y="165"/>
                  <a:pt x="492" y="165"/>
                </a:cubicBezTo>
                <a:cubicBezTo>
                  <a:pt x="56" y="165"/>
                  <a:pt x="56" y="165"/>
                  <a:pt x="56" y="165"/>
                </a:cubicBezTo>
                <a:cubicBezTo>
                  <a:pt x="51" y="165"/>
                  <a:pt x="46" y="163"/>
                  <a:pt x="42" y="159"/>
                </a:cubicBezTo>
                <a:cubicBezTo>
                  <a:pt x="39" y="156"/>
                  <a:pt x="37" y="151"/>
                  <a:pt x="37" y="146"/>
                </a:cubicBezTo>
                <a:lnTo>
                  <a:pt x="0" y="146"/>
                </a:lnTo>
                <a:close/>
                <a:moveTo>
                  <a:pt x="37" y="439"/>
                </a:moveTo>
                <a:cubicBezTo>
                  <a:pt x="37" y="421"/>
                  <a:pt x="37" y="421"/>
                  <a:pt x="37" y="421"/>
                </a:cubicBezTo>
                <a:cubicBezTo>
                  <a:pt x="37" y="416"/>
                  <a:pt x="39" y="411"/>
                  <a:pt x="42" y="408"/>
                </a:cubicBezTo>
                <a:cubicBezTo>
                  <a:pt x="46" y="404"/>
                  <a:pt x="51" y="402"/>
                  <a:pt x="56" y="402"/>
                </a:cubicBezTo>
                <a:cubicBezTo>
                  <a:pt x="73" y="402"/>
                  <a:pt x="73" y="402"/>
                  <a:pt x="73" y="402"/>
                </a:cubicBezTo>
                <a:cubicBezTo>
                  <a:pt x="73" y="183"/>
                  <a:pt x="73" y="183"/>
                  <a:pt x="73" y="183"/>
                </a:cubicBezTo>
                <a:cubicBezTo>
                  <a:pt x="146" y="183"/>
                  <a:pt x="146" y="183"/>
                  <a:pt x="146" y="183"/>
                </a:cubicBezTo>
                <a:cubicBezTo>
                  <a:pt x="146" y="402"/>
                  <a:pt x="146" y="402"/>
                  <a:pt x="146" y="402"/>
                </a:cubicBezTo>
                <a:cubicBezTo>
                  <a:pt x="183" y="402"/>
                  <a:pt x="183" y="402"/>
                  <a:pt x="183" y="402"/>
                </a:cubicBezTo>
                <a:cubicBezTo>
                  <a:pt x="183" y="183"/>
                  <a:pt x="183" y="183"/>
                  <a:pt x="183" y="183"/>
                </a:cubicBezTo>
                <a:cubicBezTo>
                  <a:pt x="256" y="183"/>
                  <a:pt x="256" y="183"/>
                  <a:pt x="256" y="183"/>
                </a:cubicBezTo>
                <a:cubicBezTo>
                  <a:pt x="256" y="402"/>
                  <a:pt x="256" y="402"/>
                  <a:pt x="256" y="402"/>
                </a:cubicBezTo>
                <a:cubicBezTo>
                  <a:pt x="293" y="402"/>
                  <a:pt x="293" y="402"/>
                  <a:pt x="293" y="402"/>
                </a:cubicBezTo>
                <a:cubicBezTo>
                  <a:pt x="293" y="183"/>
                  <a:pt x="293" y="183"/>
                  <a:pt x="293" y="183"/>
                </a:cubicBezTo>
                <a:cubicBezTo>
                  <a:pt x="366" y="183"/>
                  <a:pt x="366" y="183"/>
                  <a:pt x="366" y="183"/>
                </a:cubicBezTo>
                <a:cubicBezTo>
                  <a:pt x="366" y="402"/>
                  <a:pt x="366" y="402"/>
                  <a:pt x="366" y="402"/>
                </a:cubicBezTo>
                <a:cubicBezTo>
                  <a:pt x="402" y="402"/>
                  <a:pt x="402" y="402"/>
                  <a:pt x="402" y="402"/>
                </a:cubicBezTo>
                <a:cubicBezTo>
                  <a:pt x="402" y="183"/>
                  <a:pt x="402" y="183"/>
                  <a:pt x="402" y="183"/>
                </a:cubicBezTo>
                <a:cubicBezTo>
                  <a:pt x="475" y="183"/>
                  <a:pt x="475" y="183"/>
                  <a:pt x="475" y="183"/>
                </a:cubicBezTo>
                <a:cubicBezTo>
                  <a:pt x="475" y="402"/>
                  <a:pt x="475" y="402"/>
                  <a:pt x="475" y="402"/>
                </a:cubicBezTo>
                <a:cubicBezTo>
                  <a:pt x="492" y="402"/>
                  <a:pt x="492" y="402"/>
                  <a:pt x="492" y="402"/>
                </a:cubicBezTo>
                <a:cubicBezTo>
                  <a:pt x="498" y="402"/>
                  <a:pt x="502" y="404"/>
                  <a:pt x="506" y="408"/>
                </a:cubicBezTo>
                <a:cubicBezTo>
                  <a:pt x="510" y="411"/>
                  <a:pt x="512" y="416"/>
                  <a:pt x="512" y="421"/>
                </a:cubicBezTo>
                <a:cubicBezTo>
                  <a:pt x="512" y="439"/>
                  <a:pt x="512" y="439"/>
                  <a:pt x="512" y="439"/>
                </a:cubicBezTo>
                <a:lnTo>
                  <a:pt x="37" y="439"/>
                </a:lnTo>
                <a:close/>
              </a:path>
            </a:pathLst>
          </a:custGeom>
          <a:solidFill>
            <a:schemeClr val="tx2"/>
          </a:solidFill>
          <a:ln>
            <a:noFill/>
          </a:ln>
        </p:spPr>
        <p:txBody>
          <a:bodyPr/>
          <a:lstStyle/>
          <a:p>
            <a:pPr defTabSz="855878">
              <a:defRPr/>
            </a:pPr>
            <a:endParaRPr lang="en-US" sz="1685">
              <a:latin typeface="Times New Roman" panose="02020603050405020304" pitchFamily="18" charset="0"/>
              <a:cs typeface="Times New Roman" panose="02020603050405020304" pitchFamily="18" charset="0"/>
            </a:endParaRPr>
          </a:p>
        </p:txBody>
      </p:sp>
      <p:sp>
        <p:nvSpPr>
          <p:cNvPr id="67" name="Freeform 297">
            <a:extLst>
              <a:ext uri="{FF2B5EF4-FFF2-40B4-BE49-F238E27FC236}">
                <a16:creationId xmlns:a16="http://schemas.microsoft.com/office/drawing/2014/main" id="{7785C8F6-4A8C-B6C8-DF28-990CB750EBE0}"/>
              </a:ext>
            </a:extLst>
          </p:cNvPr>
          <p:cNvSpPr>
            <a:spLocks noEditPoints="1"/>
          </p:cNvSpPr>
          <p:nvPr/>
        </p:nvSpPr>
        <p:spPr bwMode="auto">
          <a:xfrm>
            <a:off x="5088255" y="4670942"/>
            <a:ext cx="449580" cy="335280"/>
          </a:xfrm>
          <a:custGeom>
            <a:avLst/>
            <a:gdLst>
              <a:gd name="T0" fmla="*/ 192 w 512"/>
              <a:gd name="T1" fmla="*/ 80 h 384"/>
              <a:gd name="T2" fmla="*/ 272 w 512"/>
              <a:gd name="T3" fmla="*/ 0 h 384"/>
              <a:gd name="T4" fmla="*/ 352 w 512"/>
              <a:gd name="T5" fmla="*/ 80 h 384"/>
              <a:gd name="T6" fmla="*/ 272 w 512"/>
              <a:gd name="T7" fmla="*/ 160 h 384"/>
              <a:gd name="T8" fmla="*/ 192 w 512"/>
              <a:gd name="T9" fmla="*/ 80 h 384"/>
              <a:gd name="T10" fmla="*/ 0 w 512"/>
              <a:gd name="T11" fmla="*/ 80 h 384"/>
              <a:gd name="T12" fmla="*/ 80 w 512"/>
              <a:gd name="T13" fmla="*/ 0 h 384"/>
              <a:gd name="T14" fmla="*/ 160 w 512"/>
              <a:gd name="T15" fmla="*/ 80 h 384"/>
              <a:gd name="T16" fmla="*/ 80 w 512"/>
              <a:gd name="T17" fmla="*/ 160 h 384"/>
              <a:gd name="T18" fmla="*/ 0 w 512"/>
              <a:gd name="T19" fmla="*/ 80 h 384"/>
              <a:gd name="T20" fmla="*/ 384 w 512"/>
              <a:gd name="T21" fmla="*/ 240 h 384"/>
              <a:gd name="T22" fmla="*/ 384 w 512"/>
              <a:gd name="T23" fmla="*/ 192 h 384"/>
              <a:gd name="T24" fmla="*/ 352 w 512"/>
              <a:gd name="T25" fmla="*/ 160 h 384"/>
              <a:gd name="T26" fmla="*/ 32 w 512"/>
              <a:gd name="T27" fmla="*/ 160 h 384"/>
              <a:gd name="T28" fmla="*/ 0 w 512"/>
              <a:gd name="T29" fmla="*/ 192 h 384"/>
              <a:gd name="T30" fmla="*/ 0 w 512"/>
              <a:gd name="T31" fmla="*/ 352 h 384"/>
              <a:gd name="T32" fmla="*/ 32 w 512"/>
              <a:gd name="T33" fmla="*/ 384 h 384"/>
              <a:gd name="T34" fmla="*/ 352 w 512"/>
              <a:gd name="T35" fmla="*/ 384 h 384"/>
              <a:gd name="T36" fmla="*/ 384 w 512"/>
              <a:gd name="T37" fmla="*/ 352 h 384"/>
              <a:gd name="T38" fmla="*/ 384 w 512"/>
              <a:gd name="T39" fmla="*/ 304 h 384"/>
              <a:gd name="T40" fmla="*/ 512 w 512"/>
              <a:gd name="T41" fmla="*/ 384 h 384"/>
              <a:gd name="T42" fmla="*/ 512 w 512"/>
              <a:gd name="T43" fmla="*/ 160 h 384"/>
              <a:gd name="T44" fmla="*/ 384 w 512"/>
              <a:gd name="T45" fmla="*/ 240 h 384"/>
              <a:gd name="T46" fmla="*/ 320 w 512"/>
              <a:gd name="T47" fmla="*/ 320 h 384"/>
              <a:gd name="T48" fmla="*/ 64 w 512"/>
              <a:gd name="T49" fmla="*/ 320 h 384"/>
              <a:gd name="T50" fmla="*/ 64 w 512"/>
              <a:gd name="T51" fmla="*/ 224 h 384"/>
              <a:gd name="T52" fmla="*/ 320 w 512"/>
              <a:gd name="T53" fmla="*/ 224 h 384"/>
              <a:gd name="T54" fmla="*/ 320 w 512"/>
              <a:gd name="T55" fmla="*/ 32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12" h="384">
                <a:moveTo>
                  <a:pt x="192" y="80"/>
                </a:moveTo>
                <a:cubicBezTo>
                  <a:pt x="192" y="36"/>
                  <a:pt x="228" y="0"/>
                  <a:pt x="272" y="0"/>
                </a:cubicBezTo>
                <a:cubicBezTo>
                  <a:pt x="316" y="0"/>
                  <a:pt x="352" y="36"/>
                  <a:pt x="352" y="80"/>
                </a:cubicBezTo>
                <a:cubicBezTo>
                  <a:pt x="352" y="124"/>
                  <a:pt x="316" y="160"/>
                  <a:pt x="272" y="160"/>
                </a:cubicBezTo>
                <a:cubicBezTo>
                  <a:pt x="228" y="160"/>
                  <a:pt x="192" y="124"/>
                  <a:pt x="192" y="80"/>
                </a:cubicBezTo>
                <a:close/>
                <a:moveTo>
                  <a:pt x="0" y="80"/>
                </a:moveTo>
                <a:cubicBezTo>
                  <a:pt x="0" y="36"/>
                  <a:pt x="36" y="0"/>
                  <a:pt x="80" y="0"/>
                </a:cubicBezTo>
                <a:cubicBezTo>
                  <a:pt x="124" y="0"/>
                  <a:pt x="160" y="36"/>
                  <a:pt x="160" y="80"/>
                </a:cubicBezTo>
                <a:cubicBezTo>
                  <a:pt x="160" y="124"/>
                  <a:pt x="124" y="160"/>
                  <a:pt x="80" y="160"/>
                </a:cubicBezTo>
                <a:cubicBezTo>
                  <a:pt x="36" y="160"/>
                  <a:pt x="0" y="124"/>
                  <a:pt x="0" y="80"/>
                </a:cubicBezTo>
                <a:close/>
                <a:moveTo>
                  <a:pt x="384" y="240"/>
                </a:moveTo>
                <a:cubicBezTo>
                  <a:pt x="384" y="192"/>
                  <a:pt x="384" y="192"/>
                  <a:pt x="384" y="192"/>
                </a:cubicBezTo>
                <a:cubicBezTo>
                  <a:pt x="384" y="174"/>
                  <a:pt x="370" y="160"/>
                  <a:pt x="352" y="160"/>
                </a:cubicBezTo>
                <a:cubicBezTo>
                  <a:pt x="32" y="160"/>
                  <a:pt x="32" y="160"/>
                  <a:pt x="32" y="160"/>
                </a:cubicBezTo>
                <a:cubicBezTo>
                  <a:pt x="14" y="160"/>
                  <a:pt x="0" y="174"/>
                  <a:pt x="0" y="192"/>
                </a:cubicBezTo>
                <a:cubicBezTo>
                  <a:pt x="0" y="352"/>
                  <a:pt x="0" y="352"/>
                  <a:pt x="0" y="352"/>
                </a:cubicBezTo>
                <a:cubicBezTo>
                  <a:pt x="0" y="370"/>
                  <a:pt x="14" y="384"/>
                  <a:pt x="32" y="384"/>
                </a:cubicBezTo>
                <a:cubicBezTo>
                  <a:pt x="352" y="384"/>
                  <a:pt x="352" y="384"/>
                  <a:pt x="352" y="384"/>
                </a:cubicBezTo>
                <a:cubicBezTo>
                  <a:pt x="370" y="384"/>
                  <a:pt x="384" y="370"/>
                  <a:pt x="384" y="352"/>
                </a:cubicBezTo>
                <a:cubicBezTo>
                  <a:pt x="384" y="304"/>
                  <a:pt x="384" y="304"/>
                  <a:pt x="384" y="304"/>
                </a:cubicBezTo>
                <a:cubicBezTo>
                  <a:pt x="512" y="384"/>
                  <a:pt x="512" y="384"/>
                  <a:pt x="512" y="384"/>
                </a:cubicBezTo>
                <a:cubicBezTo>
                  <a:pt x="512" y="160"/>
                  <a:pt x="512" y="160"/>
                  <a:pt x="512" y="160"/>
                </a:cubicBezTo>
                <a:lnTo>
                  <a:pt x="384" y="240"/>
                </a:lnTo>
                <a:close/>
                <a:moveTo>
                  <a:pt x="320" y="320"/>
                </a:moveTo>
                <a:cubicBezTo>
                  <a:pt x="64" y="320"/>
                  <a:pt x="64" y="320"/>
                  <a:pt x="64" y="320"/>
                </a:cubicBezTo>
                <a:cubicBezTo>
                  <a:pt x="64" y="224"/>
                  <a:pt x="64" y="224"/>
                  <a:pt x="64" y="224"/>
                </a:cubicBezTo>
                <a:cubicBezTo>
                  <a:pt x="320" y="224"/>
                  <a:pt x="320" y="224"/>
                  <a:pt x="320" y="224"/>
                </a:cubicBezTo>
                <a:lnTo>
                  <a:pt x="320" y="320"/>
                </a:lnTo>
                <a:close/>
              </a:path>
            </a:pathLst>
          </a:custGeom>
          <a:solidFill>
            <a:schemeClr val="tx2"/>
          </a:solidFill>
          <a:ln>
            <a:noFill/>
          </a:ln>
        </p:spPr>
        <p:txBody>
          <a:bodyPr/>
          <a:lstStyle/>
          <a:p>
            <a:pPr defTabSz="855878">
              <a:defRPr/>
            </a:pPr>
            <a:endParaRPr lang="en-US" sz="1685">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52088D77-1DE5-9F3C-5A0A-751F4F56D4B0}"/>
              </a:ext>
            </a:extLst>
          </p:cNvPr>
          <p:cNvSpPr txBox="1"/>
          <p:nvPr/>
        </p:nvSpPr>
        <p:spPr>
          <a:xfrm>
            <a:off x="2419350" y="1226821"/>
            <a:ext cx="8058150" cy="646331"/>
          </a:xfrm>
          <a:prstGeom prst="rect">
            <a:avLst/>
          </a:prstGeom>
          <a:noFill/>
        </p:spPr>
        <p:txBody>
          <a:bodyPr wrap="square">
            <a:spAutoFit/>
          </a:bodyPr>
          <a:lstStyle/>
          <a:p>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To overcome the limitations of pure ICL and further explore its integration with structured data learning, we suggest several future research paths: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2C5C8461-973D-DFB9-D97F-19C1924B32D8}"/>
              </a:ext>
            </a:extLst>
          </p:cNvPr>
          <p:cNvSpPr txBox="1"/>
          <p:nvPr/>
        </p:nvSpPr>
        <p:spPr>
          <a:xfrm>
            <a:off x="253844" y="3705702"/>
            <a:ext cx="6096000" cy="369332"/>
          </a:xfrm>
          <a:prstGeom prst="rect">
            <a:avLst/>
          </a:prstGeom>
          <a:noFill/>
        </p:spPr>
        <p:txBody>
          <a:bodyPr wrap="square">
            <a:spAutoFit/>
          </a:bodyPr>
          <a:lstStyle/>
          <a:p>
            <a:r>
              <a:rPr lang="en-US" altLang="zh-CN" sz="18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Hybrid Approaches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40E9D343-8896-6BB3-B031-A79674211F8F}"/>
              </a:ext>
            </a:extLst>
          </p:cNvPr>
          <p:cNvSpPr txBox="1"/>
          <p:nvPr/>
        </p:nvSpPr>
        <p:spPr>
          <a:xfrm>
            <a:off x="0" y="5649277"/>
            <a:ext cx="6096000" cy="369332"/>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Structured Data Pretraining</a:t>
            </a:r>
            <a:endParaRPr lang="zh-CN" altLang="en-US"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9A85F52F-86B8-C972-AC17-1CCB9E5250E0}"/>
              </a:ext>
            </a:extLst>
          </p:cNvPr>
          <p:cNvSpPr txBox="1"/>
          <p:nvPr/>
        </p:nvSpPr>
        <p:spPr>
          <a:xfrm>
            <a:off x="7805738" y="4479648"/>
            <a:ext cx="6124574" cy="369332"/>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Prompt Engineering Automation</a:t>
            </a:r>
            <a:endParaRPr lang="zh-CN" altLang="en-US"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EA22242F-AFCE-7C3F-6C15-2BB4FFF0E9C8}"/>
              </a:ext>
            </a:extLst>
          </p:cNvPr>
          <p:cNvSpPr txBox="1"/>
          <p:nvPr/>
        </p:nvSpPr>
        <p:spPr>
          <a:xfrm>
            <a:off x="3604507" y="5622925"/>
            <a:ext cx="6124574" cy="369332"/>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Chain-of-Thought and Reasoning Layers</a:t>
            </a:r>
            <a:endParaRPr lang="zh-CN" altLang="en-US"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9A973E11-F0A3-CA1F-BDAC-314E261C3210}"/>
              </a:ext>
            </a:extLst>
          </p:cNvPr>
          <p:cNvSpPr txBox="1"/>
          <p:nvPr/>
        </p:nvSpPr>
        <p:spPr>
          <a:xfrm>
            <a:off x="4030270" y="3646131"/>
            <a:ext cx="6124574" cy="369332"/>
          </a:xfrm>
          <a:prstGeom prst="rect">
            <a:avLst/>
          </a:prstGeom>
          <a:noFill/>
        </p:spPr>
        <p:txBody>
          <a:bodyPr wrap="square">
            <a:spAutoFit/>
          </a:bodyPr>
          <a:lstStyle/>
          <a:p>
            <a:r>
              <a:rPr lang="en-US" altLang="zh-CN" sz="1800" b="1" kern="0" dirty="0">
                <a:solidFill>
                  <a:srgbClr val="000000"/>
                </a:solidFill>
                <a:effectLst/>
                <a:latin typeface="Times New Roman" panose="02020603050405020304" pitchFamily="18" charset="0"/>
                <a:cs typeface="Times New Roman" panose="02020603050405020304" pitchFamily="18" charset="0"/>
              </a:rPr>
              <a:t>Broader Benchmarking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500" fill="hold"/>
                                        <p:tgtEl>
                                          <p:spTgt spid="60"/>
                                        </p:tgtEl>
                                        <p:attrNameLst>
                                          <p:attrName>ppt_w</p:attrName>
                                        </p:attrNameLst>
                                      </p:cBhvr>
                                      <p:tavLst>
                                        <p:tav tm="0">
                                          <p:val>
                                            <p:fltVal val="0"/>
                                          </p:val>
                                        </p:tav>
                                        <p:tav tm="100000">
                                          <p:val>
                                            <p:strVal val="#ppt_w"/>
                                          </p:val>
                                        </p:tav>
                                      </p:tavLst>
                                    </p:anim>
                                    <p:anim calcmode="lin" valueType="num">
                                      <p:cBhvr>
                                        <p:cTn id="8" dur="500" fill="hold"/>
                                        <p:tgtEl>
                                          <p:spTgt spid="60"/>
                                        </p:tgtEl>
                                        <p:attrNameLst>
                                          <p:attrName>ppt_h</p:attrName>
                                        </p:attrNameLst>
                                      </p:cBhvr>
                                      <p:tavLst>
                                        <p:tav tm="0">
                                          <p:val>
                                            <p:fltVal val="0"/>
                                          </p:val>
                                        </p:tav>
                                        <p:tav tm="100000">
                                          <p:val>
                                            <p:strVal val="#ppt_h"/>
                                          </p:val>
                                        </p:tav>
                                      </p:tavLst>
                                    </p:anim>
                                    <p:anim calcmode="lin" valueType="num">
                                      <p:cBhvr>
                                        <p:cTn id="9" dur="500" fill="hold"/>
                                        <p:tgtEl>
                                          <p:spTgt spid="60"/>
                                        </p:tgtEl>
                                        <p:attrNameLst>
                                          <p:attrName>style.rotation</p:attrName>
                                        </p:attrNameLst>
                                      </p:cBhvr>
                                      <p:tavLst>
                                        <p:tav tm="0">
                                          <p:val>
                                            <p:fltVal val="90"/>
                                          </p:val>
                                        </p:tav>
                                        <p:tav tm="100000">
                                          <p:val>
                                            <p:fltVal val="0"/>
                                          </p:val>
                                        </p:tav>
                                      </p:tavLst>
                                    </p:anim>
                                    <p:animEffect transition="in" filter="fade">
                                      <p:cBhvr>
                                        <p:cTn id="10" dur="500"/>
                                        <p:tgtEl>
                                          <p:spTgt spid="60"/>
                                        </p:tgtEl>
                                      </p:cBhvr>
                                    </p:animEffect>
                                  </p:childTnLst>
                                </p:cTn>
                              </p:par>
                              <p:par>
                                <p:cTn id="11" presetID="31" presetClass="entr" presetSubtype="0" fill="hold" nodeType="with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p:cTn id="13" dur="500" fill="hold"/>
                                        <p:tgtEl>
                                          <p:spTgt spid="63"/>
                                        </p:tgtEl>
                                        <p:attrNameLst>
                                          <p:attrName>ppt_w</p:attrName>
                                        </p:attrNameLst>
                                      </p:cBhvr>
                                      <p:tavLst>
                                        <p:tav tm="0">
                                          <p:val>
                                            <p:fltVal val="0"/>
                                          </p:val>
                                        </p:tav>
                                        <p:tav tm="100000">
                                          <p:val>
                                            <p:strVal val="#ppt_w"/>
                                          </p:val>
                                        </p:tav>
                                      </p:tavLst>
                                    </p:anim>
                                    <p:anim calcmode="lin" valueType="num">
                                      <p:cBhvr>
                                        <p:cTn id="14" dur="500" fill="hold"/>
                                        <p:tgtEl>
                                          <p:spTgt spid="63"/>
                                        </p:tgtEl>
                                        <p:attrNameLst>
                                          <p:attrName>ppt_h</p:attrName>
                                        </p:attrNameLst>
                                      </p:cBhvr>
                                      <p:tavLst>
                                        <p:tav tm="0">
                                          <p:val>
                                            <p:fltVal val="0"/>
                                          </p:val>
                                        </p:tav>
                                        <p:tav tm="100000">
                                          <p:val>
                                            <p:strVal val="#ppt_h"/>
                                          </p:val>
                                        </p:tav>
                                      </p:tavLst>
                                    </p:anim>
                                    <p:anim calcmode="lin" valueType="num">
                                      <p:cBhvr>
                                        <p:cTn id="15" dur="500" fill="hold"/>
                                        <p:tgtEl>
                                          <p:spTgt spid="63"/>
                                        </p:tgtEl>
                                        <p:attrNameLst>
                                          <p:attrName>style.rotation</p:attrName>
                                        </p:attrNameLst>
                                      </p:cBhvr>
                                      <p:tavLst>
                                        <p:tav tm="0">
                                          <p:val>
                                            <p:fltVal val="90"/>
                                          </p:val>
                                        </p:tav>
                                        <p:tav tm="100000">
                                          <p:val>
                                            <p:fltVal val="0"/>
                                          </p:val>
                                        </p:tav>
                                      </p:tavLst>
                                    </p:anim>
                                    <p:animEffect transition="in" filter="fade">
                                      <p:cBhvr>
                                        <p:cTn id="16" dur="500"/>
                                        <p:tgtEl>
                                          <p:spTgt spid="63"/>
                                        </p:tgtEl>
                                      </p:cBhvr>
                                    </p:animEffect>
                                  </p:childTnLst>
                                </p:cTn>
                              </p:par>
                            </p:childTnLst>
                          </p:cTn>
                        </p:par>
                        <p:par>
                          <p:cTn id="17" fill="hold" nodeType="afterGroup">
                            <p:stCondLst>
                              <p:cond delay="500"/>
                            </p:stCondLst>
                            <p:childTnLst>
                              <p:par>
                                <p:cTn id="18" presetID="31" presetClass="entr" presetSubtype="0" fill="hold" nodeType="afterEffect">
                                  <p:stCondLst>
                                    <p:cond delay="0"/>
                                  </p:stCondLst>
                                  <p:childTnLst>
                                    <p:set>
                                      <p:cBhvr>
                                        <p:cTn id="19" dur="1" fill="hold">
                                          <p:stCondLst>
                                            <p:cond delay="0"/>
                                          </p:stCondLst>
                                        </p:cTn>
                                        <p:tgtEl>
                                          <p:spTgt spid="50"/>
                                        </p:tgtEl>
                                        <p:attrNameLst>
                                          <p:attrName>style.visibility</p:attrName>
                                        </p:attrNameLst>
                                      </p:cBhvr>
                                      <p:to>
                                        <p:strVal val="visible"/>
                                      </p:to>
                                    </p:set>
                                    <p:anim calcmode="lin" valueType="num">
                                      <p:cBhvr>
                                        <p:cTn id="20" dur="500" fill="hold"/>
                                        <p:tgtEl>
                                          <p:spTgt spid="50"/>
                                        </p:tgtEl>
                                        <p:attrNameLst>
                                          <p:attrName>ppt_w</p:attrName>
                                        </p:attrNameLst>
                                      </p:cBhvr>
                                      <p:tavLst>
                                        <p:tav tm="0">
                                          <p:val>
                                            <p:fltVal val="0"/>
                                          </p:val>
                                        </p:tav>
                                        <p:tav tm="100000">
                                          <p:val>
                                            <p:strVal val="#ppt_w"/>
                                          </p:val>
                                        </p:tav>
                                      </p:tavLst>
                                    </p:anim>
                                    <p:anim calcmode="lin" valueType="num">
                                      <p:cBhvr>
                                        <p:cTn id="21" dur="500" fill="hold"/>
                                        <p:tgtEl>
                                          <p:spTgt spid="50"/>
                                        </p:tgtEl>
                                        <p:attrNameLst>
                                          <p:attrName>ppt_h</p:attrName>
                                        </p:attrNameLst>
                                      </p:cBhvr>
                                      <p:tavLst>
                                        <p:tav tm="0">
                                          <p:val>
                                            <p:fltVal val="0"/>
                                          </p:val>
                                        </p:tav>
                                        <p:tav tm="100000">
                                          <p:val>
                                            <p:strVal val="#ppt_h"/>
                                          </p:val>
                                        </p:tav>
                                      </p:tavLst>
                                    </p:anim>
                                    <p:anim calcmode="lin" valueType="num">
                                      <p:cBhvr>
                                        <p:cTn id="22" dur="500" fill="hold"/>
                                        <p:tgtEl>
                                          <p:spTgt spid="50"/>
                                        </p:tgtEl>
                                        <p:attrNameLst>
                                          <p:attrName>style.rotation</p:attrName>
                                        </p:attrNameLst>
                                      </p:cBhvr>
                                      <p:tavLst>
                                        <p:tav tm="0">
                                          <p:val>
                                            <p:fltVal val="90"/>
                                          </p:val>
                                        </p:tav>
                                        <p:tav tm="100000">
                                          <p:val>
                                            <p:fltVal val="0"/>
                                          </p:val>
                                        </p:tav>
                                      </p:tavLst>
                                    </p:anim>
                                    <p:animEffect transition="in" filter="fade">
                                      <p:cBhvr>
                                        <p:cTn id="23" dur="500"/>
                                        <p:tgtEl>
                                          <p:spTgt spid="50"/>
                                        </p:tgtEl>
                                      </p:cBhvr>
                                    </p:animEffect>
                                  </p:childTnLst>
                                </p:cTn>
                              </p:par>
                              <p:par>
                                <p:cTn id="24" presetID="31" presetClass="entr" presetSubtype="0" fill="hold" nodeType="withEffect">
                                  <p:stCondLst>
                                    <p:cond delay="0"/>
                                  </p:stCondLst>
                                  <p:childTnLst>
                                    <p:set>
                                      <p:cBhvr>
                                        <p:cTn id="25" dur="1" fill="hold">
                                          <p:stCondLst>
                                            <p:cond delay="0"/>
                                          </p:stCondLst>
                                        </p:cTn>
                                        <p:tgtEl>
                                          <p:spTgt spid="64"/>
                                        </p:tgtEl>
                                        <p:attrNameLst>
                                          <p:attrName>style.visibility</p:attrName>
                                        </p:attrNameLst>
                                      </p:cBhvr>
                                      <p:to>
                                        <p:strVal val="visible"/>
                                      </p:to>
                                    </p:set>
                                    <p:anim calcmode="lin" valueType="num">
                                      <p:cBhvr>
                                        <p:cTn id="26" dur="500" fill="hold"/>
                                        <p:tgtEl>
                                          <p:spTgt spid="64"/>
                                        </p:tgtEl>
                                        <p:attrNameLst>
                                          <p:attrName>ppt_w</p:attrName>
                                        </p:attrNameLst>
                                      </p:cBhvr>
                                      <p:tavLst>
                                        <p:tav tm="0">
                                          <p:val>
                                            <p:fltVal val="0"/>
                                          </p:val>
                                        </p:tav>
                                        <p:tav tm="100000">
                                          <p:val>
                                            <p:strVal val="#ppt_w"/>
                                          </p:val>
                                        </p:tav>
                                      </p:tavLst>
                                    </p:anim>
                                    <p:anim calcmode="lin" valueType="num">
                                      <p:cBhvr>
                                        <p:cTn id="27" dur="500" fill="hold"/>
                                        <p:tgtEl>
                                          <p:spTgt spid="64"/>
                                        </p:tgtEl>
                                        <p:attrNameLst>
                                          <p:attrName>ppt_h</p:attrName>
                                        </p:attrNameLst>
                                      </p:cBhvr>
                                      <p:tavLst>
                                        <p:tav tm="0">
                                          <p:val>
                                            <p:fltVal val="0"/>
                                          </p:val>
                                        </p:tav>
                                        <p:tav tm="100000">
                                          <p:val>
                                            <p:strVal val="#ppt_h"/>
                                          </p:val>
                                        </p:tav>
                                      </p:tavLst>
                                    </p:anim>
                                    <p:anim calcmode="lin" valueType="num">
                                      <p:cBhvr>
                                        <p:cTn id="28" dur="500" fill="hold"/>
                                        <p:tgtEl>
                                          <p:spTgt spid="64"/>
                                        </p:tgtEl>
                                        <p:attrNameLst>
                                          <p:attrName>style.rotation</p:attrName>
                                        </p:attrNameLst>
                                      </p:cBhvr>
                                      <p:tavLst>
                                        <p:tav tm="0">
                                          <p:val>
                                            <p:fltVal val="90"/>
                                          </p:val>
                                        </p:tav>
                                        <p:tav tm="100000">
                                          <p:val>
                                            <p:fltVal val="0"/>
                                          </p:val>
                                        </p:tav>
                                      </p:tavLst>
                                    </p:anim>
                                    <p:animEffect transition="in" filter="fade">
                                      <p:cBhvr>
                                        <p:cTn id="29" dur="500"/>
                                        <p:tgtEl>
                                          <p:spTgt spid="64"/>
                                        </p:tgtEl>
                                      </p:cBhvr>
                                    </p:animEffect>
                                  </p:childTnLst>
                                </p:cTn>
                              </p:par>
                            </p:childTnLst>
                          </p:cTn>
                        </p:par>
                        <p:par>
                          <p:cTn id="30" fill="hold" nodeType="afterGroup">
                            <p:stCondLst>
                              <p:cond delay="1000"/>
                            </p:stCondLst>
                            <p:childTnLst>
                              <p:par>
                                <p:cTn id="31" presetID="31" presetClass="entr" presetSubtype="0" fill="hold" nodeType="afterEffect">
                                  <p:stCondLst>
                                    <p:cond delay="0"/>
                                  </p:stCondLst>
                                  <p:childTnLst>
                                    <p:set>
                                      <p:cBhvr>
                                        <p:cTn id="32" dur="1" fill="hold">
                                          <p:stCondLst>
                                            <p:cond delay="0"/>
                                          </p:stCondLst>
                                        </p:cTn>
                                        <p:tgtEl>
                                          <p:spTgt spid="53"/>
                                        </p:tgtEl>
                                        <p:attrNameLst>
                                          <p:attrName>style.visibility</p:attrName>
                                        </p:attrNameLst>
                                      </p:cBhvr>
                                      <p:to>
                                        <p:strVal val="visible"/>
                                      </p:to>
                                    </p:set>
                                    <p:anim calcmode="lin" valueType="num">
                                      <p:cBhvr>
                                        <p:cTn id="33" dur="500" fill="hold"/>
                                        <p:tgtEl>
                                          <p:spTgt spid="53"/>
                                        </p:tgtEl>
                                        <p:attrNameLst>
                                          <p:attrName>ppt_w</p:attrName>
                                        </p:attrNameLst>
                                      </p:cBhvr>
                                      <p:tavLst>
                                        <p:tav tm="0">
                                          <p:val>
                                            <p:fltVal val="0"/>
                                          </p:val>
                                        </p:tav>
                                        <p:tav tm="100000">
                                          <p:val>
                                            <p:strVal val="#ppt_w"/>
                                          </p:val>
                                        </p:tav>
                                      </p:tavLst>
                                    </p:anim>
                                    <p:anim calcmode="lin" valueType="num">
                                      <p:cBhvr>
                                        <p:cTn id="34" dur="500" fill="hold"/>
                                        <p:tgtEl>
                                          <p:spTgt spid="53"/>
                                        </p:tgtEl>
                                        <p:attrNameLst>
                                          <p:attrName>ppt_h</p:attrName>
                                        </p:attrNameLst>
                                      </p:cBhvr>
                                      <p:tavLst>
                                        <p:tav tm="0">
                                          <p:val>
                                            <p:fltVal val="0"/>
                                          </p:val>
                                        </p:tav>
                                        <p:tav tm="100000">
                                          <p:val>
                                            <p:strVal val="#ppt_h"/>
                                          </p:val>
                                        </p:tav>
                                      </p:tavLst>
                                    </p:anim>
                                    <p:anim calcmode="lin" valueType="num">
                                      <p:cBhvr>
                                        <p:cTn id="35" dur="500" fill="hold"/>
                                        <p:tgtEl>
                                          <p:spTgt spid="53"/>
                                        </p:tgtEl>
                                        <p:attrNameLst>
                                          <p:attrName>style.rotation</p:attrName>
                                        </p:attrNameLst>
                                      </p:cBhvr>
                                      <p:tavLst>
                                        <p:tav tm="0">
                                          <p:val>
                                            <p:fltVal val="90"/>
                                          </p:val>
                                        </p:tav>
                                        <p:tav tm="100000">
                                          <p:val>
                                            <p:fltVal val="0"/>
                                          </p:val>
                                        </p:tav>
                                      </p:tavLst>
                                    </p:anim>
                                    <p:animEffect transition="in" filter="fade">
                                      <p:cBhvr>
                                        <p:cTn id="36" dur="500"/>
                                        <p:tgtEl>
                                          <p:spTgt spid="53"/>
                                        </p:tgtEl>
                                      </p:cBhvr>
                                    </p:animEffect>
                                  </p:childTnLst>
                                </p:cTn>
                              </p:par>
                              <p:par>
                                <p:cTn id="37" presetID="31" presetClass="entr" presetSubtype="0" fill="hold" nodeType="with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p:cTn id="39" dur="500" fill="hold"/>
                                        <p:tgtEl>
                                          <p:spTgt spid="65"/>
                                        </p:tgtEl>
                                        <p:attrNameLst>
                                          <p:attrName>ppt_w</p:attrName>
                                        </p:attrNameLst>
                                      </p:cBhvr>
                                      <p:tavLst>
                                        <p:tav tm="0">
                                          <p:val>
                                            <p:fltVal val="0"/>
                                          </p:val>
                                        </p:tav>
                                        <p:tav tm="100000">
                                          <p:val>
                                            <p:strVal val="#ppt_w"/>
                                          </p:val>
                                        </p:tav>
                                      </p:tavLst>
                                    </p:anim>
                                    <p:anim calcmode="lin" valueType="num">
                                      <p:cBhvr>
                                        <p:cTn id="40" dur="500" fill="hold"/>
                                        <p:tgtEl>
                                          <p:spTgt spid="65"/>
                                        </p:tgtEl>
                                        <p:attrNameLst>
                                          <p:attrName>ppt_h</p:attrName>
                                        </p:attrNameLst>
                                      </p:cBhvr>
                                      <p:tavLst>
                                        <p:tav tm="0">
                                          <p:val>
                                            <p:fltVal val="0"/>
                                          </p:val>
                                        </p:tav>
                                        <p:tav tm="100000">
                                          <p:val>
                                            <p:strVal val="#ppt_h"/>
                                          </p:val>
                                        </p:tav>
                                      </p:tavLst>
                                    </p:anim>
                                    <p:anim calcmode="lin" valueType="num">
                                      <p:cBhvr>
                                        <p:cTn id="41" dur="500" fill="hold"/>
                                        <p:tgtEl>
                                          <p:spTgt spid="65"/>
                                        </p:tgtEl>
                                        <p:attrNameLst>
                                          <p:attrName>style.rotation</p:attrName>
                                        </p:attrNameLst>
                                      </p:cBhvr>
                                      <p:tavLst>
                                        <p:tav tm="0">
                                          <p:val>
                                            <p:fltVal val="90"/>
                                          </p:val>
                                        </p:tav>
                                        <p:tav tm="100000">
                                          <p:val>
                                            <p:fltVal val="0"/>
                                          </p:val>
                                        </p:tav>
                                      </p:tavLst>
                                    </p:anim>
                                    <p:animEffect transition="in" filter="fade">
                                      <p:cBhvr>
                                        <p:cTn id="42" dur="500"/>
                                        <p:tgtEl>
                                          <p:spTgt spid="65"/>
                                        </p:tgtEl>
                                      </p:cBhvr>
                                    </p:animEffect>
                                  </p:childTnLst>
                                </p:cTn>
                              </p:par>
                            </p:childTnLst>
                          </p:cTn>
                        </p:par>
                        <p:par>
                          <p:cTn id="43" fill="hold" nodeType="afterGroup">
                            <p:stCondLst>
                              <p:cond delay="1500"/>
                            </p:stCondLst>
                            <p:childTnLst>
                              <p:par>
                                <p:cTn id="44" presetID="31" presetClass="entr" presetSubtype="0" fill="hold" nodeType="afterEffect">
                                  <p:stCondLst>
                                    <p:cond delay="0"/>
                                  </p:stCondLst>
                                  <p:childTnLst>
                                    <p:set>
                                      <p:cBhvr>
                                        <p:cTn id="45" dur="1" fill="hold">
                                          <p:stCondLst>
                                            <p:cond delay="0"/>
                                          </p:stCondLst>
                                        </p:cTn>
                                        <p:tgtEl>
                                          <p:spTgt spid="57"/>
                                        </p:tgtEl>
                                        <p:attrNameLst>
                                          <p:attrName>style.visibility</p:attrName>
                                        </p:attrNameLst>
                                      </p:cBhvr>
                                      <p:to>
                                        <p:strVal val="visible"/>
                                      </p:to>
                                    </p:set>
                                    <p:anim calcmode="lin" valueType="num">
                                      <p:cBhvr>
                                        <p:cTn id="46" dur="500" fill="hold"/>
                                        <p:tgtEl>
                                          <p:spTgt spid="57"/>
                                        </p:tgtEl>
                                        <p:attrNameLst>
                                          <p:attrName>ppt_w</p:attrName>
                                        </p:attrNameLst>
                                      </p:cBhvr>
                                      <p:tavLst>
                                        <p:tav tm="0">
                                          <p:val>
                                            <p:fltVal val="0"/>
                                          </p:val>
                                        </p:tav>
                                        <p:tav tm="100000">
                                          <p:val>
                                            <p:strVal val="#ppt_w"/>
                                          </p:val>
                                        </p:tav>
                                      </p:tavLst>
                                    </p:anim>
                                    <p:anim calcmode="lin" valueType="num">
                                      <p:cBhvr>
                                        <p:cTn id="47" dur="500" fill="hold"/>
                                        <p:tgtEl>
                                          <p:spTgt spid="57"/>
                                        </p:tgtEl>
                                        <p:attrNameLst>
                                          <p:attrName>ppt_h</p:attrName>
                                        </p:attrNameLst>
                                      </p:cBhvr>
                                      <p:tavLst>
                                        <p:tav tm="0">
                                          <p:val>
                                            <p:fltVal val="0"/>
                                          </p:val>
                                        </p:tav>
                                        <p:tav tm="100000">
                                          <p:val>
                                            <p:strVal val="#ppt_h"/>
                                          </p:val>
                                        </p:tav>
                                      </p:tavLst>
                                    </p:anim>
                                    <p:anim calcmode="lin" valueType="num">
                                      <p:cBhvr>
                                        <p:cTn id="48" dur="500" fill="hold"/>
                                        <p:tgtEl>
                                          <p:spTgt spid="57"/>
                                        </p:tgtEl>
                                        <p:attrNameLst>
                                          <p:attrName>style.rotation</p:attrName>
                                        </p:attrNameLst>
                                      </p:cBhvr>
                                      <p:tavLst>
                                        <p:tav tm="0">
                                          <p:val>
                                            <p:fltVal val="90"/>
                                          </p:val>
                                        </p:tav>
                                        <p:tav tm="100000">
                                          <p:val>
                                            <p:fltVal val="0"/>
                                          </p:val>
                                        </p:tav>
                                      </p:tavLst>
                                    </p:anim>
                                    <p:animEffect transition="in" filter="fade">
                                      <p:cBhvr>
                                        <p:cTn id="49" dur="500"/>
                                        <p:tgtEl>
                                          <p:spTgt spid="57"/>
                                        </p:tgtEl>
                                      </p:cBhvr>
                                    </p:animEffect>
                                  </p:childTnLst>
                                </p:cTn>
                              </p:par>
                              <p:par>
                                <p:cTn id="50" presetID="31" presetClass="entr" presetSubtype="0" fill="hold" nodeType="withEffect">
                                  <p:stCondLst>
                                    <p:cond delay="0"/>
                                  </p:stCondLst>
                                  <p:childTnLst>
                                    <p:set>
                                      <p:cBhvr>
                                        <p:cTn id="51" dur="1" fill="hold">
                                          <p:stCondLst>
                                            <p:cond delay="0"/>
                                          </p:stCondLst>
                                        </p:cTn>
                                        <p:tgtEl>
                                          <p:spTgt spid="67"/>
                                        </p:tgtEl>
                                        <p:attrNameLst>
                                          <p:attrName>style.visibility</p:attrName>
                                        </p:attrNameLst>
                                      </p:cBhvr>
                                      <p:to>
                                        <p:strVal val="visible"/>
                                      </p:to>
                                    </p:set>
                                    <p:anim calcmode="lin" valueType="num">
                                      <p:cBhvr>
                                        <p:cTn id="52" dur="500" fill="hold"/>
                                        <p:tgtEl>
                                          <p:spTgt spid="67"/>
                                        </p:tgtEl>
                                        <p:attrNameLst>
                                          <p:attrName>ppt_w</p:attrName>
                                        </p:attrNameLst>
                                      </p:cBhvr>
                                      <p:tavLst>
                                        <p:tav tm="0">
                                          <p:val>
                                            <p:fltVal val="0"/>
                                          </p:val>
                                        </p:tav>
                                        <p:tav tm="100000">
                                          <p:val>
                                            <p:strVal val="#ppt_w"/>
                                          </p:val>
                                        </p:tav>
                                      </p:tavLst>
                                    </p:anim>
                                    <p:anim calcmode="lin" valueType="num">
                                      <p:cBhvr>
                                        <p:cTn id="53" dur="500" fill="hold"/>
                                        <p:tgtEl>
                                          <p:spTgt spid="67"/>
                                        </p:tgtEl>
                                        <p:attrNameLst>
                                          <p:attrName>ppt_h</p:attrName>
                                        </p:attrNameLst>
                                      </p:cBhvr>
                                      <p:tavLst>
                                        <p:tav tm="0">
                                          <p:val>
                                            <p:fltVal val="0"/>
                                          </p:val>
                                        </p:tav>
                                        <p:tav tm="100000">
                                          <p:val>
                                            <p:strVal val="#ppt_h"/>
                                          </p:val>
                                        </p:tav>
                                      </p:tavLst>
                                    </p:anim>
                                    <p:anim calcmode="lin" valueType="num">
                                      <p:cBhvr>
                                        <p:cTn id="54" dur="500" fill="hold"/>
                                        <p:tgtEl>
                                          <p:spTgt spid="67"/>
                                        </p:tgtEl>
                                        <p:attrNameLst>
                                          <p:attrName>style.rotation</p:attrName>
                                        </p:attrNameLst>
                                      </p:cBhvr>
                                      <p:tavLst>
                                        <p:tav tm="0">
                                          <p:val>
                                            <p:fltVal val="90"/>
                                          </p:val>
                                        </p:tav>
                                        <p:tav tm="100000">
                                          <p:val>
                                            <p:fltVal val="0"/>
                                          </p:val>
                                        </p:tav>
                                      </p:tavLst>
                                    </p:anim>
                                    <p:animEffect transition="in" filter="fade">
                                      <p:cBhvr>
                                        <p:cTn id="55" dur="500"/>
                                        <p:tgtEl>
                                          <p:spTgt spid="67"/>
                                        </p:tgtEl>
                                      </p:cBhvr>
                                    </p:animEffect>
                                  </p:childTnLst>
                                </p:cTn>
                              </p:par>
                            </p:childTnLst>
                          </p:cTn>
                        </p:par>
                        <p:par>
                          <p:cTn id="56" fill="hold" nodeType="afterGroup">
                            <p:stCondLst>
                              <p:cond delay="2000"/>
                            </p:stCondLst>
                            <p:childTnLst>
                              <p:par>
                                <p:cTn id="57" presetID="31" presetClass="entr" presetSubtype="0" fill="hold" nodeType="afterEffect">
                                  <p:stCondLst>
                                    <p:cond delay="0"/>
                                  </p:stCondLst>
                                  <p:childTnLst>
                                    <p:set>
                                      <p:cBhvr>
                                        <p:cTn id="58" dur="1" fill="hold">
                                          <p:stCondLst>
                                            <p:cond delay="0"/>
                                          </p:stCondLst>
                                        </p:cTn>
                                        <p:tgtEl>
                                          <p:spTgt spid="8"/>
                                        </p:tgtEl>
                                        <p:attrNameLst>
                                          <p:attrName>style.visibility</p:attrName>
                                        </p:attrNameLst>
                                      </p:cBhvr>
                                      <p:to>
                                        <p:strVal val="visible"/>
                                      </p:to>
                                    </p:set>
                                    <p:anim calcmode="lin" valueType="num">
                                      <p:cBhvr>
                                        <p:cTn id="59" dur="500" fill="hold"/>
                                        <p:tgtEl>
                                          <p:spTgt spid="8"/>
                                        </p:tgtEl>
                                        <p:attrNameLst>
                                          <p:attrName>ppt_w</p:attrName>
                                        </p:attrNameLst>
                                      </p:cBhvr>
                                      <p:tavLst>
                                        <p:tav tm="0">
                                          <p:val>
                                            <p:fltVal val="0"/>
                                          </p:val>
                                        </p:tav>
                                        <p:tav tm="100000">
                                          <p:val>
                                            <p:strVal val="#ppt_w"/>
                                          </p:val>
                                        </p:tav>
                                      </p:tavLst>
                                    </p:anim>
                                    <p:anim calcmode="lin" valueType="num">
                                      <p:cBhvr>
                                        <p:cTn id="60" dur="500" fill="hold"/>
                                        <p:tgtEl>
                                          <p:spTgt spid="8"/>
                                        </p:tgtEl>
                                        <p:attrNameLst>
                                          <p:attrName>ppt_h</p:attrName>
                                        </p:attrNameLst>
                                      </p:cBhvr>
                                      <p:tavLst>
                                        <p:tav tm="0">
                                          <p:val>
                                            <p:fltVal val="0"/>
                                          </p:val>
                                        </p:tav>
                                        <p:tav tm="100000">
                                          <p:val>
                                            <p:strVal val="#ppt_h"/>
                                          </p:val>
                                        </p:tav>
                                      </p:tavLst>
                                    </p:anim>
                                    <p:anim calcmode="lin" valueType="num">
                                      <p:cBhvr>
                                        <p:cTn id="61" dur="500" fill="hold"/>
                                        <p:tgtEl>
                                          <p:spTgt spid="8"/>
                                        </p:tgtEl>
                                        <p:attrNameLst>
                                          <p:attrName>style.rotation</p:attrName>
                                        </p:attrNameLst>
                                      </p:cBhvr>
                                      <p:tavLst>
                                        <p:tav tm="0">
                                          <p:val>
                                            <p:fltVal val="90"/>
                                          </p:val>
                                        </p:tav>
                                        <p:tav tm="100000">
                                          <p:val>
                                            <p:fltVal val="0"/>
                                          </p:val>
                                        </p:tav>
                                      </p:tavLst>
                                    </p:anim>
                                    <p:animEffect transition="in" filter="fade">
                                      <p:cBhvr>
                                        <p:cTn id="62" dur="500"/>
                                        <p:tgtEl>
                                          <p:spTgt spid="8"/>
                                        </p:tgtEl>
                                      </p:cBhvr>
                                    </p:animEffect>
                                  </p:childTnLst>
                                </p:cTn>
                              </p:par>
                              <p:par>
                                <p:cTn id="63" presetID="3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anim calcmode="lin" valueType="num">
                                      <p:cBhvr>
                                        <p:cTn id="65" dur="500" fill="hold"/>
                                        <p:tgtEl>
                                          <p:spTgt spid="47"/>
                                        </p:tgtEl>
                                        <p:attrNameLst>
                                          <p:attrName>ppt_w</p:attrName>
                                        </p:attrNameLst>
                                      </p:cBhvr>
                                      <p:tavLst>
                                        <p:tav tm="0">
                                          <p:val>
                                            <p:fltVal val="0"/>
                                          </p:val>
                                        </p:tav>
                                        <p:tav tm="100000">
                                          <p:val>
                                            <p:strVal val="#ppt_w"/>
                                          </p:val>
                                        </p:tav>
                                      </p:tavLst>
                                    </p:anim>
                                    <p:anim calcmode="lin" valueType="num">
                                      <p:cBhvr>
                                        <p:cTn id="66" dur="500" fill="hold"/>
                                        <p:tgtEl>
                                          <p:spTgt spid="47"/>
                                        </p:tgtEl>
                                        <p:attrNameLst>
                                          <p:attrName>ppt_h</p:attrName>
                                        </p:attrNameLst>
                                      </p:cBhvr>
                                      <p:tavLst>
                                        <p:tav tm="0">
                                          <p:val>
                                            <p:fltVal val="0"/>
                                          </p:val>
                                        </p:tav>
                                        <p:tav tm="100000">
                                          <p:val>
                                            <p:strVal val="#ppt_h"/>
                                          </p:val>
                                        </p:tav>
                                      </p:tavLst>
                                    </p:anim>
                                    <p:anim calcmode="lin" valueType="num">
                                      <p:cBhvr>
                                        <p:cTn id="67" dur="500" fill="hold"/>
                                        <p:tgtEl>
                                          <p:spTgt spid="47"/>
                                        </p:tgtEl>
                                        <p:attrNameLst>
                                          <p:attrName>style.rotation</p:attrName>
                                        </p:attrNameLst>
                                      </p:cBhvr>
                                      <p:tavLst>
                                        <p:tav tm="0">
                                          <p:val>
                                            <p:fltVal val="90"/>
                                          </p:val>
                                        </p:tav>
                                        <p:tav tm="100000">
                                          <p:val>
                                            <p:fltVal val="0"/>
                                          </p:val>
                                        </p:tav>
                                      </p:tavLst>
                                    </p:anim>
                                    <p:animEffect transition="in" filter="fade">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32B8E-ECA0-C344-4ABE-7EA8B58F4E74}"/>
            </a:ext>
          </a:extLst>
        </p:cNvPr>
        <p:cNvGrpSpPr/>
        <p:nvPr/>
      </p:nvGrpSpPr>
      <p:grpSpPr>
        <a:xfrm>
          <a:off x="0" y="0"/>
          <a:ext cx="0" cy="0"/>
          <a:chOff x="0" y="0"/>
          <a:chExt cx="0" cy="0"/>
        </a:xfrm>
      </p:grpSpPr>
      <p:sp>
        <p:nvSpPr>
          <p:cNvPr id="48130" name="Title 2">
            <a:extLst>
              <a:ext uri="{FF2B5EF4-FFF2-40B4-BE49-F238E27FC236}">
                <a16:creationId xmlns:a16="http://schemas.microsoft.com/office/drawing/2014/main" id="{C1259FC5-B2F3-A562-3A58-2E800A18869A}"/>
              </a:ext>
            </a:extLst>
          </p:cNvPr>
          <p:cNvSpPr>
            <a:spLocks noGrp="1"/>
          </p:cNvSpPr>
          <p:nvPr>
            <p:ph type="title"/>
          </p:nvPr>
        </p:nvSpPr>
        <p:spPr bwMode="auto">
          <a:xfrm>
            <a:off x="838200" y="365760"/>
            <a:ext cx="10515600" cy="5124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r>
              <a:rPr lang="en-US" altLang="zh-CN" dirty="0">
                <a:latin typeface="Times New Roman" panose="02020603050405020304" pitchFamily="18" charset="0"/>
                <a:cs typeface="Times New Roman" panose="02020603050405020304" pitchFamily="18" charset="0"/>
              </a:rPr>
              <a:t>6.4 Final Remarks</a:t>
            </a:r>
            <a:endParaRPr lang="bg-BG" altLang="zh-CN" dirty="0">
              <a:latin typeface="Times New Roman" panose="02020603050405020304" pitchFamily="18" charset="0"/>
              <a:cs typeface="Times New Roman" panose="02020603050405020304" pitchFamily="18" charset="0"/>
            </a:endParaRPr>
          </a:p>
        </p:txBody>
      </p:sp>
      <p:sp>
        <p:nvSpPr>
          <p:cNvPr id="48131" name="Slide Number Placeholder 5">
            <a:extLst>
              <a:ext uri="{FF2B5EF4-FFF2-40B4-BE49-F238E27FC236}">
                <a16:creationId xmlns:a16="http://schemas.microsoft.com/office/drawing/2014/main" id="{75AE76A3-5A7A-F13B-AF29-48FD444D7659}"/>
              </a:ext>
            </a:extLst>
          </p:cNvPr>
          <p:cNvSpPr>
            <a:spLocks noGrp="1"/>
          </p:cNvSpPr>
          <p:nvPr>
            <p:ph type="sldNum" sz="quarter" idx="10"/>
          </p:nvPr>
        </p:nvSpPr>
        <p:spPr bwMode="auto">
          <a:xfrm>
            <a:off x="638175" y="5392738"/>
            <a:ext cx="525463" cy="2301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bg-BG"/>
            </a:defPPr>
            <a:lvl1pPr algn="ctr" defTabSz="712788" rtl="0" eaLnBrk="1" fontAlgn="base" hangingPunct="1">
              <a:spcBef>
                <a:spcPct val="0"/>
              </a:spcBef>
              <a:spcAft>
                <a:spcPct val="0"/>
              </a:spcAft>
              <a:defRPr sz="1100" kern="1200">
                <a:solidFill>
                  <a:schemeClr val="tx1"/>
                </a:solidFill>
                <a:latin typeface="Open Sans" panose="020B0606030504020204" pitchFamily="34" charset="0"/>
                <a:ea typeface="+mn-ea"/>
                <a:cs typeface="Open Sans" panose="020B0606030504020204" pitchFamily="34" charset="0"/>
              </a:defRPr>
            </a:lvl1pPr>
            <a:lvl2pPr marL="355600" indent="101600"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2pPr>
            <a:lvl3pPr marL="712788" indent="2016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3pPr>
            <a:lvl4pPr marL="1068388" indent="3032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4pPr>
            <a:lvl5pPr marL="1425575" indent="403225"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5pPr>
            <a:lvl6pPr marL="2286000" algn="l" defTabSz="914400" rtl="0" eaLnBrk="1" latinLnBrk="0" hangingPunct="1">
              <a:defRPr sz="1400" kern="1200">
                <a:solidFill>
                  <a:schemeClr val="tx1"/>
                </a:solidFill>
                <a:latin typeface="Calibri" panose="020F0502020204030204" pitchFamily="34" charset="0"/>
                <a:ea typeface="+mn-ea"/>
                <a:cs typeface="+mn-cs"/>
              </a:defRPr>
            </a:lvl6pPr>
            <a:lvl7pPr marL="2743200" algn="l" defTabSz="914400" rtl="0" eaLnBrk="1" latinLnBrk="0" hangingPunct="1">
              <a:defRPr sz="1400" kern="1200">
                <a:solidFill>
                  <a:schemeClr val="tx1"/>
                </a:solidFill>
                <a:latin typeface="Calibri" panose="020F0502020204030204" pitchFamily="34" charset="0"/>
                <a:ea typeface="+mn-ea"/>
                <a:cs typeface="+mn-cs"/>
              </a:defRPr>
            </a:lvl7pPr>
            <a:lvl8pPr marL="3200400" algn="l" defTabSz="914400" rtl="0" eaLnBrk="1" latinLnBrk="0" hangingPunct="1">
              <a:defRPr sz="1400" kern="1200">
                <a:solidFill>
                  <a:schemeClr val="tx1"/>
                </a:solidFill>
                <a:latin typeface="Calibri" panose="020F0502020204030204" pitchFamily="34" charset="0"/>
                <a:ea typeface="+mn-ea"/>
                <a:cs typeface="+mn-cs"/>
              </a:defRPr>
            </a:lvl8pPr>
            <a:lvl9pPr marL="3657600" algn="l" defTabSz="914400" rtl="0" eaLnBrk="1" latinLnBrk="0" hangingPunct="1">
              <a:defRPr sz="1400" kern="1200">
                <a:solidFill>
                  <a:schemeClr val="tx1"/>
                </a:solidFill>
                <a:latin typeface="Calibri" panose="020F0502020204030204" pitchFamily="34" charset="0"/>
                <a:ea typeface="+mn-ea"/>
                <a:cs typeface="+mn-cs"/>
              </a:defRPr>
            </a:lvl9pPr>
          </a:lstStyle>
          <a:p>
            <a:fld id="{E8B6EC68-080B-4F1D-8FC0-EC533622CB47}" type="slidenum">
              <a:rPr lang="en-US" altLang="zh-CN" smtClean="0">
                <a:latin typeface="Times New Roman" panose="02020603050405020304" pitchFamily="18" charset="0"/>
                <a:cs typeface="Times New Roman" panose="02020603050405020304" pitchFamily="18" charset="0"/>
              </a:rPr>
              <a:pPr/>
              <a:t>28</a:t>
            </a:fld>
            <a:endParaRPr lang="en-US" altLang="zh-CN" sz="120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39EE439D-6F83-11A1-A187-C398255363CD}"/>
              </a:ext>
            </a:extLst>
          </p:cNvPr>
          <p:cNvSpPr txBox="1"/>
          <p:nvPr/>
        </p:nvSpPr>
        <p:spPr>
          <a:xfrm>
            <a:off x="1809750" y="1550422"/>
            <a:ext cx="9315450" cy="3170099"/>
          </a:xfrm>
          <a:prstGeom prst="rect">
            <a:avLst/>
          </a:prstGeom>
          <a:noFill/>
        </p:spPr>
        <p:txBody>
          <a:bodyPr wrap="square">
            <a:spAutoFit/>
          </a:bodyPr>
          <a:lstStyle/>
          <a:p>
            <a:pPr>
              <a:lnSpc>
                <a:spcPts val="2400"/>
              </a:lnSpc>
              <a:buNone/>
            </a:pP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In-Context Learning is a powerful tool in the era of large foundation models, enabling task-solving without weight updates or labeled dataset access. However, when applied to structured data, its performance is still inferior to classical methods due to architectural and representational mismatches.</a:t>
            </a:r>
          </a:p>
          <a:p>
            <a:pPr>
              <a:lnSpc>
                <a:spcPts val="2400"/>
              </a:lnSpc>
              <a:buNone/>
            </a:pPr>
            <a:endPar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ts val="2400"/>
              </a:lnSpc>
            </a:pP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Nevertheless, ICL's ease of use, flexibility, and adaptability make it a compelling complementary strategy, particularly in resource-limited or rapidly changing environments. With further research, it could play a vital role in hybrid </a:t>
            </a:r>
            <a:r>
              <a:rPr lang="en-US" altLang="zh-CN" sz="20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pipelineswhere</a:t>
            </a: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LLMs and CML models work together to deliver accurate, efficient, and scalable AI systems.</a:t>
            </a:r>
            <a:endPar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20693096"/>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4DE8-6292-DC11-223D-16A50026C550}"/>
            </a:ext>
          </a:extLst>
        </p:cNvPr>
        <p:cNvGrpSpPr/>
        <p:nvPr/>
      </p:nvGrpSpPr>
      <p:grpSpPr>
        <a:xfrm>
          <a:off x="0" y="0"/>
          <a:ext cx="0" cy="0"/>
          <a:chOff x="0" y="0"/>
          <a:chExt cx="0" cy="0"/>
        </a:xfrm>
      </p:grpSpPr>
      <p:sp>
        <p:nvSpPr>
          <p:cNvPr id="48130" name="Title 2">
            <a:extLst>
              <a:ext uri="{FF2B5EF4-FFF2-40B4-BE49-F238E27FC236}">
                <a16:creationId xmlns:a16="http://schemas.microsoft.com/office/drawing/2014/main" id="{166BFF8C-DFB5-099A-A5A8-ACC6A6D44F98}"/>
              </a:ext>
            </a:extLst>
          </p:cNvPr>
          <p:cNvSpPr>
            <a:spLocks noGrp="1"/>
          </p:cNvSpPr>
          <p:nvPr>
            <p:ph type="title"/>
          </p:nvPr>
        </p:nvSpPr>
        <p:spPr bwMode="auto">
          <a:xfrm>
            <a:off x="838200" y="2859404"/>
            <a:ext cx="10515600" cy="5124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noAutofit/>
          </a:bodyPr>
          <a:lstStyle/>
          <a:p>
            <a:r>
              <a:rPr lang="en-US" altLang="zh-CN" sz="8800" dirty="0">
                <a:latin typeface="Times New Roman" panose="02020603050405020304" pitchFamily="18" charset="0"/>
                <a:cs typeface="Times New Roman" panose="02020603050405020304" pitchFamily="18" charset="0"/>
              </a:rPr>
              <a:t>Thanks For Watching</a:t>
            </a:r>
            <a:endParaRPr lang="bg-BG" altLang="zh-CN" sz="8800" dirty="0">
              <a:latin typeface="Times New Roman" panose="02020603050405020304" pitchFamily="18" charset="0"/>
              <a:cs typeface="Times New Roman" panose="02020603050405020304" pitchFamily="18" charset="0"/>
            </a:endParaRPr>
          </a:p>
        </p:txBody>
      </p:sp>
      <p:sp>
        <p:nvSpPr>
          <p:cNvPr id="48131" name="Slide Number Placeholder 5">
            <a:extLst>
              <a:ext uri="{FF2B5EF4-FFF2-40B4-BE49-F238E27FC236}">
                <a16:creationId xmlns:a16="http://schemas.microsoft.com/office/drawing/2014/main" id="{E9D29B19-DCCC-5749-6BB4-8FA793AC9E4B}"/>
              </a:ext>
            </a:extLst>
          </p:cNvPr>
          <p:cNvSpPr>
            <a:spLocks noGrp="1"/>
          </p:cNvSpPr>
          <p:nvPr>
            <p:ph type="sldNum" sz="quarter" idx="10"/>
          </p:nvPr>
        </p:nvSpPr>
        <p:spPr bwMode="auto">
          <a:xfrm>
            <a:off x="638175" y="5392738"/>
            <a:ext cx="525463" cy="2301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bg-BG"/>
            </a:defPPr>
            <a:lvl1pPr algn="ctr" defTabSz="712788" rtl="0" eaLnBrk="1" fontAlgn="base" hangingPunct="1">
              <a:spcBef>
                <a:spcPct val="0"/>
              </a:spcBef>
              <a:spcAft>
                <a:spcPct val="0"/>
              </a:spcAft>
              <a:defRPr sz="1100" kern="1200">
                <a:solidFill>
                  <a:schemeClr val="tx1"/>
                </a:solidFill>
                <a:latin typeface="Open Sans" panose="020B0606030504020204" pitchFamily="34" charset="0"/>
                <a:ea typeface="+mn-ea"/>
                <a:cs typeface="Open Sans" panose="020B0606030504020204" pitchFamily="34" charset="0"/>
              </a:defRPr>
            </a:lvl1pPr>
            <a:lvl2pPr marL="355600" indent="101600"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2pPr>
            <a:lvl3pPr marL="712788" indent="2016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3pPr>
            <a:lvl4pPr marL="1068388" indent="303213"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4pPr>
            <a:lvl5pPr marL="1425575" indent="403225" algn="l" defTabSz="712788" rtl="0" eaLnBrk="0" fontAlgn="base" hangingPunct="0">
              <a:spcBef>
                <a:spcPct val="0"/>
              </a:spcBef>
              <a:spcAft>
                <a:spcPct val="0"/>
              </a:spcAft>
              <a:defRPr sz="1400" kern="1200">
                <a:solidFill>
                  <a:schemeClr val="tx1"/>
                </a:solidFill>
                <a:latin typeface="Calibri" panose="020F0502020204030204" pitchFamily="34" charset="0"/>
                <a:ea typeface="+mn-ea"/>
                <a:cs typeface="+mn-cs"/>
              </a:defRPr>
            </a:lvl5pPr>
            <a:lvl6pPr marL="2286000" algn="l" defTabSz="914400" rtl="0" eaLnBrk="1" latinLnBrk="0" hangingPunct="1">
              <a:defRPr sz="1400" kern="1200">
                <a:solidFill>
                  <a:schemeClr val="tx1"/>
                </a:solidFill>
                <a:latin typeface="Calibri" panose="020F0502020204030204" pitchFamily="34" charset="0"/>
                <a:ea typeface="+mn-ea"/>
                <a:cs typeface="+mn-cs"/>
              </a:defRPr>
            </a:lvl6pPr>
            <a:lvl7pPr marL="2743200" algn="l" defTabSz="914400" rtl="0" eaLnBrk="1" latinLnBrk="0" hangingPunct="1">
              <a:defRPr sz="1400" kern="1200">
                <a:solidFill>
                  <a:schemeClr val="tx1"/>
                </a:solidFill>
                <a:latin typeface="Calibri" panose="020F0502020204030204" pitchFamily="34" charset="0"/>
                <a:ea typeface="+mn-ea"/>
                <a:cs typeface="+mn-cs"/>
              </a:defRPr>
            </a:lvl7pPr>
            <a:lvl8pPr marL="3200400" algn="l" defTabSz="914400" rtl="0" eaLnBrk="1" latinLnBrk="0" hangingPunct="1">
              <a:defRPr sz="1400" kern="1200">
                <a:solidFill>
                  <a:schemeClr val="tx1"/>
                </a:solidFill>
                <a:latin typeface="Calibri" panose="020F0502020204030204" pitchFamily="34" charset="0"/>
                <a:ea typeface="+mn-ea"/>
                <a:cs typeface="+mn-cs"/>
              </a:defRPr>
            </a:lvl8pPr>
            <a:lvl9pPr marL="3657600" algn="l" defTabSz="914400" rtl="0" eaLnBrk="1" latinLnBrk="0" hangingPunct="1">
              <a:defRPr sz="1400" kern="1200">
                <a:solidFill>
                  <a:schemeClr val="tx1"/>
                </a:solidFill>
                <a:latin typeface="Calibri" panose="020F0502020204030204" pitchFamily="34" charset="0"/>
                <a:ea typeface="+mn-ea"/>
                <a:cs typeface="+mn-cs"/>
              </a:defRPr>
            </a:lvl9pPr>
          </a:lstStyle>
          <a:p>
            <a:fld id="{E8B6EC68-080B-4F1D-8FC0-EC533622CB47}" type="slidenum">
              <a:rPr lang="en-US" altLang="zh-CN" smtClean="0">
                <a:latin typeface="Times New Roman" panose="02020603050405020304" pitchFamily="18" charset="0"/>
                <a:cs typeface="Times New Roman" panose="02020603050405020304" pitchFamily="18" charset="0"/>
              </a:rPr>
              <a:pPr/>
              <a:t>29</a:t>
            </a:fld>
            <a:endParaRPr lang="en-US" altLang="zh-CN" sz="1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487978"/>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ZjZjZjMDE4ZjE0ZTgzOTJmYWM5ZDlhYmQ0OTg1Y2MifQ=="/>
</p:tagLst>
</file>

<file path=ppt/theme/theme1.xml><?xml version="1.0" encoding="utf-8"?>
<a:theme xmlns:a="http://schemas.openxmlformats.org/drawingml/2006/main" name="Office Theme">
  <a:themeElements>
    <a:clrScheme name="Harmony Bright C8">
      <a:dk1>
        <a:srgbClr val="FAFAFA"/>
      </a:dk1>
      <a:lt1>
        <a:srgbClr val="2271D8"/>
      </a:lt1>
      <a:dk2>
        <a:srgbClr val="44546A"/>
      </a:dk2>
      <a:lt2>
        <a:srgbClr val="565656"/>
      </a:lt2>
      <a:accent1>
        <a:srgbClr val="3A6FAF"/>
      </a:accent1>
      <a:accent2>
        <a:srgbClr val="2F81C4"/>
      </a:accent2>
      <a:accent3>
        <a:srgbClr val="5194EC"/>
      </a:accent3>
      <a:accent4>
        <a:srgbClr val="39A0ED"/>
      </a:accent4>
      <a:accent5>
        <a:srgbClr val="44546A"/>
      </a:accent5>
      <a:accent6>
        <a:srgbClr val="FAFAFA"/>
      </a:accent6>
      <a:hlink>
        <a:srgbClr val="191919"/>
      </a:hlink>
      <a:folHlink>
        <a:srgbClr val="191919"/>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566</TotalTime>
  <Words>2572</Words>
  <Application>Microsoft Office PowerPoint</Application>
  <PresentationFormat>宽屏</PresentationFormat>
  <Paragraphs>309</Paragraphs>
  <Slides>29</Slides>
  <Notes>29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Arial</vt:lpstr>
      <vt:lpstr>Calibri</vt:lpstr>
      <vt:lpstr>Open Sans</vt:lpstr>
      <vt:lpstr>Open Sans Light</vt:lpstr>
      <vt:lpstr>Symbol</vt:lpstr>
      <vt:lpstr>Times New Roman</vt:lpstr>
      <vt:lpstr>Office Theme</vt:lpstr>
      <vt:lpstr>PowerPoint 演示文稿</vt:lpstr>
      <vt:lpstr>CONTENT</vt:lpstr>
      <vt:lpstr>PowerPoint 演示文稿</vt:lpstr>
      <vt:lpstr>2.1 Datasets</vt:lpstr>
      <vt:lpstr>2.2 Data Preprocessing                  2.3 Models Evaluated</vt:lpstr>
      <vt:lpstr>PowerPoint 演示文稿</vt:lpstr>
      <vt:lpstr>3 Insights on ICL</vt:lpstr>
      <vt:lpstr>Insight 1: Larger Models Yield Better Performance in ICL</vt:lpstr>
      <vt:lpstr>Insight 1: Larger Models Yield Better Performance in ICL</vt:lpstr>
      <vt:lpstr>Insight 2: Increasing the Number of In-Context Examples Improves Accuracy</vt:lpstr>
      <vt:lpstr>Insight 3: Task Type Affects Model Preference </vt:lpstr>
      <vt:lpstr>PowerPoint 演示文稿</vt:lpstr>
      <vt:lpstr>4 Insights on CML</vt:lpstr>
      <vt:lpstr>Insight 5: CML Models Achieve Near-Perfect Accuracy</vt:lpstr>
      <vt:lpstr>Insight 5: CML Models Achieve Near-Perfect Accuracy</vt:lpstr>
      <vt:lpstr>Insight 6: Visual Separation in Feature Space Explains Model Success </vt:lpstr>
      <vt:lpstr>Insight 7: Full Training and Optimization Gives CML a Structural Advantage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 Future Directions</vt:lpstr>
      <vt:lpstr>6.4 Final Remarks</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Yuxin Xiao</cp:lastModifiedBy>
  <cp:revision>159</cp:revision>
  <dcterms:created xsi:type="dcterms:W3CDTF">2019-06-19T02:08:00Z</dcterms:created>
  <dcterms:modified xsi:type="dcterms:W3CDTF">2025-05-05T03:49:52Z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CBA20121DB97458294C72436C8A46429_11</vt:lpwstr>
  </property>
</Properties>
</file>